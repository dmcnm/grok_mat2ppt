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8"/>
  </p:notesMasterIdLst>
  <p:sldIdLst>
    <p:sldId id="256" r:id="rId13"/>
    <p:sldId id="257" r:id="rId14"/>
    <p:sldId id="258" r:id="rId15"/>
    <p:sldId id="259" r:id="rId16"/>
    <p:sldId id="260" r:id="rId17"/>
    <p:sldId id="261" r:id="rId18"/>
  </p:sldIdLst>
  <p:sldSz cx="12192000" cy="6858000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9B99B3"/>
    <a:srgbClr val="020151"/>
    <a:srgbClr val="010127"/>
    <a:srgbClr val="04004D"/>
    <a:srgbClr val="040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preferSingleView="1">
    <p:restoredLeft sz="19969" autoAdjust="0"/>
    <p:restoredTop sz="96167" autoAdjust="0"/>
  </p:normalViewPr>
  <p:slideViewPr>
    <p:cSldViewPr snapToGrid="0">
      <p:cViewPr varScale="1">
        <p:scale>
          <a:sx n="153" d="100"/>
          <a:sy n="153" d="100"/>
        </p:scale>
        <p:origin x="162" y="1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43343" cy="467071"/>
          </a:xfrm>
          <a:prstGeom prst="rect">
            <a:avLst/>
          </a:prstGeom>
        </p:spPr>
        <p:txBody>
          <a:bodyPr vert="horz" lIns="93304" tIns="46653" rIns="93304" bIns="4665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1"/>
            <a:ext cx="3043343" cy="467071"/>
          </a:xfrm>
          <a:prstGeom prst="rect">
            <a:avLst/>
          </a:prstGeom>
        </p:spPr>
        <p:txBody>
          <a:bodyPr vert="horz" lIns="93304" tIns="46653" rIns="93304" bIns="46653" rtlCol="0"/>
          <a:lstStyle>
            <a:lvl1pPr algn="r">
              <a:defRPr sz="1200"/>
            </a:lvl1pPr>
          </a:lstStyle>
          <a:p>
            <a:fld id="{7F7B82D3-D4F7-4B8B-8BE1-460FB89887CB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04" tIns="46653" rIns="93304" bIns="4665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5"/>
            <a:ext cx="5618480" cy="3665459"/>
          </a:xfrm>
          <a:prstGeom prst="rect">
            <a:avLst/>
          </a:prstGeom>
        </p:spPr>
        <p:txBody>
          <a:bodyPr vert="horz" lIns="93304" tIns="46653" rIns="93304" bIns="4665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0"/>
          </a:xfrm>
          <a:prstGeom prst="rect">
            <a:avLst/>
          </a:prstGeom>
        </p:spPr>
        <p:txBody>
          <a:bodyPr vert="horz" lIns="93304" tIns="46653" rIns="93304" bIns="4665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0"/>
          </a:xfrm>
          <a:prstGeom prst="rect">
            <a:avLst/>
          </a:prstGeom>
        </p:spPr>
        <p:txBody>
          <a:bodyPr vert="horz" lIns="93304" tIns="46653" rIns="93304" bIns="46653" rtlCol="0" anchor="b"/>
          <a:lstStyle>
            <a:lvl1pPr algn="r">
              <a:defRPr sz="1200"/>
            </a:lvl1pPr>
          </a:lstStyle>
          <a:p>
            <a:fld id="{211EEFB6-8312-4F1B-A70E-46D57B978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1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pPr/>
              <a:t>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69A8AA-85C3-4D8C-9C61-3E926044398E}"/>
              </a:ext>
            </a:extLst>
          </p:cNvPr>
          <p:cNvSpPr/>
          <p:nvPr userDrawn="1"/>
        </p:nvSpPr>
        <p:spPr>
          <a:xfrm>
            <a:off x="9682645" y="-4747"/>
            <a:ext cx="2509355" cy="6869866"/>
          </a:xfrm>
          <a:prstGeom prst="rect">
            <a:avLst/>
          </a:prstGeom>
          <a:solidFill>
            <a:srgbClr val="9B9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B2F07-B815-45D0-9D66-9BD0EA66D7C8}"/>
              </a:ext>
            </a:extLst>
          </p:cNvPr>
          <p:cNvSpPr/>
          <p:nvPr userDrawn="1"/>
        </p:nvSpPr>
        <p:spPr>
          <a:xfrm>
            <a:off x="1" y="-4745"/>
            <a:ext cx="2623225" cy="6869865"/>
          </a:xfrm>
          <a:prstGeom prst="rect">
            <a:avLst/>
          </a:prstGeom>
          <a:solidFill>
            <a:srgbClr val="9B9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FBFD15-DCFC-4A08-A2A1-02ACD5A3FF90}"/>
              </a:ext>
            </a:extLst>
          </p:cNvPr>
          <p:cNvSpPr/>
          <p:nvPr userDrawn="1"/>
        </p:nvSpPr>
        <p:spPr>
          <a:xfrm>
            <a:off x="2623226" y="-4747"/>
            <a:ext cx="7059420" cy="6869866"/>
          </a:xfrm>
          <a:prstGeom prst="rect">
            <a:avLst/>
          </a:prstGeom>
          <a:blipFill>
            <a:blip r:embed="rId2">
              <a:alphaModFix amt="4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28064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095" y="1227"/>
            <a:ext cx="10515600" cy="1067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095" y="1190542"/>
            <a:ext cx="11243092" cy="484827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6800" y="6356350"/>
            <a:ext cx="2743200" cy="365125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http://holychildcatholicschool.org/images/AMDG.jpg">
            <a:extLst>
              <a:ext uri="{FF2B5EF4-FFF2-40B4-BE49-F238E27FC236}">
                <a16:creationId xmlns:a16="http://schemas.microsoft.com/office/drawing/2014/main" id="{1A075D24-58FB-45E0-97FB-D110E42AAD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20" y="6096269"/>
            <a:ext cx="648692" cy="694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FB4AF569-35E8-469F-B966-1D4991D7CA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831" y="82217"/>
            <a:ext cx="1097280" cy="10670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4A9ABD-6110-4F9E-A27C-F9036C891C1E}"/>
              </a:ext>
            </a:extLst>
          </p:cNvPr>
          <p:cNvSpPr txBox="1"/>
          <p:nvPr userDrawn="1"/>
        </p:nvSpPr>
        <p:spPr>
          <a:xfrm>
            <a:off x="3201787" y="6315104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HOLY CHILD CATHOLIC SCHOOL: RAISING SAINTS, FORMING SCHOLARS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8B6997-9B4F-4EE7-914A-92A8BA753781}"/>
              </a:ext>
            </a:extLst>
          </p:cNvPr>
          <p:cNvCxnSpPr>
            <a:cxnSpLocks/>
          </p:cNvCxnSpPr>
          <p:nvPr userDrawn="1"/>
        </p:nvCxnSpPr>
        <p:spPr>
          <a:xfrm>
            <a:off x="783771" y="6176963"/>
            <a:ext cx="11019608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000B35-988C-48A1-ADC2-1647C99D651C}"/>
              </a:ext>
            </a:extLst>
          </p:cNvPr>
          <p:cNvCxnSpPr>
            <a:cxnSpLocks/>
          </p:cNvCxnSpPr>
          <p:nvPr userDrawn="1"/>
        </p:nvCxnSpPr>
        <p:spPr>
          <a:xfrm>
            <a:off x="535021" y="1083971"/>
            <a:ext cx="1033272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568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80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28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7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41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05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15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8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9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671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hc" descr=" "/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 </a:t>
            </a:r>
          </a:p>
        </p:txBody>
      </p:sp>
      <p:sp>
        <p:nvSpPr>
          <p:cNvPr id="8" name="fc" descr=" "/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83972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30" y="1788292"/>
            <a:ext cx="9144000" cy="2387590"/>
          </a:xfrm>
        </p:spPr>
        <p:txBody>
          <a:bodyPr>
            <a:normAutofit fontScale="90000"/>
          </a:bodyPr>
          <a:lstStyle/>
          <a:p>
            <a:r>
              <a:t>Chesterton Academy</a:t>
            </a:r>
            <a:br/>
            <a:r>
              <a:t>Emergency Communication Options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756538" y="4421489"/>
            <a:ext cx="3944995" cy="831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None/>
            </a:pPr>
            <a:r>
              <a:rPr sz="2400"/>
              <a:t>Douglas Coombs</a:t>
            </a:r>
          </a:p>
          <a:p>
            <a:pPr lvl="0" algn="ctr">
              <a:buNone/>
            </a:pPr>
            <a:r>
              <a:rPr sz="2400"/>
              <a:t>February 8,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Overview of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493136" y="1132759"/>
            <a:ext cx="11471422" cy="5055992"/>
          </a:xfrm>
        </p:spPr>
        <p:txBody>
          <a:bodyPr wrap="square">
            <a:normAutofit/>
          </a:bodyPr>
          <a:lstStyle/>
          <a:p>
            <a:pPr lvl="0"/>
            <a:r>
              <a:t>Comprehensive Email and Texting Programs</a:t>
            </a:r>
          </a:p>
          <a:p>
            <a:pPr lvl="1"/>
            <a:r>
              <a:t>JupiterEd</a:t>
            </a:r>
          </a:p>
          <a:p>
            <a:pPr lvl="2"/>
            <a:r>
              <a:t>Potentially cheapest and easiest to set up</a:t>
            </a:r>
          </a:p>
          <a:p>
            <a:pPr lvl="1"/>
            <a:r>
              <a:t>Flocknotes</a:t>
            </a:r>
          </a:p>
          <a:p>
            <a:pPr lvl="2"/>
            <a:r>
              <a:t>Much more flexible but also more expensive and time consuming to set up</a:t>
            </a:r>
          </a:p>
          <a:p>
            <a:pPr lvl="0"/>
            <a:r>
              <a:t>Standalone Texting Solutions</a:t>
            </a:r>
          </a:p>
          <a:p>
            <a:pPr lvl="1"/>
            <a:r>
              <a:t>ExpertTexting.com</a:t>
            </a:r>
          </a:p>
          <a:p>
            <a:pPr lvl="2"/>
            <a:r>
              <a:t>Seems straightforward with intuitive user interface</a:t>
            </a:r>
          </a:p>
          <a:p>
            <a:pPr lvl="2"/>
            <a:r>
              <a:t>Offers two-way texting with parents, if desired</a:t>
            </a:r>
          </a:p>
          <a:p>
            <a:pPr lvl="2"/>
            <a:r>
              <a:t>Per text pricing makes it more attractive for infrequent, emergency use</a:t>
            </a:r>
          </a:p>
          <a:p>
            <a:pPr lvl="1"/>
            <a:r>
              <a:t>TextEmAll.com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JupiterEd.com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493136" y="1132759"/>
            <a:ext cx="10717408" cy="5055992"/>
          </a:xfrm>
        </p:spPr>
        <p:txBody>
          <a:bodyPr wrap="square">
            <a:normAutofit/>
          </a:bodyPr>
          <a:lstStyle/>
          <a:p>
            <a:pPr lvl="0"/>
            <a:r>
              <a:t>Parents need to login to </a:t>
            </a:r>
            <a:r>
              <a:t>JupiterEd</a:t>
            </a:r>
            <a:r>
              <a:t> and opt-in to emergency texting service</a:t>
            </a:r>
          </a:p>
          <a:p>
            <a:pPr lvl="1"/>
            <a:r>
              <a:t>Another option would be to use non-emergency text messages for weather announcements, but these can get lost as they are common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Flocknotes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 wrap="square"/>
          <a:lstStyle/>
          <a:p>
            <a:pPr lvl="0"/>
            <a:r>
              <a:t>Comprehensive email and texting service</a:t>
            </a:r>
          </a:p>
          <a:p>
            <a:pPr lvl="0"/>
            <a:r>
              <a:t>Mrs. Sena is familiar with the service</a:t>
            </a:r>
          </a:p>
          <a:p>
            <a:pPr lvl="0"/>
            <a:r>
              <a:t>More expensive at ~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ExpertTexting.com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 wrap="square"/>
          <a:lstStyle/>
          <a:p>
            <a:pPr lvl="0"/>
            <a:r>
              <a:t>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TextEmAll.com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 wrap="square"/>
          <a:lstStyle/>
          <a:p>
            <a:pPr lvl="0"/>
            <a:r>
              <a:t>jkh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19185</TotalTime>
  <Words>140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Microsoft Sans Serif</vt:lpstr>
      <vt:lpstr>Times New Roman</vt:lpstr>
      <vt:lpstr>Office Theme</vt:lpstr>
      <vt:lpstr>Chesterton Academy Emergency Communication Options</vt:lpstr>
      <vt:lpstr>Overview of Options</vt:lpstr>
      <vt:lpstr>JupiterEd.com</vt:lpstr>
      <vt:lpstr>Flocknotes</vt:lpstr>
      <vt:lpstr>ExpertTexting.com</vt:lpstr>
      <vt:lpstr>TextEmAll.com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cfam</dc:creator>
  <cp:lastModifiedBy>Douglas Coombs</cp:lastModifiedBy>
  <cp:revision>227</cp:revision>
  <cp:lastPrinted>2018-08-10T14:08:26Z</cp:lastPrinted>
  <dcterms:created xsi:type="dcterms:W3CDTF">2017-10-21T04:06:09Z</dcterms:created>
  <dcterms:modified xsi:type="dcterms:W3CDTF">2022-02-08T07:45:50Z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073af042-833c-47dd-b860-957f86ae111e</vt:lpwstr>
  </property>
  <property fmtid="{D5CDD505-2E9C-101B-9397-08002B2CF9AE}" pid="3" name="techData">
    <vt:lpwstr>No</vt:lpwstr>
  </property>
  <property fmtid="{D5CDD505-2E9C-101B-9397-08002B2CF9AE}" pid="4" name="VisualMarking">
    <vt:lpwstr>None</vt:lpwstr>
  </property>
  <property fmtid="{D5CDD505-2E9C-101B-9397-08002B2CF9AE}" pid="5" name="ThirdPartyComment">
    <vt:lpwstr>none needed</vt:lpwstr>
  </property>
</Properties>
</file>