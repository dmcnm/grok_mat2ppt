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rawings/vmlDrawing1.vml" ContentType="application/vnd.openxmlformats-officedocument.vmlDrawing"/>
  <Override PartName="/ppt/drawings/vmlDrawing2.vml" ContentType="application/vnd.openxmlformats-officedocument.vmlDrawing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34"/>
    <p:sldId id="257" r:id="rId35"/>
    <p:sldId id="258" r:id="rId36"/>
    <p:sldId id="259" r:id="rId37"/>
    <p:sldId id="260" r:id="rId38"/>
    <p:sldId id="261" r:id="rId39"/>
    <p:sldId id="262" r:id="rId40"/>
    <p:sldId id="263" r:id="rId41"/>
    <p:sldId id="264" r:id="rId42"/>
    <p:sldId id="265" r:id="rId43"/>
    <p:sldId id="266" r:id="rId44"/>
    <p:sldId id="267" r:id="rId45"/>
    <p:sldId id="268" r:id="rId46"/>
    <p:sldId id="269" r:id="rId47"/>
    <p:sldId id="270" r:id="rId48"/>
    <p:sldId id="271" r:id="rId49"/>
    <p:sldId id="272" r:id="rId50"/>
    <p:sldId id="273" r:id="rId51"/>
    <p:sldId id="274" r:id="rId52"/>
    <p:sldId id="275" r:id="rId53"/>
    <p:sldId id="276" r:id="rId54"/>
    <p:sldId id="277" r:id="rId55"/>
    <p:sldId id="278" r:id="rId56"/>
    <p:sldId id="279" r:id="rId57"/>
    <p:sldId id="280" r:id="rId58"/>
    <p:sldId id="281" r:id="rId59"/>
  </p:sldIdLst>
  <p:sldSz cx="9144000" cy="6858000" type="screen4x3"/>
  <p:notesSz cx="7023100" cy="9309100"/>
  <p:defaultTextStyle>
    <a:defPPr>
      <a:defRPr lang="en-GB"/>
    </a:defPPr>
    <a:lvl1pPr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Arial" charset="0"/>
      <a:defRPr sz="2000" kern="1200">
        <a:solidFill>
          <a:schemeClr val="bg1"/>
        </a:solidFill>
        <a:latin typeface="Arial" charset="0"/>
        <a:ea typeface="+mn-ea"/>
        <a:cs typeface="Lucida Sans Unicode" charset="0"/>
      </a:defRPr>
    </a:lvl1pPr>
    <a:lvl2pPr marL="45720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Arial" charset="0"/>
      <a:defRPr sz="2000" kern="1200">
        <a:solidFill>
          <a:schemeClr val="bg1"/>
        </a:solidFill>
        <a:latin typeface="Arial" charset="0"/>
        <a:ea typeface="+mn-ea"/>
        <a:cs typeface="Lucida Sans Unicode" charset="0"/>
      </a:defRPr>
    </a:lvl2pPr>
    <a:lvl3pPr marL="91440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Arial" charset="0"/>
      <a:defRPr sz="2000" kern="1200">
        <a:solidFill>
          <a:schemeClr val="bg1"/>
        </a:solidFill>
        <a:latin typeface="Arial" charset="0"/>
        <a:ea typeface="+mn-ea"/>
        <a:cs typeface="Lucida Sans Unicode" charset="0"/>
      </a:defRPr>
    </a:lvl3pPr>
    <a:lvl4pPr marL="137160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Arial" charset="0"/>
      <a:defRPr sz="2000" kern="1200">
        <a:solidFill>
          <a:schemeClr val="bg1"/>
        </a:solidFill>
        <a:latin typeface="Arial" charset="0"/>
        <a:ea typeface="+mn-ea"/>
        <a:cs typeface="Lucida Sans Unicode" charset="0"/>
      </a:defRPr>
    </a:lvl4pPr>
    <a:lvl5pPr marL="1828800" algn="l" defTabSz="457200" rtl="0" fontAlgn="base">
      <a:spcBef>
        <a:spcPct val="0"/>
      </a:spcBef>
      <a:spcAft>
        <a:spcPct val="0"/>
      </a:spcAft>
      <a:buClr>
        <a:srgbClr val="000000"/>
      </a:buClr>
      <a:buSzPct val="100000"/>
      <a:buFont typeface="Arial" charset="0"/>
      <a:defRPr sz="2000" kern="1200">
        <a:solidFill>
          <a:schemeClr val="bg1"/>
        </a:solidFill>
        <a:latin typeface="Arial" charset="0"/>
        <a:ea typeface="+mn-ea"/>
        <a:cs typeface="Lucida Sans Unicode" charset="0"/>
      </a:defRPr>
    </a:lvl5pPr>
    <a:lvl6pPr marL="2286000" algn="l" defTabSz="914400" rtl="0" eaLnBrk="1" latinLnBrk="0" hangingPunct="1">
      <a:defRPr sz="2000" kern="1200">
        <a:solidFill>
          <a:schemeClr val="bg1"/>
        </a:solidFill>
        <a:latin typeface="Arial" charset="0"/>
        <a:ea typeface="+mn-ea"/>
        <a:cs typeface="Lucida Sans Unicode" charset="0"/>
      </a:defRPr>
    </a:lvl6pPr>
    <a:lvl7pPr marL="2743200" algn="l" defTabSz="914400" rtl="0" eaLnBrk="1" latinLnBrk="0" hangingPunct="1">
      <a:defRPr sz="2000" kern="1200">
        <a:solidFill>
          <a:schemeClr val="bg1"/>
        </a:solidFill>
        <a:latin typeface="Arial" charset="0"/>
        <a:ea typeface="+mn-ea"/>
        <a:cs typeface="Lucida Sans Unicode" charset="0"/>
      </a:defRPr>
    </a:lvl7pPr>
    <a:lvl8pPr marL="3200400" algn="l" defTabSz="914400" rtl="0" eaLnBrk="1" latinLnBrk="0" hangingPunct="1">
      <a:defRPr sz="2000" kern="1200">
        <a:solidFill>
          <a:schemeClr val="bg1"/>
        </a:solidFill>
        <a:latin typeface="Arial" charset="0"/>
        <a:ea typeface="+mn-ea"/>
        <a:cs typeface="Lucida Sans Unicode" charset="0"/>
      </a:defRPr>
    </a:lvl8pPr>
    <a:lvl9pPr marL="3657600" algn="l" defTabSz="914400" rtl="0" eaLnBrk="1" latinLnBrk="0" hangingPunct="1">
      <a:defRPr sz="2000" kern="1200">
        <a:solidFill>
          <a:schemeClr val="bg1"/>
        </a:solidFill>
        <a:latin typeface="Arial" charset="0"/>
        <a:ea typeface="+mn-ea"/>
        <a:cs typeface="Lucida Sans Unicode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</p:showPr>
  <p:clrMru>
    <a:srgbClr val="FFFF79"/>
    <a:srgbClr val="F7FECE"/>
    <a:srgbClr val="FCFC68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56" autoAdjust="0"/>
    <p:restoredTop sz="74281" autoAdjust="0"/>
  </p:normalViewPr>
  <p:slideViewPr>
    <p:cSldViewPr>
      <p:cViewPr varScale="1">
        <p:scale>
          <a:sx n="93" d="100"/>
          <a:sy n="93" d="100"/>
        </p:scale>
        <p:origin x="-2154" y="-10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0" y="2257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49" d="100"/>
          <a:sy n="49" d="100"/>
        </p:scale>
        <p:origin x="-2294" y="-82"/>
      </p:cViewPr>
      <p:guideLst>
        <p:guide orient="horz" pos="2792"/>
        <p:guide pos="2074"/>
      </p:guideLst>
    </p:cSldViewPr>
  </p:notes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1.xml"/><Relationship Id="rId35" Type="http://schemas.openxmlformats.org/officeDocument/2006/relationships/slide" Target="slides/slide2.xml"/><Relationship Id="rId36" Type="http://schemas.openxmlformats.org/officeDocument/2006/relationships/slide" Target="slides/slide3.xml"/><Relationship Id="rId37" Type="http://schemas.openxmlformats.org/officeDocument/2006/relationships/slide" Target="slides/slide4.xml"/><Relationship Id="rId38" Type="http://schemas.openxmlformats.org/officeDocument/2006/relationships/slide" Target="slides/slide5.xml"/><Relationship Id="rId39" Type="http://schemas.openxmlformats.org/officeDocument/2006/relationships/slide" Target="slides/slide6.xml"/><Relationship Id="rId40" Type="http://schemas.openxmlformats.org/officeDocument/2006/relationships/slide" Target="slides/slide7.xml"/><Relationship Id="rId41" Type="http://schemas.openxmlformats.org/officeDocument/2006/relationships/slide" Target="slides/slide8.xml"/><Relationship Id="rId42" Type="http://schemas.openxmlformats.org/officeDocument/2006/relationships/slide" Target="slides/slide9.xml"/><Relationship Id="rId43" Type="http://schemas.openxmlformats.org/officeDocument/2006/relationships/slide" Target="slides/slide10.xml"/><Relationship Id="rId44" Type="http://schemas.openxmlformats.org/officeDocument/2006/relationships/slide" Target="slides/slide11.xml"/><Relationship Id="rId45" Type="http://schemas.openxmlformats.org/officeDocument/2006/relationships/slide" Target="slides/slide12.xml"/><Relationship Id="rId46" Type="http://schemas.openxmlformats.org/officeDocument/2006/relationships/slide" Target="slides/slide13.xml"/><Relationship Id="rId47" Type="http://schemas.openxmlformats.org/officeDocument/2006/relationships/slide" Target="slides/slide14.xml"/><Relationship Id="rId48" Type="http://schemas.openxmlformats.org/officeDocument/2006/relationships/slide" Target="slides/slide15.xml"/><Relationship Id="rId49" Type="http://schemas.openxmlformats.org/officeDocument/2006/relationships/slide" Target="slides/slide16.xml"/><Relationship Id="rId50" Type="http://schemas.openxmlformats.org/officeDocument/2006/relationships/slide" Target="slides/slide17.xml"/><Relationship Id="rId51" Type="http://schemas.openxmlformats.org/officeDocument/2006/relationships/slide" Target="slides/slide18.xml"/><Relationship Id="rId52" Type="http://schemas.openxmlformats.org/officeDocument/2006/relationships/slide" Target="slides/slide19.xml"/><Relationship Id="rId53" Type="http://schemas.openxmlformats.org/officeDocument/2006/relationships/slide" Target="slides/slide20.xml"/><Relationship Id="rId54" Type="http://schemas.openxmlformats.org/officeDocument/2006/relationships/slide" Target="slides/slide21.xml"/><Relationship Id="rId55" Type="http://schemas.openxmlformats.org/officeDocument/2006/relationships/slide" Target="slides/slide22.xml"/><Relationship Id="rId56" Type="http://schemas.openxmlformats.org/officeDocument/2006/relationships/slide" Target="slides/slide23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27.w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37.wmf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026" cy="465297"/>
          </a:xfrm>
          <a:prstGeom prst="rect">
            <a:avLst/>
          </a:prstGeom>
        </p:spPr>
        <p:txBody>
          <a:bodyPr vert="horz" lIns="91467" tIns="45734" rIns="91467" bIns="4573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486" y="0"/>
            <a:ext cx="3043026" cy="465297"/>
          </a:xfrm>
          <a:prstGeom prst="rect">
            <a:avLst/>
          </a:prstGeom>
        </p:spPr>
        <p:txBody>
          <a:bodyPr vert="horz" lIns="91467" tIns="45734" rIns="91467" bIns="45734" rtlCol="0"/>
          <a:lstStyle>
            <a:lvl1pPr algn="r">
              <a:defRPr sz="1200"/>
            </a:lvl1pPr>
          </a:lstStyle>
          <a:p>
            <a:fld id="{EE2650E8-05E4-4E7E-B5AC-F81B47EC6D99}" type="datetimeFigureOut">
              <a:rPr lang="en-US" smtClean="0"/>
              <a:pPr/>
              <a:t>5/1/2011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216"/>
            <a:ext cx="3043026" cy="465297"/>
          </a:xfrm>
          <a:prstGeom prst="rect">
            <a:avLst/>
          </a:prstGeom>
        </p:spPr>
        <p:txBody>
          <a:bodyPr vert="horz" lIns="91467" tIns="45734" rIns="91467" bIns="4573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486" y="8842216"/>
            <a:ext cx="3043026" cy="465297"/>
          </a:xfrm>
          <a:prstGeom prst="rect">
            <a:avLst/>
          </a:prstGeom>
        </p:spPr>
        <p:txBody>
          <a:bodyPr vert="horz" lIns="91467" tIns="45734" rIns="91467" bIns="45734" rtlCol="0" anchor="b"/>
          <a:lstStyle>
            <a:lvl1pPr algn="r">
              <a:defRPr sz="1200"/>
            </a:lvl1pPr>
          </a:lstStyle>
          <a:p>
            <a:fld id="{B246B444-12A1-4CB2-B64B-548BBBC8663E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AutoShape 1"/>
          <p:cNvSpPr>
            <a:spLocks noChangeArrowheads="1"/>
          </p:cNvSpPr>
          <p:nvPr/>
        </p:nvSpPr>
        <p:spPr bwMode="auto">
          <a:xfrm>
            <a:off x="1" y="1"/>
            <a:ext cx="7023100" cy="9309100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 w="9525">
            <a:noFill/>
            <a:round/>
            <a:headEnd/>
            <a:tailEnd/>
          </a:ln>
          <a:effectLst/>
        </p:spPr>
        <p:txBody>
          <a:bodyPr wrap="none" lIns="88266" tIns="44133" rIns="88266" bIns="44133" anchor="ctr"/>
          <a:lstStyle/>
          <a:p>
            <a:endParaRPr lang="en-US" dirty="0"/>
          </a:p>
        </p:txBody>
      </p:sp>
      <p:sp>
        <p:nvSpPr>
          <p:cNvPr id="2050" name="Text Box 2"/>
          <p:cNvSpPr txBox="1">
            <a:spLocks noChangeArrowheads="1"/>
          </p:cNvSpPr>
          <p:nvPr/>
        </p:nvSpPr>
        <p:spPr bwMode="auto">
          <a:xfrm>
            <a:off x="0" y="0"/>
            <a:ext cx="3043649" cy="46484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wrap="none" lIns="88266" tIns="44133" rIns="88266" bIns="44133" anchor="ctr"/>
          <a:lstStyle/>
          <a:p>
            <a:endParaRPr lang="en-US" dirty="0"/>
          </a:p>
        </p:txBody>
      </p:sp>
      <p:sp>
        <p:nvSpPr>
          <p:cNvPr id="2051" name="Text Box 3"/>
          <p:cNvSpPr txBox="1">
            <a:spLocks noChangeArrowheads="1"/>
          </p:cNvSpPr>
          <p:nvPr/>
        </p:nvSpPr>
        <p:spPr bwMode="auto">
          <a:xfrm>
            <a:off x="3977928" y="0"/>
            <a:ext cx="3043649" cy="46484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wrap="none" lIns="88266" tIns="44133" rIns="88266" bIns="44133" anchor="ctr"/>
          <a:lstStyle/>
          <a:p>
            <a:endParaRPr lang="en-US" dirty="0"/>
          </a:p>
        </p:txBody>
      </p:sp>
      <p:sp>
        <p:nvSpPr>
          <p:cNvPr id="2052" name="Rectangle 4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84275" y="698500"/>
            <a:ext cx="4652963" cy="3489325"/>
          </a:xfrm>
          <a:prstGeom prst="rect">
            <a:avLst/>
          </a:prstGeom>
          <a:noFill/>
          <a:ln w="9360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2053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702616" y="4422131"/>
            <a:ext cx="5616346" cy="418663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3479" tIns="46566" rIns="93479" bIns="46566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smtClean="0"/>
          </a:p>
        </p:txBody>
      </p:sp>
      <p:sp>
        <p:nvSpPr>
          <p:cNvPr id="2054" name="Text Box 6"/>
          <p:cNvSpPr txBox="1">
            <a:spLocks noChangeArrowheads="1"/>
          </p:cNvSpPr>
          <p:nvPr/>
        </p:nvSpPr>
        <p:spPr bwMode="auto">
          <a:xfrm>
            <a:off x="0" y="8842722"/>
            <a:ext cx="3043649" cy="46484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wrap="none" lIns="88266" tIns="44133" rIns="88266" bIns="44133" anchor="ctr"/>
          <a:lstStyle/>
          <a:p>
            <a:endParaRPr lang="en-US" dirty="0"/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977928" y="8842722"/>
            <a:ext cx="3042124" cy="46330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3479" tIns="46566" rIns="93479" bIns="46566" numCol="1" anchor="b" anchorCtr="0" compatLnSpc="1">
            <a:prstTxWarp prst="textNoShape">
              <a:avLst/>
            </a:prstTxWarp>
          </a:bodyPr>
          <a:lstStyle>
            <a:lvl1pPr algn="r">
              <a:tabLst>
                <a:tab pos="0" algn="l"/>
                <a:tab pos="882661" algn="l"/>
                <a:tab pos="1765321" algn="l"/>
                <a:tab pos="2647982" algn="l"/>
                <a:tab pos="3530643" algn="l"/>
                <a:tab pos="4413304" algn="l"/>
                <a:tab pos="5295964" algn="l"/>
                <a:tab pos="6178625" algn="l"/>
                <a:tab pos="7061286" algn="l"/>
                <a:tab pos="7943946" algn="l"/>
                <a:tab pos="8826607" algn="l"/>
                <a:tab pos="9709268" algn="l"/>
              </a:tabLst>
              <a:defRPr sz="1300">
                <a:solidFill>
                  <a:srgbClr val="000000"/>
                </a:solidFill>
              </a:defRPr>
            </a:lvl1pPr>
          </a:lstStyle>
          <a:p>
            <a:fld id="{90E86409-8C02-4D3A-B09D-8A8663F6C49E}" type="slidenum">
              <a:rPr lang="en-US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6" charset="0"/>
      <a:defRPr sz="1200" kern="1200">
        <a:solidFill>
          <a:srgbClr val="000000"/>
        </a:solidFill>
        <a:latin typeface="Times New Roman" pitchFamily="16" charset="0"/>
        <a:ea typeface="+mn-ea"/>
        <a:cs typeface="+mn-cs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6" charset="0"/>
      <a:defRPr sz="1200" kern="1200">
        <a:solidFill>
          <a:srgbClr val="000000"/>
        </a:solidFill>
        <a:latin typeface="Times New Roman" pitchFamily="16" charset="0"/>
        <a:ea typeface="+mn-ea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6" charset="0"/>
      <a:defRPr sz="1200" kern="1200">
        <a:solidFill>
          <a:srgbClr val="000000"/>
        </a:solidFill>
        <a:latin typeface="Times New Roman" pitchFamily="16" charset="0"/>
        <a:ea typeface="+mn-ea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6" charset="0"/>
      <a:defRPr sz="1200" kern="1200">
        <a:solidFill>
          <a:srgbClr val="000000"/>
        </a:solidFill>
        <a:latin typeface="Times New Roman" pitchFamily="16" charset="0"/>
        <a:ea typeface="+mn-ea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6" charset="0"/>
      <a:defRPr sz="1200" kern="1200">
        <a:solidFill>
          <a:srgbClr val="000000"/>
        </a:solidFill>
        <a:latin typeface="Times New Roman" pitchFamily="16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750" y="1239838"/>
            <a:ext cx="4051300" cy="51831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43450" y="1239838"/>
            <a:ext cx="4051300" cy="51831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1000" y="269875"/>
            <a:ext cx="2063750" cy="61531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9750" y="269875"/>
            <a:ext cx="6038850" cy="61531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69875"/>
            <a:ext cx="7154863" cy="808038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9750" y="1239838"/>
            <a:ext cx="4048125" cy="517683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40275" y="1239838"/>
            <a:ext cx="4048125" cy="517683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FFFFFF"/>
            </a:gs>
            <a:gs pos="50000">
              <a:srgbClr val="FFFFFF"/>
            </a:gs>
            <a:gs pos="100000">
              <a:srgbClr val="FFFFFF"/>
            </a:gs>
          </a:gsLst>
          <a:lin ang="189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1239838"/>
            <a:ext cx="8255000" cy="5183187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87480" tIns="42840" rIns="87480" bIns="4284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smtClean="0"/>
              <a:t>Click to edit the outline text format</a:t>
            </a:r>
          </a:p>
          <a:p>
            <a:pPr lvl="1"/>
            <a:r>
              <a:rPr lang="en-GB" smtClean="0"/>
              <a:t>Second Outline Level</a:t>
            </a:r>
          </a:p>
          <a:p>
            <a:pPr lvl="2"/>
            <a:r>
              <a:rPr lang="en-GB" smtClean="0"/>
              <a:t>Third Outline Level</a:t>
            </a:r>
          </a:p>
          <a:p>
            <a:pPr lvl="3"/>
            <a:r>
              <a:rPr lang="en-GB" smtClean="0"/>
              <a:t>Fourth Outline Level</a:t>
            </a:r>
          </a:p>
          <a:p>
            <a:pPr lvl="4"/>
            <a:r>
              <a:rPr lang="en-GB" smtClean="0"/>
              <a:t>Fifth Outline Level</a:t>
            </a:r>
          </a:p>
          <a:p>
            <a:pPr lvl="4"/>
            <a:r>
              <a:rPr lang="en-GB" smtClean="0"/>
              <a:t>Sixth Outline Level</a:t>
            </a:r>
          </a:p>
          <a:p>
            <a:pPr lvl="4"/>
            <a:r>
              <a:rPr lang="en-GB" smtClean="0"/>
              <a:t>Seventh Outline Level</a:t>
            </a:r>
          </a:p>
          <a:p>
            <a:pPr lvl="4"/>
            <a:r>
              <a:rPr lang="en-GB" smtClean="0"/>
              <a:t>Eighth Outline Level</a:t>
            </a:r>
          </a:p>
          <a:p>
            <a:pPr lvl="4"/>
            <a:r>
              <a:rPr lang="en-GB" smtClean="0"/>
              <a:t>Ninth Outline Level</a:t>
            </a:r>
          </a:p>
        </p:txBody>
      </p:sp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7869238" y="6635750"/>
            <a:ext cx="1085572" cy="225016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wrap="none" lIns="87480" tIns="42840" rIns="87480" bIns="42840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" b="1" dirty="0">
                <a:solidFill>
                  <a:srgbClr val="000000"/>
                </a:solidFill>
              </a:rPr>
              <a:t>CES </a:t>
            </a:r>
            <a:r>
              <a:rPr lang="en-US" sz="400" b="1" dirty="0" smtClean="0">
                <a:solidFill>
                  <a:srgbClr val="000000"/>
                </a:solidFill>
              </a:rPr>
              <a:t>AFOSR Workshop 100527 </a:t>
            </a:r>
            <a:fld id="{90D26167-8F8E-4910-8E9D-33323C4B4EF6}" type="slidenum">
              <a:rPr lang="en-US" sz="900" b="1">
                <a:solidFill>
                  <a:srgbClr val="000000"/>
                </a:solidFill>
              </a:rPr>
              <a: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sz="900" b="1" dirty="0">
              <a:solidFill>
                <a:srgbClr val="000000"/>
              </a:solidFill>
            </a:endParaRPr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3627438" y="0"/>
            <a:ext cx="1361568" cy="27918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wrap="none" lIns="90000" tIns="46800" rIns="90000" bIns="46800">
            <a:spAutoFit/>
          </a:bodyPr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1" dirty="0" smtClean="0">
                <a:solidFill>
                  <a:srgbClr val="000000"/>
                </a:solidFill>
              </a:rPr>
              <a:t>UNCLASSIFIED</a:t>
            </a:r>
            <a:endParaRPr lang="en-US" sz="1200" b="1" dirty="0">
              <a:solidFill>
                <a:srgbClr val="000000"/>
              </a:solidFill>
            </a:endParaRP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title"/>
          </p:nvPr>
        </p:nvSpPr>
        <p:spPr bwMode="auto">
          <a:xfrm>
            <a:off x="990600" y="269875"/>
            <a:ext cx="7161213" cy="814388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45720" tIns="47520" rIns="90000" bIns="475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smtClean="0"/>
              <a:t>Click to edit the title text format</a:t>
            </a:r>
          </a:p>
        </p:txBody>
      </p:sp>
      <p:sp>
        <p:nvSpPr>
          <p:cNvPr id="1029" name="Rectangle 5"/>
          <p:cNvSpPr>
            <a:spLocks noChangeArrowheads="1"/>
          </p:cNvSpPr>
          <p:nvPr/>
        </p:nvSpPr>
        <p:spPr bwMode="auto">
          <a:xfrm>
            <a:off x="0" y="1028700"/>
            <a:ext cx="9144000" cy="92075"/>
          </a:xfrm>
          <a:prstGeom prst="rect">
            <a:avLst/>
          </a:prstGeom>
          <a:gradFill rotWithShape="0">
            <a:gsLst>
              <a:gs pos="0">
                <a:srgbClr val="FED910"/>
              </a:gs>
              <a:gs pos="100000">
                <a:srgbClr val="0D2B88"/>
              </a:gs>
            </a:gsLst>
            <a:path path="rect">
              <a:fillToRect l="100000" b="100000"/>
            </a:path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 dirty="0"/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14" cstate="print"/>
          <a:srcRect l="16376" t="2377" r="12497" b="21284"/>
          <a:stretch>
            <a:fillRect/>
          </a:stretch>
        </p:blipFill>
        <p:spPr bwMode="auto">
          <a:xfrm>
            <a:off x="14288" y="52388"/>
            <a:ext cx="1189037" cy="96996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8153400" y="609600"/>
            <a:ext cx="990600" cy="169863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16" cstate="print"/>
          <a:srcRect/>
          <a:stretch>
            <a:fillRect/>
          </a:stretch>
        </p:blipFill>
        <p:spPr bwMode="auto">
          <a:xfrm>
            <a:off x="8077200" y="152400"/>
            <a:ext cx="471488" cy="45085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</p:pic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17" cstate="print"/>
          <a:srcRect/>
          <a:stretch>
            <a:fillRect/>
          </a:stretch>
        </p:blipFill>
        <p:spPr bwMode="auto">
          <a:xfrm>
            <a:off x="8624888" y="152400"/>
            <a:ext cx="519112" cy="493713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</p:pic>
      <p:pic>
        <p:nvPicPr>
          <p:cNvPr id="1035" name="Picture 11"/>
          <p:cNvPicPr>
            <a:picLocks noChangeAspect="1" noChangeArrowheads="1"/>
          </p:cNvPicPr>
          <p:nvPr/>
        </p:nvPicPr>
        <p:blipFill>
          <a:blip r:embed="rId18" cstate="print"/>
          <a:srcRect/>
          <a:stretch>
            <a:fillRect/>
          </a:stretch>
        </p:blipFill>
        <p:spPr bwMode="auto">
          <a:xfrm>
            <a:off x="8153400" y="0"/>
            <a:ext cx="819150" cy="12065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</p:pic>
      <p:grpSp>
        <p:nvGrpSpPr>
          <p:cNvPr id="1036" name="Group 12"/>
          <p:cNvGrpSpPr>
            <a:grpSpLocks/>
          </p:cNvGrpSpPr>
          <p:nvPr/>
        </p:nvGrpSpPr>
        <p:grpSpPr bwMode="auto">
          <a:xfrm>
            <a:off x="8074025" y="787400"/>
            <a:ext cx="1068388" cy="277813"/>
            <a:chOff x="5086" y="496"/>
            <a:chExt cx="673" cy="175"/>
          </a:xfrm>
        </p:grpSpPr>
        <p:sp>
          <p:nvSpPr>
            <p:cNvPr id="1037" name="AutoShape 13"/>
            <p:cNvSpPr>
              <a:spLocks noChangeArrowheads="1"/>
            </p:cNvSpPr>
            <p:nvPr/>
          </p:nvSpPr>
          <p:spPr bwMode="auto">
            <a:xfrm>
              <a:off x="5086" y="496"/>
              <a:ext cx="674" cy="176"/>
            </a:xfrm>
            <a:prstGeom prst="roundRect">
              <a:avLst>
                <a:gd name="adj" fmla="val 565"/>
              </a:avLst>
            </a:prstGeom>
            <a:noFill/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1038" name="Group 14"/>
            <p:cNvGrpSpPr>
              <a:grpSpLocks/>
            </p:cNvGrpSpPr>
            <p:nvPr/>
          </p:nvGrpSpPr>
          <p:grpSpPr bwMode="auto">
            <a:xfrm>
              <a:off x="5330" y="526"/>
              <a:ext cx="389" cy="49"/>
              <a:chOff x="5330" y="526"/>
              <a:chExt cx="389" cy="49"/>
            </a:xfrm>
          </p:grpSpPr>
          <p:sp>
            <p:nvSpPr>
              <p:cNvPr id="1039" name="AutoShape 15"/>
              <p:cNvSpPr>
                <a:spLocks noChangeArrowheads="1"/>
              </p:cNvSpPr>
              <p:nvPr/>
            </p:nvSpPr>
            <p:spPr bwMode="auto">
              <a:xfrm>
                <a:off x="5410" y="526"/>
                <a:ext cx="97" cy="50"/>
              </a:xfrm>
              <a:custGeom>
                <a:avLst/>
                <a:gdLst>
                  <a:gd name="T0" fmla="*/ 152 w 373"/>
                  <a:gd name="T1" fmla="*/ 0 h 234"/>
                  <a:gd name="T2" fmla="*/ 373 w 373"/>
                  <a:gd name="T3" fmla="*/ 0 h 234"/>
                  <a:gd name="T4" fmla="*/ 340 w 373"/>
                  <a:gd name="T5" fmla="*/ 49 h 234"/>
                  <a:gd name="T6" fmla="*/ 230 w 373"/>
                  <a:gd name="T7" fmla="*/ 49 h 234"/>
                  <a:gd name="T8" fmla="*/ 203 w 373"/>
                  <a:gd name="T9" fmla="*/ 91 h 234"/>
                  <a:gd name="T10" fmla="*/ 314 w 373"/>
                  <a:gd name="T11" fmla="*/ 91 h 234"/>
                  <a:gd name="T12" fmla="*/ 281 w 373"/>
                  <a:gd name="T13" fmla="*/ 140 h 234"/>
                  <a:gd name="T14" fmla="*/ 171 w 373"/>
                  <a:gd name="T15" fmla="*/ 140 h 234"/>
                  <a:gd name="T16" fmla="*/ 142 w 373"/>
                  <a:gd name="T17" fmla="*/ 185 h 234"/>
                  <a:gd name="T18" fmla="*/ 252 w 373"/>
                  <a:gd name="T19" fmla="*/ 185 h 234"/>
                  <a:gd name="T20" fmla="*/ 221 w 373"/>
                  <a:gd name="T21" fmla="*/ 234 h 234"/>
                  <a:gd name="T22" fmla="*/ 0 w 373"/>
                  <a:gd name="T23" fmla="*/ 234 h 234"/>
                  <a:gd name="T24" fmla="*/ 152 w 373"/>
                  <a:gd name="T25" fmla="*/ 0 h 234"/>
                  <a:gd name="T26" fmla="*/ 0 w 373"/>
                  <a:gd name="T27" fmla="*/ 0 h 234"/>
                  <a:gd name="T28" fmla="*/ 373 w 373"/>
                  <a:gd name="T29" fmla="*/ 234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T26" t="T27" r="T28" b="T29"/>
                <a:pathLst>
                  <a:path w="373" h="234">
                    <a:moveTo>
                      <a:pt x="152" y="0"/>
                    </a:moveTo>
                    <a:lnTo>
                      <a:pt x="373" y="0"/>
                    </a:lnTo>
                    <a:lnTo>
                      <a:pt x="340" y="49"/>
                    </a:lnTo>
                    <a:lnTo>
                      <a:pt x="230" y="49"/>
                    </a:lnTo>
                    <a:lnTo>
                      <a:pt x="203" y="91"/>
                    </a:lnTo>
                    <a:lnTo>
                      <a:pt x="314" y="91"/>
                    </a:lnTo>
                    <a:lnTo>
                      <a:pt x="281" y="140"/>
                    </a:lnTo>
                    <a:lnTo>
                      <a:pt x="171" y="140"/>
                    </a:lnTo>
                    <a:lnTo>
                      <a:pt x="142" y="185"/>
                    </a:lnTo>
                    <a:lnTo>
                      <a:pt x="252" y="185"/>
                    </a:lnTo>
                    <a:lnTo>
                      <a:pt x="221" y="234"/>
                    </a:lnTo>
                    <a:lnTo>
                      <a:pt x="0" y="234"/>
                    </a:lnTo>
                    <a:lnTo>
                      <a:pt x="152" y="0"/>
                    </a:lnTo>
                    <a:close/>
                  </a:path>
                </a:pathLst>
              </a:custGeom>
              <a:solidFill>
                <a:srgbClr val="0400BA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1040" name="AutoShape 16"/>
              <p:cNvSpPr>
                <a:spLocks noChangeArrowheads="1"/>
              </p:cNvSpPr>
              <p:nvPr/>
            </p:nvSpPr>
            <p:spPr bwMode="auto">
              <a:xfrm>
                <a:off x="5483" y="526"/>
                <a:ext cx="68" cy="50"/>
              </a:xfrm>
              <a:custGeom>
                <a:avLst/>
                <a:gdLst>
                  <a:gd name="T0" fmla="*/ 0 w 263"/>
                  <a:gd name="T1" fmla="*/ 234 h 234"/>
                  <a:gd name="T2" fmla="*/ 152 w 263"/>
                  <a:gd name="T3" fmla="*/ 0 h 234"/>
                  <a:gd name="T4" fmla="*/ 263 w 263"/>
                  <a:gd name="T5" fmla="*/ 0 h 234"/>
                  <a:gd name="T6" fmla="*/ 110 w 263"/>
                  <a:gd name="T7" fmla="*/ 234 h 234"/>
                  <a:gd name="T8" fmla="*/ 0 w 263"/>
                  <a:gd name="T9" fmla="*/ 234 h 234"/>
                  <a:gd name="T10" fmla="*/ 0 w 263"/>
                  <a:gd name="T11" fmla="*/ 0 h 234"/>
                  <a:gd name="T12" fmla="*/ 263 w 263"/>
                  <a:gd name="T13" fmla="*/ 234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T10" t="T11" r="T12" b="T13"/>
                <a:pathLst>
                  <a:path w="263" h="234">
                    <a:moveTo>
                      <a:pt x="0" y="234"/>
                    </a:moveTo>
                    <a:lnTo>
                      <a:pt x="152" y="0"/>
                    </a:lnTo>
                    <a:lnTo>
                      <a:pt x="263" y="0"/>
                    </a:lnTo>
                    <a:lnTo>
                      <a:pt x="110" y="234"/>
                    </a:lnTo>
                    <a:lnTo>
                      <a:pt x="0" y="234"/>
                    </a:lnTo>
                    <a:close/>
                  </a:path>
                </a:pathLst>
              </a:custGeom>
              <a:solidFill>
                <a:srgbClr val="0400BA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1041" name="AutoShape 17"/>
              <p:cNvSpPr>
                <a:spLocks noChangeArrowheads="1"/>
              </p:cNvSpPr>
              <p:nvPr/>
            </p:nvSpPr>
            <p:spPr bwMode="auto">
              <a:xfrm>
                <a:off x="5531" y="526"/>
                <a:ext cx="107" cy="50"/>
              </a:xfrm>
              <a:custGeom>
                <a:avLst/>
                <a:gdLst>
                  <a:gd name="T0" fmla="*/ 261 w 412"/>
                  <a:gd name="T1" fmla="*/ 119 h 234"/>
                  <a:gd name="T2" fmla="*/ 237 w 412"/>
                  <a:gd name="T3" fmla="*/ 0 h 234"/>
                  <a:gd name="T4" fmla="*/ 151 w 412"/>
                  <a:gd name="T5" fmla="*/ 0 h 234"/>
                  <a:gd name="T6" fmla="*/ 0 w 412"/>
                  <a:gd name="T7" fmla="*/ 234 h 234"/>
                  <a:gd name="T8" fmla="*/ 73 w 412"/>
                  <a:gd name="T9" fmla="*/ 234 h 234"/>
                  <a:gd name="T10" fmla="*/ 149 w 412"/>
                  <a:gd name="T11" fmla="*/ 116 h 234"/>
                  <a:gd name="T12" fmla="*/ 172 w 412"/>
                  <a:gd name="T13" fmla="*/ 234 h 234"/>
                  <a:gd name="T14" fmla="*/ 259 w 412"/>
                  <a:gd name="T15" fmla="*/ 234 h 234"/>
                  <a:gd name="T16" fmla="*/ 412 w 412"/>
                  <a:gd name="T17" fmla="*/ 0 h 234"/>
                  <a:gd name="T18" fmla="*/ 338 w 412"/>
                  <a:gd name="T19" fmla="*/ 0 h 234"/>
                  <a:gd name="T20" fmla="*/ 261 w 412"/>
                  <a:gd name="T21" fmla="*/ 119 h 234"/>
                  <a:gd name="T22" fmla="*/ 0 w 412"/>
                  <a:gd name="T23" fmla="*/ 0 h 234"/>
                  <a:gd name="T24" fmla="*/ 412 w 412"/>
                  <a:gd name="T25" fmla="*/ 234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T22" t="T23" r="T24" b="T25"/>
                <a:pathLst>
                  <a:path w="412" h="234">
                    <a:moveTo>
                      <a:pt x="261" y="119"/>
                    </a:moveTo>
                    <a:lnTo>
                      <a:pt x="237" y="0"/>
                    </a:lnTo>
                    <a:lnTo>
                      <a:pt x="151" y="0"/>
                    </a:lnTo>
                    <a:lnTo>
                      <a:pt x="0" y="234"/>
                    </a:lnTo>
                    <a:lnTo>
                      <a:pt x="73" y="234"/>
                    </a:lnTo>
                    <a:lnTo>
                      <a:pt x="149" y="116"/>
                    </a:lnTo>
                    <a:lnTo>
                      <a:pt x="172" y="234"/>
                    </a:lnTo>
                    <a:lnTo>
                      <a:pt x="259" y="234"/>
                    </a:lnTo>
                    <a:lnTo>
                      <a:pt x="412" y="0"/>
                    </a:lnTo>
                    <a:lnTo>
                      <a:pt x="338" y="0"/>
                    </a:lnTo>
                    <a:lnTo>
                      <a:pt x="261" y="119"/>
                    </a:lnTo>
                    <a:close/>
                  </a:path>
                </a:pathLst>
              </a:custGeom>
              <a:solidFill>
                <a:srgbClr val="0400BA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1042" name="AutoShape 18"/>
              <p:cNvSpPr>
                <a:spLocks noChangeArrowheads="1"/>
              </p:cNvSpPr>
              <p:nvPr/>
            </p:nvSpPr>
            <p:spPr bwMode="auto">
              <a:xfrm>
                <a:off x="5622" y="526"/>
                <a:ext cx="98" cy="50"/>
              </a:xfrm>
              <a:custGeom>
                <a:avLst/>
                <a:gdLst>
                  <a:gd name="T0" fmla="*/ 222 w 376"/>
                  <a:gd name="T1" fmla="*/ 107 h 234"/>
                  <a:gd name="T2" fmla="*/ 176 w 376"/>
                  <a:gd name="T3" fmla="*/ 179 h 234"/>
                  <a:gd name="T4" fmla="*/ 166 w 376"/>
                  <a:gd name="T5" fmla="*/ 185 h 234"/>
                  <a:gd name="T6" fmla="*/ 130 w 376"/>
                  <a:gd name="T7" fmla="*/ 185 h 234"/>
                  <a:gd name="T8" fmla="*/ 124 w 376"/>
                  <a:gd name="T9" fmla="*/ 183 h 234"/>
                  <a:gd name="T10" fmla="*/ 122 w 376"/>
                  <a:gd name="T11" fmla="*/ 177 h 234"/>
                  <a:gd name="T12" fmla="*/ 123 w 376"/>
                  <a:gd name="T13" fmla="*/ 171 h 234"/>
                  <a:gd name="T14" fmla="*/ 200 w 376"/>
                  <a:gd name="T15" fmla="*/ 55 h 234"/>
                  <a:gd name="T16" fmla="*/ 209 w 376"/>
                  <a:gd name="T17" fmla="*/ 49 h 234"/>
                  <a:gd name="T18" fmla="*/ 246 w 376"/>
                  <a:gd name="T19" fmla="*/ 49 h 234"/>
                  <a:gd name="T20" fmla="*/ 252 w 376"/>
                  <a:gd name="T21" fmla="*/ 51 h 234"/>
                  <a:gd name="T22" fmla="*/ 254 w 376"/>
                  <a:gd name="T23" fmla="*/ 57 h 234"/>
                  <a:gd name="T24" fmla="*/ 253 w 376"/>
                  <a:gd name="T25" fmla="*/ 62 h 234"/>
                  <a:gd name="T26" fmla="*/ 350 w 376"/>
                  <a:gd name="T27" fmla="*/ 80 h 234"/>
                  <a:gd name="T28" fmla="*/ 373 w 376"/>
                  <a:gd name="T29" fmla="*/ 42 h 234"/>
                  <a:gd name="T30" fmla="*/ 375 w 376"/>
                  <a:gd name="T31" fmla="*/ 25 h 234"/>
                  <a:gd name="T32" fmla="*/ 371 w 376"/>
                  <a:gd name="T33" fmla="*/ 13 h 234"/>
                  <a:gd name="T34" fmla="*/ 363 w 376"/>
                  <a:gd name="T35" fmla="*/ 6 h 234"/>
                  <a:gd name="T36" fmla="*/ 354 w 376"/>
                  <a:gd name="T37" fmla="*/ 0 h 234"/>
                  <a:gd name="T38" fmla="*/ 172 w 376"/>
                  <a:gd name="T39" fmla="*/ 0 h 234"/>
                  <a:gd name="T40" fmla="*/ 149 w 376"/>
                  <a:gd name="T41" fmla="*/ 3 h 234"/>
                  <a:gd name="T42" fmla="*/ 130 w 376"/>
                  <a:gd name="T43" fmla="*/ 12 h 234"/>
                  <a:gd name="T44" fmla="*/ 112 w 376"/>
                  <a:gd name="T45" fmla="*/ 25 h 234"/>
                  <a:gd name="T46" fmla="*/ 98 w 376"/>
                  <a:gd name="T47" fmla="*/ 43 h 234"/>
                  <a:gd name="T48" fmla="*/ 1 w 376"/>
                  <a:gd name="T49" fmla="*/ 192 h 234"/>
                  <a:gd name="T50" fmla="*/ 1 w 376"/>
                  <a:gd name="T51" fmla="*/ 208 h 234"/>
                  <a:gd name="T52" fmla="*/ 5 w 376"/>
                  <a:gd name="T53" fmla="*/ 220 h 234"/>
                  <a:gd name="T54" fmla="*/ 13 w 376"/>
                  <a:gd name="T55" fmla="*/ 228 h 234"/>
                  <a:gd name="T56" fmla="*/ 22 w 376"/>
                  <a:gd name="T57" fmla="*/ 234 h 234"/>
                  <a:gd name="T58" fmla="*/ 204 w 376"/>
                  <a:gd name="T59" fmla="*/ 234 h 234"/>
                  <a:gd name="T60" fmla="*/ 226 w 376"/>
                  <a:gd name="T61" fmla="*/ 231 h 234"/>
                  <a:gd name="T62" fmla="*/ 246 w 376"/>
                  <a:gd name="T63" fmla="*/ 222 h 234"/>
                  <a:gd name="T64" fmla="*/ 264 w 376"/>
                  <a:gd name="T65" fmla="*/ 208 h 234"/>
                  <a:gd name="T66" fmla="*/ 278 w 376"/>
                  <a:gd name="T67" fmla="*/ 190 h 234"/>
                  <a:gd name="T68" fmla="*/ 326 w 376"/>
                  <a:gd name="T69" fmla="*/ 156 h 234"/>
                  <a:gd name="T70" fmla="*/ 0 w 376"/>
                  <a:gd name="T71" fmla="*/ 0 h 234"/>
                  <a:gd name="T72" fmla="*/ 376 w 376"/>
                  <a:gd name="T73" fmla="*/ 234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T70" t="T71" r="T72" b="T73"/>
                <a:pathLst>
                  <a:path w="376" h="234">
                    <a:moveTo>
                      <a:pt x="358" y="107"/>
                    </a:moveTo>
                    <a:lnTo>
                      <a:pt x="222" y="107"/>
                    </a:lnTo>
                    <a:lnTo>
                      <a:pt x="180" y="174"/>
                    </a:lnTo>
                    <a:lnTo>
                      <a:pt x="176" y="179"/>
                    </a:lnTo>
                    <a:lnTo>
                      <a:pt x="172" y="182"/>
                    </a:lnTo>
                    <a:lnTo>
                      <a:pt x="166" y="185"/>
                    </a:lnTo>
                    <a:lnTo>
                      <a:pt x="160" y="185"/>
                    </a:lnTo>
                    <a:lnTo>
                      <a:pt x="130" y="185"/>
                    </a:lnTo>
                    <a:lnTo>
                      <a:pt x="127" y="185"/>
                    </a:lnTo>
                    <a:lnTo>
                      <a:pt x="124" y="183"/>
                    </a:lnTo>
                    <a:lnTo>
                      <a:pt x="123" y="180"/>
                    </a:lnTo>
                    <a:lnTo>
                      <a:pt x="122" y="177"/>
                    </a:lnTo>
                    <a:lnTo>
                      <a:pt x="123" y="174"/>
                    </a:lnTo>
                    <a:lnTo>
                      <a:pt x="123" y="171"/>
                    </a:lnTo>
                    <a:lnTo>
                      <a:pt x="196" y="59"/>
                    </a:lnTo>
                    <a:lnTo>
                      <a:pt x="200" y="55"/>
                    </a:lnTo>
                    <a:lnTo>
                      <a:pt x="204" y="52"/>
                    </a:lnTo>
                    <a:lnTo>
                      <a:pt x="209" y="49"/>
                    </a:lnTo>
                    <a:lnTo>
                      <a:pt x="216" y="49"/>
                    </a:lnTo>
                    <a:lnTo>
                      <a:pt x="246" y="49"/>
                    </a:lnTo>
                    <a:lnTo>
                      <a:pt x="249" y="49"/>
                    </a:lnTo>
                    <a:lnTo>
                      <a:pt x="252" y="51"/>
                    </a:lnTo>
                    <a:lnTo>
                      <a:pt x="253" y="54"/>
                    </a:lnTo>
                    <a:lnTo>
                      <a:pt x="254" y="57"/>
                    </a:lnTo>
                    <a:lnTo>
                      <a:pt x="253" y="59"/>
                    </a:lnTo>
                    <a:lnTo>
                      <a:pt x="253" y="62"/>
                    </a:lnTo>
                    <a:lnTo>
                      <a:pt x="240" y="80"/>
                    </a:lnTo>
                    <a:lnTo>
                      <a:pt x="350" y="80"/>
                    </a:lnTo>
                    <a:lnTo>
                      <a:pt x="370" y="51"/>
                    </a:lnTo>
                    <a:lnTo>
                      <a:pt x="373" y="42"/>
                    </a:lnTo>
                    <a:lnTo>
                      <a:pt x="376" y="31"/>
                    </a:lnTo>
                    <a:lnTo>
                      <a:pt x="375" y="25"/>
                    </a:lnTo>
                    <a:lnTo>
                      <a:pt x="373" y="19"/>
                    </a:lnTo>
                    <a:lnTo>
                      <a:pt x="371" y="13"/>
                    </a:lnTo>
                    <a:lnTo>
                      <a:pt x="367" y="9"/>
                    </a:lnTo>
                    <a:lnTo>
                      <a:pt x="363" y="6"/>
                    </a:lnTo>
                    <a:lnTo>
                      <a:pt x="359" y="3"/>
                    </a:lnTo>
                    <a:lnTo>
                      <a:pt x="354" y="0"/>
                    </a:lnTo>
                    <a:lnTo>
                      <a:pt x="349" y="0"/>
                    </a:lnTo>
                    <a:lnTo>
                      <a:pt x="172" y="0"/>
                    </a:lnTo>
                    <a:lnTo>
                      <a:pt x="160" y="0"/>
                    </a:lnTo>
                    <a:lnTo>
                      <a:pt x="149" y="3"/>
                    </a:lnTo>
                    <a:lnTo>
                      <a:pt x="139" y="6"/>
                    </a:lnTo>
                    <a:lnTo>
                      <a:pt x="130" y="12"/>
                    </a:lnTo>
                    <a:lnTo>
                      <a:pt x="121" y="18"/>
                    </a:lnTo>
                    <a:lnTo>
                      <a:pt x="112" y="25"/>
                    </a:lnTo>
                    <a:lnTo>
                      <a:pt x="104" y="33"/>
                    </a:lnTo>
                    <a:lnTo>
                      <a:pt x="98" y="43"/>
                    </a:lnTo>
                    <a:lnTo>
                      <a:pt x="5" y="183"/>
                    </a:lnTo>
                    <a:lnTo>
                      <a:pt x="1" y="192"/>
                    </a:lnTo>
                    <a:lnTo>
                      <a:pt x="0" y="202"/>
                    </a:lnTo>
                    <a:lnTo>
                      <a:pt x="1" y="208"/>
                    </a:lnTo>
                    <a:lnTo>
                      <a:pt x="3" y="214"/>
                    </a:lnTo>
                    <a:lnTo>
                      <a:pt x="5" y="220"/>
                    </a:lnTo>
                    <a:lnTo>
                      <a:pt x="8" y="225"/>
                    </a:lnTo>
                    <a:lnTo>
                      <a:pt x="13" y="228"/>
                    </a:lnTo>
                    <a:lnTo>
                      <a:pt x="17" y="231"/>
                    </a:lnTo>
                    <a:lnTo>
                      <a:pt x="22" y="234"/>
                    </a:lnTo>
                    <a:lnTo>
                      <a:pt x="27" y="234"/>
                    </a:lnTo>
                    <a:lnTo>
                      <a:pt x="204" y="234"/>
                    </a:lnTo>
                    <a:lnTo>
                      <a:pt x="216" y="232"/>
                    </a:lnTo>
                    <a:lnTo>
                      <a:pt x="226" y="231"/>
                    </a:lnTo>
                    <a:lnTo>
                      <a:pt x="236" y="226"/>
                    </a:lnTo>
                    <a:lnTo>
                      <a:pt x="246" y="222"/>
                    </a:lnTo>
                    <a:lnTo>
                      <a:pt x="255" y="216"/>
                    </a:lnTo>
                    <a:lnTo>
                      <a:pt x="264" y="208"/>
                    </a:lnTo>
                    <a:lnTo>
                      <a:pt x="272" y="199"/>
                    </a:lnTo>
                    <a:lnTo>
                      <a:pt x="278" y="190"/>
                    </a:lnTo>
                    <a:lnTo>
                      <a:pt x="300" y="156"/>
                    </a:lnTo>
                    <a:lnTo>
                      <a:pt x="326" y="156"/>
                    </a:lnTo>
                    <a:lnTo>
                      <a:pt x="358" y="107"/>
                    </a:lnTo>
                    <a:close/>
                  </a:path>
                </a:pathLst>
              </a:custGeom>
              <a:solidFill>
                <a:srgbClr val="0400BA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1043" name="AutoShape 19"/>
              <p:cNvSpPr>
                <a:spLocks noChangeArrowheads="1"/>
              </p:cNvSpPr>
              <p:nvPr/>
            </p:nvSpPr>
            <p:spPr bwMode="auto">
              <a:xfrm>
                <a:off x="5330" y="526"/>
                <a:ext cx="97" cy="50"/>
              </a:xfrm>
              <a:custGeom>
                <a:avLst/>
                <a:gdLst>
                  <a:gd name="T0" fmla="*/ 354 w 375"/>
                  <a:gd name="T1" fmla="*/ 0 h 234"/>
                  <a:gd name="T2" fmla="*/ 363 w 375"/>
                  <a:gd name="T3" fmla="*/ 6 h 234"/>
                  <a:gd name="T4" fmla="*/ 371 w 375"/>
                  <a:gd name="T5" fmla="*/ 13 h 234"/>
                  <a:gd name="T6" fmla="*/ 375 w 375"/>
                  <a:gd name="T7" fmla="*/ 25 h 234"/>
                  <a:gd name="T8" fmla="*/ 373 w 375"/>
                  <a:gd name="T9" fmla="*/ 42 h 234"/>
                  <a:gd name="T10" fmla="*/ 253 w 375"/>
                  <a:gd name="T11" fmla="*/ 62 h 234"/>
                  <a:gd name="T12" fmla="*/ 254 w 375"/>
                  <a:gd name="T13" fmla="*/ 57 h 234"/>
                  <a:gd name="T14" fmla="*/ 252 w 375"/>
                  <a:gd name="T15" fmla="*/ 51 h 234"/>
                  <a:gd name="T16" fmla="*/ 246 w 375"/>
                  <a:gd name="T17" fmla="*/ 49 h 234"/>
                  <a:gd name="T18" fmla="*/ 209 w 375"/>
                  <a:gd name="T19" fmla="*/ 49 h 234"/>
                  <a:gd name="T20" fmla="*/ 200 w 375"/>
                  <a:gd name="T21" fmla="*/ 55 h 234"/>
                  <a:gd name="T22" fmla="*/ 123 w 375"/>
                  <a:gd name="T23" fmla="*/ 171 h 234"/>
                  <a:gd name="T24" fmla="*/ 122 w 375"/>
                  <a:gd name="T25" fmla="*/ 177 h 234"/>
                  <a:gd name="T26" fmla="*/ 125 w 375"/>
                  <a:gd name="T27" fmla="*/ 183 h 234"/>
                  <a:gd name="T28" fmla="*/ 130 w 375"/>
                  <a:gd name="T29" fmla="*/ 185 h 234"/>
                  <a:gd name="T30" fmla="*/ 166 w 375"/>
                  <a:gd name="T31" fmla="*/ 185 h 234"/>
                  <a:gd name="T32" fmla="*/ 176 w 375"/>
                  <a:gd name="T33" fmla="*/ 179 h 234"/>
                  <a:gd name="T34" fmla="*/ 253 w 375"/>
                  <a:gd name="T35" fmla="*/ 62 h 234"/>
                  <a:gd name="T36" fmla="*/ 279 w 375"/>
                  <a:gd name="T37" fmla="*/ 190 h 234"/>
                  <a:gd name="T38" fmla="*/ 264 w 375"/>
                  <a:gd name="T39" fmla="*/ 208 h 234"/>
                  <a:gd name="T40" fmla="*/ 246 w 375"/>
                  <a:gd name="T41" fmla="*/ 222 h 234"/>
                  <a:gd name="T42" fmla="*/ 226 w 375"/>
                  <a:gd name="T43" fmla="*/ 231 h 234"/>
                  <a:gd name="T44" fmla="*/ 204 w 375"/>
                  <a:gd name="T45" fmla="*/ 234 h 234"/>
                  <a:gd name="T46" fmla="*/ 22 w 375"/>
                  <a:gd name="T47" fmla="*/ 234 h 234"/>
                  <a:gd name="T48" fmla="*/ 12 w 375"/>
                  <a:gd name="T49" fmla="*/ 228 h 234"/>
                  <a:gd name="T50" fmla="*/ 5 w 375"/>
                  <a:gd name="T51" fmla="*/ 220 h 234"/>
                  <a:gd name="T52" fmla="*/ 1 w 375"/>
                  <a:gd name="T53" fmla="*/ 208 h 234"/>
                  <a:gd name="T54" fmla="*/ 1 w 375"/>
                  <a:gd name="T55" fmla="*/ 192 h 234"/>
                  <a:gd name="T56" fmla="*/ 98 w 375"/>
                  <a:gd name="T57" fmla="*/ 43 h 234"/>
                  <a:gd name="T58" fmla="*/ 112 w 375"/>
                  <a:gd name="T59" fmla="*/ 25 h 234"/>
                  <a:gd name="T60" fmla="*/ 130 w 375"/>
                  <a:gd name="T61" fmla="*/ 12 h 234"/>
                  <a:gd name="T62" fmla="*/ 149 w 375"/>
                  <a:gd name="T63" fmla="*/ 3 h 234"/>
                  <a:gd name="T64" fmla="*/ 171 w 375"/>
                  <a:gd name="T65" fmla="*/ 0 h 234"/>
                  <a:gd name="T66" fmla="*/ 0 w 375"/>
                  <a:gd name="T67" fmla="*/ 0 h 234"/>
                  <a:gd name="T68" fmla="*/ 375 w 375"/>
                  <a:gd name="T69" fmla="*/ 234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T66" t="T67" r="T68" b="T69"/>
                <a:pathLst>
                  <a:path w="375" h="234">
                    <a:moveTo>
                      <a:pt x="348" y="0"/>
                    </a:moveTo>
                    <a:lnTo>
                      <a:pt x="354" y="0"/>
                    </a:lnTo>
                    <a:lnTo>
                      <a:pt x="359" y="3"/>
                    </a:lnTo>
                    <a:lnTo>
                      <a:pt x="363" y="6"/>
                    </a:lnTo>
                    <a:lnTo>
                      <a:pt x="367" y="9"/>
                    </a:lnTo>
                    <a:lnTo>
                      <a:pt x="371" y="13"/>
                    </a:lnTo>
                    <a:lnTo>
                      <a:pt x="373" y="19"/>
                    </a:lnTo>
                    <a:lnTo>
                      <a:pt x="375" y="25"/>
                    </a:lnTo>
                    <a:lnTo>
                      <a:pt x="375" y="31"/>
                    </a:lnTo>
                    <a:lnTo>
                      <a:pt x="373" y="42"/>
                    </a:lnTo>
                    <a:lnTo>
                      <a:pt x="370" y="51"/>
                    </a:lnTo>
                    <a:lnTo>
                      <a:pt x="253" y="62"/>
                    </a:lnTo>
                    <a:lnTo>
                      <a:pt x="253" y="59"/>
                    </a:lnTo>
                    <a:lnTo>
                      <a:pt x="254" y="57"/>
                    </a:lnTo>
                    <a:lnTo>
                      <a:pt x="253" y="54"/>
                    </a:lnTo>
                    <a:lnTo>
                      <a:pt x="252" y="51"/>
                    </a:lnTo>
                    <a:lnTo>
                      <a:pt x="249" y="49"/>
                    </a:lnTo>
                    <a:lnTo>
                      <a:pt x="246" y="49"/>
                    </a:lnTo>
                    <a:lnTo>
                      <a:pt x="216" y="49"/>
                    </a:lnTo>
                    <a:lnTo>
                      <a:pt x="209" y="49"/>
                    </a:lnTo>
                    <a:lnTo>
                      <a:pt x="204" y="52"/>
                    </a:lnTo>
                    <a:lnTo>
                      <a:pt x="200" y="55"/>
                    </a:lnTo>
                    <a:lnTo>
                      <a:pt x="196" y="59"/>
                    </a:lnTo>
                    <a:lnTo>
                      <a:pt x="123" y="171"/>
                    </a:lnTo>
                    <a:lnTo>
                      <a:pt x="122" y="174"/>
                    </a:lnTo>
                    <a:lnTo>
                      <a:pt x="122" y="177"/>
                    </a:lnTo>
                    <a:lnTo>
                      <a:pt x="123" y="180"/>
                    </a:lnTo>
                    <a:lnTo>
                      <a:pt x="125" y="183"/>
                    </a:lnTo>
                    <a:lnTo>
                      <a:pt x="126" y="185"/>
                    </a:lnTo>
                    <a:lnTo>
                      <a:pt x="130" y="185"/>
                    </a:lnTo>
                    <a:lnTo>
                      <a:pt x="160" y="185"/>
                    </a:lnTo>
                    <a:lnTo>
                      <a:pt x="166" y="185"/>
                    </a:lnTo>
                    <a:lnTo>
                      <a:pt x="171" y="182"/>
                    </a:lnTo>
                    <a:lnTo>
                      <a:pt x="176" y="179"/>
                    </a:lnTo>
                    <a:lnTo>
                      <a:pt x="180" y="174"/>
                    </a:lnTo>
                    <a:lnTo>
                      <a:pt x="253" y="62"/>
                    </a:lnTo>
                    <a:lnTo>
                      <a:pt x="370" y="51"/>
                    </a:lnTo>
                    <a:lnTo>
                      <a:pt x="279" y="190"/>
                    </a:lnTo>
                    <a:lnTo>
                      <a:pt x="272" y="199"/>
                    </a:lnTo>
                    <a:lnTo>
                      <a:pt x="264" y="208"/>
                    </a:lnTo>
                    <a:lnTo>
                      <a:pt x="255" y="216"/>
                    </a:lnTo>
                    <a:lnTo>
                      <a:pt x="246" y="222"/>
                    </a:lnTo>
                    <a:lnTo>
                      <a:pt x="236" y="226"/>
                    </a:lnTo>
                    <a:lnTo>
                      <a:pt x="226" y="231"/>
                    </a:lnTo>
                    <a:lnTo>
                      <a:pt x="216" y="232"/>
                    </a:lnTo>
                    <a:lnTo>
                      <a:pt x="204" y="234"/>
                    </a:lnTo>
                    <a:lnTo>
                      <a:pt x="27" y="234"/>
                    </a:lnTo>
                    <a:lnTo>
                      <a:pt x="22" y="234"/>
                    </a:lnTo>
                    <a:lnTo>
                      <a:pt x="17" y="231"/>
                    </a:lnTo>
                    <a:lnTo>
                      <a:pt x="12" y="228"/>
                    </a:lnTo>
                    <a:lnTo>
                      <a:pt x="8" y="225"/>
                    </a:lnTo>
                    <a:lnTo>
                      <a:pt x="5" y="220"/>
                    </a:lnTo>
                    <a:lnTo>
                      <a:pt x="3" y="214"/>
                    </a:lnTo>
                    <a:lnTo>
                      <a:pt x="1" y="208"/>
                    </a:lnTo>
                    <a:lnTo>
                      <a:pt x="0" y="202"/>
                    </a:lnTo>
                    <a:lnTo>
                      <a:pt x="1" y="192"/>
                    </a:lnTo>
                    <a:lnTo>
                      <a:pt x="5" y="183"/>
                    </a:lnTo>
                    <a:lnTo>
                      <a:pt x="98" y="43"/>
                    </a:lnTo>
                    <a:lnTo>
                      <a:pt x="104" y="33"/>
                    </a:lnTo>
                    <a:lnTo>
                      <a:pt x="112" y="25"/>
                    </a:lnTo>
                    <a:lnTo>
                      <a:pt x="121" y="18"/>
                    </a:lnTo>
                    <a:lnTo>
                      <a:pt x="130" y="12"/>
                    </a:lnTo>
                    <a:lnTo>
                      <a:pt x="139" y="6"/>
                    </a:lnTo>
                    <a:lnTo>
                      <a:pt x="149" y="3"/>
                    </a:lnTo>
                    <a:lnTo>
                      <a:pt x="160" y="0"/>
                    </a:lnTo>
                    <a:lnTo>
                      <a:pt x="171" y="0"/>
                    </a:lnTo>
                    <a:lnTo>
                      <a:pt x="348" y="0"/>
                    </a:lnTo>
                    <a:close/>
                  </a:path>
                </a:pathLst>
              </a:custGeom>
              <a:solidFill>
                <a:srgbClr val="0400BA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 dirty="0"/>
              </a:p>
            </p:txBody>
          </p:sp>
        </p:grpSp>
        <p:grpSp>
          <p:nvGrpSpPr>
            <p:cNvPr id="1044" name="Group 20"/>
            <p:cNvGrpSpPr>
              <a:grpSpLocks/>
            </p:cNvGrpSpPr>
            <p:nvPr/>
          </p:nvGrpSpPr>
          <p:grpSpPr bwMode="auto">
            <a:xfrm>
              <a:off x="5086" y="496"/>
              <a:ext cx="174" cy="136"/>
              <a:chOff x="5086" y="496"/>
              <a:chExt cx="174" cy="136"/>
            </a:xfrm>
          </p:grpSpPr>
          <p:sp>
            <p:nvSpPr>
              <p:cNvPr id="1045" name="AutoShape 21"/>
              <p:cNvSpPr>
                <a:spLocks noChangeArrowheads="1"/>
              </p:cNvSpPr>
              <p:nvPr/>
            </p:nvSpPr>
            <p:spPr bwMode="auto">
              <a:xfrm>
                <a:off x="5086" y="512"/>
                <a:ext cx="100" cy="95"/>
              </a:xfrm>
              <a:custGeom>
                <a:avLst/>
                <a:gdLst>
                  <a:gd name="T0" fmla="*/ 234 w 389"/>
                  <a:gd name="T1" fmla="*/ 5 h 451"/>
                  <a:gd name="T2" fmla="*/ 287 w 389"/>
                  <a:gd name="T3" fmla="*/ 27 h 451"/>
                  <a:gd name="T4" fmla="*/ 332 w 389"/>
                  <a:gd name="T5" fmla="*/ 66 h 451"/>
                  <a:gd name="T6" fmla="*/ 366 w 389"/>
                  <a:gd name="T7" fmla="*/ 118 h 451"/>
                  <a:gd name="T8" fmla="*/ 385 w 389"/>
                  <a:gd name="T9" fmla="*/ 181 h 451"/>
                  <a:gd name="T10" fmla="*/ 388 w 389"/>
                  <a:gd name="T11" fmla="*/ 249 h 451"/>
                  <a:gd name="T12" fmla="*/ 373 w 389"/>
                  <a:gd name="T13" fmla="*/ 315 h 451"/>
                  <a:gd name="T14" fmla="*/ 345 w 389"/>
                  <a:gd name="T15" fmla="*/ 370 h 451"/>
                  <a:gd name="T16" fmla="*/ 303 w 389"/>
                  <a:gd name="T17" fmla="*/ 414 h 451"/>
                  <a:gd name="T18" fmla="*/ 253 w 389"/>
                  <a:gd name="T19" fmla="*/ 443 h 451"/>
                  <a:gd name="T20" fmla="*/ 194 w 389"/>
                  <a:gd name="T21" fmla="*/ 451 h 451"/>
                  <a:gd name="T22" fmla="*/ 136 w 389"/>
                  <a:gd name="T23" fmla="*/ 443 h 451"/>
                  <a:gd name="T24" fmla="*/ 86 w 389"/>
                  <a:gd name="T25" fmla="*/ 414 h 451"/>
                  <a:gd name="T26" fmla="*/ 44 w 389"/>
                  <a:gd name="T27" fmla="*/ 370 h 451"/>
                  <a:gd name="T28" fmla="*/ 15 w 389"/>
                  <a:gd name="T29" fmla="*/ 315 h 451"/>
                  <a:gd name="T30" fmla="*/ 0 w 389"/>
                  <a:gd name="T31" fmla="*/ 249 h 451"/>
                  <a:gd name="T32" fmla="*/ 4 w 389"/>
                  <a:gd name="T33" fmla="*/ 181 h 451"/>
                  <a:gd name="T34" fmla="*/ 23 w 389"/>
                  <a:gd name="T35" fmla="*/ 118 h 451"/>
                  <a:gd name="T36" fmla="*/ 56 w 389"/>
                  <a:gd name="T37" fmla="*/ 66 h 451"/>
                  <a:gd name="T38" fmla="*/ 101 w 389"/>
                  <a:gd name="T39" fmla="*/ 27 h 451"/>
                  <a:gd name="T40" fmla="*/ 155 w 389"/>
                  <a:gd name="T41" fmla="*/ 5 h 451"/>
                  <a:gd name="T42" fmla="*/ 194 w 389"/>
                  <a:gd name="T43" fmla="*/ 17 h 451"/>
                  <a:gd name="T44" fmla="*/ 141 w 389"/>
                  <a:gd name="T45" fmla="*/ 27 h 451"/>
                  <a:gd name="T46" fmla="*/ 94 w 389"/>
                  <a:gd name="T47" fmla="*/ 53 h 451"/>
                  <a:gd name="T48" fmla="*/ 55 w 389"/>
                  <a:gd name="T49" fmla="*/ 93 h 451"/>
                  <a:gd name="T50" fmla="*/ 28 w 389"/>
                  <a:gd name="T51" fmla="*/ 145 h 451"/>
                  <a:gd name="T52" fmla="*/ 15 w 389"/>
                  <a:gd name="T53" fmla="*/ 204 h 451"/>
                  <a:gd name="T54" fmla="*/ 18 w 389"/>
                  <a:gd name="T55" fmla="*/ 268 h 451"/>
                  <a:gd name="T56" fmla="*/ 36 w 389"/>
                  <a:gd name="T57" fmla="*/ 326 h 451"/>
                  <a:gd name="T58" fmla="*/ 67 w 389"/>
                  <a:gd name="T59" fmla="*/ 374 h 451"/>
                  <a:gd name="T60" fmla="*/ 108 w 389"/>
                  <a:gd name="T61" fmla="*/ 410 h 451"/>
                  <a:gd name="T62" fmla="*/ 158 w 389"/>
                  <a:gd name="T63" fmla="*/ 431 h 451"/>
                  <a:gd name="T64" fmla="*/ 213 w 389"/>
                  <a:gd name="T65" fmla="*/ 434 h 451"/>
                  <a:gd name="T66" fmla="*/ 264 w 389"/>
                  <a:gd name="T67" fmla="*/ 419 h 451"/>
                  <a:gd name="T68" fmla="*/ 309 w 389"/>
                  <a:gd name="T69" fmla="*/ 387 h 451"/>
                  <a:gd name="T70" fmla="*/ 344 w 389"/>
                  <a:gd name="T71" fmla="*/ 343 h 451"/>
                  <a:gd name="T72" fmla="*/ 366 w 389"/>
                  <a:gd name="T73" fmla="*/ 288 h 451"/>
                  <a:gd name="T74" fmla="*/ 375 w 389"/>
                  <a:gd name="T75" fmla="*/ 227 h 451"/>
                  <a:gd name="T76" fmla="*/ 366 w 389"/>
                  <a:gd name="T77" fmla="*/ 164 h 451"/>
                  <a:gd name="T78" fmla="*/ 344 w 389"/>
                  <a:gd name="T79" fmla="*/ 109 h 451"/>
                  <a:gd name="T80" fmla="*/ 309 w 389"/>
                  <a:gd name="T81" fmla="*/ 64 h 451"/>
                  <a:gd name="T82" fmla="*/ 264 w 389"/>
                  <a:gd name="T83" fmla="*/ 33 h 451"/>
                  <a:gd name="T84" fmla="*/ 213 w 389"/>
                  <a:gd name="T85" fmla="*/ 18 h 451"/>
                  <a:gd name="T86" fmla="*/ 0 w 389"/>
                  <a:gd name="T87" fmla="*/ 0 h 451"/>
                  <a:gd name="T88" fmla="*/ 389 w 389"/>
                  <a:gd name="T89" fmla="*/ 451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T86" t="T87" r="T88" b="T89"/>
                <a:pathLst>
                  <a:path w="389" h="451">
                    <a:moveTo>
                      <a:pt x="194" y="0"/>
                    </a:moveTo>
                    <a:lnTo>
                      <a:pt x="214" y="2"/>
                    </a:lnTo>
                    <a:lnTo>
                      <a:pt x="234" y="5"/>
                    </a:lnTo>
                    <a:lnTo>
                      <a:pt x="253" y="11"/>
                    </a:lnTo>
                    <a:lnTo>
                      <a:pt x="269" y="18"/>
                    </a:lnTo>
                    <a:lnTo>
                      <a:pt x="287" y="27"/>
                    </a:lnTo>
                    <a:lnTo>
                      <a:pt x="303" y="39"/>
                    </a:lnTo>
                    <a:lnTo>
                      <a:pt x="318" y="51"/>
                    </a:lnTo>
                    <a:lnTo>
                      <a:pt x="332" y="66"/>
                    </a:lnTo>
                    <a:lnTo>
                      <a:pt x="345" y="82"/>
                    </a:lnTo>
                    <a:lnTo>
                      <a:pt x="355" y="100"/>
                    </a:lnTo>
                    <a:lnTo>
                      <a:pt x="366" y="118"/>
                    </a:lnTo>
                    <a:lnTo>
                      <a:pt x="373" y="139"/>
                    </a:lnTo>
                    <a:lnTo>
                      <a:pt x="380" y="158"/>
                    </a:lnTo>
                    <a:lnTo>
                      <a:pt x="385" y="181"/>
                    </a:lnTo>
                    <a:lnTo>
                      <a:pt x="388" y="203"/>
                    </a:lnTo>
                    <a:lnTo>
                      <a:pt x="389" y="227"/>
                    </a:lnTo>
                    <a:lnTo>
                      <a:pt x="388" y="249"/>
                    </a:lnTo>
                    <a:lnTo>
                      <a:pt x="385" y="271"/>
                    </a:lnTo>
                    <a:lnTo>
                      <a:pt x="380" y="294"/>
                    </a:lnTo>
                    <a:lnTo>
                      <a:pt x="373" y="315"/>
                    </a:lnTo>
                    <a:lnTo>
                      <a:pt x="366" y="334"/>
                    </a:lnTo>
                    <a:lnTo>
                      <a:pt x="355" y="353"/>
                    </a:lnTo>
                    <a:lnTo>
                      <a:pt x="345" y="370"/>
                    </a:lnTo>
                    <a:lnTo>
                      <a:pt x="332" y="386"/>
                    </a:lnTo>
                    <a:lnTo>
                      <a:pt x="318" y="401"/>
                    </a:lnTo>
                    <a:lnTo>
                      <a:pt x="303" y="414"/>
                    </a:lnTo>
                    <a:lnTo>
                      <a:pt x="287" y="425"/>
                    </a:lnTo>
                    <a:lnTo>
                      <a:pt x="269" y="435"/>
                    </a:lnTo>
                    <a:lnTo>
                      <a:pt x="253" y="443"/>
                    </a:lnTo>
                    <a:lnTo>
                      <a:pt x="234" y="447"/>
                    </a:lnTo>
                    <a:lnTo>
                      <a:pt x="214" y="451"/>
                    </a:lnTo>
                    <a:lnTo>
                      <a:pt x="194" y="451"/>
                    </a:lnTo>
                    <a:lnTo>
                      <a:pt x="175" y="451"/>
                    </a:lnTo>
                    <a:lnTo>
                      <a:pt x="155" y="447"/>
                    </a:lnTo>
                    <a:lnTo>
                      <a:pt x="136" y="443"/>
                    </a:lnTo>
                    <a:lnTo>
                      <a:pt x="118" y="435"/>
                    </a:lnTo>
                    <a:lnTo>
                      <a:pt x="101" y="425"/>
                    </a:lnTo>
                    <a:lnTo>
                      <a:pt x="86" y="414"/>
                    </a:lnTo>
                    <a:lnTo>
                      <a:pt x="71" y="401"/>
                    </a:lnTo>
                    <a:lnTo>
                      <a:pt x="56" y="386"/>
                    </a:lnTo>
                    <a:lnTo>
                      <a:pt x="44" y="370"/>
                    </a:lnTo>
                    <a:lnTo>
                      <a:pt x="33" y="353"/>
                    </a:lnTo>
                    <a:lnTo>
                      <a:pt x="23" y="334"/>
                    </a:lnTo>
                    <a:lnTo>
                      <a:pt x="15" y="315"/>
                    </a:lnTo>
                    <a:lnTo>
                      <a:pt x="8" y="294"/>
                    </a:lnTo>
                    <a:lnTo>
                      <a:pt x="4" y="271"/>
                    </a:lnTo>
                    <a:lnTo>
                      <a:pt x="0" y="249"/>
                    </a:lnTo>
                    <a:lnTo>
                      <a:pt x="0" y="227"/>
                    </a:lnTo>
                    <a:lnTo>
                      <a:pt x="0" y="203"/>
                    </a:lnTo>
                    <a:lnTo>
                      <a:pt x="4" y="181"/>
                    </a:lnTo>
                    <a:lnTo>
                      <a:pt x="8" y="158"/>
                    </a:lnTo>
                    <a:lnTo>
                      <a:pt x="15" y="139"/>
                    </a:lnTo>
                    <a:lnTo>
                      <a:pt x="23" y="118"/>
                    </a:lnTo>
                    <a:lnTo>
                      <a:pt x="33" y="100"/>
                    </a:lnTo>
                    <a:lnTo>
                      <a:pt x="44" y="82"/>
                    </a:lnTo>
                    <a:lnTo>
                      <a:pt x="56" y="66"/>
                    </a:lnTo>
                    <a:lnTo>
                      <a:pt x="71" y="51"/>
                    </a:lnTo>
                    <a:lnTo>
                      <a:pt x="86" y="39"/>
                    </a:lnTo>
                    <a:lnTo>
                      <a:pt x="101" y="27"/>
                    </a:lnTo>
                    <a:lnTo>
                      <a:pt x="118" y="18"/>
                    </a:lnTo>
                    <a:lnTo>
                      <a:pt x="136" y="11"/>
                    </a:lnTo>
                    <a:lnTo>
                      <a:pt x="155" y="5"/>
                    </a:lnTo>
                    <a:lnTo>
                      <a:pt x="175" y="2"/>
                    </a:lnTo>
                    <a:lnTo>
                      <a:pt x="194" y="0"/>
                    </a:lnTo>
                    <a:lnTo>
                      <a:pt x="194" y="17"/>
                    </a:lnTo>
                    <a:lnTo>
                      <a:pt x="176" y="18"/>
                    </a:lnTo>
                    <a:lnTo>
                      <a:pt x="158" y="21"/>
                    </a:lnTo>
                    <a:lnTo>
                      <a:pt x="141" y="27"/>
                    </a:lnTo>
                    <a:lnTo>
                      <a:pt x="124" y="33"/>
                    </a:lnTo>
                    <a:lnTo>
                      <a:pt x="108" y="42"/>
                    </a:lnTo>
                    <a:lnTo>
                      <a:pt x="94" y="53"/>
                    </a:lnTo>
                    <a:lnTo>
                      <a:pt x="80" y="64"/>
                    </a:lnTo>
                    <a:lnTo>
                      <a:pt x="67" y="78"/>
                    </a:lnTo>
                    <a:lnTo>
                      <a:pt x="55" y="93"/>
                    </a:lnTo>
                    <a:lnTo>
                      <a:pt x="45" y="109"/>
                    </a:lnTo>
                    <a:lnTo>
                      <a:pt x="36" y="127"/>
                    </a:lnTo>
                    <a:lnTo>
                      <a:pt x="28" y="145"/>
                    </a:lnTo>
                    <a:lnTo>
                      <a:pt x="22" y="164"/>
                    </a:lnTo>
                    <a:lnTo>
                      <a:pt x="18" y="184"/>
                    </a:lnTo>
                    <a:lnTo>
                      <a:pt x="15" y="204"/>
                    </a:lnTo>
                    <a:lnTo>
                      <a:pt x="14" y="227"/>
                    </a:lnTo>
                    <a:lnTo>
                      <a:pt x="15" y="248"/>
                    </a:lnTo>
                    <a:lnTo>
                      <a:pt x="18" y="268"/>
                    </a:lnTo>
                    <a:lnTo>
                      <a:pt x="22" y="288"/>
                    </a:lnTo>
                    <a:lnTo>
                      <a:pt x="28" y="307"/>
                    </a:lnTo>
                    <a:lnTo>
                      <a:pt x="36" y="326"/>
                    </a:lnTo>
                    <a:lnTo>
                      <a:pt x="45" y="343"/>
                    </a:lnTo>
                    <a:lnTo>
                      <a:pt x="55" y="359"/>
                    </a:lnTo>
                    <a:lnTo>
                      <a:pt x="67" y="374"/>
                    </a:lnTo>
                    <a:lnTo>
                      <a:pt x="80" y="387"/>
                    </a:lnTo>
                    <a:lnTo>
                      <a:pt x="94" y="399"/>
                    </a:lnTo>
                    <a:lnTo>
                      <a:pt x="108" y="410"/>
                    </a:lnTo>
                    <a:lnTo>
                      <a:pt x="124" y="419"/>
                    </a:lnTo>
                    <a:lnTo>
                      <a:pt x="141" y="426"/>
                    </a:lnTo>
                    <a:lnTo>
                      <a:pt x="158" y="431"/>
                    </a:lnTo>
                    <a:lnTo>
                      <a:pt x="176" y="434"/>
                    </a:lnTo>
                    <a:lnTo>
                      <a:pt x="194" y="435"/>
                    </a:lnTo>
                    <a:lnTo>
                      <a:pt x="213" y="434"/>
                    </a:lnTo>
                    <a:lnTo>
                      <a:pt x="231" y="431"/>
                    </a:lnTo>
                    <a:lnTo>
                      <a:pt x="248" y="426"/>
                    </a:lnTo>
                    <a:lnTo>
                      <a:pt x="264" y="419"/>
                    </a:lnTo>
                    <a:lnTo>
                      <a:pt x="280" y="410"/>
                    </a:lnTo>
                    <a:lnTo>
                      <a:pt x="295" y="399"/>
                    </a:lnTo>
                    <a:lnTo>
                      <a:pt x="309" y="387"/>
                    </a:lnTo>
                    <a:lnTo>
                      <a:pt x="322" y="374"/>
                    </a:lnTo>
                    <a:lnTo>
                      <a:pt x="334" y="359"/>
                    </a:lnTo>
                    <a:lnTo>
                      <a:pt x="344" y="343"/>
                    </a:lnTo>
                    <a:lnTo>
                      <a:pt x="353" y="326"/>
                    </a:lnTo>
                    <a:lnTo>
                      <a:pt x="361" y="307"/>
                    </a:lnTo>
                    <a:lnTo>
                      <a:pt x="366" y="288"/>
                    </a:lnTo>
                    <a:lnTo>
                      <a:pt x="371" y="268"/>
                    </a:lnTo>
                    <a:lnTo>
                      <a:pt x="373" y="248"/>
                    </a:lnTo>
                    <a:lnTo>
                      <a:pt x="375" y="227"/>
                    </a:lnTo>
                    <a:lnTo>
                      <a:pt x="373" y="204"/>
                    </a:lnTo>
                    <a:lnTo>
                      <a:pt x="371" y="184"/>
                    </a:lnTo>
                    <a:lnTo>
                      <a:pt x="366" y="164"/>
                    </a:lnTo>
                    <a:lnTo>
                      <a:pt x="361" y="145"/>
                    </a:lnTo>
                    <a:lnTo>
                      <a:pt x="353" y="127"/>
                    </a:lnTo>
                    <a:lnTo>
                      <a:pt x="344" y="109"/>
                    </a:lnTo>
                    <a:lnTo>
                      <a:pt x="334" y="93"/>
                    </a:lnTo>
                    <a:lnTo>
                      <a:pt x="322" y="78"/>
                    </a:lnTo>
                    <a:lnTo>
                      <a:pt x="309" y="64"/>
                    </a:lnTo>
                    <a:lnTo>
                      <a:pt x="295" y="53"/>
                    </a:lnTo>
                    <a:lnTo>
                      <a:pt x="280" y="42"/>
                    </a:lnTo>
                    <a:lnTo>
                      <a:pt x="264" y="33"/>
                    </a:lnTo>
                    <a:lnTo>
                      <a:pt x="248" y="27"/>
                    </a:lnTo>
                    <a:lnTo>
                      <a:pt x="231" y="21"/>
                    </a:lnTo>
                    <a:lnTo>
                      <a:pt x="213" y="18"/>
                    </a:lnTo>
                    <a:lnTo>
                      <a:pt x="194" y="17"/>
                    </a:lnTo>
                    <a:lnTo>
                      <a:pt x="194" y="0"/>
                    </a:lnTo>
                    <a:close/>
                  </a:path>
                </a:pathLst>
              </a:custGeom>
              <a:solidFill>
                <a:srgbClr val="878787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1046" name="AutoShape 22"/>
              <p:cNvSpPr>
                <a:spLocks noChangeArrowheads="1"/>
              </p:cNvSpPr>
              <p:nvPr/>
            </p:nvSpPr>
            <p:spPr bwMode="auto">
              <a:xfrm>
                <a:off x="5090" y="496"/>
                <a:ext cx="100" cy="137"/>
              </a:xfrm>
              <a:custGeom>
                <a:avLst/>
                <a:gdLst>
                  <a:gd name="T0" fmla="*/ 363 w 389"/>
                  <a:gd name="T1" fmla="*/ 18 h 646"/>
                  <a:gd name="T2" fmla="*/ 313 w 389"/>
                  <a:gd name="T3" fmla="*/ 58 h 646"/>
                  <a:gd name="T4" fmla="*/ 244 w 389"/>
                  <a:gd name="T5" fmla="*/ 125 h 646"/>
                  <a:gd name="T6" fmla="*/ 181 w 389"/>
                  <a:gd name="T7" fmla="*/ 195 h 646"/>
                  <a:gd name="T8" fmla="*/ 144 w 389"/>
                  <a:gd name="T9" fmla="*/ 244 h 646"/>
                  <a:gd name="T10" fmla="*/ 110 w 389"/>
                  <a:gd name="T11" fmla="*/ 295 h 646"/>
                  <a:gd name="T12" fmla="*/ 82 w 389"/>
                  <a:gd name="T13" fmla="*/ 342 h 646"/>
                  <a:gd name="T14" fmla="*/ 57 w 389"/>
                  <a:gd name="T15" fmla="*/ 391 h 646"/>
                  <a:gd name="T16" fmla="*/ 36 w 389"/>
                  <a:gd name="T17" fmla="*/ 438 h 646"/>
                  <a:gd name="T18" fmla="*/ 19 w 389"/>
                  <a:gd name="T19" fmla="*/ 481 h 646"/>
                  <a:gd name="T20" fmla="*/ 8 w 389"/>
                  <a:gd name="T21" fmla="*/ 521 h 646"/>
                  <a:gd name="T22" fmla="*/ 1 w 389"/>
                  <a:gd name="T23" fmla="*/ 557 h 646"/>
                  <a:gd name="T24" fmla="*/ 0 w 389"/>
                  <a:gd name="T25" fmla="*/ 588 h 646"/>
                  <a:gd name="T26" fmla="*/ 5 w 389"/>
                  <a:gd name="T27" fmla="*/ 613 h 646"/>
                  <a:gd name="T28" fmla="*/ 14 w 389"/>
                  <a:gd name="T29" fmla="*/ 633 h 646"/>
                  <a:gd name="T30" fmla="*/ 28 w 389"/>
                  <a:gd name="T31" fmla="*/ 643 h 646"/>
                  <a:gd name="T32" fmla="*/ 45 w 389"/>
                  <a:gd name="T33" fmla="*/ 646 h 646"/>
                  <a:gd name="T34" fmla="*/ 64 w 389"/>
                  <a:gd name="T35" fmla="*/ 643 h 646"/>
                  <a:gd name="T36" fmla="*/ 86 w 389"/>
                  <a:gd name="T37" fmla="*/ 634 h 646"/>
                  <a:gd name="T38" fmla="*/ 108 w 389"/>
                  <a:gd name="T39" fmla="*/ 621 h 646"/>
                  <a:gd name="T40" fmla="*/ 130 w 389"/>
                  <a:gd name="T41" fmla="*/ 601 h 646"/>
                  <a:gd name="T42" fmla="*/ 161 w 389"/>
                  <a:gd name="T43" fmla="*/ 566 h 646"/>
                  <a:gd name="T44" fmla="*/ 178 w 389"/>
                  <a:gd name="T45" fmla="*/ 537 h 646"/>
                  <a:gd name="T46" fmla="*/ 172 w 389"/>
                  <a:gd name="T47" fmla="*/ 543 h 646"/>
                  <a:gd name="T48" fmla="*/ 162 w 389"/>
                  <a:gd name="T49" fmla="*/ 554 h 646"/>
                  <a:gd name="T50" fmla="*/ 148 w 389"/>
                  <a:gd name="T51" fmla="*/ 566 h 646"/>
                  <a:gd name="T52" fmla="*/ 130 w 389"/>
                  <a:gd name="T53" fmla="*/ 578 h 646"/>
                  <a:gd name="T54" fmla="*/ 112 w 389"/>
                  <a:gd name="T55" fmla="*/ 588 h 646"/>
                  <a:gd name="T56" fmla="*/ 94 w 389"/>
                  <a:gd name="T57" fmla="*/ 595 h 646"/>
                  <a:gd name="T58" fmla="*/ 77 w 389"/>
                  <a:gd name="T59" fmla="*/ 595 h 646"/>
                  <a:gd name="T60" fmla="*/ 63 w 389"/>
                  <a:gd name="T61" fmla="*/ 589 h 646"/>
                  <a:gd name="T62" fmla="*/ 55 w 389"/>
                  <a:gd name="T63" fmla="*/ 578 h 646"/>
                  <a:gd name="T64" fmla="*/ 51 w 389"/>
                  <a:gd name="T65" fmla="*/ 560 h 646"/>
                  <a:gd name="T66" fmla="*/ 51 w 389"/>
                  <a:gd name="T67" fmla="*/ 536 h 646"/>
                  <a:gd name="T68" fmla="*/ 57 w 389"/>
                  <a:gd name="T69" fmla="*/ 506 h 646"/>
                  <a:gd name="T70" fmla="*/ 67 w 389"/>
                  <a:gd name="T71" fmla="*/ 473 h 646"/>
                  <a:gd name="T72" fmla="*/ 81 w 389"/>
                  <a:gd name="T73" fmla="*/ 438 h 646"/>
                  <a:gd name="T74" fmla="*/ 99 w 389"/>
                  <a:gd name="T75" fmla="*/ 397 h 646"/>
                  <a:gd name="T76" fmla="*/ 132 w 389"/>
                  <a:gd name="T77" fmla="*/ 332 h 646"/>
                  <a:gd name="T78" fmla="*/ 190 w 389"/>
                  <a:gd name="T79" fmla="*/ 238 h 646"/>
                  <a:gd name="T80" fmla="*/ 261 w 389"/>
                  <a:gd name="T81" fmla="*/ 141 h 646"/>
                  <a:gd name="T82" fmla="*/ 344 w 389"/>
                  <a:gd name="T83" fmla="*/ 46 h 646"/>
                  <a:gd name="T84" fmla="*/ 0 w 389"/>
                  <a:gd name="T85" fmla="*/ 0 h 646"/>
                  <a:gd name="T86" fmla="*/ 389 w 389"/>
                  <a:gd name="T87" fmla="*/ 646 h 6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</a:cxnLst>
                <a:rect l="T84" t="T85" r="T86" b="T87"/>
                <a:pathLst>
                  <a:path w="389" h="646">
                    <a:moveTo>
                      <a:pt x="389" y="0"/>
                    </a:moveTo>
                    <a:lnTo>
                      <a:pt x="363" y="18"/>
                    </a:lnTo>
                    <a:lnTo>
                      <a:pt x="338" y="37"/>
                    </a:lnTo>
                    <a:lnTo>
                      <a:pt x="313" y="58"/>
                    </a:lnTo>
                    <a:lnTo>
                      <a:pt x="289" y="79"/>
                    </a:lnTo>
                    <a:lnTo>
                      <a:pt x="244" y="125"/>
                    </a:lnTo>
                    <a:lnTo>
                      <a:pt x="202" y="171"/>
                    </a:lnTo>
                    <a:lnTo>
                      <a:pt x="181" y="195"/>
                    </a:lnTo>
                    <a:lnTo>
                      <a:pt x="162" y="220"/>
                    </a:lnTo>
                    <a:lnTo>
                      <a:pt x="144" y="244"/>
                    </a:lnTo>
                    <a:lnTo>
                      <a:pt x="127" y="269"/>
                    </a:lnTo>
                    <a:lnTo>
                      <a:pt x="110" y="295"/>
                    </a:lnTo>
                    <a:lnTo>
                      <a:pt x="96" y="319"/>
                    </a:lnTo>
                    <a:lnTo>
                      <a:pt x="82" y="342"/>
                    </a:lnTo>
                    <a:lnTo>
                      <a:pt x="68" y="368"/>
                    </a:lnTo>
                    <a:lnTo>
                      <a:pt x="57" y="391"/>
                    </a:lnTo>
                    <a:lnTo>
                      <a:pt x="45" y="414"/>
                    </a:lnTo>
                    <a:lnTo>
                      <a:pt x="36" y="438"/>
                    </a:lnTo>
                    <a:lnTo>
                      <a:pt x="27" y="458"/>
                    </a:lnTo>
                    <a:lnTo>
                      <a:pt x="19" y="481"/>
                    </a:lnTo>
                    <a:lnTo>
                      <a:pt x="13" y="500"/>
                    </a:lnTo>
                    <a:lnTo>
                      <a:pt x="8" y="521"/>
                    </a:lnTo>
                    <a:lnTo>
                      <a:pt x="4" y="539"/>
                    </a:lnTo>
                    <a:lnTo>
                      <a:pt x="1" y="557"/>
                    </a:lnTo>
                    <a:lnTo>
                      <a:pt x="0" y="573"/>
                    </a:lnTo>
                    <a:lnTo>
                      <a:pt x="0" y="588"/>
                    </a:lnTo>
                    <a:lnTo>
                      <a:pt x="3" y="601"/>
                    </a:lnTo>
                    <a:lnTo>
                      <a:pt x="5" y="613"/>
                    </a:lnTo>
                    <a:lnTo>
                      <a:pt x="9" y="624"/>
                    </a:lnTo>
                    <a:lnTo>
                      <a:pt x="14" y="633"/>
                    </a:lnTo>
                    <a:lnTo>
                      <a:pt x="22" y="639"/>
                    </a:lnTo>
                    <a:lnTo>
                      <a:pt x="28" y="643"/>
                    </a:lnTo>
                    <a:lnTo>
                      <a:pt x="37" y="646"/>
                    </a:lnTo>
                    <a:lnTo>
                      <a:pt x="45" y="646"/>
                    </a:lnTo>
                    <a:lnTo>
                      <a:pt x="55" y="646"/>
                    </a:lnTo>
                    <a:lnTo>
                      <a:pt x="64" y="643"/>
                    </a:lnTo>
                    <a:lnTo>
                      <a:pt x="75" y="640"/>
                    </a:lnTo>
                    <a:lnTo>
                      <a:pt x="86" y="634"/>
                    </a:lnTo>
                    <a:lnTo>
                      <a:pt x="96" y="628"/>
                    </a:lnTo>
                    <a:lnTo>
                      <a:pt x="108" y="621"/>
                    </a:lnTo>
                    <a:lnTo>
                      <a:pt x="118" y="612"/>
                    </a:lnTo>
                    <a:lnTo>
                      <a:pt x="130" y="601"/>
                    </a:lnTo>
                    <a:lnTo>
                      <a:pt x="140" y="589"/>
                    </a:lnTo>
                    <a:lnTo>
                      <a:pt x="161" y="566"/>
                    </a:lnTo>
                    <a:lnTo>
                      <a:pt x="180" y="536"/>
                    </a:lnTo>
                    <a:lnTo>
                      <a:pt x="178" y="537"/>
                    </a:lnTo>
                    <a:lnTo>
                      <a:pt x="176" y="539"/>
                    </a:lnTo>
                    <a:lnTo>
                      <a:pt x="172" y="543"/>
                    </a:lnTo>
                    <a:lnTo>
                      <a:pt x="168" y="548"/>
                    </a:lnTo>
                    <a:lnTo>
                      <a:pt x="162" y="554"/>
                    </a:lnTo>
                    <a:lnTo>
                      <a:pt x="155" y="560"/>
                    </a:lnTo>
                    <a:lnTo>
                      <a:pt x="148" y="566"/>
                    </a:lnTo>
                    <a:lnTo>
                      <a:pt x="139" y="572"/>
                    </a:lnTo>
                    <a:lnTo>
                      <a:pt x="130" y="578"/>
                    </a:lnTo>
                    <a:lnTo>
                      <a:pt x="121" y="583"/>
                    </a:lnTo>
                    <a:lnTo>
                      <a:pt x="112" y="588"/>
                    </a:lnTo>
                    <a:lnTo>
                      <a:pt x="103" y="592"/>
                    </a:lnTo>
                    <a:lnTo>
                      <a:pt x="94" y="595"/>
                    </a:lnTo>
                    <a:lnTo>
                      <a:pt x="85" y="595"/>
                    </a:lnTo>
                    <a:lnTo>
                      <a:pt x="77" y="595"/>
                    </a:lnTo>
                    <a:lnTo>
                      <a:pt x="69" y="594"/>
                    </a:lnTo>
                    <a:lnTo>
                      <a:pt x="63" y="589"/>
                    </a:lnTo>
                    <a:lnTo>
                      <a:pt x="58" y="585"/>
                    </a:lnTo>
                    <a:lnTo>
                      <a:pt x="55" y="578"/>
                    </a:lnTo>
                    <a:lnTo>
                      <a:pt x="53" y="569"/>
                    </a:lnTo>
                    <a:lnTo>
                      <a:pt x="51" y="560"/>
                    </a:lnTo>
                    <a:lnTo>
                      <a:pt x="50" y="548"/>
                    </a:lnTo>
                    <a:lnTo>
                      <a:pt x="51" y="536"/>
                    </a:lnTo>
                    <a:lnTo>
                      <a:pt x="54" y="521"/>
                    </a:lnTo>
                    <a:lnTo>
                      <a:pt x="57" y="506"/>
                    </a:lnTo>
                    <a:lnTo>
                      <a:pt x="62" y="491"/>
                    </a:lnTo>
                    <a:lnTo>
                      <a:pt x="67" y="473"/>
                    </a:lnTo>
                    <a:lnTo>
                      <a:pt x="73" y="455"/>
                    </a:lnTo>
                    <a:lnTo>
                      <a:pt x="81" y="438"/>
                    </a:lnTo>
                    <a:lnTo>
                      <a:pt x="89" y="417"/>
                    </a:lnTo>
                    <a:lnTo>
                      <a:pt x="99" y="397"/>
                    </a:lnTo>
                    <a:lnTo>
                      <a:pt x="109" y="377"/>
                    </a:lnTo>
                    <a:lnTo>
                      <a:pt x="132" y="332"/>
                    </a:lnTo>
                    <a:lnTo>
                      <a:pt x="159" y="286"/>
                    </a:lnTo>
                    <a:lnTo>
                      <a:pt x="190" y="238"/>
                    </a:lnTo>
                    <a:lnTo>
                      <a:pt x="225" y="191"/>
                    </a:lnTo>
                    <a:lnTo>
                      <a:pt x="261" y="141"/>
                    </a:lnTo>
                    <a:lnTo>
                      <a:pt x="300" y="94"/>
                    </a:lnTo>
                    <a:lnTo>
                      <a:pt x="344" y="46"/>
                    </a:lnTo>
                    <a:lnTo>
                      <a:pt x="389" y="0"/>
                    </a:lnTo>
                    <a:close/>
                  </a:path>
                </a:pathLst>
              </a:custGeom>
              <a:solidFill>
                <a:srgbClr val="878787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1047" name="AutoShape 23"/>
              <p:cNvSpPr>
                <a:spLocks noChangeArrowheads="1"/>
              </p:cNvSpPr>
              <p:nvPr/>
            </p:nvSpPr>
            <p:spPr bwMode="auto">
              <a:xfrm>
                <a:off x="5156" y="564"/>
                <a:ext cx="105" cy="33"/>
              </a:xfrm>
              <a:custGeom>
                <a:avLst/>
                <a:gdLst>
                  <a:gd name="T0" fmla="*/ 69 w 408"/>
                  <a:gd name="T1" fmla="*/ 153 h 153"/>
                  <a:gd name="T2" fmla="*/ 78 w 408"/>
                  <a:gd name="T3" fmla="*/ 152 h 153"/>
                  <a:gd name="T4" fmla="*/ 87 w 408"/>
                  <a:gd name="T5" fmla="*/ 152 h 153"/>
                  <a:gd name="T6" fmla="*/ 98 w 408"/>
                  <a:gd name="T7" fmla="*/ 150 h 153"/>
                  <a:gd name="T8" fmla="*/ 109 w 408"/>
                  <a:gd name="T9" fmla="*/ 150 h 153"/>
                  <a:gd name="T10" fmla="*/ 132 w 408"/>
                  <a:gd name="T11" fmla="*/ 149 h 153"/>
                  <a:gd name="T12" fmla="*/ 159 w 408"/>
                  <a:gd name="T13" fmla="*/ 147 h 153"/>
                  <a:gd name="T14" fmla="*/ 186 w 408"/>
                  <a:gd name="T15" fmla="*/ 146 h 153"/>
                  <a:gd name="T16" fmla="*/ 214 w 408"/>
                  <a:gd name="T17" fmla="*/ 144 h 153"/>
                  <a:gd name="T18" fmla="*/ 243 w 408"/>
                  <a:gd name="T19" fmla="*/ 143 h 153"/>
                  <a:gd name="T20" fmla="*/ 271 w 408"/>
                  <a:gd name="T21" fmla="*/ 141 h 153"/>
                  <a:gd name="T22" fmla="*/ 298 w 408"/>
                  <a:gd name="T23" fmla="*/ 141 h 153"/>
                  <a:gd name="T24" fmla="*/ 324 w 408"/>
                  <a:gd name="T25" fmla="*/ 140 h 153"/>
                  <a:gd name="T26" fmla="*/ 347 w 408"/>
                  <a:gd name="T27" fmla="*/ 140 h 153"/>
                  <a:gd name="T28" fmla="*/ 367 w 408"/>
                  <a:gd name="T29" fmla="*/ 138 h 153"/>
                  <a:gd name="T30" fmla="*/ 376 w 408"/>
                  <a:gd name="T31" fmla="*/ 138 h 153"/>
                  <a:gd name="T32" fmla="*/ 385 w 408"/>
                  <a:gd name="T33" fmla="*/ 138 h 153"/>
                  <a:gd name="T34" fmla="*/ 392 w 408"/>
                  <a:gd name="T35" fmla="*/ 138 h 153"/>
                  <a:gd name="T36" fmla="*/ 398 w 408"/>
                  <a:gd name="T37" fmla="*/ 137 h 153"/>
                  <a:gd name="T38" fmla="*/ 402 w 408"/>
                  <a:gd name="T39" fmla="*/ 137 h 153"/>
                  <a:gd name="T40" fmla="*/ 406 w 408"/>
                  <a:gd name="T41" fmla="*/ 137 h 153"/>
                  <a:gd name="T42" fmla="*/ 408 w 408"/>
                  <a:gd name="T43" fmla="*/ 137 h 153"/>
                  <a:gd name="T44" fmla="*/ 408 w 408"/>
                  <a:gd name="T45" fmla="*/ 135 h 153"/>
                  <a:gd name="T46" fmla="*/ 406 w 408"/>
                  <a:gd name="T47" fmla="*/ 134 h 153"/>
                  <a:gd name="T48" fmla="*/ 402 w 408"/>
                  <a:gd name="T49" fmla="*/ 132 h 153"/>
                  <a:gd name="T50" fmla="*/ 397 w 408"/>
                  <a:gd name="T51" fmla="*/ 132 h 153"/>
                  <a:gd name="T52" fmla="*/ 390 w 408"/>
                  <a:gd name="T53" fmla="*/ 131 h 153"/>
                  <a:gd name="T54" fmla="*/ 383 w 408"/>
                  <a:gd name="T55" fmla="*/ 131 h 153"/>
                  <a:gd name="T56" fmla="*/ 374 w 408"/>
                  <a:gd name="T57" fmla="*/ 130 h 153"/>
                  <a:gd name="T58" fmla="*/ 363 w 408"/>
                  <a:gd name="T59" fmla="*/ 128 h 153"/>
                  <a:gd name="T60" fmla="*/ 353 w 408"/>
                  <a:gd name="T61" fmla="*/ 128 h 153"/>
                  <a:gd name="T62" fmla="*/ 342 w 408"/>
                  <a:gd name="T63" fmla="*/ 127 h 153"/>
                  <a:gd name="T64" fmla="*/ 329 w 408"/>
                  <a:gd name="T65" fmla="*/ 125 h 153"/>
                  <a:gd name="T66" fmla="*/ 315 w 408"/>
                  <a:gd name="T67" fmla="*/ 124 h 153"/>
                  <a:gd name="T68" fmla="*/ 286 w 408"/>
                  <a:gd name="T69" fmla="*/ 121 h 153"/>
                  <a:gd name="T70" fmla="*/ 256 w 408"/>
                  <a:gd name="T71" fmla="*/ 116 h 153"/>
                  <a:gd name="T72" fmla="*/ 222 w 408"/>
                  <a:gd name="T73" fmla="*/ 110 h 153"/>
                  <a:gd name="T74" fmla="*/ 189 w 408"/>
                  <a:gd name="T75" fmla="*/ 103 h 153"/>
                  <a:gd name="T76" fmla="*/ 154 w 408"/>
                  <a:gd name="T77" fmla="*/ 92 h 153"/>
                  <a:gd name="T78" fmla="*/ 121 w 408"/>
                  <a:gd name="T79" fmla="*/ 80 h 153"/>
                  <a:gd name="T80" fmla="*/ 87 w 408"/>
                  <a:gd name="T81" fmla="*/ 66 h 153"/>
                  <a:gd name="T82" fmla="*/ 57 w 408"/>
                  <a:gd name="T83" fmla="*/ 48 h 153"/>
                  <a:gd name="T84" fmla="*/ 27 w 408"/>
                  <a:gd name="T85" fmla="*/ 25 h 153"/>
                  <a:gd name="T86" fmla="*/ 0 w 408"/>
                  <a:gd name="T87" fmla="*/ 0 h 153"/>
                  <a:gd name="T88" fmla="*/ 69 w 408"/>
                  <a:gd name="T89" fmla="*/ 153 h 153"/>
                  <a:gd name="T90" fmla="*/ 0 w 408"/>
                  <a:gd name="T91" fmla="*/ 0 h 153"/>
                  <a:gd name="T92" fmla="*/ 408 w 408"/>
                  <a:gd name="T93" fmla="*/ 153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T90" t="T91" r="T92" b="T93"/>
                <a:pathLst>
                  <a:path w="408" h="153">
                    <a:moveTo>
                      <a:pt x="69" y="153"/>
                    </a:moveTo>
                    <a:lnTo>
                      <a:pt x="78" y="152"/>
                    </a:lnTo>
                    <a:lnTo>
                      <a:pt x="87" y="152"/>
                    </a:lnTo>
                    <a:lnTo>
                      <a:pt x="98" y="150"/>
                    </a:lnTo>
                    <a:lnTo>
                      <a:pt x="109" y="150"/>
                    </a:lnTo>
                    <a:lnTo>
                      <a:pt x="132" y="149"/>
                    </a:lnTo>
                    <a:lnTo>
                      <a:pt x="159" y="147"/>
                    </a:lnTo>
                    <a:lnTo>
                      <a:pt x="186" y="146"/>
                    </a:lnTo>
                    <a:lnTo>
                      <a:pt x="214" y="144"/>
                    </a:lnTo>
                    <a:lnTo>
                      <a:pt x="243" y="143"/>
                    </a:lnTo>
                    <a:lnTo>
                      <a:pt x="271" y="141"/>
                    </a:lnTo>
                    <a:lnTo>
                      <a:pt x="298" y="141"/>
                    </a:lnTo>
                    <a:lnTo>
                      <a:pt x="324" y="140"/>
                    </a:lnTo>
                    <a:lnTo>
                      <a:pt x="347" y="140"/>
                    </a:lnTo>
                    <a:lnTo>
                      <a:pt x="367" y="138"/>
                    </a:lnTo>
                    <a:lnTo>
                      <a:pt x="376" y="138"/>
                    </a:lnTo>
                    <a:lnTo>
                      <a:pt x="385" y="138"/>
                    </a:lnTo>
                    <a:lnTo>
                      <a:pt x="392" y="138"/>
                    </a:lnTo>
                    <a:lnTo>
                      <a:pt x="398" y="137"/>
                    </a:lnTo>
                    <a:lnTo>
                      <a:pt x="402" y="137"/>
                    </a:lnTo>
                    <a:lnTo>
                      <a:pt x="406" y="137"/>
                    </a:lnTo>
                    <a:lnTo>
                      <a:pt x="408" y="137"/>
                    </a:lnTo>
                    <a:lnTo>
                      <a:pt x="408" y="135"/>
                    </a:lnTo>
                    <a:lnTo>
                      <a:pt x="406" y="134"/>
                    </a:lnTo>
                    <a:lnTo>
                      <a:pt x="402" y="132"/>
                    </a:lnTo>
                    <a:lnTo>
                      <a:pt x="397" y="132"/>
                    </a:lnTo>
                    <a:lnTo>
                      <a:pt x="390" y="131"/>
                    </a:lnTo>
                    <a:lnTo>
                      <a:pt x="383" y="131"/>
                    </a:lnTo>
                    <a:lnTo>
                      <a:pt x="374" y="130"/>
                    </a:lnTo>
                    <a:lnTo>
                      <a:pt x="363" y="128"/>
                    </a:lnTo>
                    <a:lnTo>
                      <a:pt x="353" y="128"/>
                    </a:lnTo>
                    <a:lnTo>
                      <a:pt x="342" y="127"/>
                    </a:lnTo>
                    <a:lnTo>
                      <a:pt x="329" y="125"/>
                    </a:lnTo>
                    <a:lnTo>
                      <a:pt x="315" y="124"/>
                    </a:lnTo>
                    <a:lnTo>
                      <a:pt x="286" y="121"/>
                    </a:lnTo>
                    <a:lnTo>
                      <a:pt x="256" y="116"/>
                    </a:lnTo>
                    <a:lnTo>
                      <a:pt x="222" y="110"/>
                    </a:lnTo>
                    <a:lnTo>
                      <a:pt x="189" y="103"/>
                    </a:lnTo>
                    <a:lnTo>
                      <a:pt x="154" y="92"/>
                    </a:lnTo>
                    <a:lnTo>
                      <a:pt x="121" y="80"/>
                    </a:lnTo>
                    <a:lnTo>
                      <a:pt x="87" y="66"/>
                    </a:lnTo>
                    <a:lnTo>
                      <a:pt x="57" y="48"/>
                    </a:lnTo>
                    <a:lnTo>
                      <a:pt x="27" y="25"/>
                    </a:lnTo>
                    <a:lnTo>
                      <a:pt x="0" y="0"/>
                    </a:lnTo>
                    <a:lnTo>
                      <a:pt x="69" y="153"/>
                    </a:lnTo>
                    <a:close/>
                  </a:path>
                </a:pathLst>
              </a:custGeom>
              <a:solidFill>
                <a:srgbClr val="878787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 dirty="0"/>
              </a:p>
            </p:txBody>
          </p:sp>
        </p:grpSp>
        <p:grpSp>
          <p:nvGrpSpPr>
            <p:cNvPr id="1048" name="Group 24"/>
            <p:cNvGrpSpPr>
              <a:grpSpLocks/>
            </p:cNvGrpSpPr>
            <p:nvPr/>
          </p:nvGrpSpPr>
          <p:grpSpPr bwMode="auto">
            <a:xfrm>
              <a:off x="5235" y="526"/>
              <a:ext cx="103" cy="49"/>
              <a:chOff x="5235" y="526"/>
              <a:chExt cx="103" cy="49"/>
            </a:xfrm>
          </p:grpSpPr>
          <p:sp>
            <p:nvSpPr>
              <p:cNvPr id="1049" name="AutoShape 25"/>
              <p:cNvSpPr>
                <a:spLocks noChangeArrowheads="1"/>
              </p:cNvSpPr>
              <p:nvPr/>
            </p:nvSpPr>
            <p:spPr bwMode="auto">
              <a:xfrm>
                <a:off x="5235" y="526"/>
                <a:ext cx="68" cy="50"/>
              </a:xfrm>
              <a:custGeom>
                <a:avLst/>
                <a:gdLst>
                  <a:gd name="T0" fmla="*/ 0 w 262"/>
                  <a:gd name="T1" fmla="*/ 234 h 234"/>
                  <a:gd name="T2" fmla="*/ 151 w 262"/>
                  <a:gd name="T3" fmla="*/ 0 h 234"/>
                  <a:gd name="T4" fmla="*/ 262 w 262"/>
                  <a:gd name="T5" fmla="*/ 0 h 234"/>
                  <a:gd name="T6" fmla="*/ 110 w 262"/>
                  <a:gd name="T7" fmla="*/ 234 h 234"/>
                  <a:gd name="T8" fmla="*/ 0 w 262"/>
                  <a:gd name="T9" fmla="*/ 234 h 234"/>
                  <a:gd name="T10" fmla="*/ 0 w 262"/>
                  <a:gd name="T11" fmla="*/ 0 h 234"/>
                  <a:gd name="T12" fmla="*/ 262 w 262"/>
                  <a:gd name="T13" fmla="*/ 234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T10" t="T11" r="T12" b="T13"/>
                <a:pathLst>
                  <a:path w="262" h="234">
                    <a:moveTo>
                      <a:pt x="0" y="234"/>
                    </a:moveTo>
                    <a:lnTo>
                      <a:pt x="151" y="0"/>
                    </a:lnTo>
                    <a:lnTo>
                      <a:pt x="262" y="0"/>
                    </a:lnTo>
                    <a:lnTo>
                      <a:pt x="110" y="234"/>
                    </a:lnTo>
                    <a:lnTo>
                      <a:pt x="0" y="234"/>
                    </a:lnTo>
                    <a:close/>
                  </a:path>
                </a:pathLst>
              </a:custGeom>
              <a:solidFill>
                <a:srgbClr val="0400BA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 dirty="0"/>
              </a:p>
            </p:txBody>
          </p:sp>
          <p:sp>
            <p:nvSpPr>
              <p:cNvPr id="1050" name="AutoShape 26"/>
              <p:cNvSpPr>
                <a:spLocks noChangeArrowheads="1"/>
              </p:cNvSpPr>
              <p:nvPr/>
            </p:nvSpPr>
            <p:spPr bwMode="auto">
              <a:xfrm>
                <a:off x="5247" y="526"/>
                <a:ext cx="91" cy="50"/>
              </a:xfrm>
              <a:custGeom>
                <a:avLst/>
                <a:gdLst>
                  <a:gd name="T0" fmla="*/ 0 w 352"/>
                  <a:gd name="T1" fmla="*/ 234 h 234"/>
                  <a:gd name="T2" fmla="*/ 181 w 352"/>
                  <a:gd name="T3" fmla="*/ 234 h 234"/>
                  <a:gd name="T4" fmla="*/ 192 w 352"/>
                  <a:gd name="T5" fmla="*/ 232 h 234"/>
                  <a:gd name="T6" fmla="*/ 203 w 352"/>
                  <a:gd name="T7" fmla="*/ 231 h 234"/>
                  <a:gd name="T8" fmla="*/ 213 w 352"/>
                  <a:gd name="T9" fmla="*/ 226 h 234"/>
                  <a:gd name="T10" fmla="*/ 223 w 352"/>
                  <a:gd name="T11" fmla="*/ 222 h 234"/>
                  <a:gd name="T12" fmla="*/ 232 w 352"/>
                  <a:gd name="T13" fmla="*/ 216 h 234"/>
                  <a:gd name="T14" fmla="*/ 240 w 352"/>
                  <a:gd name="T15" fmla="*/ 208 h 234"/>
                  <a:gd name="T16" fmla="*/ 248 w 352"/>
                  <a:gd name="T17" fmla="*/ 199 h 234"/>
                  <a:gd name="T18" fmla="*/ 255 w 352"/>
                  <a:gd name="T19" fmla="*/ 190 h 234"/>
                  <a:gd name="T20" fmla="*/ 276 w 352"/>
                  <a:gd name="T21" fmla="*/ 158 h 234"/>
                  <a:gd name="T22" fmla="*/ 280 w 352"/>
                  <a:gd name="T23" fmla="*/ 150 h 234"/>
                  <a:gd name="T24" fmla="*/ 281 w 352"/>
                  <a:gd name="T25" fmla="*/ 143 h 234"/>
                  <a:gd name="T26" fmla="*/ 280 w 352"/>
                  <a:gd name="T27" fmla="*/ 137 h 234"/>
                  <a:gd name="T28" fmla="*/ 278 w 352"/>
                  <a:gd name="T29" fmla="*/ 131 h 234"/>
                  <a:gd name="T30" fmla="*/ 276 w 352"/>
                  <a:gd name="T31" fmla="*/ 126 h 234"/>
                  <a:gd name="T32" fmla="*/ 272 w 352"/>
                  <a:gd name="T33" fmla="*/ 122 h 234"/>
                  <a:gd name="T34" fmla="*/ 287 w 352"/>
                  <a:gd name="T35" fmla="*/ 116 h 234"/>
                  <a:gd name="T36" fmla="*/ 301 w 352"/>
                  <a:gd name="T37" fmla="*/ 107 h 234"/>
                  <a:gd name="T38" fmla="*/ 314 w 352"/>
                  <a:gd name="T39" fmla="*/ 97 h 234"/>
                  <a:gd name="T40" fmla="*/ 326 w 352"/>
                  <a:gd name="T41" fmla="*/ 82 h 234"/>
                  <a:gd name="T42" fmla="*/ 346 w 352"/>
                  <a:gd name="T43" fmla="*/ 51 h 234"/>
                  <a:gd name="T44" fmla="*/ 350 w 352"/>
                  <a:gd name="T45" fmla="*/ 42 h 234"/>
                  <a:gd name="T46" fmla="*/ 352 w 352"/>
                  <a:gd name="T47" fmla="*/ 31 h 234"/>
                  <a:gd name="T48" fmla="*/ 352 w 352"/>
                  <a:gd name="T49" fmla="*/ 25 h 234"/>
                  <a:gd name="T50" fmla="*/ 350 w 352"/>
                  <a:gd name="T51" fmla="*/ 19 h 234"/>
                  <a:gd name="T52" fmla="*/ 348 w 352"/>
                  <a:gd name="T53" fmla="*/ 13 h 234"/>
                  <a:gd name="T54" fmla="*/ 344 w 352"/>
                  <a:gd name="T55" fmla="*/ 9 h 234"/>
                  <a:gd name="T56" fmla="*/ 340 w 352"/>
                  <a:gd name="T57" fmla="*/ 6 h 234"/>
                  <a:gd name="T58" fmla="*/ 335 w 352"/>
                  <a:gd name="T59" fmla="*/ 3 h 234"/>
                  <a:gd name="T60" fmla="*/ 330 w 352"/>
                  <a:gd name="T61" fmla="*/ 0 h 234"/>
                  <a:gd name="T62" fmla="*/ 325 w 352"/>
                  <a:gd name="T63" fmla="*/ 0 h 234"/>
                  <a:gd name="T64" fmla="*/ 151 w 352"/>
                  <a:gd name="T65" fmla="*/ 0 h 234"/>
                  <a:gd name="T66" fmla="*/ 121 w 352"/>
                  <a:gd name="T67" fmla="*/ 49 h 234"/>
                  <a:gd name="T68" fmla="*/ 223 w 352"/>
                  <a:gd name="T69" fmla="*/ 49 h 234"/>
                  <a:gd name="T70" fmla="*/ 226 w 352"/>
                  <a:gd name="T71" fmla="*/ 49 h 234"/>
                  <a:gd name="T72" fmla="*/ 228 w 352"/>
                  <a:gd name="T73" fmla="*/ 51 h 234"/>
                  <a:gd name="T74" fmla="*/ 230 w 352"/>
                  <a:gd name="T75" fmla="*/ 54 h 234"/>
                  <a:gd name="T76" fmla="*/ 230 w 352"/>
                  <a:gd name="T77" fmla="*/ 57 h 234"/>
                  <a:gd name="T78" fmla="*/ 230 w 352"/>
                  <a:gd name="T79" fmla="*/ 59 h 234"/>
                  <a:gd name="T80" fmla="*/ 228 w 352"/>
                  <a:gd name="T81" fmla="*/ 62 h 234"/>
                  <a:gd name="T82" fmla="*/ 217 w 352"/>
                  <a:gd name="T83" fmla="*/ 79 h 234"/>
                  <a:gd name="T84" fmla="*/ 213 w 352"/>
                  <a:gd name="T85" fmla="*/ 85 h 234"/>
                  <a:gd name="T86" fmla="*/ 209 w 352"/>
                  <a:gd name="T87" fmla="*/ 88 h 234"/>
                  <a:gd name="T88" fmla="*/ 204 w 352"/>
                  <a:gd name="T89" fmla="*/ 89 h 234"/>
                  <a:gd name="T90" fmla="*/ 198 w 352"/>
                  <a:gd name="T91" fmla="*/ 91 h 234"/>
                  <a:gd name="T92" fmla="*/ 92 w 352"/>
                  <a:gd name="T93" fmla="*/ 91 h 234"/>
                  <a:gd name="T94" fmla="*/ 62 w 352"/>
                  <a:gd name="T95" fmla="*/ 140 h 234"/>
                  <a:gd name="T96" fmla="*/ 164 w 352"/>
                  <a:gd name="T97" fmla="*/ 140 h 234"/>
                  <a:gd name="T98" fmla="*/ 167 w 352"/>
                  <a:gd name="T99" fmla="*/ 140 h 234"/>
                  <a:gd name="T100" fmla="*/ 169 w 352"/>
                  <a:gd name="T101" fmla="*/ 141 h 234"/>
                  <a:gd name="T102" fmla="*/ 171 w 352"/>
                  <a:gd name="T103" fmla="*/ 144 h 234"/>
                  <a:gd name="T104" fmla="*/ 171 w 352"/>
                  <a:gd name="T105" fmla="*/ 147 h 234"/>
                  <a:gd name="T106" fmla="*/ 171 w 352"/>
                  <a:gd name="T107" fmla="*/ 150 h 234"/>
                  <a:gd name="T108" fmla="*/ 169 w 352"/>
                  <a:gd name="T109" fmla="*/ 153 h 234"/>
                  <a:gd name="T110" fmla="*/ 156 w 352"/>
                  <a:gd name="T111" fmla="*/ 174 h 234"/>
                  <a:gd name="T112" fmla="*/ 153 w 352"/>
                  <a:gd name="T113" fmla="*/ 179 h 234"/>
                  <a:gd name="T114" fmla="*/ 148 w 352"/>
                  <a:gd name="T115" fmla="*/ 182 h 234"/>
                  <a:gd name="T116" fmla="*/ 142 w 352"/>
                  <a:gd name="T117" fmla="*/ 185 h 234"/>
                  <a:gd name="T118" fmla="*/ 137 w 352"/>
                  <a:gd name="T119" fmla="*/ 185 h 234"/>
                  <a:gd name="T120" fmla="*/ 32 w 352"/>
                  <a:gd name="T121" fmla="*/ 185 h 234"/>
                  <a:gd name="T122" fmla="*/ 0 w 352"/>
                  <a:gd name="T123" fmla="*/ 234 h 234"/>
                  <a:gd name="T124" fmla="*/ 0 w 352"/>
                  <a:gd name="T125" fmla="*/ 0 h 234"/>
                  <a:gd name="T126" fmla="*/ 352 w 352"/>
                  <a:gd name="T127" fmla="*/ 234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T124" t="T125" r="T126" b="T127"/>
                <a:pathLst>
                  <a:path w="352" h="234">
                    <a:moveTo>
                      <a:pt x="0" y="234"/>
                    </a:moveTo>
                    <a:lnTo>
                      <a:pt x="181" y="234"/>
                    </a:lnTo>
                    <a:lnTo>
                      <a:pt x="192" y="232"/>
                    </a:lnTo>
                    <a:lnTo>
                      <a:pt x="203" y="231"/>
                    </a:lnTo>
                    <a:lnTo>
                      <a:pt x="213" y="226"/>
                    </a:lnTo>
                    <a:lnTo>
                      <a:pt x="223" y="222"/>
                    </a:lnTo>
                    <a:lnTo>
                      <a:pt x="232" y="216"/>
                    </a:lnTo>
                    <a:lnTo>
                      <a:pt x="240" y="208"/>
                    </a:lnTo>
                    <a:lnTo>
                      <a:pt x="248" y="199"/>
                    </a:lnTo>
                    <a:lnTo>
                      <a:pt x="255" y="190"/>
                    </a:lnTo>
                    <a:lnTo>
                      <a:pt x="276" y="158"/>
                    </a:lnTo>
                    <a:lnTo>
                      <a:pt x="280" y="150"/>
                    </a:lnTo>
                    <a:lnTo>
                      <a:pt x="281" y="143"/>
                    </a:lnTo>
                    <a:lnTo>
                      <a:pt x="280" y="137"/>
                    </a:lnTo>
                    <a:lnTo>
                      <a:pt x="278" y="131"/>
                    </a:lnTo>
                    <a:lnTo>
                      <a:pt x="276" y="126"/>
                    </a:lnTo>
                    <a:lnTo>
                      <a:pt x="272" y="122"/>
                    </a:lnTo>
                    <a:lnTo>
                      <a:pt x="287" y="116"/>
                    </a:lnTo>
                    <a:lnTo>
                      <a:pt x="301" y="107"/>
                    </a:lnTo>
                    <a:lnTo>
                      <a:pt x="314" y="97"/>
                    </a:lnTo>
                    <a:lnTo>
                      <a:pt x="326" y="82"/>
                    </a:lnTo>
                    <a:lnTo>
                      <a:pt x="346" y="51"/>
                    </a:lnTo>
                    <a:lnTo>
                      <a:pt x="350" y="42"/>
                    </a:lnTo>
                    <a:lnTo>
                      <a:pt x="352" y="31"/>
                    </a:lnTo>
                    <a:lnTo>
                      <a:pt x="352" y="25"/>
                    </a:lnTo>
                    <a:lnTo>
                      <a:pt x="350" y="19"/>
                    </a:lnTo>
                    <a:lnTo>
                      <a:pt x="348" y="13"/>
                    </a:lnTo>
                    <a:lnTo>
                      <a:pt x="344" y="9"/>
                    </a:lnTo>
                    <a:lnTo>
                      <a:pt x="340" y="6"/>
                    </a:lnTo>
                    <a:lnTo>
                      <a:pt x="335" y="3"/>
                    </a:lnTo>
                    <a:lnTo>
                      <a:pt x="330" y="0"/>
                    </a:lnTo>
                    <a:lnTo>
                      <a:pt x="325" y="0"/>
                    </a:lnTo>
                    <a:lnTo>
                      <a:pt x="151" y="0"/>
                    </a:lnTo>
                    <a:lnTo>
                      <a:pt x="121" y="49"/>
                    </a:lnTo>
                    <a:lnTo>
                      <a:pt x="223" y="49"/>
                    </a:lnTo>
                    <a:lnTo>
                      <a:pt x="226" y="49"/>
                    </a:lnTo>
                    <a:lnTo>
                      <a:pt x="228" y="51"/>
                    </a:lnTo>
                    <a:lnTo>
                      <a:pt x="230" y="54"/>
                    </a:lnTo>
                    <a:lnTo>
                      <a:pt x="230" y="57"/>
                    </a:lnTo>
                    <a:lnTo>
                      <a:pt x="230" y="59"/>
                    </a:lnTo>
                    <a:lnTo>
                      <a:pt x="228" y="62"/>
                    </a:lnTo>
                    <a:lnTo>
                      <a:pt x="217" y="79"/>
                    </a:lnTo>
                    <a:lnTo>
                      <a:pt x="213" y="85"/>
                    </a:lnTo>
                    <a:lnTo>
                      <a:pt x="209" y="88"/>
                    </a:lnTo>
                    <a:lnTo>
                      <a:pt x="204" y="89"/>
                    </a:lnTo>
                    <a:lnTo>
                      <a:pt x="198" y="91"/>
                    </a:lnTo>
                    <a:lnTo>
                      <a:pt x="92" y="91"/>
                    </a:lnTo>
                    <a:lnTo>
                      <a:pt x="62" y="140"/>
                    </a:lnTo>
                    <a:lnTo>
                      <a:pt x="164" y="140"/>
                    </a:lnTo>
                    <a:lnTo>
                      <a:pt x="167" y="140"/>
                    </a:lnTo>
                    <a:lnTo>
                      <a:pt x="169" y="141"/>
                    </a:lnTo>
                    <a:lnTo>
                      <a:pt x="171" y="144"/>
                    </a:lnTo>
                    <a:lnTo>
                      <a:pt x="171" y="147"/>
                    </a:lnTo>
                    <a:lnTo>
                      <a:pt x="171" y="150"/>
                    </a:lnTo>
                    <a:lnTo>
                      <a:pt x="169" y="153"/>
                    </a:lnTo>
                    <a:lnTo>
                      <a:pt x="156" y="174"/>
                    </a:lnTo>
                    <a:lnTo>
                      <a:pt x="153" y="179"/>
                    </a:lnTo>
                    <a:lnTo>
                      <a:pt x="148" y="182"/>
                    </a:lnTo>
                    <a:lnTo>
                      <a:pt x="142" y="185"/>
                    </a:lnTo>
                    <a:lnTo>
                      <a:pt x="137" y="185"/>
                    </a:lnTo>
                    <a:lnTo>
                      <a:pt x="32" y="185"/>
                    </a:lnTo>
                    <a:lnTo>
                      <a:pt x="0" y="234"/>
                    </a:lnTo>
                    <a:close/>
                  </a:path>
                </a:pathLst>
              </a:custGeom>
              <a:solidFill>
                <a:srgbClr val="0400BA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 dirty="0"/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Arial" charset="0"/>
        <a:defRPr sz="2700" b="1">
          <a:solidFill>
            <a:srgbClr val="000000"/>
          </a:solidFill>
          <a:latin typeface="+mj-lt"/>
          <a:ea typeface="+mj-ea"/>
          <a:cs typeface="+mj-cs"/>
        </a:defRPr>
      </a:lvl1pPr>
      <a:lvl2pPr algn="ctr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Arial" charset="0"/>
        <a:defRPr sz="2700" b="1">
          <a:solidFill>
            <a:srgbClr val="000000"/>
          </a:solidFill>
          <a:latin typeface="Arial" charset="0"/>
          <a:cs typeface="Lucida Sans Unicode" charset="0"/>
        </a:defRPr>
      </a:lvl2pPr>
      <a:lvl3pPr algn="ctr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Arial" charset="0"/>
        <a:defRPr sz="2700" b="1">
          <a:solidFill>
            <a:srgbClr val="000000"/>
          </a:solidFill>
          <a:latin typeface="Arial" charset="0"/>
          <a:cs typeface="Lucida Sans Unicode" charset="0"/>
        </a:defRPr>
      </a:lvl3pPr>
      <a:lvl4pPr algn="ctr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Arial" charset="0"/>
        <a:defRPr sz="2700" b="1">
          <a:solidFill>
            <a:srgbClr val="000000"/>
          </a:solidFill>
          <a:latin typeface="Arial" charset="0"/>
          <a:cs typeface="Lucida Sans Unicode" charset="0"/>
        </a:defRPr>
      </a:lvl4pPr>
      <a:lvl5pPr algn="ctr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Arial" charset="0"/>
        <a:defRPr sz="2700" b="1">
          <a:solidFill>
            <a:srgbClr val="000000"/>
          </a:solidFill>
          <a:latin typeface="Arial" charset="0"/>
          <a:cs typeface="Lucida Sans Unicode" charset="0"/>
        </a:defRPr>
      </a:lvl5pPr>
      <a:lvl6pPr marL="457200" algn="ctr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Arial" charset="0"/>
        <a:defRPr sz="2700" b="1">
          <a:solidFill>
            <a:srgbClr val="000000"/>
          </a:solidFill>
          <a:latin typeface="Arial" charset="0"/>
          <a:cs typeface="Lucida Sans Unicode" charset="0"/>
        </a:defRPr>
      </a:lvl6pPr>
      <a:lvl7pPr marL="914400" algn="ctr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Arial" charset="0"/>
        <a:defRPr sz="2700" b="1">
          <a:solidFill>
            <a:srgbClr val="000000"/>
          </a:solidFill>
          <a:latin typeface="Arial" charset="0"/>
          <a:cs typeface="Lucida Sans Unicode" charset="0"/>
        </a:defRPr>
      </a:lvl7pPr>
      <a:lvl8pPr marL="1371600" algn="ctr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Arial" charset="0"/>
        <a:defRPr sz="2700" b="1">
          <a:solidFill>
            <a:srgbClr val="000000"/>
          </a:solidFill>
          <a:latin typeface="Arial" charset="0"/>
          <a:cs typeface="Lucida Sans Unicode" charset="0"/>
        </a:defRPr>
      </a:lvl8pPr>
      <a:lvl9pPr marL="1828800" algn="ctr" defTabSz="4572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Arial" charset="0"/>
        <a:defRPr sz="2700" b="1">
          <a:solidFill>
            <a:srgbClr val="000000"/>
          </a:solidFill>
          <a:latin typeface="Arial" charset="0"/>
          <a:cs typeface="Lucida Sans Unicode" charset="0"/>
        </a:defRPr>
      </a:lvl9pPr>
    </p:titleStyle>
    <p:bodyStyle>
      <a:lvl1pPr marL="268288" indent="-268288" algn="l" defTabSz="457200" rtl="0" eaLnBrk="1" fontAlgn="base" hangingPunct="1">
        <a:lnSpc>
          <a:spcPct val="90000"/>
        </a:lnSpc>
        <a:spcBef>
          <a:spcPts val="825"/>
        </a:spcBef>
        <a:spcAft>
          <a:spcPct val="0"/>
        </a:spcAft>
        <a:buClr>
          <a:srgbClr val="000000"/>
        </a:buClr>
        <a:buSzPct val="100000"/>
        <a:buFont typeface="Arial" charset="0"/>
        <a:buChar char="•"/>
        <a:defRPr sz="2200" b="1">
          <a:solidFill>
            <a:srgbClr val="000000"/>
          </a:solidFill>
          <a:latin typeface="+mn-lt"/>
          <a:ea typeface="+mn-ea"/>
          <a:cs typeface="+mn-cs"/>
        </a:defRPr>
      </a:lvl1pPr>
      <a:lvl2pPr marL="642938" indent="-215900" algn="l" defTabSz="457200" rtl="0" eaLnBrk="1" fontAlgn="base" hangingPunct="1">
        <a:lnSpc>
          <a:spcPct val="90000"/>
        </a:lnSpc>
        <a:spcBef>
          <a:spcPts val="675"/>
        </a:spcBef>
        <a:spcAft>
          <a:spcPct val="0"/>
        </a:spcAft>
        <a:buClr>
          <a:srgbClr val="000000"/>
        </a:buClr>
        <a:buSzPct val="100000"/>
        <a:buFont typeface="Arial" charset="0"/>
        <a:buChar char="-"/>
        <a:defRPr b="1">
          <a:solidFill>
            <a:srgbClr val="000000"/>
          </a:solidFill>
          <a:latin typeface="+mn-lt"/>
          <a:cs typeface="+mn-cs"/>
        </a:defRPr>
      </a:lvl2pPr>
      <a:lvl3pPr marL="1074738" indent="-215900" algn="l" defTabSz="457200" rtl="0" eaLnBrk="1" fontAlgn="base" hangingPunct="1">
        <a:lnSpc>
          <a:spcPct val="90000"/>
        </a:lnSpc>
        <a:spcBef>
          <a:spcPts val="600"/>
        </a:spcBef>
        <a:spcAft>
          <a:spcPct val="0"/>
        </a:spcAft>
        <a:buClr>
          <a:srgbClr val="000000"/>
        </a:buClr>
        <a:buSzPct val="100000"/>
        <a:buFont typeface="Arial" charset="0"/>
        <a:buChar char="»"/>
        <a:defRPr sz="1600" b="1">
          <a:solidFill>
            <a:srgbClr val="000000"/>
          </a:solidFill>
          <a:latin typeface="+mn-lt"/>
          <a:cs typeface="+mn-cs"/>
        </a:defRPr>
      </a:lvl3pPr>
      <a:lvl4pPr marL="1449388" indent="-161925" algn="l" defTabSz="457200" rtl="0" eaLnBrk="1" fontAlgn="base" hangingPunct="1">
        <a:lnSpc>
          <a:spcPct val="90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Arial" charset="0"/>
        <a:defRPr sz="1400" b="1">
          <a:solidFill>
            <a:srgbClr val="000000"/>
          </a:solidFill>
          <a:latin typeface="+mn-lt"/>
          <a:cs typeface="+mn-cs"/>
        </a:defRPr>
      </a:lvl4pPr>
      <a:lvl5pPr marL="1879600" indent="-161925" algn="l" defTabSz="457200" rtl="0" eaLnBrk="1" fontAlgn="base" hangingPunct="1">
        <a:lnSpc>
          <a:spcPct val="90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Arial" charset="0"/>
        <a:defRPr sz="1400" b="1">
          <a:solidFill>
            <a:srgbClr val="000000"/>
          </a:solidFill>
          <a:latin typeface="+mn-lt"/>
          <a:cs typeface="+mn-cs"/>
        </a:defRPr>
      </a:lvl5pPr>
      <a:lvl6pPr marL="2336800" indent="-161925" algn="l" defTabSz="457200" rtl="0" eaLnBrk="1" fontAlgn="base" hangingPunct="1">
        <a:lnSpc>
          <a:spcPct val="90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Arial" charset="0"/>
        <a:defRPr sz="1400" b="1">
          <a:solidFill>
            <a:srgbClr val="000000"/>
          </a:solidFill>
          <a:latin typeface="+mn-lt"/>
          <a:cs typeface="+mn-cs"/>
        </a:defRPr>
      </a:lvl6pPr>
      <a:lvl7pPr marL="2794000" indent="-161925" algn="l" defTabSz="457200" rtl="0" eaLnBrk="1" fontAlgn="base" hangingPunct="1">
        <a:lnSpc>
          <a:spcPct val="90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Arial" charset="0"/>
        <a:defRPr sz="1400" b="1">
          <a:solidFill>
            <a:srgbClr val="000000"/>
          </a:solidFill>
          <a:latin typeface="+mn-lt"/>
          <a:cs typeface="+mn-cs"/>
        </a:defRPr>
      </a:lvl7pPr>
      <a:lvl8pPr marL="3251200" indent="-161925" algn="l" defTabSz="457200" rtl="0" eaLnBrk="1" fontAlgn="base" hangingPunct="1">
        <a:lnSpc>
          <a:spcPct val="90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Arial" charset="0"/>
        <a:defRPr sz="1400" b="1">
          <a:solidFill>
            <a:srgbClr val="000000"/>
          </a:solidFill>
          <a:latin typeface="+mn-lt"/>
          <a:cs typeface="+mn-cs"/>
        </a:defRPr>
      </a:lvl8pPr>
      <a:lvl9pPr marL="3708400" indent="-161925" algn="l" defTabSz="457200" rtl="0" eaLnBrk="1" fontAlgn="base" hangingPunct="1">
        <a:lnSpc>
          <a:spcPct val="90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Arial" charset="0"/>
        <a:defRPr sz="1400" b="1">
          <a:solidFill>
            <a:srgbClr val="000000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.jpg"/><Relationship Id="rId3" Type="http://schemas.openxmlformats.org/officeDocument/2006/relationships/image" Target="../media/image48.gif"/><Relationship Id="rId4" Type="http://schemas.openxmlformats.org/officeDocument/2006/relationships/image" Target="../media/image49.jpg"/><Relationship Id="rId5" Type="http://schemas.openxmlformats.org/officeDocument/2006/relationships/image" Target="../media/image50.gif"/><Relationship Id="rId6" Type="http://schemas.openxmlformats.org/officeDocument/2006/relationships/image" Target="../media/image51.gif"/><Relationship Id="rId7" Type="http://schemas.openxmlformats.org/officeDocument/2006/relationships/image" Target="../media/image52.gif"/><Relationship Id="rId8" Type="http://schemas.openxmlformats.org/officeDocument/2006/relationships/image" Target="../media/image53.jpg"/><Relationship Id="rId9" Type="http://schemas.openxmlformats.org/officeDocument/2006/relationships/image" Target="../media/image54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5.png"/><Relationship Id="rId3" Type="http://schemas.openxmlformats.org/officeDocument/2006/relationships/image" Target="../media/image56.jpg"/><Relationship Id="rId4" Type="http://schemas.openxmlformats.org/officeDocument/2006/relationships/image" Target="../media/image57.jpg"/><Relationship Id="rId5" Type="http://schemas.openxmlformats.org/officeDocument/2006/relationships/image" Target="../media/image58.jpg"/><Relationship Id="rId6" Type="http://schemas.openxmlformats.org/officeDocument/2006/relationships/image" Target="../media/image5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0.jpg"/><Relationship Id="rId3" Type="http://schemas.openxmlformats.org/officeDocument/2006/relationships/image" Target="../media/image61.jpg"/><Relationship Id="rId4" Type="http://schemas.openxmlformats.org/officeDocument/2006/relationships/image" Target="../media/image6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4.jpg"/><Relationship Id="rId3" Type="http://schemas.openxmlformats.org/officeDocument/2006/relationships/image" Target="../media/image6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9.jpg"/><Relationship Id="rId3" Type="http://schemas.openxmlformats.org/officeDocument/2006/relationships/image" Target="../media/image70.emf"/><Relationship Id="rId4" Type="http://schemas.openxmlformats.org/officeDocument/2006/relationships/image" Target="../media/image71.e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emf"/><Relationship Id="rId3" Type="http://schemas.openxmlformats.org/officeDocument/2006/relationships/image" Target="../media/image73.e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4.jpg"/><Relationship Id="rId3" Type="http://schemas.openxmlformats.org/officeDocument/2006/relationships/image" Target="../media/image75.png"/><Relationship Id="rId4" Type="http://schemas.openxmlformats.org/officeDocument/2006/relationships/image" Target="../media/image76.emf"/><Relationship Id="rId5" Type="http://schemas.openxmlformats.org/officeDocument/2006/relationships/image" Target="../media/image77.e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9.emf"/><Relationship Id="rId3" Type="http://schemas.openxmlformats.org/officeDocument/2006/relationships/image" Target="../media/image80.e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1.emf"/><Relationship Id="rId3" Type="http://schemas.openxmlformats.org/officeDocument/2006/relationships/image" Target="../media/image82.emf"/><Relationship Id="rId4" Type="http://schemas.openxmlformats.org/officeDocument/2006/relationships/image" Target="../media/image83.emf"/><Relationship Id="rId5" Type="http://schemas.openxmlformats.org/officeDocument/2006/relationships/image" Target="../media/image84.e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5.emf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30" y="1635770"/>
            <a:ext cx="8610630" cy="1640799"/>
          </a:xfrm>
        </p:spPr>
        <p:txBody>
          <a:bodyPr/>
          <a:lstStyle/>
          <a:p>
            <a:r>
              <a:rPr sz="3600">
                <a:solidFill>
                  <a:srgbClr val="0070C0"/>
                </a:solidFill>
                <a:cs typeface="Lucida Sans Unicode"/>
              </a:rPr>
              <a:t>Cable </a:t>
            </a:r>
            <a:br/>
            <a:r>
              <a:rPr sz="3600">
                <a:solidFill>
                  <a:srgbClr val="0070C0"/>
                </a:solidFill>
                <a:cs typeface="Lucida Sans Unicode"/>
              </a:rPr>
              <a:t>Effects </a:t>
            </a:r>
            <a:br/>
            <a:r>
              <a:rPr sz="3600">
                <a:solidFill>
                  <a:srgbClr val="0070C0"/>
                </a:solidFill>
                <a:cs typeface="Lucida Sans Unicode"/>
              </a:rPr>
              <a:t>Study Program Review</a:t>
            </a:r>
            <a:br/>
            <a:r>
              <a:rPr sz="3600">
                <a:solidFill>
                  <a:srgbClr val="0070C0"/>
                </a:solidFill>
                <a:cs typeface="Lucida Sans Unicode"/>
              </a:rPr>
              <a:t>and Cable Modelling Approach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3505170"/>
            <a:ext cx="4572000" cy="1295430"/>
          </a:xfrm>
        </p:spPr>
        <p:txBody>
          <a:bodyPr/>
          <a:lstStyle/>
          <a:p>
            <a:pPr lvl="0"/>
            <a:r>
              <a:rPr sz="2800">
                <a:solidFill>
                  <a:schemeClr val="tx1"/>
                </a:solidFill>
              </a:rPr>
              <a:t>Douglas Coombs</a:t>
            </a:r>
          </a:p>
          <a:p>
            <a:pPr lvl="0"/>
            <a:r>
              <a:rPr sz="2800">
                <a:cs typeface="Lucida Sans Unicode"/>
              </a:rPr>
              <a:t>May 2, 2011</a:t>
            </a:r>
          </a:p>
        </p:txBody>
      </p:sp>
      <p:sp>
        <p:nvSpPr>
          <p:cNvPr id="4" name="Rectangle 3"/>
          <p:cNvSpPr/>
          <p:nvPr/>
        </p:nvSpPr>
        <p:spPr>
          <a:xfrm>
            <a:off x="190469" y="1219169"/>
            <a:ext cx="8762969" cy="23621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648169"/>
            <a:ext cx="1864735" cy="15240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2720" y="57150"/>
            <a:ext cx="6565941" cy="1085850"/>
          </a:xfrm>
        </p:spPr>
        <p:txBody>
          <a:bodyPr/>
          <a:lstStyle/>
          <a:p>
            <a:r>
              <a:rPr sz="2800"/>
              <a:t>The Cable Effects Study 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152430" y="1195395"/>
            <a:ext cx="5562570" cy="5129235"/>
          </a:xfrm>
        </p:spPr>
        <p:txBody>
          <a:bodyPr wrap="square"/>
          <a:lstStyle/>
          <a:p>
            <a:pPr lvl="0">
              <a:lnSpc>
                <a:spcPct val="75000"/>
              </a:lnSpc>
            </a:pPr>
            <a:r>
              <a:rPr sz="2400"/>
              <a:t>Do electrical cable harnesses </a:t>
            </a:r>
            <a:r>
              <a:rPr sz="2400">
                <a:solidFill>
                  <a:srgbClr val="2323DC"/>
                </a:solidFill>
              </a:rPr>
              <a:t>significantly</a:t>
            </a:r>
            <a:r>
              <a:rPr sz="2400"/>
              <a:t> affect dynamics of precision spacecraft structures?</a:t>
            </a:r>
          </a:p>
          <a:p>
            <a:pPr lvl="1">
              <a:lnSpc>
                <a:spcPct val="69000"/>
              </a:lnSpc>
            </a:pPr>
            <a:r>
              <a:t>Lightweight </a:t>
            </a:r>
            <a:r>
              <a:t>and with stringent </a:t>
            </a:r>
            <a:r>
              <a:t>jitter budgets</a:t>
            </a:r>
          </a:p>
          <a:p>
            <a:pPr lvl="0">
              <a:lnSpc>
                <a:spcPct val="75000"/>
              </a:lnSpc>
            </a:pPr>
            <a:r>
              <a:t>Cable harnesses are generally not included in spacecraft structural design.  As a consequence:</a:t>
            </a:r>
          </a:p>
          <a:p>
            <a:pPr lvl="1">
              <a:lnSpc>
                <a:spcPct val="69000"/>
              </a:lnSpc>
            </a:pPr>
            <a:r>
              <a:t>Models and designs are overly conservative</a:t>
            </a:r>
          </a:p>
          <a:p>
            <a:pPr lvl="1">
              <a:lnSpc>
                <a:spcPct val="69000"/>
              </a:lnSpc>
            </a:pPr>
            <a:r>
              <a:t>Isolation system requirements are too stringent</a:t>
            </a:r>
          </a:p>
          <a:p>
            <a:pPr lvl="1">
              <a:lnSpc>
                <a:spcPct val="69000"/>
              </a:lnSpc>
            </a:pPr>
            <a:r>
              <a:t>Structural control systems may be adversely affected </a:t>
            </a:r>
            <a:r>
              <a:t>by </a:t>
            </a:r>
            <a:r>
              <a:t>plant model errors</a:t>
            </a:r>
          </a:p>
          <a:p>
            <a:pPr lvl="0">
              <a:lnSpc>
                <a:spcPct val="75000"/>
              </a:lnSpc>
            </a:pPr>
            <a:r>
              <a:rPr sz="2400">
                <a:solidFill>
                  <a:srgbClr val="2323DC"/>
                </a:solidFill>
              </a:rPr>
              <a:t>Motivation:</a:t>
            </a:r>
            <a:r>
              <a:rPr sz="2400"/>
              <a:t> develop techniques and methodologies to incorporate cable dynamics in models thereby reducing conservatism and program </a:t>
            </a:r>
            <a:r>
              <a:rPr sz="2400"/>
              <a:t>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59277" y="4724430"/>
            <a:ext cx="3584722" cy="938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None/>
            </a:pPr>
            <a:r>
              <a:rPr sz="1100" b="1">
                <a:solidFill>
                  <a:srgbClr val="0070C0"/>
                </a:solidFill>
              </a:rPr>
              <a:t>Cabling makes a significant amount of dry mass</a:t>
            </a:r>
          </a:p>
          <a:p>
            <a:pPr lvl="0" algn="ctr">
              <a:buNone/>
            </a:pPr>
            <a:r>
              <a:rPr sz="1100" b="1">
                <a:solidFill>
                  <a:srgbClr val="0070C0"/>
                </a:solidFill>
              </a:rPr>
              <a:t> </a:t>
            </a:r>
          </a:p>
          <a:p>
            <a:pPr lvl="0" algn="ctr">
              <a:buNone/>
            </a:pPr>
            <a:r>
              <a:rPr sz="1100" b="1">
                <a:solidFill>
                  <a:srgbClr val="0070C0"/>
                </a:solidFill>
              </a:rPr>
              <a:t>http://www.dlr.de/rd/en/Portaldata/1/Resources/portal_news/newsarchiv2009_3/Tandem-X_intergration_380.jpg</a:t>
            </a:r>
          </a:p>
        </p:txBody>
      </p:sp>
      <p:pic>
        <p:nvPicPr>
          <p:cNvPr id="5" name="Picture 4" descr="image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30" y="2057400"/>
            <a:ext cx="3619469" cy="2609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570" y="228600"/>
            <a:ext cx="7161215" cy="814365"/>
          </a:xfrm>
        </p:spPr>
        <p:txBody>
          <a:bodyPr/>
          <a:lstStyle/>
          <a:p>
            <a:r>
              <a:t>The Why of the</a:t>
            </a:r>
            <a:br/>
            <a:r>
              <a:t>Cable Effects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228600" y="1239835"/>
            <a:ext cx="8762970" cy="5183185"/>
          </a:xfrm>
        </p:spPr>
        <p:txBody>
          <a:bodyPr wrap="square"/>
          <a:lstStyle/>
          <a:p>
            <a:pPr lvl="0"/>
            <a:r>
              <a:t> Cable harnesses are a large part of spacecraft mass and generally considered a non-structural component at low frequencies. </a:t>
            </a:r>
          </a:p>
          <a:p>
            <a:pPr lvl="1"/>
            <a:r>
              <a:t>A survey showed that the cable-to-structure mass ratio for DoD and commercial spacecraft can approach 25%.</a:t>
            </a:r>
          </a:p>
          <a:p>
            <a:pPr lvl="0"/>
            <a:r>
              <a:t>Cables are not modeled in detail because no one cared about the “mid frequency” range until a need for better large precision structure models was identified.  </a:t>
            </a:r>
          </a:p>
          <a:p>
            <a:pPr lvl="1"/>
            <a:r>
              <a:t>Mission performance is driven by on-orbit dynamics: better models are required.</a:t>
            </a:r>
          </a:p>
          <a:p>
            <a:pPr lvl="0"/>
            <a:r>
              <a:t>The program was directed to finding a solution to an Air Force need, not to develop an understanding of the fundamental mechanics of cable behavior.</a:t>
            </a:r>
          </a:p>
          <a:p>
            <a:pPr lvl="1"/>
            <a:r>
              <a:t>Applied research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570" y="228600"/>
            <a:ext cx="7161215" cy="814365"/>
          </a:xfrm>
        </p:spPr>
        <p:txBody>
          <a:bodyPr/>
          <a:lstStyle/>
          <a:p>
            <a:r>
              <a:t>The Significance of Cable Modelling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381030" y="1447770"/>
            <a:ext cx="5867430" cy="4594220"/>
          </a:xfrm>
        </p:spPr>
        <p:txBody>
          <a:bodyPr wrap="square"/>
          <a:lstStyle/>
          <a:p>
            <a:pPr lvl="0"/>
            <a:r>
              <a:t>Electrical cables mounted on space structures </a:t>
            </a:r>
            <a:r>
              <a:t>can</a:t>
            </a:r>
            <a:r>
              <a:t> influence the structural dynamics. </a:t>
            </a:r>
          </a:p>
          <a:p>
            <a:pPr lvl="1"/>
            <a:r>
              <a:t>The effects of cables on spacecraft dynamics is not documented in the industry. </a:t>
            </a:r>
          </a:p>
          <a:p>
            <a:pPr lvl="0"/>
            <a:r>
              <a:t>Cables not included in models can impact controller performance and robustness, impact isolation system requirements and increase program risk.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24430"/>
            <a:ext cx="5562569" cy="1631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rPr b="1">
                <a:solidFill>
                  <a:srgbClr val="002060"/>
                </a:solidFill>
              </a:rPr>
              <a:t>Model errors are determined late in the flight program (i.e., when cables exist). Is </a:t>
            </a:r>
            <a:r>
              <a:rPr b="1">
                <a:solidFill>
                  <a:srgbClr val="002060"/>
                </a:solidFill>
              </a:rPr>
              <a:t>there time </a:t>
            </a:r>
            <a:r>
              <a:rPr b="1">
                <a:solidFill>
                  <a:srgbClr val="002060"/>
                </a:solidFill>
              </a:rPr>
              <a:t>for controller tuning? The worst time to determine that the controller is miss-tuned is when the satellite is on-station.</a:t>
            </a:r>
          </a:p>
        </p:txBody>
      </p:sp>
      <p:pic>
        <p:nvPicPr>
          <p:cNvPr id="5" name="Picture 4" descr="image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969" y="3047969"/>
            <a:ext cx="2546329" cy="28671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570" y="228600"/>
            <a:ext cx="7161215" cy="814365"/>
          </a:xfrm>
        </p:spPr>
        <p:txBody>
          <a:bodyPr/>
          <a:lstStyle/>
          <a:p>
            <a:r>
              <a:t>The What of the</a:t>
            </a:r>
            <a:br/>
            <a:r>
              <a:t>Cable Effects Study / Focus Restrictions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228600" y="1239835"/>
            <a:ext cx="8762970" cy="5183185"/>
          </a:xfrm>
        </p:spPr>
        <p:txBody>
          <a:bodyPr wrap="square"/>
          <a:lstStyle/>
          <a:p>
            <a:pPr lvl="0"/>
            <a:r>
              <a:t>Only studied small-to-moderate conductor count twisted pair cable bundles.  </a:t>
            </a:r>
          </a:p>
          <a:p>
            <a:pPr lvl="1"/>
            <a:r>
              <a:rPr>
                <a:solidFill>
                  <a:srgbClr val="0070C0"/>
                </a:solidFill>
              </a:rPr>
              <a:t>Not</a:t>
            </a:r>
            <a:r>
              <a:t> coaxial, ribbon cables, twisted pair in wire or polymer braided </a:t>
            </a:r>
            <a:r>
              <a:t>sleeving</a:t>
            </a:r>
            <a:r>
              <a:t>.</a:t>
            </a:r>
          </a:p>
          <a:p>
            <a:pPr lvl="0"/>
            <a:r>
              <a:t>Concerned with low-level vibration problem (i.e., when the spacecraft is on-station), </a:t>
            </a:r>
            <a:r>
              <a:rPr>
                <a:solidFill>
                  <a:srgbClr val="0070C0"/>
                </a:solidFill>
              </a:rPr>
              <a:t>not</a:t>
            </a:r>
            <a:r>
              <a:t> launch vibration or shock conditions.</a:t>
            </a:r>
          </a:p>
          <a:p>
            <a:pPr lvl="0"/>
            <a:r>
              <a:t>Cables with bends and connectors excluded from study.</a:t>
            </a:r>
          </a:p>
        </p:txBody>
      </p:sp>
      <p:pic>
        <p:nvPicPr>
          <p:cNvPr id="4" name="Picture 3" descr="image9.jpeg"/>
          <p:cNvPicPr>
            <a:picLocks noChangeAspect="1"/>
          </p:cNvPicPr>
          <p:nvPr/>
        </p:nvPicPr>
        <p:blipFill>
          <a:blip r:embed="rId2"/>
          <a:srcRect l="7692"/>
          <a:stretch>
            <a:fillRect/>
          </a:stretch>
        </p:blipFill>
        <p:spPr>
          <a:xfrm>
            <a:off x="5943600" y="4800508"/>
            <a:ext cx="2743200" cy="1783080"/>
          </a:xfrm>
          <a:prstGeom prst="rect">
            <a:avLst/>
          </a:prstGeom>
        </p:spPr>
      </p:pic>
      <p:pic>
        <p:nvPicPr>
          <p:cNvPr id="5" name="Picture 4" descr="image10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016" y="4800508"/>
            <a:ext cx="2578516" cy="1828800"/>
          </a:xfrm>
          <a:prstGeom prst="rect">
            <a:avLst/>
          </a:prstGeom>
        </p:spPr>
      </p:pic>
      <p:pic>
        <p:nvPicPr>
          <p:cNvPr id="6" name="Picture 5" descr="image1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769" y="4762652"/>
            <a:ext cx="2442179" cy="1828800"/>
          </a:xfrm>
          <a:prstGeom prst="rect">
            <a:avLst/>
          </a:prstGeom>
        </p:spPr>
      </p:pic>
      <p:pic>
        <p:nvPicPr>
          <p:cNvPr id="7" name="Picture 6" descr="image12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219" y="5302788"/>
            <a:ext cx="1231788" cy="1231696"/>
          </a:xfrm>
          <a:prstGeom prst="rect">
            <a:avLst/>
          </a:prstGeom>
        </p:spPr>
      </p:pic>
      <p:pic>
        <p:nvPicPr>
          <p:cNvPr id="8" name="Picture 7" descr="image12.g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2742" y="5302788"/>
            <a:ext cx="1231788" cy="1231696"/>
          </a:xfrm>
          <a:prstGeom prst="rect">
            <a:avLst/>
          </a:prstGeom>
        </p:spPr>
      </p:pic>
      <p:pic>
        <p:nvPicPr>
          <p:cNvPr id="9" name="Picture 8" descr="image12.gi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2075" y="5302788"/>
            <a:ext cx="1231788" cy="1231696"/>
          </a:xfrm>
          <a:prstGeom prst="rect">
            <a:avLst/>
          </a:prstGeom>
        </p:spPr>
      </p:pic>
      <p:pic>
        <p:nvPicPr>
          <p:cNvPr id="10" name="Picture 9" descr="image13.jpeg"/>
          <p:cNvPicPr>
            <a:picLocks noChangeAspect="1"/>
          </p:cNvPicPr>
          <p:nvPr/>
        </p:nvPicPr>
        <p:blipFill>
          <a:blip r:embed="rId8"/>
          <a:srcRect l="-1" t="7692" r="-3279"/>
          <a:stretch>
            <a:fillRect/>
          </a:stretch>
        </p:blipFill>
        <p:spPr>
          <a:xfrm>
            <a:off x="2057400" y="4038630"/>
            <a:ext cx="4800600" cy="914400"/>
          </a:xfrm>
          <a:prstGeom prst="rect">
            <a:avLst/>
          </a:prstGeom>
        </p:spPr>
      </p:pic>
      <p:pic>
        <p:nvPicPr>
          <p:cNvPr id="11" name="Picture 10" descr="image14.wmf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3962369"/>
            <a:ext cx="990569" cy="911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How of the Cable Effects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 wrap="square"/>
          <a:lstStyle/>
          <a:p>
            <a:pPr lvl="0"/>
            <a:r>
              <a:t>Cable models are implemented using Nastran standard elements. </a:t>
            </a:r>
          </a:p>
          <a:p>
            <a:pPr lvl="1"/>
            <a:r>
              <a:t>Well integrated with standard analysis tools</a:t>
            </a:r>
          </a:p>
          <a:p>
            <a:pPr lvl="0"/>
            <a:r>
              <a:t>Linear beam elements are appropriate, using composite properties and general formulation.</a:t>
            </a:r>
          </a:p>
          <a:p>
            <a:pPr lvl="1"/>
            <a:r>
              <a:t>Measurements showed that cable models must include shear: a Bernoulli-Euler beam formulation cannot predict cable dynamics</a:t>
            </a:r>
          </a:p>
          <a:p>
            <a:pPr lvl="1"/>
            <a:r>
              <a:t>Equivalent cable properties in the Nastran deck are obtained through experiment and parameter estimation</a:t>
            </a:r>
          </a:p>
          <a:p>
            <a:pPr lvl="1"/>
            <a:r>
              <a:t>The cable-to-structure model uses linear spring elements (PBUSH)</a:t>
            </a:r>
          </a:p>
          <a:p>
            <a:pPr lvl="2"/>
            <a:r>
              <a:t>Spring properties were identified through experiment </a:t>
            </a:r>
          </a:p>
          <a:p>
            <a:pPr lvl="0"/>
            <a:r>
              <a:t>Validation experiments used throughout the program for cable parameter estimation and modeling techniques</a:t>
            </a:r>
          </a:p>
          <a:p>
            <a:pPr lvl="0"/>
            <a:r>
              <a:t>Demonstration experiment to verify methods</a:t>
            </a:r>
          </a:p>
          <a:p>
            <a:pPr lvl="1"/>
            <a:r>
              <a:t>Validation and verification – it was a research program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570" y="228600"/>
            <a:ext cx="7161215" cy="814365"/>
          </a:xfrm>
        </p:spPr>
        <p:txBody>
          <a:bodyPr/>
          <a:lstStyle/>
          <a:p>
            <a:r>
              <a:t>Research Topics not Included</a:t>
            </a:r>
            <a:br/>
            <a:r>
              <a:t>in the Cable Effects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539770" y="1676370"/>
            <a:ext cx="8255020" cy="4746650"/>
          </a:xfrm>
        </p:spPr>
        <p:txBody>
          <a:bodyPr wrap="square"/>
          <a:lstStyle/>
          <a:p>
            <a:pPr lvl="0"/>
            <a:r>
              <a:t>Bundles of twisted pair conductors exceeding 30 pairs and 20 AWG</a:t>
            </a:r>
          </a:p>
          <a:p>
            <a:pPr lvl="1"/>
            <a:r>
              <a:t>Limited design space to maintain focus</a:t>
            </a:r>
          </a:p>
          <a:p>
            <a:pPr lvl="0"/>
            <a:r>
              <a:t>Nonlinear cable models</a:t>
            </a:r>
          </a:p>
          <a:p>
            <a:pPr lvl="1"/>
            <a:r>
              <a:t>Parameter extraction was based on the assumption of linear behavior</a:t>
            </a:r>
          </a:p>
          <a:p>
            <a:pPr lvl="0"/>
            <a:r>
              <a:t>Detailed cable mechanics</a:t>
            </a:r>
          </a:p>
          <a:p>
            <a:pPr lvl="1"/>
            <a:r>
              <a:t>Model-based cable bulk property derivation</a:t>
            </a:r>
          </a:p>
          <a:p>
            <a:pPr lvl="1"/>
            <a:r>
              <a:t>Cable loss mechanism models</a:t>
            </a:r>
          </a:p>
          <a:p>
            <a:pPr lvl="2"/>
            <a:r>
              <a:t>Inter-strand in a conductor, loss due to strain energy in the conductor shields or conductor-to-conductor loss</a:t>
            </a:r>
          </a:p>
          <a:p>
            <a:pPr lvl="0"/>
            <a:r>
              <a:t>Localized cable tie-down behavior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570" y="228600"/>
            <a:ext cx="7161215" cy="814365"/>
          </a:xfrm>
        </p:spPr>
        <p:txBody>
          <a:bodyPr/>
          <a:lstStyle/>
          <a:p>
            <a:r>
              <a:t>Cable Construction and Effects on Dynamics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 sz="half"/>
          </p:nvPr>
        </p:nvSpPr>
        <p:spPr>
          <a:xfrm>
            <a:off x="0" y="1219170"/>
            <a:ext cx="6096030" cy="1981230"/>
          </a:xfrm>
        </p:spPr>
        <p:txBody>
          <a:bodyPr wrap="square"/>
          <a:lstStyle/>
          <a:p>
            <a:pPr lvl="0"/>
            <a:r>
              <a:rPr sz="2000"/>
              <a:t>Bundles of twisted pair single-conductor wires stitched and wrapped with Kapton</a:t>
            </a:r>
            <a:r>
              <a:rPr sz="2000"/>
              <a:t>®</a:t>
            </a:r>
            <a:r>
              <a:rPr sz="2000"/>
              <a:t> tape</a:t>
            </a:r>
          </a:p>
          <a:p>
            <a:pPr lvl="1"/>
            <a:r>
              <a:t>Consistent with spacecraft power and signal cable fabrication</a:t>
            </a:r>
          </a:p>
          <a:p>
            <a:pPr lvl="0"/>
            <a:r>
              <a:t>Cables add damping and can shift modal frequencies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obj" idx="2" sz="half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6716999" y="4369826"/>
            <a:ext cx="382676" cy="320497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ine 5"/>
          <p:cNvSpPr/>
          <p:nvPr/>
        </p:nvSpPr>
        <p:spPr>
          <a:xfrm>
            <a:off x="7105893" y="4265310"/>
            <a:ext cx="491124" cy="270296"/>
          </a:xfrm>
          <a:prstGeom prst="line">
            <a:avLst/>
          </a:prstGeom>
          <a:noFill/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ine 6"/>
          <p:cNvSpPr/>
          <p:nvPr/>
        </p:nvSpPr>
        <p:spPr>
          <a:xfrm>
            <a:off x="4483120" y="1608886"/>
            <a:ext cx="505663" cy="0"/>
          </a:xfrm>
          <a:prstGeom prst="line">
            <a:avLst/>
          </a:prstGeom>
          <a:noFill/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ine 7"/>
          <p:cNvSpPr/>
          <p:nvPr/>
        </p:nvSpPr>
        <p:spPr>
          <a:xfrm>
            <a:off x="4988783" y="1608886"/>
            <a:ext cx="505663" cy="0"/>
          </a:xfrm>
          <a:prstGeom prst="line">
            <a:avLst/>
          </a:prstGeom>
          <a:noFill/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ine 8"/>
          <p:cNvSpPr/>
          <p:nvPr/>
        </p:nvSpPr>
        <p:spPr>
          <a:xfrm>
            <a:off x="4988783" y="1608886"/>
            <a:ext cx="0" cy="306324"/>
          </a:xfrm>
          <a:prstGeom prst="line">
            <a:avLst/>
          </a:prstGeom>
          <a:noFill/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ine 9"/>
          <p:cNvSpPr/>
          <p:nvPr/>
        </p:nvSpPr>
        <p:spPr>
          <a:xfrm>
            <a:off x="4988783" y="1608886"/>
            <a:ext cx="0" cy="306324"/>
          </a:xfrm>
          <a:prstGeom prst="line">
            <a:avLst/>
          </a:prstGeom>
          <a:noFill/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3962369"/>
            <a:ext cx="1524030" cy="707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b="1">
                <a:solidFill>
                  <a:srgbClr val="0070C0"/>
                </a:solidFill>
              </a:rPr>
              <a:t>Cable not resonant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715000"/>
            <a:ext cx="1524030" cy="707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b="1">
                <a:solidFill>
                  <a:srgbClr val="00B050"/>
                </a:solidFill>
              </a:rPr>
              <a:t>Cable resonant</a:t>
            </a:r>
          </a:p>
        </p:txBody>
      </p:sp>
      <p:pic>
        <p:nvPicPr>
          <p:cNvPr id="13" name="Picture 12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881" y="1143000"/>
            <a:ext cx="2365918" cy="2819369"/>
          </a:xfrm>
          <a:prstGeom prst="rect">
            <a:avLst/>
          </a:prstGeom>
        </p:spPr>
      </p:pic>
      <p:pic>
        <p:nvPicPr>
          <p:cNvPr id="14" name="Picture 13" descr="image16.jpeg"/>
          <p:cNvPicPr>
            <a:picLocks noChangeAspect="1"/>
          </p:cNvPicPr>
          <p:nvPr/>
        </p:nvPicPr>
        <p:blipFill>
          <a:blip r:embed="rId3"/>
          <a:srcRect l="24374" r="21750"/>
          <a:stretch>
            <a:fillRect/>
          </a:stretch>
        </p:blipFill>
        <p:spPr>
          <a:xfrm>
            <a:off x="7330104" y="4115897"/>
            <a:ext cx="1065733" cy="2589672"/>
          </a:xfrm>
          <a:prstGeom prst="rect">
            <a:avLst/>
          </a:prstGeom>
        </p:spPr>
      </p:pic>
      <p:pic>
        <p:nvPicPr>
          <p:cNvPr id="15" name="Picture 14" descr="image17.jpeg"/>
          <p:cNvPicPr>
            <a:picLocks noChangeAspect="1"/>
          </p:cNvPicPr>
          <p:nvPr/>
        </p:nvPicPr>
        <p:blipFill>
          <a:blip r:embed="rId4"/>
          <a:srcRect l="35167" r="35500" b="6750"/>
          <a:stretch>
            <a:fillRect/>
          </a:stretch>
        </p:blipFill>
        <p:spPr>
          <a:xfrm>
            <a:off x="6629400" y="4157776"/>
            <a:ext cx="608990" cy="2535448"/>
          </a:xfrm>
          <a:prstGeom prst="rect">
            <a:avLst/>
          </a:prstGeom>
        </p:spPr>
      </p:pic>
      <p:pic>
        <p:nvPicPr>
          <p:cNvPr id="16" name="Picture 15" descr="image18.jpeg"/>
          <p:cNvPicPr>
            <a:picLocks noChangeAspect="1"/>
          </p:cNvPicPr>
          <p:nvPr/>
        </p:nvPicPr>
        <p:blipFill>
          <a:blip r:embed="rId5"/>
          <a:srcRect l="10272" t="18466" r="16386" b="15674"/>
          <a:stretch>
            <a:fillRect/>
          </a:stretch>
        </p:blipFill>
        <p:spPr>
          <a:xfrm>
            <a:off x="3200400" y="3429000"/>
            <a:ext cx="1095359" cy="666780"/>
          </a:xfrm>
          <a:prstGeom prst="rect">
            <a:avLst/>
          </a:prstGeom>
        </p:spPr>
      </p:pic>
      <p:pic>
        <p:nvPicPr>
          <p:cNvPr id="17" name="Picture 16" descr="image19.png"/>
          <p:cNvPicPr>
            <a:picLocks noChangeAspect="1"/>
          </p:cNvPicPr>
          <p:nvPr/>
        </p:nvPicPr>
        <p:blipFill>
          <a:blip r:embed="rId6"/>
          <a:srcRect l="1887" t="2516" r="7540" b="2847"/>
          <a:stretch>
            <a:fillRect/>
          </a:stretch>
        </p:blipFill>
        <p:spPr>
          <a:xfrm>
            <a:off x="1371600" y="3276569"/>
            <a:ext cx="4267230" cy="3397453"/>
          </a:xfrm>
          <a:prstGeom prst="rect">
            <a:avLst/>
          </a:prstGeom>
        </p:spPr>
      </p:pic>
      <p:cxnSp>
        <p:nvCxnSpPr>
          <p:cNvPr id="18" name="Connector 17"/>
          <p:cNvCxnSpPr/>
          <p:nvPr/>
        </p:nvCxnSpPr>
        <p:spPr>
          <a:xfrm>
            <a:off x="1752600" y="4343400"/>
            <a:ext cx="1295400" cy="1588"/>
          </a:xfrm>
          <a:prstGeom prst="straightConnector1">
            <a:avLst/>
          </a:prstGeom>
          <a:ln w="3175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24200" y="6172200"/>
            <a:ext cx="2743200" cy="158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392" y="176205"/>
            <a:ext cx="7161215" cy="814365"/>
          </a:xfrm>
        </p:spPr>
        <p:txBody>
          <a:bodyPr/>
          <a:lstStyle/>
          <a:p>
            <a:r>
              <a:t>Attachment to Host Structure:</a:t>
            </a:r>
            <a:br/>
            <a:r>
              <a:t>Cable-Structure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800600" y="1295430"/>
            <a:ext cx="3962369" cy="19049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90000"/>
              </a:lnSpc>
              <a:buNone/>
            </a:pPr>
            <a:r>
              <a:rPr sz="1800" b="1" cap="none">
                <a:solidFill>
                  <a:srgbClr val="000000"/>
                </a:solidFill>
                <a:latin typeface="+mn-lt"/>
                <a:cs typeface="+mn-cs"/>
              </a:rPr>
              <a:t>TC-105 mounting</a:t>
            </a:r>
            <a:r>
              <a:rPr sz="1800" b="1" cap="none">
                <a:solidFill>
                  <a:srgbClr val="000000"/>
                </a:solidFill>
                <a:latin typeface="+mn-lt"/>
                <a:cs typeface="+mn-cs"/>
              </a:rPr>
              <a:t> tabs </a:t>
            </a:r>
            <a:r>
              <a:rPr sz="1600" b="1">
                <a:solidFill>
                  <a:srgbClr val="000000"/>
                </a:solidFill>
                <a:latin typeface="+mn-lt"/>
              </a:rPr>
              <a:t>bonded to host structure</a:t>
            </a:r>
          </a:p>
          <a:p>
            <a:pPr lvl="1" algn="l">
              <a:lnSpc>
                <a:spcPct val="90000"/>
              </a:lnSpc>
              <a:buNone/>
            </a:pPr>
            <a:r>
              <a:rPr sz="1600" b="1" cap="none">
                <a:solidFill>
                  <a:srgbClr val="000000"/>
                </a:solidFill>
                <a:latin typeface="+mn-lt"/>
                <a:cs typeface="+mn-cs"/>
              </a:rPr>
              <a:t>Allow controllable</a:t>
            </a:r>
            <a:r>
              <a:rPr sz="1600" b="1" cap="none">
                <a:solidFill>
                  <a:srgbClr val="000000"/>
                </a:solidFill>
                <a:latin typeface="+mn-lt"/>
                <a:cs typeface="+mn-cs"/>
              </a:rPr>
              <a:t> cable attachment using zip-ties and installation tool (zip-tie gun)</a:t>
            </a:r>
          </a:p>
          <a:p>
            <a:pPr lvl="1" algn="l">
              <a:lnSpc>
                <a:spcPct val="90000"/>
              </a:lnSpc>
              <a:buNone/>
            </a:pPr>
            <a:r>
              <a:rPr sz="1600" b="1" cap="none">
                <a:solidFill>
                  <a:srgbClr val="000000"/>
                </a:solidFill>
                <a:latin typeface="+mn-lt"/>
                <a:cs typeface="+mn-cs"/>
              </a:rPr>
              <a:t>Lacing cord used as an alternative</a:t>
            </a:r>
            <a:r>
              <a:rPr sz="1600" b="1">
                <a:solidFill>
                  <a:srgbClr val="000000"/>
                </a:solidFill>
                <a:latin typeface="+mn-lt"/>
              </a:rPr>
              <a:t> to zip-ties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024" y="2570744"/>
            <a:ext cx="1032540" cy="373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>
                <a:solidFill>
                  <a:schemeClr val="accent6"/>
                </a:solidFill>
              </a:rPr>
              <a:t>TC-105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7860" y="2839029"/>
            <a:ext cx="964509" cy="645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>
                <a:solidFill>
                  <a:schemeClr val="accent6"/>
                </a:solidFill>
              </a:rPr>
              <a:t>Lacing 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836" y="4267779"/>
            <a:ext cx="886602" cy="375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>
                <a:solidFill>
                  <a:schemeClr val="accent6"/>
                </a:solidFill>
              </a:rPr>
              <a:t>Cable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4930444"/>
            <a:ext cx="1181587" cy="646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>
                <a:solidFill>
                  <a:schemeClr val="accent6"/>
                </a:solidFill>
              </a:rPr>
              <a:t>Base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371600"/>
            <a:ext cx="2667030" cy="707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0005C0"/>
                </a:solidFill>
              </a:rPr>
              <a:t>Cable attachment to host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0969" y="3810030"/>
            <a:ext cx="3657600" cy="400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b="1">
                <a:solidFill>
                  <a:srgbClr val="0005C0"/>
                </a:solidFill>
              </a:rPr>
              <a:t>Cable-structure interaction</a:t>
            </a:r>
          </a:p>
        </p:txBody>
      </p:sp>
      <p:pic>
        <p:nvPicPr>
          <p:cNvPr id="11" name="Picture 10" descr="image2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30" y="4190969"/>
            <a:ext cx="5105369" cy="2135306"/>
          </a:xfrm>
          <a:prstGeom prst="rect">
            <a:avLst/>
          </a:prstGeom>
        </p:spPr>
      </p:pic>
      <p:pic>
        <p:nvPicPr>
          <p:cNvPr id="12" name="Picture 11" descr="image16.jpeg"/>
          <p:cNvPicPr>
            <a:picLocks noChangeAspect="1"/>
          </p:cNvPicPr>
          <p:nvPr/>
        </p:nvPicPr>
        <p:blipFill>
          <a:blip r:embed="rId3"/>
          <a:srcRect l="24374" r="21750"/>
          <a:stretch>
            <a:fillRect/>
          </a:stretch>
        </p:blipFill>
        <p:spPr>
          <a:xfrm>
            <a:off x="1480779" y="2362169"/>
            <a:ext cx="1358798" cy="3429000"/>
          </a:xfrm>
          <a:prstGeom prst="rect">
            <a:avLst/>
          </a:prstGeom>
        </p:spPr>
      </p:pic>
      <p:pic>
        <p:nvPicPr>
          <p:cNvPr id="13" name="Picture 12" descr="image21.jpeg"/>
          <p:cNvPicPr>
            <a:picLocks noChangeAspect="1"/>
          </p:cNvPicPr>
          <p:nvPr/>
        </p:nvPicPr>
        <p:blipFill>
          <a:blip r:embed="rId4"/>
          <a:srcRect l="10269" t="18469" r="16380" b="15672"/>
          <a:stretch>
            <a:fillRect/>
          </a:stretch>
        </p:blipFill>
        <p:spPr>
          <a:xfrm>
            <a:off x="381030" y="3095609"/>
            <a:ext cx="1095359" cy="666780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 flipV="1">
            <a:off x="6025569" y="2688881"/>
            <a:ext cx="1105544" cy="3831"/>
          </a:xfrm>
          <a:prstGeom prst="straightConnector1">
            <a:avLst/>
          </a:prstGeom>
          <a:ln w="12700"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42268" y="2821498"/>
            <a:ext cx="632427" cy="343490"/>
          </a:xfrm>
          <a:prstGeom prst="straightConnector1">
            <a:avLst/>
          </a:prstGeom>
          <a:ln w="12700"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961708" y="4474678"/>
            <a:ext cx="1362547" cy="205270"/>
          </a:xfrm>
          <a:prstGeom prst="straightConnector1">
            <a:avLst/>
          </a:prstGeom>
          <a:ln w="12700"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077407" y="5342827"/>
            <a:ext cx="794026" cy="272391"/>
          </a:xfrm>
          <a:prstGeom prst="straightConnector1">
            <a:avLst/>
          </a:prstGeom>
          <a:ln w="12700"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813262" y="2980198"/>
            <a:ext cx="151407" cy="79445"/>
          </a:xfrm>
          <a:prstGeom prst="straightConnector1">
            <a:avLst/>
          </a:prstGeom>
          <a:ln w="12700"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Cable Modeling Approach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/>
          <a:lstStyle/>
          <a:p/>
        </p:txBody>
      </p:sp>
      <p:pic>
        <p:nvPicPr>
          <p:cNvPr id="4" name="Picture 3" descr="image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30" y="1371600"/>
            <a:ext cx="7253660" cy="502270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570" y="152430"/>
            <a:ext cx="7162770" cy="914400"/>
          </a:xfrm>
        </p:spPr>
        <p:txBody>
          <a:bodyPr/>
          <a:lstStyle/>
          <a:p>
            <a:r>
              <a:rPr sz="2800"/>
              <a:t>The Cable Parameter</a:t>
            </a:r>
            <a:br/>
            <a:r>
              <a:rPr sz="2800"/>
              <a:t/>
            </a:r>
            <a:br/>
            <a:r>
              <a:rPr sz="2800"/>
              <a:t>Extraction </a:t>
            </a:r>
            <a:br/>
            <a:r>
              <a:rPr sz="2800"/>
              <a:t>Mission and Approach</a:t>
            </a:r>
          </a:p>
        </p:txBody>
      </p:sp>
      <p:sp>
        <p:nvSpPr>
          <p:cNvPr id="3" name="Notes Placeholder 2"/>
          <p:cNvSpPr>
            <a:spLocks noGrp="1"/>
          </p:cNvSpPr>
          <p:nvPr>
            <p:ph type="body" idx="1" sz="half"/>
          </p:nvPr>
        </p:nvSpPr>
        <p:spPr>
          <a:xfrm>
            <a:off x="152430" y="1219170"/>
            <a:ext cx="5791170" cy="5184739"/>
          </a:xfrm>
        </p:spPr>
        <p:txBody>
          <a:bodyPr wrap="square"/>
          <a:lstStyle/>
          <a:p>
            <a:pPr lvl="0">
              <a:lnSpc>
                <a:spcPct val="75000"/>
              </a:lnSpc>
            </a:pPr>
            <a:r>
              <a:rPr sz="2100"/>
              <a:t>Test-derived </a:t>
            </a:r>
            <a:r>
              <a:rPr sz="2100"/>
              <a:t>cable properties are needed</a:t>
            </a:r>
          </a:p>
          <a:p>
            <a:pPr lvl="1">
              <a:lnSpc>
                <a:spcPct val="75000"/>
              </a:lnSpc>
            </a:pPr>
            <a:r>
              <a:rPr sz="1600">
                <a:solidFill>
                  <a:srgbClr val="0047FF"/>
                </a:solidFill>
              </a:rPr>
              <a:t>What is the appropriate model for a cable?</a:t>
            </a:r>
          </a:p>
          <a:p>
            <a:pPr lvl="1">
              <a:lnSpc>
                <a:spcPct val="75000"/>
              </a:lnSpc>
            </a:pPr>
            <a:r>
              <a:t>Inputs for linear finite element models</a:t>
            </a:r>
          </a:p>
          <a:p>
            <a:pPr lvl="0">
              <a:lnSpc>
                <a:spcPct val="75000"/>
              </a:lnSpc>
            </a:pPr>
            <a:r>
              <a:t>Extensional modulus derived through test</a:t>
            </a:r>
          </a:p>
          <a:p>
            <a:pPr lvl="0"/>
            <a:r>
              <a:rPr sz="2100"/>
              <a:t>Shear modulus based </a:t>
            </a:r>
            <a:r>
              <a:rPr sz="2100"/>
              <a:t>on </a:t>
            </a:r>
            <a:r>
              <a:rPr sz="2100"/>
              <a:t>lateral driving </a:t>
            </a:r>
            <a:r>
              <a:rPr sz="2100"/>
              <a:t>point mobility </a:t>
            </a:r>
            <a:r>
              <a:rPr sz="2100"/>
              <a:t>FRFs</a:t>
            </a:r>
          </a:p>
          <a:p>
            <a:pPr lvl="1"/>
            <a:r>
              <a:t>“Easy” to measure</a:t>
            </a:r>
          </a:p>
          <a:p>
            <a:pPr lvl="1">
              <a:lnSpc>
                <a:spcPct val="75000"/>
              </a:lnSpc>
            </a:pPr>
            <a:r>
              <a:t>Challenges</a:t>
            </a:r>
          </a:p>
          <a:p>
            <a:pPr lvl="2">
              <a:lnSpc>
                <a:spcPct val="75000"/>
              </a:lnSpc>
            </a:pPr>
            <a:r>
              <a:t>Account for vibrometer time delay </a:t>
            </a:r>
          </a:p>
          <a:p>
            <a:pPr lvl="2">
              <a:lnSpc>
                <a:spcPct val="75000"/>
              </a:lnSpc>
            </a:pPr>
            <a:r>
              <a:rPr sz="1400"/>
              <a:t>Cancel driving point fixture mass loading </a:t>
            </a:r>
            <a:r>
              <a:rPr sz="1400"/>
              <a:t>effect</a:t>
            </a:r>
          </a:p>
          <a:p>
            <a:pPr lvl="2">
              <a:lnSpc>
                <a:spcPct val="75000"/>
              </a:lnSpc>
            </a:pPr>
            <a:r>
              <a:t>Repeated roots</a:t>
            </a:r>
          </a:p>
          <a:p>
            <a:pPr lvl="2">
              <a:lnSpc>
                <a:spcPct val="75000"/>
              </a:lnSpc>
            </a:pPr>
            <a:r>
              <a:t>Lightly damped fixture modes</a:t>
            </a:r>
          </a:p>
          <a:p>
            <a:pPr lvl="0">
              <a:lnSpc>
                <a:spcPct val="75000"/>
              </a:lnSpc>
            </a:pPr>
            <a:r>
              <a:t>Parameter estimation algorithm </a:t>
            </a:r>
          </a:p>
          <a:p>
            <a:pPr lvl="1">
              <a:lnSpc>
                <a:spcPct val="75000"/>
              </a:lnSpc>
            </a:pPr>
            <a:r>
              <a:t>Based on a beam model including shear</a:t>
            </a:r>
          </a:p>
          <a:p>
            <a:pPr lvl="1">
              <a:lnSpc>
                <a:spcPct val="75000"/>
              </a:lnSpc>
            </a:pPr>
            <a:r>
              <a:t>Specimen cross sectional area and extensional modulus from tensile tests</a:t>
            </a:r>
          </a:p>
          <a:p>
            <a:pPr lvl="1">
              <a:lnSpc>
                <a:spcPct val="75000"/>
              </a:lnSpc>
            </a:pPr>
            <a:r>
              <a:rPr sz="1700"/>
              <a:t>Determine area moment of inertia and </a:t>
            </a:r>
            <a:r>
              <a:rPr sz="1700"/>
              <a:t>k’G</a:t>
            </a:r>
          </a:p>
          <a:p>
            <a:pPr lvl="1">
              <a:lnSpc>
                <a:spcPct val="75000"/>
              </a:lnSpc>
            </a:pPr>
            <a:r>
              <a:t>Validated through experiment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obj" idx="2" sz="half"/>
          </p:nvPr>
        </p:nvSpPr>
        <p:spPr/>
        <p:txBody>
          <a:bodyPr/>
          <a:lstStyle/>
          <a:p/>
        </p:txBody>
      </p:sp>
      <p:pic>
        <p:nvPicPr>
          <p:cNvPr id="5" name="Picture 4" descr="image2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361" y="1447769"/>
            <a:ext cx="3525469" cy="3962369"/>
          </a:xfrm>
          <a:prstGeom prst="rect">
            <a:avLst/>
          </a:prstGeom>
        </p:spPr>
      </p:pic>
      <p:pic>
        <p:nvPicPr>
          <p:cNvPr id="6" name="Picture 5" descr="image24.jpeg"/>
          <p:cNvPicPr>
            <a:picLocks noChangeAspect="1"/>
          </p:cNvPicPr>
          <p:nvPr/>
        </p:nvPicPr>
        <p:blipFill>
          <a:blip r:embed="rId3"/>
          <a:srcRect l="-26751"/>
          <a:stretch>
            <a:fillRect/>
          </a:stretch>
        </p:blipFill>
        <p:spPr>
          <a:xfrm>
            <a:off x="5486400" y="1524030"/>
            <a:ext cx="3505169" cy="39179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570" y="228600"/>
            <a:ext cx="7161215" cy="814365"/>
          </a:xfrm>
        </p:spPr>
        <p:txBody>
          <a:bodyPr/>
          <a:lstStyle/>
          <a:p>
            <a:r>
              <a:t>Cable Natural Frequency Progression:</a:t>
            </a:r>
            <a:br/>
            <a:r>
              <a:t>The Beam Model Indicator</a:t>
            </a:r>
          </a:p>
        </p:txBody>
      </p:sp>
      <p:sp>
        <p:nvSpPr>
          <p:cNvPr id="3" name="upArrow 2"/>
          <p:cNvSpPr/>
          <p:nvPr/>
        </p:nvSpPr>
        <p:spPr>
          <a:xfrm>
            <a:off x="2149480" y="2934766"/>
            <a:ext cx="76169" cy="457200"/>
          </a:xfrm>
          <a:prstGeom prst="upArrow">
            <a:avLst/>
          </a:prstGeom>
          <a:solidFill>
            <a:srgbClr val="FFFF99"/>
          </a:solidFill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upArrow 3"/>
          <p:cNvSpPr/>
          <p:nvPr/>
        </p:nvSpPr>
        <p:spPr>
          <a:xfrm>
            <a:off x="2698668" y="2651119"/>
            <a:ext cx="76169" cy="457200"/>
          </a:xfrm>
          <a:prstGeom prst="upArrow">
            <a:avLst/>
          </a:prstGeom>
          <a:solidFill>
            <a:srgbClr val="FFFF99"/>
          </a:solidFill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upArrow 4"/>
          <p:cNvSpPr/>
          <p:nvPr/>
        </p:nvSpPr>
        <p:spPr>
          <a:xfrm>
            <a:off x="3047969" y="2590769"/>
            <a:ext cx="76169" cy="457200"/>
          </a:xfrm>
          <a:prstGeom prst="upArrow">
            <a:avLst/>
          </a:prstGeom>
          <a:solidFill>
            <a:srgbClr val="FFFF99"/>
          </a:solidFill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upArrow 5"/>
          <p:cNvSpPr/>
          <p:nvPr/>
        </p:nvSpPr>
        <p:spPr>
          <a:xfrm>
            <a:off x="3302995" y="2695651"/>
            <a:ext cx="76169" cy="457200"/>
          </a:xfrm>
          <a:prstGeom prst="upArrow">
            <a:avLst/>
          </a:prstGeom>
          <a:solidFill>
            <a:srgbClr val="FFFF99"/>
          </a:solidFill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upArrow 6"/>
          <p:cNvSpPr/>
          <p:nvPr/>
        </p:nvSpPr>
        <p:spPr>
          <a:xfrm>
            <a:off x="3505169" y="2858597"/>
            <a:ext cx="76169" cy="457200"/>
          </a:xfrm>
          <a:prstGeom prst="upArrow">
            <a:avLst/>
          </a:prstGeom>
          <a:solidFill>
            <a:srgbClr val="FFFF99"/>
          </a:solidFill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upArrow 7"/>
          <p:cNvSpPr/>
          <p:nvPr/>
        </p:nvSpPr>
        <p:spPr>
          <a:xfrm>
            <a:off x="3694633" y="3042757"/>
            <a:ext cx="76169" cy="457200"/>
          </a:xfrm>
          <a:prstGeom prst="upArrow">
            <a:avLst/>
          </a:prstGeom>
          <a:solidFill>
            <a:srgbClr val="FFFF99"/>
          </a:solidFill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81230" y="2286000"/>
            <a:ext cx="1904969" cy="160020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569" y="1397751"/>
            <a:ext cx="4572000" cy="2107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84000"/>
              </a:lnSpc>
              <a:buNone/>
            </a:pPr>
            <a:r>
              <a:rPr sz="2200" b="1">
                <a:solidFill>
                  <a:srgbClr val="000000"/>
                </a:solidFill>
                <a:cs typeface="Arial Unicode MS"/>
              </a:rPr>
              <a:t>The natural frequency-to-mode number progression of a cable follows a quadratic relationship </a:t>
            </a:r>
          </a:p>
          <a:p>
            <a:pPr lvl="1">
              <a:lnSpc>
                <a:spcPct val="84000"/>
              </a:lnSpc>
              <a:buNone/>
            </a:pPr>
            <a:r>
              <a:rPr sz="1800" b="1">
                <a:solidFill>
                  <a:srgbClr val="4040FF"/>
                </a:solidFill>
                <a:cs typeface="Arial Unicode MS"/>
              </a:rPr>
              <a:t>This is how an beam behaves</a:t>
            </a:r>
          </a:p>
          <a:p>
            <a:pPr lvl="1">
              <a:lnSpc>
                <a:spcPct val="84000"/>
              </a:lnSpc>
              <a:buNone/>
            </a:pPr>
            <a:r>
              <a:rPr sz="1800" b="1">
                <a:solidFill>
                  <a:srgbClr val="4040FF"/>
                </a:solidFill>
                <a:cs typeface="Arial Unicode MS"/>
              </a:rPr>
              <a:t>Diverges from elementary beam theory: shear must be included</a:t>
            </a:r>
          </a:p>
        </p:txBody>
      </p:sp>
      <p:sp>
        <p:nvSpPr>
          <p:cNvPr id="11" name="upArrow 10"/>
          <p:cNvSpPr/>
          <p:nvPr/>
        </p:nvSpPr>
        <p:spPr>
          <a:xfrm>
            <a:off x="4596140" y="3281598"/>
            <a:ext cx="304769" cy="2052645"/>
          </a:xfrm>
          <a:prstGeom prst="upArrow">
            <a:avLst/>
          </a:prstGeom>
          <a:solidFill>
            <a:srgbClr val="FFFF99"/>
          </a:solidFill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30" y="3733769"/>
            <a:ext cx="3733769" cy="2800350"/>
          </a:xfrm>
          <a:prstGeom prst="rect">
            <a:avLst/>
          </a:prstGeom>
        </p:spPr>
      </p:pic>
      <p:pic>
        <p:nvPicPr>
          <p:cNvPr id="13" name="Picture 12" descr="imag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9" y="1143000"/>
            <a:ext cx="4571725" cy="342881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570" y="269839"/>
            <a:ext cx="7159661" cy="720730"/>
          </a:xfrm>
        </p:spPr>
        <p:txBody>
          <a:bodyPr/>
          <a:lstStyle/>
          <a:p>
            <a:r>
              <a:t>Bare Cable Lateral Test: </a:t>
            </a:r>
            <a:br/>
            <a:r>
              <a:t>Parameter Estimation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2895630" y="1295430"/>
            <a:ext cx="6096030" cy="5181630"/>
          </a:xfrm>
        </p:spPr>
        <p:txBody>
          <a:bodyPr wrap="square"/>
          <a:lstStyle/>
          <a:p>
            <a:pPr lvl="0"/>
            <a:r>
              <a:rPr sz="2400"/>
              <a:t>Measurements are </a:t>
            </a:r>
            <a:r>
              <a:rPr sz="2400"/>
              <a:t>cleaned up </a:t>
            </a:r>
          </a:p>
          <a:p>
            <a:pPr lvl="0"/>
            <a:r>
              <a:t>Modal parameter estimation step</a:t>
            </a:r>
          </a:p>
          <a:p>
            <a:pPr lvl="0">
              <a:lnSpc>
                <a:spcPct val="150000"/>
              </a:lnSpc>
            </a:pPr>
            <a:r>
              <a:rPr sz="2400">
                <a:latin typeface="Symbol"/>
              </a:rPr>
              <a:t></a:t>
            </a:r>
            <a:r>
              <a:rPr sz="2400"/>
              <a:t> (        ) and </a:t>
            </a:r>
            <a:r>
              <a:rPr sz="2400"/>
              <a:t>k</a:t>
            </a:r>
            <a:r>
              <a:rPr sz="2400">
                <a:cs typeface="Arial"/>
              </a:rPr>
              <a:t>´G</a:t>
            </a:r>
            <a:r>
              <a:rPr sz="2400">
                <a:cs typeface="Arial"/>
              </a:rPr>
              <a:t> determined from modal </a:t>
            </a:r>
            <a:r>
              <a:rPr sz="2400">
                <a:cs typeface="Arial"/>
              </a:rPr>
              <a:t>frequencies</a:t>
            </a:r>
          </a:p>
          <a:p>
            <a:pPr lvl="0"/>
            <a:r>
              <a:rPr sz="2400"/>
              <a:t>Estimate I and </a:t>
            </a:r>
            <a:r>
              <a:rPr sz="2400"/>
              <a:t>effective diameter</a:t>
            </a:r>
          </a:p>
          <a:p>
            <a:pPr lvl="0"/>
            <a:r>
              <a:t>Damping averaged over all modes</a:t>
            </a:r>
          </a:p>
          <a:p>
            <a:pPr lvl="0"/>
            <a:r>
              <a:t>Estimated parameters benchmarked by comparing shear model frequencies and measurement</a:t>
            </a:r>
          </a:p>
          <a:p>
            <a:pPr lvl="0"/>
            <a:r>
              <a:t>Parameters estimated for different spans of each cable specimen and multiple specimens of each cable construction</a:t>
            </a:r>
          </a:p>
        </p:txBody>
      </p:sp>
      <p:pic>
        <p:nvPicPr>
          <p:cNvPr id="4" name="Picture 3" descr="image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19169"/>
            <a:ext cx="2220711" cy="515428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Parameter Estimation: Tie down stiffness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 sz="half"/>
          </p:nvPr>
        </p:nvSpPr>
        <p:spPr>
          <a:xfrm>
            <a:off x="0" y="1219170"/>
            <a:ext cx="6248370" cy="2438430"/>
          </a:xfrm>
        </p:spPr>
        <p:txBody>
          <a:bodyPr wrap="square"/>
          <a:lstStyle/>
          <a:p>
            <a:pPr lvl="0">
              <a:lnSpc>
                <a:spcPct val="100000"/>
              </a:lnSpc>
            </a:pPr>
            <a:r>
              <a:t>Rod-on-beam eliminates cable property uncertainty </a:t>
            </a:r>
          </a:p>
          <a:p>
            <a:pPr lvl="1">
              <a:lnSpc>
                <a:spcPct val="100000"/>
              </a:lnSpc>
            </a:pPr>
            <a:r>
              <a:t>Tune attachment stiffness to correlate test and model FRFs</a:t>
            </a:r>
          </a:p>
          <a:p>
            <a:pPr lvl="0">
              <a:lnSpc>
                <a:spcPct val="80000"/>
              </a:lnSpc>
            </a:pPr>
            <a:r>
              <a:t>Direct measurement tests an alternative means to estimate </a:t>
            </a:r>
          </a:p>
          <a:p>
            <a:pPr lvl="1">
              <a:lnSpc>
                <a:spcPct val="80000"/>
              </a:lnSpc>
            </a:pPr>
            <a:r>
              <a:t>Assumes cable is infinitely stiff over frequency range of estimate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obj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62769" y="1219169"/>
            <a:ext cx="1524030" cy="340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600">
                <a:solidFill>
                  <a:srgbClr val="4040FF"/>
                </a:solidFill>
              </a:rPr>
              <a:t>Copper Rod</a:t>
            </a:r>
          </a:p>
        </p:txBody>
      </p:sp>
      <p:pic>
        <p:nvPicPr>
          <p:cNvPr id="6" name="Picture 5" descr="image2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30" y="1447769"/>
            <a:ext cx="1779696" cy="2373325"/>
          </a:xfrm>
          <a:prstGeom prst="rect">
            <a:avLst/>
          </a:prstGeom>
        </p:spPr>
      </p:pic>
      <p:pic>
        <p:nvPicPr>
          <p:cNvPr id="7" name="Picture 6" descr="image30.em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30" y="4343400"/>
            <a:ext cx="5181630" cy="2377622"/>
          </a:xfrm>
          <a:prstGeom prst="rect">
            <a:avLst/>
          </a:prstGeom>
        </p:spPr>
      </p:pic>
      <p:pic>
        <p:nvPicPr>
          <p:cNvPr id="8" name="Picture 7" descr="image31.em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215" y="4343400"/>
            <a:ext cx="3673784" cy="22869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569" y="269839"/>
            <a:ext cx="7162769" cy="8160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 algn="ctr">
              <a:lnSpc>
                <a:spcPct val="90000"/>
              </a:lnSpc>
              <a:buNone/>
            </a:pPr>
            <a:r>
              <a:rPr sz="2700" b="1">
                <a:solidFill>
                  <a:srgbClr val="000000"/>
                </a:solidFill>
              </a:rPr>
              <a:t>Model </a:t>
            </a:r>
            <a:r>
              <a:rPr sz="2700" b="1">
                <a:solidFill>
                  <a:srgbClr val="000000"/>
                </a:solidFill>
              </a:rPr>
              <a:t>Validation: Tie </a:t>
            </a:r>
            <a:r>
              <a:rPr sz="2700" b="1">
                <a:solidFill>
                  <a:srgbClr val="000000"/>
                </a:solidFill>
              </a:rPr>
              <a:t>downs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143000"/>
            <a:ext cx="4724430" cy="4038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80000"/>
              </a:lnSpc>
              <a:buNone/>
            </a:pPr>
            <a:r>
              <a:rPr sz="2400" b="1">
                <a:solidFill>
                  <a:schemeClr val="accent4"/>
                </a:solidFill>
              </a:rPr>
              <a:t>Tie-down parameters play an important role in cable/structure interactions</a:t>
            </a:r>
          </a:p>
          <a:p>
            <a:pPr lvl="0">
              <a:lnSpc>
                <a:spcPct val="80000"/>
              </a:lnSpc>
              <a:buNone/>
            </a:pPr>
            <a:r>
              <a:rPr sz="2400" b="1">
                <a:solidFill>
                  <a:schemeClr val="accent4"/>
                </a:solidFill>
              </a:rPr>
              <a:t>Offset more important for stiff cables than for compliant ones</a:t>
            </a:r>
          </a:p>
          <a:p>
            <a:pPr lvl="0">
              <a:lnSpc>
                <a:spcPct val="80000"/>
              </a:lnSpc>
              <a:buNone/>
            </a:pPr>
            <a:r>
              <a:rPr sz="2400" b="1">
                <a:solidFill>
                  <a:schemeClr val="accent4"/>
                </a:solidFill>
              </a:rPr>
              <a:t>Rod-on-beam based attachment stiffness values used in cable-on-beam models</a:t>
            </a:r>
          </a:p>
          <a:p>
            <a:pPr lvl="1">
              <a:lnSpc>
                <a:spcPct val="80000"/>
              </a:lnSpc>
              <a:buNone/>
            </a:pPr>
            <a:r>
              <a:rPr sz="2400" b="1">
                <a:solidFill>
                  <a:schemeClr val="accent4"/>
                </a:solidFill>
              </a:rPr>
              <a:t>Stiffnesses</a:t>
            </a:r>
            <a:r>
              <a:rPr sz="2400" b="1">
                <a:solidFill>
                  <a:schemeClr val="accent4"/>
                </a:solidFill>
              </a:rPr>
              <a:t> from “direct measurement” tests did not perform as 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30" y="5486400"/>
            <a:ext cx="4343400" cy="101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None/>
            </a:pPr>
            <a:r>
              <a:rPr b="1">
                <a:solidFill>
                  <a:schemeClr val="tx1"/>
                </a:solidFill>
              </a:rPr>
              <a:t>From rod-on-beam correlation: </a:t>
            </a:r>
          </a:p>
          <a:p>
            <a:pPr lvl="0" algn="ctr">
              <a:buNone/>
            </a:pPr>
            <a:r>
              <a:rPr b="1">
                <a:solidFill>
                  <a:schemeClr val="tx1"/>
                </a:solidFill>
              </a:rPr>
              <a:t>K</a:t>
            </a:r>
            <a:r>
              <a:rPr b="1">
                <a:solidFill>
                  <a:schemeClr val="tx1"/>
                </a:solidFill>
              </a:rPr>
              <a:t>1</a:t>
            </a:r>
            <a:r>
              <a:rPr b="1">
                <a:solidFill>
                  <a:schemeClr val="tx1"/>
                </a:solidFill>
              </a:rPr>
              <a:t>=K</a:t>
            </a:r>
            <a:r>
              <a:rPr b="1">
                <a:solidFill>
                  <a:schemeClr val="tx1"/>
                </a:solidFill>
              </a:rPr>
              <a:t>2</a:t>
            </a:r>
            <a:r>
              <a:rPr b="1">
                <a:solidFill>
                  <a:schemeClr val="tx1"/>
                </a:solidFill>
              </a:rPr>
              <a:t>=K</a:t>
            </a:r>
            <a:r>
              <a:rPr b="1">
                <a:solidFill>
                  <a:schemeClr val="tx1"/>
                </a:solidFill>
              </a:rPr>
              <a:t>3</a:t>
            </a:r>
            <a:r>
              <a:rPr b="1">
                <a:solidFill>
                  <a:schemeClr val="tx1"/>
                </a:solidFill>
              </a:rPr>
              <a:t> = 3x10</a:t>
            </a:r>
            <a:r>
              <a:rPr b="1">
                <a:solidFill>
                  <a:schemeClr val="tx1"/>
                </a:solidFill>
              </a:rPr>
              <a:t>4</a:t>
            </a:r>
            <a:r>
              <a:rPr b="1">
                <a:solidFill>
                  <a:schemeClr val="tx1"/>
                </a:solidFill>
              </a:rPr>
              <a:t> lbf/inch</a:t>
            </a:r>
          </a:p>
          <a:p>
            <a:pPr lvl="0" algn="ctr">
              <a:buNone/>
            </a:pPr>
            <a:r>
              <a:rPr b="1">
                <a:solidFill>
                  <a:schemeClr val="tx1"/>
                </a:solidFill>
              </a:rPr>
              <a:t>K</a:t>
            </a:r>
            <a:r>
              <a:rPr b="1">
                <a:solidFill>
                  <a:schemeClr val="tx1"/>
                </a:solidFill>
              </a:rPr>
              <a:t>5</a:t>
            </a:r>
            <a:r>
              <a:rPr b="1">
                <a:solidFill>
                  <a:schemeClr val="tx1"/>
                </a:solidFill>
              </a:rPr>
              <a:t> =K</a:t>
            </a:r>
            <a:r>
              <a:rPr b="1">
                <a:solidFill>
                  <a:schemeClr val="tx1"/>
                </a:solidFill>
              </a:rPr>
              <a:t>6</a:t>
            </a:r>
            <a:r>
              <a:rPr b="1">
                <a:solidFill>
                  <a:schemeClr val="tx1"/>
                </a:solidFill>
              </a:rPr>
              <a:t> = 100 inch-lbf/</a:t>
            </a:r>
            <a:r>
              <a:rPr b="1">
                <a:solidFill>
                  <a:schemeClr val="tx1"/>
                </a:solidFill>
              </a:rPr>
              <a:t>rad</a:t>
            </a:r>
          </a:p>
        </p:txBody>
      </p:sp>
      <p:pic>
        <p:nvPicPr>
          <p:cNvPr id="5" name="Picture 4" descr="image32.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569" y="1219169"/>
            <a:ext cx="4572000" cy="2603571"/>
          </a:xfrm>
          <a:prstGeom prst="rect">
            <a:avLst/>
          </a:prstGeom>
        </p:spPr>
      </p:pic>
      <p:pic>
        <p:nvPicPr>
          <p:cNvPr id="6" name="Picture 5" descr="image33.em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69" y="3810030"/>
            <a:ext cx="4064965" cy="304796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Cable-on-Beam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 sz="half"/>
          </p:nvPr>
        </p:nvSpPr>
        <p:spPr>
          <a:xfrm>
            <a:off x="0" y="1828800"/>
            <a:ext cx="4190970" cy="4572000"/>
          </a:xfrm>
        </p:spPr>
        <p:txBody>
          <a:bodyPr wrap="square"/>
          <a:lstStyle/>
          <a:p>
            <a:pPr lvl="0"/>
            <a:r>
              <a:t>Cable effects differ over two distinct frequency ranges</a:t>
            </a:r>
          </a:p>
          <a:p>
            <a:pPr lvl="1"/>
            <a:r>
              <a:t>Mass and stiffness effects below cable resonance</a:t>
            </a:r>
          </a:p>
          <a:p>
            <a:pPr lvl="1"/>
            <a:r>
              <a:t>Increased damping above cable resonance</a:t>
            </a:r>
          </a:p>
          <a:p>
            <a:pPr lvl="0"/>
            <a:r>
              <a:t>Good agreement between measured and modeled dynamics</a:t>
            </a:r>
          </a:p>
          <a:p>
            <a:pPr lvl="1"/>
            <a:r>
              <a:t>Build-to-build variability is evident in predictions using “coupon” or “family” cable properties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obj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105369" y="1295430"/>
            <a:ext cx="1524030" cy="707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b="1">
                <a:solidFill>
                  <a:srgbClr val="0070C0"/>
                </a:solidFill>
              </a:rPr>
              <a:t>Cable not resonant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5333969"/>
            <a:ext cx="1524030" cy="707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b="1">
                <a:solidFill>
                  <a:srgbClr val="00B050"/>
                </a:solidFill>
              </a:rPr>
              <a:t>Cable resonant</a:t>
            </a:r>
          </a:p>
        </p:txBody>
      </p:sp>
      <p:pic>
        <p:nvPicPr>
          <p:cNvPr id="7" name="Picture 6" descr="image18.jpeg"/>
          <p:cNvPicPr>
            <a:picLocks noChangeAspect="1"/>
          </p:cNvPicPr>
          <p:nvPr/>
        </p:nvPicPr>
        <p:blipFill>
          <a:blip r:embed="rId2"/>
          <a:srcRect l="10272" t="18466" r="16386" b="15674"/>
          <a:stretch>
            <a:fillRect/>
          </a:stretch>
        </p:blipFill>
        <p:spPr>
          <a:xfrm>
            <a:off x="6553230" y="2133569"/>
            <a:ext cx="1095359" cy="666780"/>
          </a:xfrm>
          <a:prstGeom prst="rect">
            <a:avLst/>
          </a:prstGeom>
        </p:spPr>
      </p:pic>
      <p:pic>
        <p:nvPicPr>
          <p:cNvPr id="8" name="Picture 7" descr="image19.png"/>
          <p:cNvPicPr>
            <a:picLocks noChangeAspect="1"/>
          </p:cNvPicPr>
          <p:nvPr/>
        </p:nvPicPr>
        <p:blipFill>
          <a:blip r:embed="rId3"/>
          <a:srcRect l="1887" t="2516" r="7540" b="2847"/>
          <a:stretch>
            <a:fillRect/>
          </a:stretch>
        </p:blipFill>
        <p:spPr>
          <a:xfrm>
            <a:off x="4724430" y="1981230"/>
            <a:ext cx="4267230" cy="3397453"/>
          </a:xfrm>
          <a:prstGeom prst="rect">
            <a:avLst/>
          </a:prstGeom>
        </p:spPr>
      </p:pic>
      <p:pic>
        <p:nvPicPr>
          <p:cNvPr id="9" name="Picture 8" descr="image34.emf"/>
          <p:cNvPicPr>
            <a:picLocks noChangeAspect="1"/>
          </p:cNvPicPr>
          <p:nvPr/>
        </p:nvPicPr>
        <p:blipFill>
          <a:blip r:embed="rId4"/>
          <a:srcRect l="3757" t="27324" r="5833"/>
          <a:stretch>
            <a:fillRect/>
          </a:stretch>
        </p:blipFill>
        <p:spPr>
          <a:xfrm>
            <a:off x="8153430" y="2264054"/>
            <a:ext cx="5029200" cy="3679545"/>
          </a:xfrm>
          <a:prstGeom prst="rect">
            <a:avLst/>
          </a:prstGeom>
        </p:spPr>
      </p:pic>
      <p:pic>
        <p:nvPicPr>
          <p:cNvPr id="10" name="Picture 9" descr="image34.emf"/>
          <p:cNvPicPr>
            <a:picLocks noChangeAspect="1"/>
          </p:cNvPicPr>
          <p:nvPr/>
        </p:nvPicPr>
        <p:blipFill>
          <a:blip r:embed="rId5"/>
          <a:srcRect l="3757" t="97811" r="19143"/>
          <a:stretch>
            <a:fillRect/>
          </a:stretch>
        </p:blipFill>
        <p:spPr>
          <a:xfrm>
            <a:off x="8757025" y="1295430"/>
            <a:ext cx="4288810" cy="990569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1752600" y="4343400"/>
            <a:ext cx="1295400" cy="1588"/>
          </a:xfrm>
          <a:prstGeom prst="straightConnector1">
            <a:avLst/>
          </a:prstGeom>
          <a:ln w="3175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24200" y="6172200"/>
            <a:ext cx="2743200" cy="1588"/>
          </a:xfrm>
          <a:prstGeom prst="straightConnector1">
            <a:avLst/>
          </a:prstGeom>
          <a:ln w="381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570" y="228600"/>
            <a:ext cx="7161215" cy="814365"/>
          </a:xfrm>
        </p:spPr>
        <p:txBody>
          <a:bodyPr/>
          <a:lstStyle/>
          <a:p>
            <a:r>
              <a:t>Model Validation Effort –</a:t>
            </a:r>
            <a:br/>
            <a:r>
              <a:t>A Panel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 sz="half"/>
          </p:nvPr>
        </p:nvSpPr>
        <p:spPr>
          <a:xfrm>
            <a:off x="152430" y="1239835"/>
            <a:ext cx="5257800" cy="5183185"/>
          </a:xfrm>
        </p:spPr>
        <p:txBody>
          <a:bodyPr wrap="square"/>
          <a:lstStyle/>
          <a:p>
            <a:pPr lvl="0"/>
            <a:r>
              <a:rPr sz="2400">
                <a:solidFill>
                  <a:srgbClr val="0070C0"/>
                </a:solidFill>
              </a:rPr>
              <a:t>Mission</a:t>
            </a:r>
            <a:r>
              <a:rPr sz="2400"/>
              <a:t>: A test case to prove the applicability of the cable test, parameter estimation and </a:t>
            </a:r>
            <a:r>
              <a:rPr sz="2400"/>
              <a:t>modelling</a:t>
            </a:r>
            <a:r>
              <a:rPr sz="2400"/>
              <a:t> methods to a </a:t>
            </a:r>
            <a:r>
              <a:rPr sz="2400"/>
              <a:t>spacecraft-like</a:t>
            </a:r>
            <a:r>
              <a:rPr sz="2400"/>
              <a:t> panel</a:t>
            </a:r>
          </a:p>
          <a:p>
            <a:pPr lvl="0"/>
            <a:r>
              <a:rPr sz="2400">
                <a:solidFill>
                  <a:srgbClr val="0070C0"/>
                </a:solidFill>
              </a:rPr>
              <a:t>Ground rules</a:t>
            </a:r>
            <a:r>
              <a:rPr sz="2400"/>
              <a:t>: Conduct experiments to quantify dynamics. </a:t>
            </a:r>
            <a:r>
              <a:rPr sz="2400"/>
              <a:t>Modelling</a:t>
            </a:r>
            <a:r>
              <a:rPr sz="2400"/>
              <a:t> effort uses estimated cable properties, but cannot include model tuning.</a:t>
            </a:r>
          </a:p>
          <a:p>
            <a:pPr lvl="0"/>
            <a:r>
              <a:t>Test case</a:t>
            </a:r>
          </a:p>
          <a:p>
            <a:pPr lvl="1"/>
            <a:r>
              <a:t>Aluminum panel 2’ x 2’ x 3/16”</a:t>
            </a:r>
          </a:p>
          <a:p>
            <a:pPr lvl="1"/>
            <a:r>
              <a:t>Three cast aluminum electronics boxes</a:t>
            </a:r>
          </a:p>
          <a:p>
            <a:pPr lvl="1"/>
            <a:r>
              <a:t>Cable mass ratios ~ 3% or 6%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obj" idx="2" sz="half"/>
          </p:nvPr>
        </p:nvSpPr>
        <p:spPr/>
        <p:txBody>
          <a:bodyPr/>
          <a:lstStyle/>
          <a:p/>
        </p:txBody>
      </p:sp>
      <p:pic>
        <p:nvPicPr>
          <p:cNvPr id="5" name="Picture 4" descr="image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69" y="1447769"/>
            <a:ext cx="2874324" cy="430782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Measured Driving Point FRFs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 sz="half"/>
          </p:nvPr>
        </p:nvSpPr>
        <p:spPr>
          <a:xfrm>
            <a:off x="152430" y="1239835"/>
            <a:ext cx="4419570" cy="5183185"/>
          </a:xfrm>
        </p:spPr>
        <p:txBody>
          <a:bodyPr wrap="square"/>
          <a:lstStyle/>
          <a:p>
            <a:pPr lvl="0"/>
            <a:r>
              <a:t>Little influence in panel dynamics below cable resonance</a:t>
            </a:r>
          </a:p>
          <a:p>
            <a:pPr lvl="0"/>
            <a:r>
              <a:t>Various cable spans become resonant between ~75 and ~175 Hz</a:t>
            </a:r>
          </a:p>
          <a:p>
            <a:pPr lvl="1"/>
            <a:r>
              <a:t>Determined by cable type and open span dimensions</a:t>
            </a:r>
          </a:p>
          <a:p>
            <a:pPr lvl="0"/>
            <a:r>
              <a:t>Low cable-to-panel mass ratio limits the cable influence on the coupled dynamics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obj" idx="2" sz="half"/>
          </p:nvPr>
        </p:nvSpPr>
        <p:spPr/>
        <p:txBody>
          <a:bodyPr/>
          <a:lstStyle/>
          <a:p/>
        </p:txBody>
      </p:sp>
      <p:pic>
        <p:nvPicPr>
          <p:cNvPr id="5" name="Picture 4" descr="image36.emf"/>
          <p:cNvPicPr>
            <a:picLocks noChangeAspect="1"/>
          </p:cNvPicPr>
          <p:nvPr/>
        </p:nvPicPr>
        <p:blipFill>
          <a:blip r:embed="rId2"/>
          <a:srcRect l="3333" r="6667" b="37362"/>
          <a:stretch>
            <a:fillRect/>
          </a:stretch>
        </p:blipFill>
        <p:spPr>
          <a:xfrm>
            <a:off x="4419569" y="2133569"/>
            <a:ext cx="4724430" cy="3235512"/>
          </a:xfrm>
          <a:prstGeom prst="rect">
            <a:avLst/>
          </a:prstGeom>
        </p:spPr>
      </p:pic>
      <p:pic>
        <p:nvPicPr>
          <p:cNvPr id="6" name="Picture 5" descr="image36.emf"/>
          <p:cNvPicPr>
            <a:picLocks noChangeAspect="1"/>
          </p:cNvPicPr>
          <p:nvPr/>
        </p:nvPicPr>
        <p:blipFill>
          <a:blip r:embed="rId3"/>
          <a:srcRect l="20000" t="92217" r="20000" b="2563"/>
          <a:stretch>
            <a:fillRect/>
          </a:stretch>
        </p:blipFill>
        <p:spPr>
          <a:xfrm>
            <a:off x="5294467" y="5369082"/>
            <a:ext cx="3149650" cy="26965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Panel Model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 sz="half"/>
          </p:nvPr>
        </p:nvSpPr>
        <p:spPr>
          <a:xfrm>
            <a:off x="0" y="1143000"/>
            <a:ext cx="4800600" cy="5280020"/>
          </a:xfrm>
        </p:spPr>
        <p:txBody>
          <a:bodyPr wrap="square"/>
          <a:lstStyle/>
          <a:p>
            <a:pPr lvl="0"/>
            <a:r>
              <a:rPr sz="2400"/>
              <a:t>Compared traditional </a:t>
            </a:r>
            <a:r>
              <a:rPr sz="2400"/>
              <a:t>modelling</a:t>
            </a:r>
            <a:r>
              <a:rPr sz="2400"/>
              <a:t> approach (i.e., nonstructural mass) with dynamic cable models</a:t>
            </a:r>
          </a:p>
          <a:p>
            <a:pPr lvl="0"/>
            <a:r>
              <a:t>Running RMS metric is driven by modal damping</a:t>
            </a:r>
          </a:p>
          <a:p>
            <a:pPr lvl="1"/>
            <a:r>
              <a:t>Lumped mass approach does not account for coupling and over estimates response</a:t>
            </a:r>
          </a:p>
          <a:p>
            <a:pPr lvl="0"/>
            <a:r>
              <a:t>Nonstructural mass approach may be adequate for low frequencies and low cable/structure mass ratios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obj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538886" y="5723686"/>
            <a:ext cx="3200400" cy="6771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None/>
            </a:pPr>
            <a:r>
              <a:rPr sz="1800" b="1">
                <a:solidFill>
                  <a:srgbClr val="0070C0"/>
                </a:solidFill>
              </a:rPr>
              <a:t>Running RMS error, zeroed at 90 and 200 Hz</a:t>
            </a:r>
            <a:r>
              <a:rPr b="1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48169" y="5257708"/>
            <a:ext cx="4495830" cy="923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800" b="1">
                <a:solidFill>
                  <a:srgbClr val="0070C0"/>
                </a:solidFill>
              </a:rPr>
              <a:t>Least benefit from dynamic cable models with low mass ratio and/or large magnitude non-interacting modes</a:t>
            </a:r>
          </a:p>
        </p:txBody>
      </p:sp>
      <p:pic>
        <p:nvPicPr>
          <p:cNvPr id="7" name="Picture 6" descr="image38.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977" y="1904969"/>
            <a:ext cx="4435022" cy="3962369"/>
          </a:xfrm>
          <a:prstGeom prst="rect">
            <a:avLst/>
          </a:prstGeom>
        </p:spPr>
      </p:pic>
      <p:pic>
        <p:nvPicPr>
          <p:cNvPr id="8" name="Picture 7" descr="image39.em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825" y="1837486"/>
            <a:ext cx="4367174" cy="3902110"/>
          </a:xfrm>
          <a:prstGeom prst="rect">
            <a:avLst/>
          </a:prstGeom>
        </p:spPr>
      </p:pic>
      <p:pic>
        <p:nvPicPr>
          <p:cNvPr id="9" name="Picture 8" descr="image40.emf"/>
          <p:cNvPicPr>
            <a:picLocks noChangeAspect="1"/>
          </p:cNvPicPr>
          <p:nvPr/>
        </p:nvPicPr>
        <p:blipFill>
          <a:blip r:embed="rId4"/>
          <a:srcRect l="3334" r="4754" b="-17419"/>
          <a:stretch>
            <a:fillRect/>
          </a:stretch>
        </p:blipFill>
        <p:spPr>
          <a:xfrm>
            <a:off x="4724430" y="2057400"/>
            <a:ext cx="4419569" cy="4419569"/>
          </a:xfrm>
          <a:prstGeom prst="rect">
            <a:avLst/>
          </a:prstGeom>
        </p:spPr>
      </p:pic>
      <p:pic>
        <p:nvPicPr>
          <p:cNvPr id="10" name="Picture 9" descr="image41.emf"/>
          <p:cNvPicPr>
            <a:picLocks noChangeAspect="1"/>
          </p:cNvPicPr>
          <p:nvPr/>
        </p:nvPicPr>
        <p:blipFill>
          <a:blip r:embed="rId5"/>
          <a:srcRect b="-36170"/>
          <a:stretch>
            <a:fillRect/>
          </a:stretch>
        </p:blipFill>
        <p:spPr>
          <a:xfrm>
            <a:off x="4676150" y="1676369"/>
            <a:ext cx="4467849" cy="487676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Shear Modulus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 sz="half"/>
          </p:nvPr>
        </p:nvSpPr>
        <p:spPr>
          <a:xfrm>
            <a:off x="76170" y="1981230"/>
            <a:ext cx="4362420" cy="4441789"/>
          </a:xfrm>
        </p:spPr>
        <p:txBody>
          <a:bodyPr wrap="square"/>
          <a:lstStyle/>
          <a:p>
            <a:pPr lvl="0"/>
            <a:r>
              <a:t>Use of “family” or “coupon” shear modulus values does not have large impact on model accuracy for cables tested</a:t>
            </a:r>
          </a:p>
          <a:p>
            <a:pPr lvl="1"/>
            <a:r>
              <a:t>Different conclusion than for cable-on-beam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obj" idx="2" sz="half"/>
          </p:nvPr>
        </p:nvSpPr>
        <p:spPr/>
        <p:txBody>
          <a:bodyPr/>
          <a:lstStyle/>
          <a:p/>
        </p:txBody>
      </p:sp>
      <p:pic>
        <p:nvPicPr>
          <p:cNvPr id="5" name="Picture 4" descr="image42.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447769"/>
            <a:ext cx="4800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Major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 wrap="square"/>
          <a:lstStyle/>
          <a:p>
            <a:pPr lvl="0"/>
            <a:r>
              <a:t>A shear beam model predicts cable dynamics</a:t>
            </a:r>
          </a:p>
          <a:p>
            <a:pPr lvl="0"/>
            <a:r>
              <a:t>Coupon tests may be justified for critical applications</a:t>
            </a:r>
          </a:p>
          <a:p>
            <a:pPr lvl="0"/>
            <a:r>
              <a:t>Variability in cable properties can be traced to</a:t>
            </a:r>
          </a:p>
          <a:p>
            <a:pPr lvl="1"/>
            <a:r>
              <a:t>Cable construction due to hand fabrication </a:t>
            </a:r>
          </a:p>
          <a:p>
            <a:pPr lvl="1"/>
            <a:r>
              <a:t>Differences in wire structural properties can vary between lots</a:t>
            </a:r>
          </a:p>
          <a:p>
            <a:pPr lvl="1"/>
            <a:r>
              <a:t>Running stitch tension</a:t>
            </a:r>
          </a:p>
          <a:p>
            <a:pPr lvl="0"/>
            <a:r>
              <a:t>There is evidence of cable property dependence on span</a:t>
            </a:r>
          </a:p>
          <a:p>
            <a:pPr lvl="0"/>
            <a:r>
              <a:t>Measurement of cable extensional modulus requires a low load capacity tensile test machine and a custom extensometer witness fixture</a:t>
            </a:r>
          </a:p>
          <a:p>
            <a:pPr lvl="0"/>
            <a:r>
              <a:t>Rod-on-beam validation experiments were instrumental in refining connection stiffness value estimates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 wrap="square"/>
          <a:lstStyle/>
          <a:p>
            <a:pPr lvl="0"/>
            <a:r>
              <a:rPr sz="2400"/>
              <a:t>Innovative test, analysis and </a:t>
            </a:r>
            <a:r>
              <a:rPr sz="2400"/>
              <a:t>modelling</a:t>
            </a:r>
            <a:r>
              <a:rPr sz="2400"/>
              <a:t> approaches were developed to </a:t>
            </a:r>
          </a:p>
          <a:p>
            <a:pPr lvl="1"/>
            <a:r>
              <a:t>Increase accuracy of models to include the influence of power and signal cables</a:t>
            </a:r>
          </a:p>
          <a:p>
            <a:pPr lvl="1"/>
            <a:r>
              <a:t>Used standard linear finite element model methods</a:t>
            </a:r>
          </a:p>
          <a:p>
            <a:pPr lvl="0"/>
            <a:r>
              <a:t>Cables can have a significant impact on coupled structure dynamics</a:t>
            </a:r>
          </a:p>
          <a:p>
            <a:pPr lvl="1"/>
            <a:r>
              <a:t>Mass loading on the cable stiffness line</a:t>
            </a:r>
          </a:p>
          <a:p>
            <a:pPr lvl="1"/>
            <a:r>
              <a:t>Increased damping above first cable resonance</a:t>
            </a:r>
          </a:p>
          <a:p>
            <a:pPr lvl="1"/>
            <a:r>
              <a:t>Large reductions in resonant response when cable and host structure natural frequencies are close to one another</a:t>
            </a:r>
          </a:p>
          <a:p>
            <a:pPr lvl="2"/>
            <a:r>
              <a:rPr>
                <a:solidFill>
                  <a:srgbClr val="0070C0"/>
                </a:solidFill>
              </a:rPr>
              <a:t>The traditional nonstructural mass approach cannot predict the cable interaction, leading to overestimates of resonant response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Research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228600" y="1239835"/>
            <a:ext cx="8762970" cy="5183185"/>
          </a:xfrm>
        </p:spPr>
        <p:txBody>
          <a:bodyPr wrap="square"/>
          <a:lstStyle/>
          <a:p>
            <a:pPr lvl="0"/>
            <a:r>
              <a:t>Develop cable fabrication techniques to increase cable predictability for structural dynamics</a:t>
            </a:r>
          </a:p>
          <a:p>
            <a:pPr lvl="0"/>
            <a:r>
              <a:t>Extend efforts to include other cable construction methods</a:t>
            </a:r>
          </a:p>
          <a:p>
            <a:pPr lvl="1"/>
            <a:r>
              <a:t>Considerable interest in the space community</a:t>
            </a:r>
          </a:p>
          <a:p>
            <a:pPr lvl="0"/>
            <a:r>
              <a:t>Extend efforts to more massive cables and those with bends and connectors</a:t>
            </a:r>
          </a:p>
          <a:p>
            <a:pPr lvl="0"/>
            <a:r>
              <a:t>Cable service loop </a:t>
            </a:r>
            <a:r>
              <a:t>modelling</a:t>
            </a:r>
            <a:r>
              <a:t> </a:t>
            </a:r>
          </a:p>
          <a:p>
            <a:pPr lvl="0"/>
            <a:r>
              <a:t>Study behavior of cables under launch vibration and mechanical shock conditions</a:t>
            </a:r>
          </a:p>
          <a:p>
            <a:pPr lvl="1"/>
            <a:r>
              <a:t>Workmanship under high loading conditions</a:t>
            </a:r>
          </a:p>
          <a:p>
            <a:pPr lvl="1"/>
            <a:r>
              <a:t>Mounting bracket strength </a:t>
            </a:r>
          </a:p>
          <a:p>
            <a:pPr lvl="1"/>
            <a:r>
              <a:t>Concerns in the space industry and </a:t>
            </a:r>
            <a:r>
              <a:t>DoD</a:t>
            </a:r>
            <a:r>
              <a:t> </a:t>
            </a:r>
          </a:p>
          <a:p>
            <a:pPr lvl="0"/>
            <a:r>
              <a:t>Detailed cable mechanics</a:t>
            </a:r>
          </a:p>
          <a:p>
            <a:pPr lvl="1"/>
            <a:r>
              <a:t>Reduce dependence on empirically derived properties</a:t>
            </a:r>
          </a:p>
          <a:p>
            <a:pPr lvl="1"/>
            <a:r>
              <a:t>Accelerate </a:t>
            </a:r>
            <a:r>
              <a:t>modelling</a:t>
            </a:r>
            <a:r>
              <a:t> and analysis programs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95430"/>
            <a:ext cx="7772400" cy="1469989"/>
          </a:xfrm>
        </p:spPr>
        <p:txBody>
          <a:bodyPr/>
          <a:lstStyle/>
          <a:p>
            <a:r>
              <a:t>Questions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Acknowledgments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 wrap="square"/>
          <a:lstStyle/>
          <a:p>
            <a:pPr lvl="0">
              <a:lnSpc>
                <a:spcPct val="100000"/>
              </a:lnSpc>
            </a:pPr>
            <a:r>
              <a:rPr sz="2400">
                <a:cs typeface="Lucida Sans Unicode"/>
              </a:rPr>
              <a:t>Thanks to the Air Force Research Laboratory and the Air Force Office for Scientific Research for funding.</a:t>
            </a:r>
          </a:p>
          <a:p>
            <a:pPr lvl="0">
              <a:lnSpc>
                <a:spcPct val="100000"/>
              </a:lnSpc>
            </a:pPr>
            <a:r>
              <a:rPr sz="2400">
                <a:cs typeface="Lucida Sans Unicode"/>
              </a:rPr>
              <a:t>Thanks to the following project collaborators without whom this work would not have been possible.  </a:t>
            </a:r>
          </a:p>
          <a:p>
            <a:pPr lvl="1">
              <a:lnSpc>
                <a:spcPct val="100000"/>
              </a:lnSpc>
            </a:pPr>
            <a:r>
              <a:rPr>
                <a:cs typeface="Lucida Sans Unicode"/>
              </a:rPr>
              <a:t>Dr. </a:t>
            </a:r>
            <a:r>
              <a:rPr>
                <a:cs typeface="Lucida Sans Unicode"/>
              </a:rPr>
              <a:t>Vit</a:t>
            </a:r>
            <a:r>
              <a:rPr>
                <a:cs typeface="Lucida Sans Unicode"/>
              </a:rPr>
              <a:t> </a:t>
            </a:r>
            <a:r>
              <a:rPr>
                <a:cs typeface="Lucida Sans Unicode"/>
              </a:rPr>
              <a:t>Babu</a:t>
            </a:r>
            <a:r>
              <a:rPr>
                <a:cs typeface="Arial"/>
              </a:rPr>
              <a:t>š</a:t>
            </a:r>
            <a:r>
              <a:rPr>
                <a:cs typeface="Lucida Sans Unicode"/>
              </a:rPr>
              <a:t>ka</a:t>
            </a:r>
            <a:r>
              <a:rPr>
                <a:cs typeface="Lucida Sans Unicode"/>
              </a:rPr>
              <a:t> - </a:t>
            </a:r>
            <a:r>
              <a:rPr>
                <a:cs typeface="Lucida Sans Unicode"/>
              </a:rPr>
              <a:t>Sandia National Laboratories</a:t>
            </a:r>
          </a:p>
          <a:p>
            <a:pPr lvl="1">
              <a:lnSpc>
                <a:spcPct val="100000"/>
              </a:lnSpc>
            </a:pPr>
            <a:r>
              <a:rPr>
                <a:cs typeface="Lucida Sans Unicode"/>
              </a:rPr>
              <a:t>Dr. Emil </a:t>
            </a:r>
            <a:r>
              <a:rPr>
                <a:cs typeface="Lucida Sans Unicode"/>
              </a:rPr>
              <a:t>Ardelean</a:t>
            </a:r>
            <a:r>
              <a:rPr>
                <a:cs typeface="Lucida Sans Unicode"/>
              </a:rPr>
              <a:t> - </a:t>
            </a:r>
            <a:r>
              <a:rPr>
                <a:cs typeface="Lucida Sans Unicode"/>
              </a:rPr>
              <a:t>Schafer Corporation</a:t>
            </a:r>
          </a:p>
          <a:p>
            <a:pPr lvl="1">
              <a:lnSpc>
                <a:spcPct val="100000"/>
              </a:lnSpc>
            </a:pPr>
            <a:r>
              <a:rPr>
                <a:cs typeface="Lucida Sans Unicode"/>
              </a:rPr>
              <a:t>James </a:t>
            </a:r>
            <a:r>
              <a:rPr>
                <a:cs typeface="Lucida Sans Unicode"/>
              </a:rPr>
              <a:t>Goodding</a:t>
            </a:r>
            <a:r>
              <a:rPr>
                <a:cs typeface="Lucida Sans Unicode"/>
              </a:rPr>
              <a:t> - </a:t>
            </a:r>
            <a:r>
              <a:rPr>
                <a:cs typeface="Lucida Sans Unicode"/>
              </a:rPr>
              <a:t>CSA Engineering</a:t>
            </a:r>
          </a:p>
          <a:p>
            <a:pPr lvl="1">
              <a:lnSpc>
                <a:spcPct val="100000"/>
              </a:lnSpc>
            </a:pPr>
            <a:r>
              <a:rPr>
                <a:cs typeface="Lucida Sans Unicode"/>
              </a:rPr>
              <a:t>Cody </a:t>
            </a:r>
            <a:r>
              <a:rPr>
                <a:cs typeface="Lucida Sans Unicode"/>
              </a:rPr>
              <a:t>Griffee</a:t>
            </a:r>
            <a:r>
              <a:rPr>
                <a:cs typeface="Lucida Sans Unicode"/>
              </a:rPr>
              <a:t> - </a:t>
            </a:r>
            <a:r>
              <a:rPr>
                <a:cs typeface="Lucida Sans Unicode"/>
              </a:rPr>
              <a:t>CSA Engineering</a:t>
            </a:r>
          </a:p>
          <a:p>
            <a:pPr lvl="1">
              <a:lnSpc>
                <a:spcPct val="100000"/>
              </a:lnSpc>
            </a:pPr>
            <a:r>
              <a:rPr>
                <a:cs typeface="Lucida Sans Unicode"/>
              </a:rPr>
              <a:t>Greg </a:t>
            </a:r>
            <a:r>
              <a:rPr>
                <a:cs typeface="Lucida Sans Unicode"/>
              </a:rPr>
              <a:t>Mehle</a:t>
            </a:r>
            <a:r>
              <a:rPr>
                <a:cs typeface="Lucida Sans Unicode"/>
              </a:rPr>
              <a:t> - </a:t>
            </a:r>
            <a:r>
              <a:rPr>
                <a:cs typeface="Lucida Sans Unicode"/>
              </a:rPr>
              <a:t>CSA Engineering</a:t>
            </a:r>
          </a:p>
          <a:p>
            <a:pPr lvl="1">
              <a:lnSpc>
                <a:spcPct val="100000"/>
              </a:lnSpc>
            </a:pPr>
            <a:r>
              <a:rPr>
                <a:cs typeface="Lucida Sans Unicode"/>
              </a:rPr>
              <a:t>Dr. Lawrence “Robbie” Robertson </a:t>
            </a:r>
            <a:r>
              <a:rPr>
                <a:cs typeface="Lucida Sans Unicode"/>
              </a:rPr>
              <a:t>AFRL, SV*</a:t>
            </a:r>
          </a:p>
          <a:p>
            <a:pPr lvl="1">
              <a:lnSpc>
                <a:spcPct val="100000"/>
              </a:lnSpc>
            </a:pPr>
            <a:r>
              <a:rPr>
                <a:cs typeface="Lucida Sans Unicode"/>
              </a:rPr>
              <a:t>Dr. Steve Lane - </a:t>
            </a:r>
            <a:r>
              <a:rPr>
                <a:cs typeface="Lucida Sans Unicode"/>
              </a:rPr>
              <a:t>AFRL, SV*</a:t>
            </a:r>
          </a:p>
          <a:p>
            <a:pPr lvl="1">
              <a:lnSpc>
                <a:spcPct val="100000"/>
              </a:lnSpc>
            </a:pPr>
            <a:r>
              <a:t>Brea Ingram- </a:t>
            </a:r>
            <a:r>
              <a:rPr>
                <a:cs typeface="Lucida Sans Unicode"/>
              </a:rPr>
              <a:t>AFRL, SV*</a:t>
            </a:r>
          </a:p>
          <a:p>
            <a:pPr lvl="0">
              <a:lnSpc>
                <a:spcPct val="100000"/>
              </a:lnSpc>
            </a:pPr>
            <a:r>
              <a:rPr sz="1600">
                <a:cs typeface="Lucida Sans Unicode"/>
              </a:rPr>
              <a:t>*AFRL, SV = Air Force Research Laboratory, Space Vehicles Directorate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Cable Tie Down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/>
          <a:lstStyle/>
          <a:p/>
        </p:txBody>
      </p:sp>
      <p:pic>
        <p:nvPicPr>
          <p:cNvPr id="4" name="Picture 3" descr="image43.png"/>
          <p:cNvPicPr>
            <a:picLocks noChangeAspect="1"/>
          </p:cNvPicPr>
          <p:nvPr/>
        </p:nvPicPr>
        <p:blipFill>
          <a:blip r:embed="rId2"/>
          <a:srcRect l="35504" b="20659"/>
          <a:stretch>
            <a:fillRect/>
          </a:stretch>
        </p:blipFill>
        <p:spPr>
          <a:xfrm>
            <a:off x="1828800" y="1981230"/>
            <a:ext cx="5260177" cy="31242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ES Templat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Lucida Sans Unicode"/>
      </a:majorFont>
      <a:minorFont>
        <a:latin typeface="Arial"/>
        <a:ea typeface=""/>
        <a:cs typeface="Lucida Sans Unicod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Arial" charset="0"/>
          <a:buNone/>
          <a:tabLst/>
          <a:defRPr kumimoji="0" lang="en-GB" sz="20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charset="0"/>
            <a:cs typeface="Lucida Sans Unicode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Arial" charset="0"/>
          <a:buNone/>
          <a:tabLst/>
          <a:defRPr kumimoji="0" lang="en-GB" sz="20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charset="0"/>
            <a:cs typeface="Lucida Sans Unicode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b="1" dirty="0" err="1" smtClean="0">
            <a:solidFill>
              <a:schemeClr val="tx1"/>
            </a:solidFill>
          </a:defRPr>
        </a:defPPr>
      </a:lstStyle>
    </a:tx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CES Template</Template>
  <TotalTime>14792</TotalTime>
  <Words>2744</Words>
  <Application>Microsoft Office PowerPoint</Application>
  <PresentationFormat>On-screen Show (4:3)</PresentationFormat>
  <Paragraphs>311</Paragraphs>
  <Slides>26</Slides>
  <Notes>25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8" baseType="lpstr">
      <vt:lpstr>CES Template</vt:lpstr>
      <vt:lpstr>Equation</vt:lpstr>
      <vt:lpstr>Cable Effects Study Program Review and Cable Modelling Approach</vt:lpstr>
      <vt:lpstr>The Cable Effects Study Missions</vt:lpstr>
      <vt:lpstr>The Why of the Cable Effects Study</vt:lpstr>
      <vt:lpstr>The Significance of Cable Modelling</vt:lpstr>
      <vt:lpstr>The What of the Cable Effects Study / Focus Restrictions</vt:lpstr>
      <vt:lpstr>The How of the Cable Effects Study</vt:lpstr>
      <vt:lpstr>Research Topics not Included in the Cable Effects Study</vt:lpstr>
      <vt:lpstr>Cable Construction and Effects on Dynamics</vt:lpstr>
      <vt:lpstr>Attachment to Host Structure: Cable-Structure Interaction</vt:lpstr>
      <vt:lpstr>Cable Modeling Approach Overview</vt:lpstr>
      <vt:lpstr>The Cable Parameter Extraction Mission and Approach</vt:lpstr>
      <vt:lpstr>Cable Natural Frequency Progression: The Beam Model Indicator</vt:lpstr>
      <vt:lpstr>Bare Cable Lateral Test:  Parameter Estimation Approach</vt:lpstr>
      <vt:lpstr>Parameter Estimation: Tie down stiffness</vt:lpstr>
      <vt:lpstr>Slide 15</vt:lpstr>
      <vt:lpstr>Cable-on-Beam Results</vt:lpstr>
      <vt:lpstr>Model Validation Effort – A Panel Structure</vt:lpstr>
      <vt:lpstr>Measured Driving Point FRFs</vt:lpstr>
      <vt:lpstr>Panel Model Validation</vt:lpstr>
      <vt:lpstr>Shear Modulus Choice</vt:lpstr>
      <vt:lpstr>Major Findings</vt:lpstr>
      <vt:lpstr>Summary</vt:lpstr>
      <vt:lpstr>Open Research Topics</vt:lpstr>
      <vt:lpstr>Questions </vt:lpstr>
      <vt:lpstr>Acknowledgments</vt:lpstr>
      <vt:lpstr>Cable Tie Down Details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Cable Effects Study: Tangents, Rat Holes, Dead Ends and Valuable Results</dc:title>
  <dc:creator>Jim Goodding</dc:creator>
  <cp:lastModifiedBy>Douglas M. Coombs</cp:lastModifiedBy>
  <cp:revision>1243</cp:revision>
  <dcterms:created xsi:type="dcterms:W3CDTF">2010-04-28T21:03:33Z</dcterms:created>
  <dcterms:modified xsi:type="dcterms:W3CDTF">2011-05-01T13:32:06Z</dcterms:modified>
</cp:coreProperties>
</file>