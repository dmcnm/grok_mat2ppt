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295400"/>
            <a:ext cx="8229600" cy="48307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Knowing science and math factsBeing able to solve known scientific problemsBeing able to acquire new data and assemble new theories to expand knowledge and answer specific questions about the universeIs there something that many of our greatest scientists have in common?Pictures of Newton, Einstein, and FeynmanOverlays of the Bible, Violin, and Congo drums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274638"/>
            <a:ext cx="8229600" cy="63976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Science: Left-Brain or Right-Brain Thinking?</a:t>
            </a:r>
          </a:p>
        </p:txBody>
      </p:sp>
      <p:sp>
        <p:nvSpPr>
          <p:cNvPr id="3" name="Rectangle 2"/>
          <p:cNvSpPr/>
          <p:nvPr/>
        </p:nvSpPr>
        <p:spPr>
          <a:xfrm>
            <a:off x="457200" y="1230313"/>
            <a:ext cx="4040188" cy="63976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Left-Brain Characteristics</a:t>
            </a:r>
          </a:p>
        </p:txBody>
      </p:sp>
      <p:sp>
        <p:nvSpPr>
          <p:cNvPr id="4" name="Rectangle 3"/>
          <p:cNvSpPr/>
          <p:nvPr/>
        </p:nvSpPr>
        <p:spPr>
          <a:xfrm>
            <a:off x="457200" y="1870075"/>
            <a:ext cx="4040188" cy="42560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Helps us manipulate the worldClinical attentionLeft hemisphere sees isolated details that areFamiliarKnownFixedGraspableAbstractedTaken out of contextCategorizableGeneral in natureGenerally inanimate, because the process has completely isolated them from everything else and deanimated themGrasping a tiny detailNarrowly, focused, targeted attention to something it already knows about</a:t>
            </a:r>
          </a:p>
        </p:txBody>
      </p:sp>
      <p:sp>
        <p:nvSpPr>
          <p:cNvPr id="5" name="Rectangle 4"/>
          <p:cNvSpPr/>
          <p:nvPr/>
        </p:nvSpPr>
        <p:spPr>
          <a:xfrm>
            <a:off x="4645025" y="1230313"/>
            <a:ext cx="4041775" cy="63976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Right-Brain Characteristics</a:t>
            </a:r>
          </a:p>
        </p:txBody>
      </p:sp>
      <p:sp>
        <p:nvSpPr>
          <p:cNvPr id="6" name="Rectangle 5"/>
          <p:cNvSpPr/>
          <p:nvPr/>
        </p:nvSpPr>
        <p:spPr>
          <a:xfrm>
            <a:off x="4645025" y="1870075"/>
            <a:ext cx="4041775" cy="4256088"/>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Helps us understand the worldRapt attentionRight hemisphere’s vision sees things that areonly partly knownonly partly certain of what we are looking atFreshInterconnected, and situated where they are in contextWhen we take them out of context, they change their natureFlowing and changing, not fixed and graspable in a simple wayUnique rather than exemplars of a common themeEmbodied rather than abstracted and disembodiedAnimate, rather than inanimateHas the ability to look out for something we might be missing -- more skepticalAssembles facts for application in an embodied world.</a:t>
            </a:r>
          </a:p>
        </p:txBody>
      </p:sp>
      <p:sp>
        <p:nvSpPr>
          <p:cNvPr id="7" name="Rectangle 6"/>
          <p:cNvSpPr/>
          <p:nvPr/>
        </p:nvSpPr>
        <p:spPr>
          <a:xfrm>
            <a:off x="152400" y="5943600"/>
            <a:ext cx="8763000" cy="64633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Reason is this ability to bring together the faculties of logic with the faculties of an intuitive, implicit, embodied understanding of what it means to be alive” –Iain McGilchrist</a:t>
            </a:r>
          </a:p>
        </p:txBody>
      </p:sp>
      <p:sp>
        <p:nvSpPr>
          <p:cNvPr id="8" name="Rectangle 7"/>
          <p:cNvSpPr/>
          <p:nvPr/>
        </p:nvSpPr>
        <p:spPr>
          <a:xfrm>
            <a:off x="0" y="1066800"/>
            <a:ext cx="9117874" cy="36933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Our perceptions of the world come from paying a certain kind of attention to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1600200"/>
            <a:ext cx="8229600" cy="475615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If we want to educate students to be world-class scientists, we need to develop and not dismiss right-brain thinkingBoth left and right-brain thinking are critical for breakthrough scienceTeach an understanding of and appreciation for Music, Art, and the SacredFor example: band, drawing, family, and the pledge of allegiance/reveilleThe Saint Luke Guild was founded to bring high quality, physical reproductions of the greatest works of art to students of average meansEnabled by two technological developments from the last 20 yearsThe explosion of high-resolution, digital imagery of the greatest works of art, previously reserved to museum visitorsThe dramatic improvements in low-cost, museum quality photographic printing methods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6200" y="1600200"/>
            <a:ext cx="8991600" cy="45259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Science brings us facts about the world</a:t>
            </a:r>
          </a:p>
        </p:txBody>
      </p:sp>
      <p:pic>
        <p:nvPicPr>
          <p:cNvPr id="3" name="Picture 2" descr="image1.jpg"/>
          <p:cNvPicPr>
            <a:picLocks noChangeAspect="1"/>
          </p:cNvPicPr>
          <p:nvPr/>
        </p:nvPicPr>
        <p:blipFill>
          <a:blip r:embed="rId2"/>
          <a:stretch>
            <a:fillRect/>
          </a:stretch>
        </p:blipFill>
        <p:spPr>
          <a:xfrm>
            <a:off x="3826220" y="2087090"/>
            <a:ext cx="5334807" cy="4110912"/>
          </a:xfrm>
          <a:prstGeom prst="rect">
            <a:avLst/>
          </a:prstGeom>
        </p:spPr>
      </p:pic>
      <p:pic>
        <p:nvPicPr>
          <p:cNvPr id="4" name="Picture 3" descr="image2.jpg"/>
          <p:cNvPicPr>
            <a:picLocks noChangeAspect="1"/>
          </p:cNvPicPr>
          <p:nvPr/>
        </p:nvPicPr>
        <p:blipFill>
          <a:blip r:embed="rId3"/>
          <a:stretch>
            <a:fillRect/>
          </a:stretch>
        </p:blipFill>
        <p:spPr>
          <a:xfrm>
            <a:off x="-13236" y="1827818"/>
            <a:ext cx="3839456" cy="478602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6200" y="1600200"/>
            <a:ext cx="8991600" cy="4525963"/>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r>
              <a:t>Science brings us disembodied, decontextualized facts about the worldArt and myth are focused on how embodied humans should act in the real world, which is particular and uncertainBoth left and right-brained thinking is necessary for a world-class scientific enterpriseThe scientist is servant to the humanities majorThey control how our inventions are usedThe Saint Luke Guild helps develop right-brain thinking by bringing high quality reproductions of the greatest works of art in the Western Canon to average studentsDeveloping an appreciation for rapt attention alongside clinical attention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