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2" r:id="rId2"/>
    <p:sldId id="381" r:id="rId3"/>
    <p:sldId id="382" r:id="rId4"/>
    <p:sldId id="265" r:id="rId5"/>
    <p:sldId id="384" r:id="rId6"/>
    <p:sldId id="385" r:id="rId7"/>
    <p:sldId id="386" r:id="rId8"/>
    <p:sldId id="372" r:id="rId9"/>
    <p:sldId id="270" r:id="rId10"/>
    <p:sldId id="387" r:id="rId11"/>
    <p:sldId id="389" r:id="rId12"/>
    <p:sldId id="390" r:id="rId13"/>
    <p:sldId id="391" r:id="rId14"/>
    <p:sldId id="388" r:id="rId15"/>
    <p:sldId id="392" r:id="rId16"/>
    <p:sldId id="393" r:id="rId17"/>
    <p:sldId id="394" r:id="rId18"/>
    <p:sldId id="272" r:id="rId19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FFCC00"/>
    <a:srgbClr val="1ADDF2"/>
    <a:srgbClr val="66CCFF"/>
    <a:srgbClr val="006600"/>
    <a:srgbClr val="FFFFFF"/>
    <a:srgbClr val="F484D4"/>
    <a:srgbClr val="C1A8F2"/>
    <a:srgbClr val="966CE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>
      <p:cViewPr varScale="1">
        <p:scale>
          <a:sx n="72" d="100"/>
          <a:sy n="72" d="100"/>
        </p:scale>
        <p:origin x="16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D703A-97DC-4EB0-A8C5-26E27C040667}" type="datetimeFigureOut">
              <a:rPr lang="en-US" smtClean="0"/>
              <a:pPr/>
              <a:t>1/24/2019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9"/>
            <a:ext cx="5560060" cy="4156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71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71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9A5E7-FFA6-49A9-8042-4D73EB56CA8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pint canning jars. With the lid on, but not the seal, it is easier to hold the clothespin</a:t>
            </a:r>
            <a:r>
              <a:rPr lang="en-US" baseline="0" dirty="0"/>
              <a:t> over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B9A5E7-FFA6-49A9-8042-4D73EB56CA84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B9A5E7-FFA6-49A9-8042-4D73EB56CA84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</a:t>
            </a:r>
            <a:r>
              <a:rPr lang="en-US" baseline="0" dirty="0"/>
              <a:t> is table salt. The green atoms are chlorine, the purple ones sodium.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B9A5E7-FFA6-49A9-8042-4D73EB56CA84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B9A5E7-FFA6-49A9-8042-4D73EB56CA84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B9A5E7-FFA6-49A9-8042-4D73EB56CA84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E1DBB-A335-468B-B479-2978DD53D278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1911B-180A-48D6-BD54-7704F07534C0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C42D1-E4FA-45A6-9FA6-F698A698C742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7748A-EC8D-4666-923C-AC8F5A158965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C2778-D88B-46C0-AD9F-93B2CAFA233B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8E44-4C00-4A3B-8DA1-11724B7E27FD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34F4-189E-45EC-AFB5-273FFECA49E3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C5B39-42AA-4616-97A9-2F65C9233D3B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9AEC4-D3B8-4AD8-BEA6-45432A1403B7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7C06-1812-4CC9-91F3-301782272929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82FA-9011-4F23-BA4E-22852B2556D4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37D07B-4E74-4E4E-9436-F5FDDF0A49BE}" type="datetime1">
              <a:rPr lang="en-US" smtClean="0"/>
              <a:pPr/>
              <a:t>1/24/2019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Atoms and Molecules Session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CB24E-D429-4046-9572-E85EECF03E6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81000" y="274638"/>
            <a:ext cx="8296275" cy="5287962"/>
          </a:xfrm>
        </p:spPr>
        <p:txBody>
          <a:bodyPr>
            <a:normAutofit/>
          </a:bodyPr>
          <a:lstStyle/>
          <a:p>
            <a:r>
              <a:rPr lang="en-US" b="1" dirty="0">
                <a:latin typeface="Comic Sans MS" pitchFamily="66" charset="0"/>
              </a:rPr>
              <a:t>Nucleation and Growth of Crystalline Structures On A Treated Substrate From A Supersaturated Solution Of C</a:t>
            </a:r>
            <a:r>
              <a:rPr lang="en-US" b="1" baseline="-25000" dirty="0">
                <a:latin typeface="Comic Sans MS" pitchFamily="66" charset="0"/>
              </a:rPr>
              <a:t>12</a:t>
            </a:r>
            <a:r>
              <a:rPr lang="en-US" b="1" dirty="0">
                <a:latin typeface="Comic Sans MS" pitchFamily="66" charset="0"/>
              </a:rPr>
              <a:t>H</a:t>
            </a:r>
            <a:r>
              <a:rPr lang="en-US" b="1" baseline="-25000" dirty="0">
                <a:latin typeface="Comic Sans MS" pitchFamily="66" charset="0"/>
              </a:rPr>
              <a:t>22</a:t>
            </a:r>
            <a:r>
              <a:rPr lang="en-US" b="1" dirty="0">
                <a:latin typeface="Comic Sans MS" pitchFamily="66" charset="0"/>
              </a:rPr>
              <a:t>O</a:t>
            </a:r>
            <a:r>
              <a:rPr lang="en-US" b="1" baseline="-25000" dirty="0">
                <a:latin typeface="Comic Sans MS" pitchFamily="66" charset="0"/>
              </a:rPr>
              <a:t>11</a:t>
            </a:r>
          </a:p>
        </p:txBody>
      </p:sp>
      <p:sp>
        <p:nvSpPr>
          <p:cNvPr id="27650" name="AutoShape 2" descr="Image result for images of a green blo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2" name="AutoShape 4" descr="Image result for images of a green blo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4" name="AutoShape 6" descr="Image result for images of a green blo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60" name="AutoShape 12" descr="Image result for images of green penni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62" name="AutoShape 14" descr="Image result for images of green penni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64" name="AutoShape 16" descr="Image result for images of green penni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66" name="AutoShape 18" descr="Image result for images of green penni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68" name="AutoShape 20" descr="Image result for images of green penni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8" name="AutoShape 2" descr="Image result for cartoon of elephant brushing teet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74" name="AutoShape 2" descr="Polar Bear Cubs And Moth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76" name="AutoShape 4" descr="Polar Bear Cubs And Moth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80" name="AutoShape 8" descr="data:image/jpeg;base64,/9j/4AAQSkZJRgABAQAAAQABAAD/2wCEAAkGBxQSEhQUEhQUFBQUGBgWGBgUFxgUFxcYFRcXFhYXFxUYHCggGBwlGxYVITEhJSosLi4uGiAzODMsNygtLisBCgoKDg0OGxAQGywkICQsLCwsLSwsLCwsLCwsLCwsLC0sLCwsLCwsLCwsLCwsLCwsLCwsLCwsLCwsLCwsLCwsLP/AABEIAN4A4wMBIgACEQEDEQH/xAAcAAABBQEBAQAAAAAAAAAAAAAAAQIEBQYDBwj/xABHEAACAQMCAwUEBwQIBAYDAAABAgMABBESIQUxQQYTIlFhMnGBkRRCUnKSobEHIzOCFVNiY3OiwdFDVLLxNESjs8LwFiST/8QAGgEAAgMBAQAAAAAAAAAAAAAAAAIDBAUBBv/EADURAAIBAwIEBAUCBAcAAAAAAAABAgMEERIhBTFBUQYTImEycYGRodHwFbHB4RQWIyQzQmL/2gAMAwEAAhEDEQA/APcaKKKACiiigAooooAKKKQmgBaKj3l6kSl5XVFHNnYKPmapX7QvLtawM4/rJiYI/eAVLv8ABcHzpJ1YQWZPB1LJoTUO24pFJJJErgvFs4wRjlyJGG5jOM4Ox3qpZLpwS9wkY8oYh4f55S2fwisHcXrm4eS2mlZcEaiyxiVjoDupVDhD3Y5DBOT74I3dKb9O5LTt6lR4gsnr2aM15nb8cuB/Elu0H9gW9wv/ALQk/Krvh/E5pRmC8ikxzDwguPRgrqV+Iod3Tj8WV9P0EqU50361g2VFZuPjdwn8W3WQfat3yfjHKF/JjUu37T27NpZzE+cBZ1aEnp4dYAb4E1JTuKVT4ZJkeUXNFMEgO4xg8qcDUx0WiiigAooooAKKKKACiiigAooooAKKKKACiiigAooooAKKQmqbiXGtL9zAvfT9VBwkf9qZ/qD09o9B1pZSUVlgWN7epCpeV1RBzZjgb+p/SqWXidxcbW6mGP8Arpl8ZHUxQHf3F8e40+14T4xLcN30w5EjEceekUZzp+9ux8+lWeKza96+VP7kkYdyqt+CRBg7hppR/wASY94wPUrnZPcoAqw011qo7RcWFtCXAzIx0Rr9qRs4z6Dck+QrJlGVSe7yyWK6Izna7irSu1rFsi7TsObZ/wCCp6be0fIgdaqY4MD/AEp1hb6QBnJOWZjzZmOWY+pYk/GpZWtWnTUFhHpLakqMNPXqcVfao92isQx2YcmBKsvuYbipLJUO8BpmWVTjPZk6x7RTx7Pi4X1wk34hhH+IX31pbG+hukOghgNnRx4lPk6Hl+YPnWBgBzUxYjkOrFHX2XU4PuPRl/snIqnVtYVN1s/YzL7gtN+qls+xsBwgR727vbnyiPgPvibKfkD61Kh43cRbTxCVft2/tD1aFzn8Jb3VV8C493jCKYBJt8YzolA3JTPI4ySp3GCdwM1ec6qq5ubZ6W8/Pf7HmqkZ0paZLDLDhvE4511ROGA2PMMp8mUjKn0IqdWQu+HBm7xS0co2EkZ0vjyPR19GBHpXW345JAcXQ1p/Xxqdv8WIZ0feXK9SFrVteKUqz0y2kcU0zVUVxgmVlDKQykAggggg8iCOddRWoOLRRRQAUUUUAFFFFABRRRQAUUUUAFITS1nOK3DXMptY2Kxr/wCIdSQQG9mFGHJmG7EbqvkWGFnNRWWdSC/4g9y5htmKIjYmnXpjnFCTsXzsW+ruOfKdY2McKaIlCKN8DfJPMkndiepOSa6W9usaqiKFVRhVUYAA6AdK6AViXNaVSXsSxikAoY0uKY1VpS0oYYTXnfHOIfSbttJzHBmNPIsD+9cfHCZ/snzrT9suJG3tmKHEkh7pPRnzlv5VDN8KxvCbcKoA5AAD4U9nBv1v6Gtw231N1X05fMsYxihnrnI+Kjl81ovY11DJJ1ikdARUQmuyPtXMjuGCO8eDTlkpJTmo77UucEqWeZ0uCGG+eYIIOCCNwVI5EedaDs72hLMsM5/eHZJNgJcdCB7MmOg2O5HlWRkmrk8oYYOfhzBzkEHoQcEH0qGrTjVjpkVr7hcbiH/roz1nFcZUqm7J8d79NEh/fR7N01r9WQD1HPyOfSr2WsGvS0vD5o8NWoypzcJLdFOkUluxa1IXJJaFjiJyeZGN4mPmux6g8603BuMJcJlAysp0ujYDxtjOGA9CCCNiNxWZu+IRhtC5kk/q4gZH+IXZR6sQKm8F4HL3y3M/7plBVYoznKnpO49vBJIA2B863OE1rmS0zT093+9xKUp5w+RqqWkFLW6WAooooAKKKKACiiigApDS0UAVHaLiDQx+AoHYhVLsFRNW3eNk7hc8upwOtJwuyWGNUTLc2ZjuzsxyzsepJ3+NSb3g8UsiSSIGaMELnJAyQd1zg7gEZG1R5OAoN4He3PlHgoffG4K/IA1UuaM6i9LGi8Eomm5qE1ndIPC8M3+IpiP4kyP8tcmmuRztgfPRMrH+UMFz8cVk1bW4XT7Eqkix1Uhaqt+KH/l7rPl3X+udP51yn40iDMqTxjGTrhkwB1yyggfOqVSFwttD+w2Y9zJdur7vLpYx7MC8v7yXc59QgH4jUOC4wK5qhnllkVJZDLI7+CGUjGSqjVpxsqqOfMGul1bMmzRTqfIwyfqqkVsQpyjBJI9NaVbenRjByWeb36sc82aYZcVFihlY4SG4byxDIPzZQK6Pwm8P/lLj8K/6vT6J9i1/iLZbOpH7itdimG8FVULu90LMRMLgnGiQqgB0692yfq77ZrTjsHfYzi1Hp3r/AKiKhUqnY5K/so85r6FQbunNcgiru1/Z7dt7clvH93XL+oWrm0/ZpGN5biZ/RNMS/MAt+dMrecuZBU4xaR+HLPPppAMkkAeZIA+Zp1nE8xxDFLLnrGjFfxkBfzr13hvZCzgwUgQsPrSZlf8AG+TV2EqVWi6soVvEM3tTil8zyPhfCby2dZ3gEa7oTNIqAB/Mxh8LkDfFbDhXCDdxpLNMzRuAwjhDwJg/bOdb9eoHpWr7ulC0ys6KlrccsxLm4ncVPMnjJHsOHxwroijSNfJFCj4451Kooq0iAKKKKACiiigAooooAKKKKACiiigAooooAKTFLRQA3Fcb21WVGjfOlwVOCVOD5EbipFFAEaytEijWOMYVBgDOfmTzPrXcCnUUANNGKdRXAPOOO8GjXiE13pHeQm0mB66C7Ry4/lVq9ENZftXb5lwP/MWs8J+8gDx/9Unzq+4bcCSGJwch0RvflQaZtvAqOMvGrdZhA00QmO4jZ1DnOceHn0NWS1869nL8Sd/38BuLq7YhRnxCQnkPLGPgFr2PhXDbuKGJfpZaRUQOJkWRNQA1aWXS+PIlj8ajpy1ZwXLm28hRy92k/uaiivLu0/ayZJ2hlkNv3QQn6OxbWXGoNrZAQvIaccwc5q34J+0KDu4/pbmNm1ASFQI30Np15BOjOOoAznGQKbJWxtk3VFVUvHIlbBJwQhVhgq4dlQFGBOrDMoPlkVa104FFFJQAtFJmkJoAdRWX7R9sIrY6VxK43fDqqxjOPG5yFJIYBeZwegNZiT9pspyVtl09MtJtnkSwTB9w+dRyqwjzYjmk8M9PorMdju1iXqsDhJUJyuThgMeNCRuNxkcx15itMKdNPdDJ5WULRRRXToUUUUAFFFFABRRRQAUUUUAFFFQuJ8RS3jMkraUXrz3OwAA3JJ6CuN4Am01nA5++qThXaq3uG0Ix1HkCOfM4BBIzgE4zmqXjxmvL9bVXCW0cbNNtlnbEZUAcsASKd8jJ3BwKIyUllAXXaQAG2m6RzqDj7MwaDJ9MyKfhS9kSfoyoecTyxe4RTOij8IWo/aiFYbBokViMRxJvnSSyrGzFjkgNpJPOq/hXGHgnk+kRrBFOXkVmcHQ6JEGB9GwWz0Jxvmm6HOpPt7CK2u3PdxqbnxJIFAbWB44iR5hQ48/H5VeYpt3bJPGVcalYAjB9cqysORBwQR5CqcX7W5CXTDTySc7K/kJeiSdPstzGPZoiEtw452Ytbwq1xEHZdgcspK5zpOkjUuehryXjPCry2nePuiVldivdRkrICfAE0jAwpVdJ5Y+J9uzn3dMf71xvLpYkZ3OFUEn4dAOpzt8RXZQTORm4s8r4LZC2ih78z200EkkpizpiKOclRqBUOowwONJIxk7EeyJIMD9TjesvHxCK5YW1xGEmMffdyzBnVM6QwZeTc+W9VJS4jC2LSExnWS+gAtACDpR1OA3iVCuNgSRzFLP0rJ2L1PBrI+0tszhBJuW0g6X0FuWkS40E89gelUH7R+NzwJElvs05ZS+2pQq52zy+8QceWTXCaLvnW2iHIxtJp9mKNGDb+THTpVfUnkN9RxjgMF0F79NWgnGGZeeNSnSdwcDIPPFQQnKpFvkSVoadkzyGwgnkKyM9y5GyyaJXVFJwZVkZidOrqpyfLFaWHtbNGjIWDd54EmlJXu2GoOxQgPpAwQp3yy8wc16JM8cMZJ0xxxr6Kqqo+QAFeV9u4nu5Injt0Ul9ARlKzzFgO77w48MZAY9SApyRutdhDT1IVHB14D2f+kOok0xCIRk7r3gGgMAAR/EYYZ3O4zgedbaHsbZBcGBJCc5eQa3OrmS53z5eXSsJfdiZ4ldygk5y/umRiCAdesyIC+RjSN+WPWuv7PO1RinW0kkDwtqMbbEqzsCqeHkPERvywvniuZSlhoXKTwzU8A7HG1u2lSQGIqygMC0ni0nBc8wCOfPGPKteBQKWpYxUVhEiWAooopjoUUUUAFFFFABRRRQAUUUUAFZTt/w+SWFCilxGxZlAzsUZQ2n6wBIyBvgnG9aumtSTjqjgDyjsnwQ3crzGWeB7eSMgPGoyP4gUZAIjBBAG2ATWq4SEt7uUyXCuZkVgzlFy+tgyrjyAj28gKzfHbAgNlQ0ltiS6eSfV366WCFY2JydyQCAFwVGc1xhCo8yqsah43UsVGlEk+jCSTT10qrtjaoINU5qkl0zkm8vNPzM9cYPQu1FuXs7gKMt3bMv3kGpP8yis32z4eLy3g8egGWPxjcgTI0Y/zPH8gelbSOMBAuSQFC5O5IxjJPWsesRbhzxjCyQBogXIVQ9s+IyzHYZ0Icnzq4uTK76Gr4RbGKGKNjqZEVCeWdKhc4+FVV/J9KlESYMUUgaZzuCyHKwr0Y5wW6ADHM7JJeteELbsyQfXnGQX/u4D1HnINgNlyd1tra1SJAkahVUYAHT/AL9a4jpWNwCFf4YeLHSGR4l3/sKdP5VxfhcKfvZGkfu8vqmkaRU0jJYK3hBAB3xkVcSNWe7Q3KZVJP4SgzzdcxxMuiPH1u8kIAX62lhTvZZE5vBWX1nG7rezQhrmZRDbJlo3SPd9cjqcg4yxP1QQo3J1AgkUoiyPcXci6VeU5VFBBkk0gAKinBxzYgDNLLcNqa4mUmWTCJGNzGpPhhTzZiNTHqfRRWm7PcI7kM8mGnl9thuFA9mJCfqLk+85PWqKk60sL4V+S5oVKO/N/gl8H4alvGI0ztuzHdnY+07HqSamE07FUHaa7yY7VW0tcZ1HOCsKbyFeuWyqDHLVnpVh4islfmV83EVuJgXyLZG/c5HgmkU4MhOeQI8AOAd232xM4NCJ7h7lhlYtUEPwP7+QZ83Gj3R+tceNHRD3carl9MMakZUFyEXw9VUeLA+zWg4dZrDGkaeygCj3AYyfWqtCTqSc38iSawsEgCvGuI8LkXjwWJSczRzDC7BWVDISeWkBGGfM17NimhPdVqUc4IZR1YHLS0UUwwUUUUAFFFFABRRRQAUUUUAFFFV/FOJrFpUAySucJGmNTeZOdlUdWOAKAJ5NV11xyBG0NIpf7C+N/wAC5NRl4bLNvdSHSf8AgwZRB6PJ7cn+UHfarG1tUiXTGioo+qgCj5CgDyftNIhaNFKsBJJPqZAszl2BCsWbJwHzuB7A8qseBGR7iJ4o1cYZTrbAH7twSzIrqBuFwdyelekxwqo8Kqu+fCANzzO1Nm1YOnGcHGc4z05etR+RF1PM64wSedLy/L6ZyYqV7iN+4W9hthsAhkWZkBOyL3kAI9NTeVTezvA4HkeR52u5FO+tj3anPtCHOnOV2Y55HBG9c+zYaR5DL3gLllnSRoTHLKoCOEiALBRjAORkAZzzqwkRLSSEgCO3SE24I2WPdWTUeiYUgMeR+9UpCaEgVzdqrLHijTM+mMiEAaJWOnvG31aYyM6RthuR3xUt3pooVyGzSY3JwBuSegG5rGvKtxK1y20Sgd3k4DiMuwnYdB4iVHkdRGcYl8WufpLvCCe4jOmXH/FfmYs/YXbV5k46NnMcduGu5Vs4Nw7hGYci3Nx6pGoLN5kBfMVVr1HUl5UPqy1RpqEfNn9DXdiI1ugL0g6SXW3B6RqdBlx9pypx5LjHtHOyFRrC0WKNI0GEjUKo9FGBUkVJGKisIilJyeWBrLcOjS5ae4cLIJHMSZAYCOAlQMeshlf3MtXHaK9MFtNKvtJGxX72MLt97FVlvwMW6xiDCsiorD6koVQuXA+ttkON9t8ikrP0nY8zhbWCfTYkQELEjzMoJ0hie6iIXOFODNy8q1YFUXAY8z3cvm6Qj7sKZPuw8sgq9zRRjpgkE3li0U3NDHHPapRR1FRxdJ0dfgwNd1ORQpJvAC0UUV0AooooAKKKKACkzUHi3ERCo2Lu50oi83Y749BgEknYAVBThzy+K4kZv7uMmOJfTbDP5ZY4PkK7g5km8Y4mII9WCzsQkaDYvI2dKj5Ek9ACelcOEcN7vLyEPPJjvJPPH1E+zGOij1J3Jqrs+FwrfFo4kQQQ8wMfvJick+oSPH8586nz8Sd5GitlVym0kjkiONvsbbyN6A7Z3I5UYDJcg0maqDZ3De1dFf8ACijUf+prNc5ra6Cnu7hGOR/GhBOM7jVGVAyNs6aMHGy6LUxmpuo9ah8S4lHCuqVgozgbFmJ54VFBLH0ANd5czhAFsn9IFgiB1twSwADMZZCNyNzgQ4+NXJrJSdoMXEc3cyrFoaOR2C6gCwZGEYYuQDnO2QGz6VbSdprQDP0iI+itrb8Kgt8MUsakH1Q0oTXQszWY7V8ZZNMMH8R2RWcHSIlkbSPH9VmOw2JG5xtgun7TGTa3iYj7cwKL7xF7bfEL76zr2Phb6TdEhyWk06ItZbAOstljsAAAQAAMVDWu4JaYvLJ6VpNvVJYRH4pxbuYzbqBBIuQ+TlY03zKGb29RzpJ3znPI0/sNayb3EEluMqETUpmeOMnJLAOArOcE9TgZpUkslKvnvmGI1c95dMDkAIJPEF3wNyN6tOFMTcktGYCkZARgFeVXK+Pw+HSunGMkgscgbZzalw6dJ+Wsd33LU6eqS1NP2Lzv7z/mI/8A+G3/ALlOTiN4nMW8w/ngP/zFPV6XNZ0eJV1vqOu3h2IXHuLNLD3bwTRani1MmmVQgkUuQyEn2QdyoqdZM0gDQ3izR53JWN/eC0enB94oDVB4nweC4B71ASwwWXKORnOCy7kZ6HIq2uJal619iJ2+ORz7O9o4ltwI1eeV5JnZYhkAyTO3jkYhFwCOuduVS5Ly8k+vFbr5IO+f8b4UH+U1D7qeIAIVmjUYAf8AdSADprUaDt0Kr76fBxaMkI2qKT7Eo0k/dbdX/lJpa/EKrWYbL25hGjHO45+Hs+8txcyenemIfhhC1z/oa36xBvvs0n/WTUtpK4SSVk1eIVOsmW40I9hsNtFFnu444889Cquffgb1p+DtmFD6H9TWRLk1s7GHRGq+Qq5wGc6lac3yxj8kV7FRikSKKKK9UZoUUUUAFIxpaw3HLUz3csewGIly8pUq4OtGWD2ZomzpZSd9JG9AF2jd5eSNzEMaIvo0uXc/FRFvUy/vVhRpG1EDAwoyxLMFVQOpLEAVD4VwxbczaMASuHAGcLiNEIGTsMqSANgDioPaXh7zaNOtkTJKRyd0+rKtHIpzpcoUzofY59MU6WxG3uRv6XRfpJilT6RO6LHE20kbaUgHeRnfwtqby046GtHw6zWCNIkzpQYydyT1Zj1YnJJ8zVLZ8Pjm7q4yS7NHPkqBlkiaLOn6p0sQd/q1el67pDJ1JpjGufec8dNj8s01nPrTKIrZ1LVQ8f4fI8scsSo5VWTS793p1FTqVtLDpgjHlvVs0tc2lonSU1hhGo4vKM5Nwu5KMzNBDpUtsHuDsM8yYxVGqgLJ3krvKRH3cSYiBLxLIzMygsqKW3bPkOZFabtZxUQ20pOSzxyBFX2iQhJI8go3J6e8gHL8SuEglmdh4isCKF9t8RDSi/HJ9OZ2FZlzSp0V6I5Zo21SpWfrlhEK8ijgjUNruJW2Akkc625lipYqqDmfTluag8M4QZJe7iVO9bDSSBFCxLy1aQNvJU64yc7mliid3XYSXEp0gclGPEQNvDGo3J5+8kVvuCcNW2iCDxMTqkc7F3PNsdB0A6ACoa1VcPp+p5qS/COyl/iZ+naK/J1teGxxwiBUBiC6SrAMGB9otn2iTuc86qruBYgFmL90pzFOCddvn6rvuQnIazkEbPsN71pK5sc+orz1O8cJ5555+5a8rKIlncur9zMQW5xuBpEyc+XIOvUDmMEbHaexqiuLbul0lWktc6tK572AjfVEw3Kjc45r0yNhIt7pk0LI4kSTHdTDGJM8lfT4Q/kRs3TB2qW4oqcPOo8uq7BCWHpZZh6cJKjaqNVZPnNE+nJJaSo1yquul1V1P1WAYH4GkJqFxa67qJnJ040jUd9Op1XVg7HGc/Cmg6lSajDm2clFRWWSYIwoCrkAcgSW+GSeVLIKruzE7yQB5GLaiShbGSnQnAxzzVnIajr03CbjJ5wx6cspNEY1seFXJeJWPPkfhtWOc1seEoBCgHln571teH9SrSS5Y/qVuIY0LvkmUUZor1pki0VV8e4ytpF3rq7jIXTHpLHP3mA/Os4e36uypFBKJHIVDMUSPUd/EyuxxgHkN9h1ptEtDnjZdRNcdWnO5t6r+JWUMgIlVNwVy2AQD9ljuPhVDJ37/wAW6ceawKsI/EQzj4MKjrwe2HOJHP2pcysfXVIScmsmpxahHluWlbTZO4NxVXLwM4eaHZsENrXcJICu24G46HPpVB21sHuJEVST3UTSCPOFlZnCMD6gAY6eKrK6tlwphCxyRkmMgYXcYKMF5ow2I9AeYFERkeUyyKE8AjVFbX9YszFsDmdIA8hXJcXpyoNweJdjitJKazyKv9nnEQNdryC6pIwdiFLfvYyp3Uq5Bx5PWj7R8QNvbSyj2lGEzv43IRNvvMPzrI8VHeXaSWwCS25OqXpI5XSIGx7Qwd26bDfen9p+NfS4Ye5imZNXeSYjLBWTIVNsl8Nk5XI8Oc8q0be9p1YpyxH5kVW2lB7LKKThbQxyObpZZlcBgW1ThZCWMjd3nws2oeIDpjbarhOJWC7r39u3Rwk6n3ciCPQiqCOdWOAdxzB2YdN1O4rqBVuVpCo9cZPfsIqzisNI0cPFrdt/6SkU/wB40UR/A8S5Hvpx4uCrEcSt2A+zFG7+5VEniJ22A3rMSEAEtgADJLcgBuTU7gtgC30iVQMZEQYYKg51SsOhI2Hku+2SKq3X+2hq1v2XcsUIqvLTpXzJV6GMEj3LfvZImj2GAgcYEaIpPiJK5xnLegFR7jhMtzO1xEq/woYysuuIqwUl1B0kZBwDt8dqitHNfyZjRhCjeB31xR5G3elhhnPPSF2xvkZFae04MY0Ctc3Tnqe9IHuUHJUDyz8ayZXitn5k5ep9OeC3KCn6IrZfkg8EtmtFJmglaZ/akiHfLgbhEC+JFHPcDJ3qx/piIe2ZI/8AFikjH4mXH508W0i+xcS48pdMv+YjUPnSd9dLyeGQfZdGj/zqWx+GsuvUtbieupN5f77EsIygsJEmK5RgCrowPVWU/oa6g1UT4f8Ai8Pic+YaFwfi4U/lXEw2/wDyt1BjrCSo+AhlOfw1ErKjL4Kif2/UbXLqi+1VU3VsIgxRNcL/AMaDGQQdy8a9GHVRz6b8+BkhXleXMf8AiJqx7zJET8zXTvxgMl9bMP7zQPzRxg/CpaVnc0Z6qck/YVzi+Ysc4jCssne2z4VXJy0TZwFdjuVz4ctupGDnO1ooqkME6s0ixQXEMgInSCTV3i4wGWNl3kAGMavEPUCpUE3cKpL95atjRKT4kB9lZT1XkA/Po2+55e2DmvNgsPqgp1cbMsiKp73g8Nw10ZV1MsCFfIZ73ofcD8qsr65EcbueSKzn+UE/6Vxk4K8cakSzLI6hpO7PtSHOSQfLOAOgAFPwG3cqzqPktvuR3lTEUhbCTVFGR1RCOWN1B6V1YVFEHcSoo9iVCfdLHjUfIa1Oceak9ammsm+tnbVnCX7yWqFVTimRiN603Z2bMeD9U4+B3rNPWg7MwkKzdGOB8Ks8Bcld4XLDyLfJeVuXRNFLiivaMxMGS/aPH/8ArK2fZkB9+QRXnhAYYIBB6EZFan9q1+Q0EI5YaQ+/Olf/AJVjkl0hSfZyNR+yMHf03xv616rh1LFqnLk2/sYl3PVcYXTBa21xMgxHMwA+q47xcDyz4h8Gq34LxkzF1IXVHjLRklDkkYyfZbb2cmqeaFT3esFotWZAgLEjSdIOncrqK5Aq7sr63ICxSRbbBFKrgeQTbHyrwniunbwlppUMSe+tbL8HoOESqSWZVNuxZiSq/il+4YRREB2XUzncRpnTkDqx3wPQnpu17OQnHfuFPPSiq3uDdB+dMbhA1axLMr4wWLB8qNwCGBBwSTnGd68lbulCeZyz7YfP3NuSb6ESC01kW0eVRVzI2dwjEjAI5yOQ+/QajzIzpUiCgKMBVGABsAByAFQuHWqwghSzMx1O7nLMeQJPoMAAcgKlmSnubuNR4XL97hht5Od5Yxy/xUSTH21DfImoY7O2pP8A4eLPouP0qXcXQQAlXbJwAilj+XL3mosl6zqwWGYZBXJ0JgkY2y+T8K5RlV5qTS+eP6kcox6r8FBxKytXkVYoY9ETBmfHtOvsxqeoBGSfMAb74seGW/0uQq28Eft45SOT4YyeqgeJgPMDzFVtvwu4KrF3ZjIULrJUomBgsuCSx6gY5862VlEsMaxpsqjA9fU+pO5PU1pTuNPOWei3z9R5KMIaafN82SpD/wDf9q4mgy00vWZUqqT3EjFoDXPFPLUmarvDJEIEp2igGhmpkktweQ38/wBa5/RkJyUQk9Sq5+eKC9Gql83HJg4ZKufhGWLdzZ89sxtqx561xg/CudnZTQaliFuIXBzF4yqsc5dc+ed15H03zclq4yZwcYz0zyz0zirUeJ1YfCJ5EWV/E4dFoYxuFREyeqgqpz7xWv4xAjaSyhtJyCc7cvnyrHXdpPIjRl4QGUjUImzuOi68bc85q3bic5UBlhc9WDPHn104bHzrU4XfUKEJKtJZbz1KtzRnJpxXJHDjXtW5zylI/FG4/UCnFq43AklKa9ChGD4TUxJAIHiOMDfyNdaz+M3NKvWUqTzsT2dOUI4l3ObVquASAwqPs5B+eayrVoey6nS56E/oKfgE2rrC6pjX8U6Wfcu8UUtFe1eOxiHl/wC1pcTW7f2GHyYH/WsxZS1qP2uxnvLdt8aXX45BrCwz4r2vDY67OP1/mebvJabiRpbTSvsjGfI7fLkKW9mUjxrrH3dePhzqnjvK7C7pp23TAKsTrLiDrtC2V+xKrkD7pJBX3bipsfHJQfFErD+7fDfAOAD86pvpNdknrDuvDNhXblOmk31WxfpcWuKe0Zbe+5pbLiccuythhzR/C4/lJ3942qZvWTfQ4w6qw/tAN+tNS1jX2A0f+G7J/wBJry9z4Hep+TU291/VGxS8QLH+pH7Gu10uqswl9KnsuJB9mXn8JFGR8QalQce/rIWUecbd7j3rgH5CsG58McRt8+jUl1jv/c0aPFbWp/2w/c0Akpwkqqg4zA5wsqA/ZY6G/C2DUxJQeRB9xz+lYk6dantKLXzReThLdNErVSq1Rw1KHqvqY+kk5oqP3lOD1IpC6TuKRq5h6XXQ5bYOYExSqKTVSaqQYeaSm66QtQ2cwONNpC1JqpBsCk0maaWpCaMM7gStX2f/AII2xufjvWVUfM8vWtnwy30RIp5gfrvXofD1OTryl0S/QocQktCiSqKMUV7IyCDxfhMVzH3cy6l5+RBHUEcq8V7T8BezlKNkoSSj42Zem/mOVe84rnPbo40uqsD0YAj5Gr9jfztZbbrsU7qzjXXZnznmlEvrXv8Ab8CtkOpIIlPmFGaff8LhmUrJGjD1H+taz4/HPwbfMo/wqWPiPAhIacLjH/evZh2Ksv6hfm3+9WNjwK3h3jhjU+YUZ+dNPjtLG0GLHhdTO8keGC8x/wB6cL/1/Ovfnt0YYKqQehAIqI3A7Y7mCL8C/wC1QrjcetP8/wBiR8Ml0keGi/6Z/wB/lXX6Zjnke8Y/WvdIeHxJ7EaL7lA/QU+e1Rxh0Vh5MAf1pXxqOf8Aj/P9hv4bLHxfg8Ke5B5gH37/AK0lvc926yIACp3AOnWu+UJxy3zv5CvYX7KWfM20X4ab/wDill/y0X4ajr39pXpunUpvDWHyO0rO4pyUozW3zMNB2jt2G7mM+UgK4/mGVPzqzglVxqRg6+akMPmDWhn7HWbf8EL9wsn6GnWXZC0iJZIsMdi2TqI8ia8LeeHrZxcrack+ikl/NfoehocRrp4qxXzRQYorW/0PDy0/maZ/QcPkfmayn4eue6Li4hT7MymaWtYODQ/Z/M008Ci/tfOh+HrpdV9w/iFLszKZpc1sIuFRD6gPv3pknCIm+rj3Eim/y9X051LP1D+Iw7MyRNJmtYOCQ/ZPzNd14bFj+Gvyoj4drvnJfkHxGn2ZjaQmtZNwWJjnGPunFdbbhkSclBPmdzRHw9X1YcljucfEYY5GOIp0cZY4AyfKts9lG25RT8KdFaou6qB7hU8fDs9W81j5biPiO3Lcr+FcKEYy27/p7qtRRilFekt7eFCChBYRmznKctUgoooqcU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82" name="AutoShape 10" descr="data:image/jpeg;base64,/9j/4AAQSkZJRgABAQAAAQABAAD/2wCEAAkGBxQSEhQUEhQUFBQUGBgWGBgUFxgUFxcYFRcXFhYXFxUYHCggGBwlGxYVITEhJSosLi4uGiAzODMsNygtLisBCgoKDg0OGxAQGywkICQsLCwsLSwsLCwsLCwsLCwsLC0sLCwsLCwsLCwsLCwsLCwsLCwsLCwsLCwsLCwsLCwsLP/AABEIAN4A4wMBIgACEQEDEQH/xAAcAAABBQEBAQAAAAAAAAAAAAAAAQIEBQYDBwj/xABHEAACAQMCAwUEBwQIBAYDAAABAgMABBESIQUxQQYTIlFhMnGBkRRCUnKSobEHIzOCFVNiY3OiwdFDVLLxNESjs8LwFiST/8QAGgEAAgMBAQAAAAAAAAAAAAAAAAIDBAUBBv/EADURAAIBAwIEBAUCBAcAAAAAAAABAgMEERIhBTFBUQYTImEycYGRodHwFbHB4RQWIyQzQmL/2gAMAwEAAhEDEQA/APcaKKKACiiigAooooAKKKQmgBaKj3l6kSl5XVFHNnYKPmapX7QvLtawM4/rJiYI/eAVLv8ABcHzpJ1YQWZPB1LJoTUO24pFJJJErgvFs4wRjlyJGG5jOM4Ox3qpZLpwS9wkY8oYh4f55S2fwisHcXrm4eS2mlZcEaiyxiVjoDupVDhD3Y5DBOT74I3dKb9O5LTt6lR4gsnr2aM15nb8cuB/Elu0H9gW9wv/ALQk/Krvh/E5pRmC8ikxzDwguPRgrqV+Iod3Tj8WV9P0EqU50361g2VFZuPjdwn8W3WQfat3yfjHKF/JjUu37T27NpZzE+cBZ1aEnp4dYAb4E1JTuKVT4ZJkeUXNFMEgO4xg8qcDUx0WiiigAooooAKKKKACiiigAooooAKKKKACiiigAooooAKKQmqbiXGtL9zAvfT9VBwkf9qZ/qD09o9B1pZSUVlgWN7epCpeV1RBzZjgb+p/SqWXidxcbW6mGP8Arpl8ZHUxQHf3F8e40+14T4xLcN30w5EjEceekUZzp+9ux8+lWeKza96+VP7kkYdyqt+CRBg7hppR/wASY94wPUrnZPcoAqw011qo7RcWFtCXAzIx0Rr9qRs4z6Dck+QrJlGVSe7yyWK6Izna7irSu1rFsi7TsObZ/wCCp6be0fIgdaqY4MD/AEp1hb6QBnJOWZjzZmOWY+pYk/GpZWtWnTUFhHpLakqMNPXqcVfao92isQx2YcmBKsvuYbipLJUO8BpmWVTjPZk6x7RTx7Pi4X1wk34hhH+IX31pbG+hukOghgNnRx4lPk6Hl+YPnWBgBzUxYjkOrFHX2XU4PuPRl/snIqnVtYVN1s/YzL7gtN+qls+xsBwgR727vbnyiPgPvibKfkD61Kh43cRbTxCVft2/tD1aFzn8Jb3VV8C493jCKYBJt8YzolA3JTPI4ySp3GCdwM1ec6qq5ubZ6W8/Pf7HmqkZ0paZLDLDhvE4511ROGA2PMMp8mUjKn0IqdWQu+HBm7xS0co2EkZ0vjyPR19GBHpXW345JAcXQ1p/Xxqdv8WIZ0feXK9SFrVteKUqz0y2kcU0zVUVxgmVlDKQykAggggg8iCOddRWoOLRRRQAUUUUAFFFFABRRRQAUUUUAFITS1nOK3DXMptY2Kxr/wCIdSQQG9mFGHJmG7EbqvkWGFnNRWWdSC/4g9y5htmKIjYmnXpjnFCTsXzsW+ruOfKdY2McKaIlCKN8DfJPMkndiepOSa6W9usaqiKFVRhVUYAA6AdK6AViXNaVSXsSxikAoY0uKY1VpS0oYYTXnfHOIfSbttJzHBmNPIsD+9cfHCZ/snzrT9suJG3tmKHEkh7pPRnzlv5VDN8KxvCbcKoA5AAD4U9nBv1v6Gtw231N1X05fMsYxihnrnI+Kjl81ovY11DJJ1ikdARUQmuyPtXMjuGCO8eDTlkpJTmo77UucEqWeZ0uCGG+eYIIOCCNwVI5EedaDs72hLMsM5/eHZJNgJcdCB7MmOg2O5HlWRkmrk8oYYOfhzBzkEHoQcEH0qGrTjVjpkVr7hcbiH/roz1nFcZUqm7J8d79NEh/fR7N01r9WQD1HPyOfSr2WsGvS0vD5o8NWoypzcJLdFOkUluxa1IXJJaFjiJyeZGN4mPmux6g8603BuMJcJlAysp0ujYDxtjOGA9CCCNiNxWZu+IRhtC5kk/q4gZH+IXZR6sQKm8F4HL3y3M/7plBVYoznKnpO49vBJIA2B863OE1rmS0zT093+9xKUp5w+RqqWkFLW6WAooooAKKKKACiiigApDS0UAVHaLiDQx+AoHYhVLsFRNW3eNk7hc8upwOtJwuyWGNUTLc2ZjuzsxyzsepJ3+NSb3g8UsiSSIGaMELnJAyQd1zg7gEZG1R5OAoN4He3PlHgoffG4K/IA1UuaM6i9LGi8Eomm5qE1ndIPC8M3+IpiP4kyP8tcmmuRztgfPRMrH+UMFz8cVk1bW4XT7Eqkix1Uhaqt+KH/l7rPl3X+udP51yn40iDMqTxjGTrhkwB1yyggfOqVSFwttD+w2Y9zJdur7vLpYx7MC8v7yXc59QgH4jUOC4wK5qhnllkVJZDLI7+CGUjGSqjVpxsqqOfMGul1bMmzRTqfIwyfqqkVsQpyjBJI9NaVbenRjByWeb36sc82aYZcVFihlY4SG4byxDIPzZQK6Pwm8P/lLj8K/6vT6J9i1/iLZbOpH7itdimG8FVULu90LMRMLgnGiQqgB0692yfq77ZrTjsHfYzi1Hp3r/AKiKhUqnY5K/so85r6FQbunNcgiru1/Z7dt7clvH93XL+oWrm0/ZpGN5biZ/RNMS/MAt+dMrecuZBU4xaR+HLPPppAMkkAeZIA+Zp1nE8xxDFLLnrGjFfxkBfzr13hvZCzgwUgQsPrSZlf8AG+TV2EqVWi6soVvEM3tTil8zyPhfCby2dZ3gEa7oTNIqAB/Mxh8LkDfFbDhXCDdxpLNMzRuAwjhDwJg/bOdb9eoHpWr7ulC0ys6KlrccsxLm4ncVPMnjJHsOHxwroijSNfJFCj4451Kooq0iAKKKKACiiigAooooAKKKKACiiigAooooAKTFLRQA3Fcb21WVGjfOlwVOCVOD5EbipFFAEaytEijWOMYVBgDOfmTzPrXcCnUUANNGKdRXAPOOO8GjXiE13pHeQm0mB66C7Ry4/lVq9ENZftXb5lwP/MWs8J+8gDx/9Unzq+4bcCSGJwch0RvflQaZtvAqOMvGrdZhA00QmO4jZ1DnOceHn0NWS1869nL8Sd/38BuLq7YhRnxCQnkPLGPgFr2PhXDbuKGJfpZaRUQOJkWRNQA1aWXS+PIlj8ajpy1ZwXLm28hRy92k/uaiivLu0/ayZJ2hlkNv3QQn6OxbWXGoNrZAQvIaccwc5q34J+0KDu4/pbmNm1ASFQI30Np15BOjOOoAznGQKbJWxtk3VFVUvHIlbBJwQhVhgq4dlQFGBOrDMoPlkVa104FFFJQAtFJmkJoAdRWX7R9sIrY6VxK43fDqqxjOPG5yFJIYBeZwegNZiT9pspyVtl09MtJtnkSwTB9w+dRyqwjzYjmk8M9PorMdju1iXqsDhJUJyuThgMeNCRuNxkcx15itMKdNPdDJ5WULRRRXToUUUUAFFFFABRRRQAUUUUAFFFQuJ8RS3jMkraUXrz3OwAA3JJ6CuN4Am01nA5++qThXaq3uG0Ix1HkCOfM4BBIzgE4zmqXjxmvL9bVXCW0cbNNtlnbEZUAcsASKd8jJ3BwKIyUllAXXaQAG2m6RzqDj7MwaDJ9MyKfhS9kSfoyoecTyxe4RTOij8IWo/aiFYbBokViMRxJvnSSyrGzFjkgNpJPOq/hXGHgnk+kRrBFOXkVmcHQ6JEGB9GwWz0Jxvmm6HOpPt7CK2u3PdxqbnxJIFAbWB44iR5hQ48/H5VeYpt3bJPGVcalYAjB9cqysORBwQR5CqcX7W5CXTDTySc7K/kJeiSdPstzGPZoiEtw452Ytbwq1xEHZdgcspK5zpOkjUuehryXjPCry2nePuiVldivdRkrICfAE0jAwpVdJ5Y+J9uzn3dMf71xvLpYkZ3OFUEn4dAOpzt8RXZQTORm4s8r4LZC2ih78z200EkkpizpiKOclRqBUOowwONJIxk7EeyJIMD9TjesvHxCK5YW1xGEmMffdyzBnVM6QwZeTc+W9VJS4jC2LSExnWS+gAtACDpR1OA3iVCuNgSRzFLP0rJ2L1PBrI+0tszhBJuW0g6X0FuWkS40E89gelUH7R+NzwJElvs05ZS+2pQq52zy+8QceWTXCaLvnW2iHIxtJp9mKNGDb+THTpVfUnkN9RxjgMF0F79NWgnGGZeeNSnSdwcDIPPFQQnKpFvkSVoadkzyGwgnkKyM9y5GyyaJXVFJwZVkZidOrqpyfLFaWHtbNGjIWDd54EmlJXu2GoOxQgPpAwQp3yy8wc16JM8cMZJ0xxxr6Kqqo+QAFeV9u4nu5Injt0Ul9ARlKzzFgO77w48MZAY9SApyRutdhDT1IVHB14D2f+kOok0xCIRk7r3gGgMAAR/EYYZ3O4zgedbaHsbZBcGBJCc5eQa3OrmS53z5eXSsJfdiZ4ldygk5y/umRiCAdesyIC+RjSN+WPWuv7PO1RinW0kkDwtqMbbEqzsCqeHkPERvywvniuZSlhoXKTwzU8A7HG1u2lSQGIqygMC0ni0nBc8wCOfPGPKteBQKWpYxUVhEiWAooopjoUUUUAFFFFABRRRQAUUUUAFZTt/w+SWFCilxGxZlAzsUZQ2n6wBIyBvgnG9aumtSTjqjgDyjsnwQ3crzGWeB7eSMgPGoyP4gUZAIjBBAG2ATWq4SEt7uUyXCuZkVgzlFy+tgyrjyAj28gKzfHbAgNlQ0ltiS6eSfV366WCFY2JydyQCAFwVGc1xhCo8yqsah43UsVGlEk+jCSTT10qrtjaoINU5qkl0zkm8vNPzM9cYPQu1FuXs7gKMt3bMv3kGpP8yis32z4eLy3g8egGWPxjcgTI0Y/zPH8gelbSOMBAuSQFC5O5IxjJPWsesRbhzxjCyQBogXIVQ9s+IyzHYZ0Icnzq4uTK76Gr4RbGKGKNjqZEVCeWdKhc4+FVV/J9KlESYMUUgaZzuCyHKwr0Y5wW6ADHM7JJeteELbsyQfXnGQX/u4D1HnINgNlyd1tra1SJAkahVUYAHT/AL9a4jpWNwCFf4YeLHSGR4l3/sKdP5VxfhcKfvZGkfu8vqmkaRU0jJYK3hBAB3xkVcSNWe7Q3KZVJP4SgzzdcxxMuiPH1u8kIAX62lhTvZZE5vBWX1nG7rezQhrmZRDbJlo3SPd9cjqcg4yxP1QQo3J1AgkUoiyPcXci6VeU5VFBBkk0gAKinBxzYgDNLLcNqa4mUmWTCJGNzGpPhhTzZiNTHqfRRWm7PcI7kM8mGnl9thuFA9mJCfqLk+85PWqKk60sL4V+S5oVKO/N/gl8H4alvGI0ztuzHdnY+07HqSamE07FUHaa7yY7VW0tcZ1HOCsKbyFeuWyqDHLVnpVh4islfmV83EVuJgXyLZG/c5HgmkU4MhOeQI8AOAd232xM4NCJ7h7lhlYtUEPwP7+QZ83Gj3R+tceNHRD3carl9MMakZUFyEXw9VUeLA+zWg4dZrDGkaeygCj3AYyfWqtCTqSc38iSawsEgCvGuI8LkXjwWJSczRzDC7BWVDISeWkBGGfM17NimhPdVqUc4IZR1YHLS0UUwwUUUUAFFFFABRRRQAUUUUAFFFV/FOJrFpUAySucJGmNTeZOdlUdWOAKAJ5NV11xyBG0NIpf7C+N/wAC5NRl4bLNvdSHSf8AgwZRB6PJ7cn+UHfarG1tUiXTGioo+qgCj5CgDyftNIhaNFKsBJJPqZAszl2BCsWbJwHzuB7A8qseBGR7iJ4o1cYZTrbAH7twSzIrqBuFwdyelekxwqo8Kqu+fCANzzO1Nm1YOnGcHGc4z05etR+RF1PM64wSedLy/L6ZyYqV7iN+4W9hthsAhkWZkBOyL3kAI9NTeVTezvA4HkeR52u5FO+tj3anPtCHOnOV2Y55HBG9c+zYaR5DL3gLllnSRoTHLKoCOEiALBRjAORkAZzzqwkRLSSEgCO3SE24I2WPdWTUeiYUgMeR+9UpCaEgVzdqrLHijTM+mMiEAaJWOnvG31aYyM6RthuR3xUt3pooVyGzSY3JwBuSegG5rGvKtxK1y20Sgd3k4DiMuwnYdB4iVHkdRGcYl8WufpLvCCe4jOmXH/FfmYs/YXbV5k46NnMcduGu5Vs4Nw7hGYci3Nx6pGoLN5kBfMVVr1HUl5UPqy1RpqEfNn9DXdiI1ugL0g6SXW3B6RqdBlx9pypx5LjHtHOyFRrC0WKNI0GEjUKo9FGBUkVJGKisIilJyeWBrLcOjS5ae4cLIJHMSZAYCOAlQMeshlf3MtXHaK9MFtNKvtJGxX72MLt97FVlvwMW6xiDCsiorD6koVQuXA+ttkON9t8ikrP0nY8zhbWCfTYkQELEjzMoJ0hie6iIXOFODNy8q1YFUXAY8z3cvm6Qj7sKZPuw8sgq9zRRjpgkE3li0U3NDHHPapRR1FRxdJ0dfgwNd1ORQpJvAC0UUV0AooooAKKKKACkzUHi3ERCo2Lu50oi83Y749BgEknYAVBThzy+K4kZv7uMmOJfTbDP5ZY4PkK7g5km8Y4mII9WCzsQkaDYvI2dKj5Ek9ACelcOEcN7vLyEPPJjvJPPH1E+zGOij1J3Jqrs+FwrfFo4kQQQ8wMfvJick+oSPH8586nz8Sd5GitlVym0kjkiONvsbbyN6A7Z3I5UYDJcg0maqDZ3De1dFf8ACijUf+prNc5ra6Cnu7hGOR/GhBOM7jVGVAyNs6aMHGy6LUxmpuo9ah8S4lHCuqVgozgbFmJ54VFBLH0ANd5czhAFsn9IFgiB1twSwADMZZCNyNzgQ4+NXJrJSdoMXEc3cyrFoaOR2C6gCwZGEYYuQDnO2QGz6VbSdprQDP0iI+itrb8Kgt8MUsakH1Q0oTXQszWY7V8ZZNMMH8R2RWcHSIlkbSPH9VmOw2JG5xtgun7TGTa3iYj7cwKL7xF7bfEL76zr2Phb6TdEhyWk06ItZbAOstljsAAAQAAMVDWu4JaYvLJ6VpNvVJYRH4pxbuYzbqBBIuQ+TlY03zKGb29RzpJ3znPI0/sNayb3EEluMqETUpmeOMnJLAOArOcE9TgZpUkslKvnvmGI1c95dMDkAIJPEF3wNyN6tOFMTcktGYCkZARgFeVXK+Pw+HSunGMkgscgbZzalw6dJ+Wsd33LU6eqS1NP2Lzv7z/mI/8A+G3/ALlOTiN4nMW8w/ngP/zFPV6XNZ0eJV1vqOu3h2IXHuLNLD3bwTRani1MmmVQgkUuQyEn2QdyoqdZM0gDQ3izR53JWN/eC0enB94oDVB4nweC4B71ASwwWXKORnOCy7kZ6HIq2uJal619iJ2+ORz7O9o4ltwI1eeV5JnZYhkAyTO3jkYhFwCOuduVS5Ly8k+vFbr5IO+f8b4UH+U1D7qeIAIVmjUYAf8AdSADprUaDt0Kr76fBxaMkI2qKT7Eo0k/dbdX/lJpa/EKrWYbL25hGjHO45+Hs+8txcyenemIfhhC1z/oa36xBvvs0n/WTUtpK4SSVk1eIVOsmW40I9hsNtFFnu444889Cquffgb1p+DtmFD6H9TWRLk1s7GHRGq+Qq5wGc6lac3yxj8kV7FRikSKKKK9UZoUUUUAFIxpaw3HLUz3csewGIly8pUq4OtGWD2ZomzpZSd9JG9AF2jd5eSNzEMaIvo0uXc/FRFvUy/vVhRpG1EDAwoyxLMFVQOpLEAVD4VwxbczaMASuHAGcLiNEIGTsMqSANgDioPaXh7zaNOtkTJKRyd0+rKtHIpzpcoUzofY59MU6WxG3uRv6XRfpJilT6RO6LHE20kbaUgHeRnfwtqby046GtHw6zWCNIkzpQYydyT1Zj1YnJJ8zVLZ8Pjm7q4yS7NHPkqBlkiaLOn6p0sQd/q1el67pDJ1JpjGufec8dNj8s01nPrTKIrZ1LVQ8f4fI8scsSo5VWTS793p1FTqVtLDpgjHlvVs0tc2lonSU1hhGo4vKM5Nwu5KMzNBDpUtsHuDsM8yYxVGqgLJ3krvKRH3cSYiBLxLIzMygsqKW3bPkOZFabtZxUQ20pOSzxyBFX2iQhJI8go3J6e8gHL8SuEglmdh4isCKF9t8RDSi/HJ9OZ2FZlzSp0V6I5Zo21SpWfrlhEK8ijgjUNruJW2Akkc625lipYqqDmfTluag8M4QZJe7iVO9bDSSBFCxLy1aQNvJU64yc7mliid3XYSXEp0gclGPEQNvDGo3J5+8kVvuCcNW2iCDxMTqkc7F3PNsdB0A6ACoa1VcPp+p5qS/COyl/iZ+naK/J1teGxxwiBUBiC6SrAMGB9otn2iTuc86qruBYgFmL90pzFOCddvn6rvuQnIazkEbPsN71pK5sc+orz1O8cJ5555+5a8rKIlncur9zMQW5xuBpEyc+XIOvUDmMEbHaexqiuLbul0lWktc6tK572AjfVEw3Kjc45r0yNhIt7pk0LI4kSTHdTDGJM8lfT4Q/kRs3TB2qW4oqcPOo8uq7BCWHpZZh6cJKjaqNVZPnNE+nJJaSo1yquul1V1P1WAYH4GkJqFxa67qJnJ040jUd9Op1XVg7HGc/Cmg6lSajDm2clFRWWSYIwoCrkAcgSW+GSeVLIKruzE7yQB5GLaiShbGSnQnAxzzVnIajr03CbjJ5wx6cspNEY1seFXJeJWPPkfhtWOc1seEoBCgHln571teH9SrSS5Y/qVuIY0LvkmUUZor1pki0VV8e4ytpF3rq7jIXTHpLHP3mA/Os4e36uypFBKJHIVDMUSPUd/EyuxxgHkN9h1ptEtDnjZdRNcdWnO5t6r+JWUMgIlVNwVy2AQD9ljuPhVDJ37/wAW6ceawKsI/EQzj4MKjrwe2HOJHP2pcysfXVIScmsmpxahHluWlbTZO4NxVXLwM4eaHZsENrXcJICu24G46HPpVB21sHuJEVST3UTSCPOFlZnCMD6gAY6eKrK6tlwphCxyRkmMgYXcYKMF5ow2I9AeYFERkeUyyKE8AjVFbX9YszFsDmdIA8hXJcXpyoNweJdjitJKazyKv9nnEQNdryC6pIwdiFLfvYyp3Uq5Bx5PWj7R8QNvbSyj2lGEzv43IRNvvMPzrI8VHeXaSWwCS25OqXpI5XSIGx7Qwd26bDfen9p+NfS4Ye5imZNXeSYjLBWTIVNsl8Nk5XI8Oc8q0be9p1YpyxH5kVW2lB7LKKThbQxyObpZZlcBgW1ThZCWMjd3nws2oeIDpjbarhOJWC7r39u3Rwk6n3ciCPQiqCOdWOAdxzB2YdN1O4rqBVuVpCo9cZPfsIqzisNI0cPFrdt/6SkU/wB40UR/A8S5Hvpx4uCrEcSt2A+zFG7+5VEniJ22A3rMSEAEtgADJLcgBuTU7gtgC30iVQMZEQYYKg51SsOhI2Hku+2SKq3X+2hq1v2XcsUIqvLTpXzJV6GMEj3LfvZImj2GAgcYEaIpPiJK5xnLegFR7jhMtzO1xEq/woYysuuIqwUl1B0kZBwDt8dqitHNfyZjRhCjeB31xR5G3elhhnPPSF2xvkZFae04MY0Ctc3Tnqe9IHuUHJUDyz8ayZXitn5k5ep9OeC3KCn6IrZfkg8EtmtFJmglaZ/akiHfLgbhEC+JFHPcDJ3qx/piIe2ZI/8AFikjH4mXH508W0i+xcS48pdMv+YjUPnSd9dLyeGQfZdGj/zqWx+GsuvUtbieupN5f77EsIygsJEmK5RgCrowPVWU/oa6g1UT4f8Ai8Pic+YaFwfi4U/lXEw2/wDyt1BjrCSo+AhlOfw1ErKjL4Kif2/UbXLqi+1VU3VsIgxRNcL/AMaDGQQdy8a9GHVRz6b8+BkhXleXMf8AiJqx7zJET8zXTvxgMl9bMP7zQPzRxg/CpaVnc0Z6qck/YVzi+Ysc4jCssne2z4VXJy0TZwFdjuVz4ctupGDnO1ooqkME6s0ixQXEMgInSCTV3i4wGWNl3kAGMavEPUCpUE3cKpL95atjRKT4kB9lZT1XkA/Po2+55e2DmvNgsPqgp1cbMsiKp73g8Nw10ZV1MsCFfIZ73ofcD8qsr65EcbueSKzn+UE/6Vxk4K8cakSzLI6hpO7PtSHOSQfLOAOgAFPwG3cqzqPktvuR3lTEUhbCTVFGR1RCOWN1B6V1YVFEHcSoo9iVCfdLHjUfIa1Oceak9ammsm+tnbVnCX7yWqFVTimRiN603Z2bMeD9U4+B3rNPWg7MwkKzdGOB8Ks8Bcld4XLDyLfJeVuXRNFLiivaMxMGS/aPH/8ArK2fZkB9+QRXnhAYYIBB6EZFan9q1+Q0EI5YaQ+/Olf/AJVjkl0hSfZyNR+yMHf03xv616rh1LFqnLk2/sYl3PVcYXTBa21xMgxHMwA+q47xcDyz4h8Gq34LxkzF1IXVHjLRklDkkYyfZbb2cmqeaFT3esFotWZAgLEjSdIOncrqK5Aq7sr63ICxSRbbBFKrgeQTbHyrwniunbwlppUMSe+tbL8HoOESqSWZVNuxZiSq/il+4YRREB2XUzncRpnTkDqx3wPQnpu17OQnHfuFPPSiq3uDdB+dMbhA1axLMr4wWLB8qNwCGBBwSTnGd68lbulCeZyz7YfP3NuSb6ESC01kW0eVRVzI2dwjEjAI5yOQ+/QajzIzpUiCgKMBVGABsAByAFQuHWqwghSzMx1O7nLMeQJPoMAAcgKlmSnubuNR4XL97hht5Od5Yxy/xUSTH21DfImoY7O2pP8A4eLPouP0qXcXQQAlXbJwAilj+XL3mosl6zqwWGYZBXJ0JgkY2y+T8K5RlV5qTS+eP6kcox6r8FBxKytXkVYoY9ETBmfHtOvsxqeoBGSfMAb74seGW/0uQq28Eft45SOT4YyeqgeJgPMDzFVtvwu4KrF3ZjIULrJUomBgsuCSx6gY5862VlEsMaxpsqjA9fU+pO5PU1pTuNPOWei3z9R5KMIaafN82SpD/wDf9q4mgy00vWZUqqT3EjFoDXPFPLUmarvDJEIEp2igGhmpkktweQ38/wBa5/RkJyUQk9Sq5+eKC9Gql83HJg4ZKufhGWLdzZ89sxtqx561xg/CudnZTQaliFuIXBzF4yqsc5dc+ed15H03zclq4yZwcYz0zyz0zirUeJ1YfCJ5EWV/E4dFoYxuFREyeqgqpz7xWv4xAjaSyhtJyCc7cvnyrHXdpPIjRl4QGUjUImzuOi68bc85q3bic5UBlhc9WDPHn104bHzrU4XfUKEJKtJZbz1KtzRnJpxXJHDjXtW5zylI/FG4/UCnFq43AklKa9ChGD4TUxJAIHiOMDfyNdaz+M3NKvWUqTzsT2dOUI4l3ObVquASAwqPs5B+eayrVoey6nS56E/oKfgE2rrC6pjX8U6Wfcu8UUtFe1eOxiHl/wC1pcTW7f2GHyYH/WsxZS1qP2uxnvLdt8aXX45BrCwz4r2vDY67OP1/mebvJabiRpbTSvsjGfI7fLkKW9mUjxrrH3dePhzqnjvK7C7pp23TAKsTrLiDrtC2V+xKrkD7pJBX3bipsfHJQfFErD+7fDfAOAD86pvpNdknrDuvDNhXblOmk31WxfpcWuKe0Zbe+5pbLiccuythhzR/C4/lJ3942qZvWTfQ4w6qw/tAN+tNS1jX2A0f+G7J/wBJry9z4Hep+TU291/VGxS8QLH+pH7Gu10uqswl9KnsuJB9mXn8JFGR8QalQce/rIWUecbd7j3rgH5CsG58McRt8+jUl1jv/c0aPFbWp/2w/c0Akpwkqqg4zA5wsqA/ZY6G/C2DUxJQeRB9xz+lYk6dantKLXzReThLdNErVSq1Rw1KHqvqY+kk5oqP3lOD1IpC6TuKRq5h6XXQ5bYOYExSqKTVSaqQYeaSm66QtQ2cwONNpC1JqpBsCk0maaWpCaMM7gStX2f/AII2xufjvWVUfM8vWtnwy30RIp5gfrvXofD1OTryl0S/QocQktCiSqKMUV7IyCDxfhMVzH3cy6l5+RBHUEcq8V7T8BezlKNkoSSj42Zem/mOVe84rnPbo40uqsD0YAj5Gr9jfztZbbrsU7qzjXXZnznmlEvrXv8Ab8CtkOpIIlPmFGaff8LhmUrJGjD1H+taz4/HPwbfMo/wqWPiPAhIacLjH/evZh2Ksv6hfm3+9WNjwK3h3jhjU+YUZ+dNPjtLG0GLHhdTO8keGC8x/wB6cL/1/Ovfnt0YYKqQehAIqI3A7Y7mCL8C/wC1QrjcetP8/wBiR8Ml0keGi/6Z/wB/lXX6Zjnke8Y/WvdIeHxJ7EaL7lA/QU+e1Rxh0Vh5MAf1pXxqOf8Aj/P9hv4bLHxfg8Ke5B5gH37/AK0lvc926yIACp3AOnWu+UJxy3zv5CvYX7KWfM20X4ab/wDill/y0X4ajr39pXpunUpvDWHyO0rO4pyUozW3zMNB2jt2G7mM+UgK4/mGVPzqzglVxqRg6+akMPmDWhn7HWbf8EL9wsn6GnWXZC0iJZIsMdi2TqI8ia8LeeHrZxcrack+ikl/NfoehocRrp4qxXzRQYorW/0PDy0/maZ/QcPkfmayn4eue6Li4hT7MymaWtYODQ/Z/M008Ci/tfOh+HrpdV9w/iFLszKZpc1sIuFRD6gPv3pknCIm+rj3Eim/y9X051LP1D+Iw7MyRNJmtYOCQ/ZPzNd14bFj+Gvyoj4drvnJfkHxGn2ZjaQmtZNwWJjnGPunFdbbhkSclBPmdzRHw9X1YcljucfEYY5GOIp0cZY4AyfKts9lG25RT8KdFaou6qB7hU8fDs9W81j5biPiO3Lcr+FcKEYy27/p7qtRRilFekt7eFCChBYRmznKctUgoooqcU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84" name="AutoShape 12" descr="data:image/jpeg;base64,/9j/4AAQSkZJRgABAQAAAQABAAD/2wCEAAkGBxQSEhQUEhQUFBQUGBgWGBgUFxgUFxcYFRcXFhYXFxUYHCggGBwlGxYVITEhJSosLi4uGiAzODMsNygtLisBCgoKDg0OGxAQGywkICQsLCwsLSwsLCwsLCwsLCwsLC0sLCwsLCwsLCwsLCwsLCwsLCwsLCwsLCwsLCwsLCwsLP/AABEIAN4A4wMBIgACEQEDEQH/xAAcAAABBQEBAQAAAAAAAAAAAAAAAQIEBQYDBwj/xABHEAACAQMCAwUEBwQIBAYDAAABAgMABBESIQUxQQYTIlFhMnGBkRRCUnKSobEHIzOCFVNiY3OiwdFDVLLxNESjs8LwFiST/8QAGgEAAgMBAQAAAAAAAAAAAAAAAAIDBAUBBv/EADURAAIBAwIEBAUCBAcAAAAAAAABAgMEERIhBTFBUQYTImEycYGRodHwFbHB4RQWIyQzQmL/2gAMAwEAAhEDEQA/APcaKKKACiiigAooooAKKKQmgBaKj3l6kSl5XVFHNnYKPmapX7QvLtawM4/rJiYI/eAVLv8ABcHzpJ1YQWZPB1LJoTUO24pFJJJErgvFs4wRjlyJGG5jOM4Ox3qpZLpwS9wkY8oYh4f55S2fwisHcXrm4eS2mlZcEaiyxiVjoDupVDhD3Y5DBOT74I3dKb9O5LTt6lR4gsnr2aM15nb8cuB/Elu0H9gW9wv/ALQk/Krvh/E5pRmC8ikxzDwguPRgrqV+Iod3Tj8WV9P0EqU50361g2VFZuPjdwn8W3WQfat3yfjHKF/JjUu37T27NpZzE+cBZ1aEnp4dYAb4E1JTuKVT4ZJkeUXNFMEgO4xg8qcDUx0WiiigAooooAKKKKACiiigAooooAKKKKACiiigAooooAKKQmqbiXGtL9zAvfT9VBwkf9qZ/qD09o9B1pZSUVlgWN7epCpeV1RBzZjgb+p/SqWXidxcbW6mGP8Arpl8ZHUxQHf3F8e40+14T4xLcN30w5EjEceekUZzp+9ux8+lWeKza96+VP7kkYdyqt+CRBg7hppR/wASY94wPUrnZPcoAqw011qo7RcWFtCXAzIx0Rr9qRs4z6Dck+QrJlGVSe7yyWK6Izna7irSu1rFsi7TsObZ/wCCp6be0fIgdaqY4MD/AEp1hb6QBnJOWZjzZmOWY+pYk/GpZWtWnTUFhHpLakqMNPXqcVfao92isQx2YcmBKsvuYbipLJUO8BpmWVTjPZk6x7RTx7Pi4X1wk34hhH+IX31pbG+hukOghgNnRx4lPk6Hl+YPnWBgBzUxYjkOrFHX2XU4PuPRl/snIqnVtYVN1s/YzL7gtN+qls+xsBwgR727vbnyiPgPvibKfkD61Kh43cRbTxCVft2/tD1aFzn8Jb3VV8C493jCKYBJt8YzolA3JTPI4ySp3GCdwM1ec6qq5ubZ6W8/Pf7HmqkZ0paZLDLDhvE4511ROGA2PMMp8mUjKn0IqdWQu+HBm7xS0co2EkZ0vjyPR19GBHpXW345JAcXQ1p/Xxqdv8WIZ0feXK9SFrVteKUqz0y2kcU0zVUVxgmVlDKQykAggggg8iCOddRWoOLRRRQAUUUUAFFFFABRRRQAUUUUAFITS1nOK3DXMptY2Kxr/wCIdSQQG9mFGHJmG7EbqvkWGFnNRWWdSC/4g9y5htmKIjYmnXpjnFCTsXzsW+ruOfKdY2McKaIlCKN8DfJPMkndiepOSa6W9usaqiKFVRhVUYAA6AdK6AViXNaVSXsSxikAoY0uKY1VpS0oYYTXnfHOIfSbttJzHBmNPIsD+9cfHCZ/snzrT9suJG3tmKHEkh7pPRnzlv5VDN8KxvCbcKoA5AAD4U9nBv1v6Gtw231N1X05fMsYxihnrnI+Kjl81ovY11DJJ1ikdARUQmuyPtXMjuGCO8eDTlkpJTmo77UucEqWeZ0uCGG+eYIIOCCNwVI5EedaDs72hLMsM5/eHZJNgJcdCB7MmOg2O5HlWRkmrk8oYYOfhzBzkEHoQcEH0qGrTjVjpkVr7hcbiH/roz1nFcZUqm7J8d79NEh/fR7N01r9WQD1HPyOfSr2WsGvS0vD5o8NWoypzcJLdFOkUluxa1IXJJaFjiJyeZGN4mPmux6g8603BuMJcJlAysp0ujYDxtjOGA9CCCNiNxWZu+IRhtC5kk/q4gZH+IXZR6sQKm8F4HL3y3M/7plBVYoznKnpO49vBJIA2B863OE1rmS0zT093+9xKUp5w+RqqWkFLW6WAooooAKKKKACiiigApDS0UAVHaLiDQx+AoHYhVLsFRNW3eNk7hc8upwOtJwuyWGNUTLc2ZjuzsxyzsepJ3+NSb3g8UsiSSIGaMELnJAyQd1zg7gEZG1R5OAoN4He3PlHgoffG4K/IA1UuaM6i9LGi8Eomm5qE1ndIPC8M3+IpiP4kyP8tcmmuRztgfPRMrH+UMFz8cVk1bW4XT7Eqkix1Uhaqt+KH/l7rPl3X+udP51yn40iDMqTxjGTrhkwB1yyggfOqVSFwttD+w2Y9zJdur7vLpYx7MC8v7yXc59QgH4jUOC4wK5qhnllkVJZDLI7+CGUjGSqjVpxsqqOfMGul1bMmzRTqfIwyfqqkVsQpyjBJI9NaVbenRjByWeb36sc82aYZcVFihlY4SG4byxDIPzZQK6Pwm8P/lLj8K/6vT6J9i1/iLZbOpH7itdimG8FVULu90LMRMLgnGiQqgB0692yfq77ZrTjsHfYzi1Hp3r/AKiKhUqnY5K/so85r6FQbunNcgiru1/Z7dt7clvH93XL+oWrm0/ZpGN5biZ/RNMS/MAt+dMrecuZBU4xaR+HLPPppAMkkAeZIA+Zp1nE8xxDFLLnrGjFfxkBfzr13hvZCzgwUgQsPrSZlf8AG+TV2EqVWi6soVvEM3tTil8zyPhfCby2dZ3gEa7oTNIqAB/Mxh8LkDfFbDhXCDdxpLNMzRuAwjhDwJg/bOdb9eoHpWr7ulC0ys6KlrccsxLm4ncVPMnjJHsOHxwroijSNfJFCj4451Kooq0iAKKKKACiiigAooooAKKKKACiiigAooooAKTFLRQA3Fcb21WVGjfOlwVOCVOD5EbipFFAEaytEijWOMYVBgDOfmTzPrXcCnUUANNGKdRXAPOOO8GjXiE13pHeQm0mB66C7Ry4/lVq9ENZftXb5lwP/MWs8J+8gDx/9Unzq+4bcCSGJwch0RvflQaZtvAqOMvGrdZhA00QmO4jZ1DnOceHn0NWS1869nL8Sd/38BuLq7YhRnxCQnkPLGPgFr2PhXDbuKGJfpZaRUQOJkWRNQA1aWXS+PIlj8ajpy1ZwXLm28hRy92k/uaiivLu0/ayZJ2hlkNv3QQn6OxbWXGoNrZAQvIaccwc5q34J+0KDu4/pbmNm1ASFQI30Np15BOjOOoAznGQKbJWxtk3VFVUvHIlbBJwQhVhgq4dlQFGBOrDMoPlkVa104FFFJQAtFJmkJoAdRWX7R9sIrY6VxK43fDqqxjOPG5yFJIYBeZwegNZiT9pspyVtl09MtJtnkSwTB9w+dRyqwjzYjmk8M9PorMdju1iXqsDhJUJyuThgMeNCRuNxkcx15itMKdNPdDJ5WULRRRXToUUUUAFFFFABRRRQAUUUUAFFFQuJ8RS3jMkraUXrz3OwAA3JJ6CuN4Am01nA5++qThXaq3uG0Ix1HkCOfM4BBIzgE4zmqXjxmvL9bVXCW0cbNNtlnbEZUAcsASKd8jJ3BwKIyUllAXXaQAG2m6RzqDj7MwaDJ9MyKfhS9kSfoyoecTyxe4RTOij8IWo/aiFYbBokViMRxJvnSSyrGzFjkgNpJPOq/hXGHgnk+kRrBFOXkVmcHQ6JEGB9GwWz0Jxvmm6HOpPt7CK2u3PdxqbnxJIFAbWB44iR5hQ48/H5VeYpt3bJPGVcalYAjB9cqysORBwQR5CqcX7W5CXTDTySc7K/kJeiSdPstzGPZoiEtw452Ytbwq1xEHZdgcspK5zpOkjUuehryXjPCry2nePuiVldivdRkrICfAE0jAwpVdJ5Y+J9uzn3dMf71xvLpYkZ3OFUEn4dAOpzt8RXZQTORm4s8r4LZC2ih78z200EkkpizpiKOclRqBUOowwONJIxk7EeyJIMD9TjesvHxCK5YW1xGEmMffdyzBnVM6QwZeTc+W9VJS4jC2LSExnWS+gAtACDpR1OA3iVCuNgSRzFLP0rJ2L1PBrI+0tszhBJuW0g6X0FuWkS40E89gelUH7R+NzwJElvs05ZS+2pQq52zy+8QceWTXCaLvnW2iHIxtJp9mKNGDb+THTpVfUnkN9RxjgMF0F79NWgnGGZeeNSnSdwcDIPPFQQnKpFvkSVoadkzyGwgnkKyM9y5GyyaJXVFJwZVkZidOrqpyfLFaWHtbNGjIWDd54EmlJXu2GoOxQgPpAwQp3yy8wc16JM8cMZJ0xxxr6Kqqo+QAFeV9u4nu5Injt0Ul9ARlKzzFgO77w48MZAY9SApyRutdhDT1IVHB14D2f+kOok0xCIRk7r3gGgMAAR/EYYZ3O4zgedbaHsbZBcGBJCc5eQa3OrmS53z5eXSsJfdiZ4ldygk5y/umRiCAdesyIC+RjSN+WPWuv7PO1RinW0kkDwtqMbbEqzsCqeHkPERvywvniuZSlhoXKTwzU8A7HG1u2lSQGIqygMC0ni0nBc8wCOfPGPKteBQKWpYxUVhEiWAooopjoUUUUAFFFFABRRRQAUUUUAFZTt/w+SWFCilxGxZlAzsUZQ2n6wBIyBvgnG9aumtSTjqjgDyjsnwQ3crzGWeB7eSMgPGoyP4gUZAIjBBAG2ATWq4SEt7uUyXCuZkVgzlFy+tgyrjyAj28gKzfHbAgNlQ0ltiS6eSfV366WCFY2JydyQCAFwVGc1xhCo8yqsah43UsVGlEk+jCSTT10qrtjaoINU5qkl0zkm8vNPzM9cYPQu1FuXs7gKMt3bMv3kGpP8yis32z4eLy3g8egGWPxjcgTI0Y/zPH8gelbSOMBAuSQFC5O5IxjJPWsesRbhzxjCyQBogXIVQ9s+IyzHYZ0Icnzq4uTK76Gr4RbGKGKNjqZEVCeWdKhc4+FVV/J9KlESYMUUgaZzuCyHKwr0Y5wW6ADHM7JJeteELbsyQfXnGQX/u4D1HnINgNlyd1tra1SJAkahVUYAHT/AL9a4jpWNwCFf4YeLHSGR4l3/sKdP5VxfhcKfvZGkfu8vqmkaRU0jJYK3hBAB3xkVcSNWe7Q3KZVJP4SgzzdcxxMuiPH1u8kIAX62lhTvZZE5vBWX1nG7rezQhrmZRDbJlo3SPd9cjqcg4yxP1QQo3J1AgkUoiyPcXci6VeU5VFBBkk0gAKinBxzYgDNLLcNqa4mUmWTCJGNzGpPhhTzZiNTHqfRRWm7PcI7kM8mGnl9thuFA9mJCfqLk+85PWqKk60sL4V+S5oVKO/N/gl8H4alvGI0ztuzHdnY+07HqSamE07FUHaa7yY7VW0tcZ1HOCsKbyFeuWyqDHLVnpVh4islfmV83EVuJgXyLZG/c5HgmkU4MhOeQI8AOAd232xM4NCJ7h7lhlYtUEPwP7+QZ83Gj3R+tceNHRD3carl9MMakZUFyEXw9VUeLA+zWg4dZrDGkaeygCj3AYyfWqtCTqSc38iSawsEgCvGuI8LkXjwWJSczRzDC7BWVDISeWkBGGfM17NimhPdVqUc4IZR1YHLS0UUwwUUUUAFFFFABRRRQAUUUUAFFFV/FOJrFpUAySucJGmNTeZOdlUdWOAKAJ5NV11xyBG0NIpf7C+N/wAC5NRl4bLNvdSHSf8AgwZRB6PJ7cn+UHfarG1tUiXTGioo+qgCj5CgDyftNIhaNFKsBJJPqZAszl2BCsWbJwHzuB7A8qseBGR7iJ4o1cYZTrbAH7twSzIrqBuFwdyelekxwqo8Kqu+fCANzzO1Nm1YOnGcHGc4z05etR+RF1PM64wSedLy/L6ZyYqV7iN+4W9hthsAhkWZkBOyL3kAI9NTeVTezvA4HkeR52u5FO+tj3anPtCHOnOV2Y55HBG9c+zYaR5DL3gLllnSRoTHLKoCOEiALBRjAORkAZzzqwkRLSSEgCO3SE24I2WPdWTUeiYUgMeR+9UpCaEgVzdqrLHijTM+mMiEAaJWOnvG31aYyM6RthuR3xUt3pooVyGzSY3JwBuSegG5rGvKtxK1y20Sgd3k4DiMuwnYdB4iVHkdRGcYl8WufpLvCCe4jOmXH/FfmYs/YXbV5k46NnMcduGu5Vs4Nw7hGYci3Nx6pGoLN5kBfMVVr1HUl5UPqy1RpqEfNn9DXdiI1ugL0g6SXW3B6RqdBlx9pypx5LjHtHOyFRrC0WKNI0GEjUKo9FGBUkVJGKisIilJyeWBrLcOjS5ae4cLIJHMSZAYCOAlQMeshlf3MtXHaK9MFtNKvtJGxX72MLt97FVlvwMW6xiDCsiorD6koVQuXA+ttkON9t8ikrP0nY8zhbWCfTYkQELEjzMoJ0hie6iIXOFODNy8q1YFUXAY8z3cvm6Qj7sKZPuw8sgq9zRRjpgkE3li0U3NDHHPapRR1FRxdJ0dfgwNd1ORQpJvAC0UUV0AooooAKKKKACkzUHi3ERCo2Lu50oi83Y749BgEknYAVBThzy+K4kZv7uMmOJfTbDP5ZY4PkK7g5km8Y4mII9WCzsQkaDYvI2dKj5Ek9ACelcOEcN7vLyEPPJjvJPPH1E+zGOij1J3Jqrs+FwrfFo4kQQQ8wMfvJick+oSPH8586nz8Sd5GitlVym0kjkiONvsbbyN6A7Z3I5UYDJcg0maqDZ3De1dFf8ACijUf+prNc5ra6Cnu7hGOR/GhBOM7jVGVAyNs6aMHGy6LUxmpuo9ah8S4lHCuqVgozgbFmJ54VFBLH0ANd5czhAFsn9IFgiB1twSwADMZZCNyNzgQ4+NXJrJSdoMXEc3cyrFoaOR2C6gCwZGEYYuQDnO2QGz6VbSdprQDP0iI+itrb8Kgt8MUsakH1Q0oTXQszWY7V8ZZNMMH8R2RWcHSIlkbSPH9VmOw2JG5xtgun7TGTa3iYj7cwKL7xF7bfEL76zr2Phb6TdEhyWk06ItZbAOstljsAAAQAAMVDWu4JaYvLJ6VpNvVJYRH4pxbuYzbqBBIuQ+TlY03zKGb29RzpJ3znPI0/sNayb3EEluMqETUpmeOMnJLAOArOcE9TgZpUkslKvnvmGI1c95dMDkAIJPEF3wNyN6tOFMTcktGYCkZARgFeVXK+Pw+HSunGMkgscgbZzalw6dJ+Wsd33LU6eqS1NP2Lzv7z/mI/8A+G3/ALlOTiN4nMW8w/ngP/zFPV6XNZ0eJV1vqOu3h2IXHuLNLD3bwTRani1MmmVQgkUuQyEn2QdyoqdZM0gDQ3izR53JWN/eC0enB94oDVB4nweC4B71ASwwWXKORnOCy7kZ6HIq2uJal619iJ2+ORz7O9o4ltwI1eeV5JnZYhkAyTO3jkYhFwCOuduVS5Ly8k+vFbr5IO+f8b4UH+U1D7qeIAIVmjUYAf8AdSADprUaDt0Kr76fBxaMkI2qKT7Eo0k/dbdX/lJpa/EKrWYbL25hGjHO45+Hs+8txcyenemIfhhC1z/oa36xBvvs0n/WTUtpK4SSVk1eIVOsmW40I9hsNtFFnu444889Cquffgb1p+DtmFD6H9TWRLk1s7GHRGq+Qq5wGc6lac3yxj8kV7FRikSKKKK9UZoUUUUAFIxpaw3HLUz3csewGIly8pUq4OtGWD2ZomzpZSd9JG9AF2jd5eSNzEMaIvo0uXc/FRFvUy/vVhRpG1EDAwoyxLMFVQOpLEAVD4VwxbczaMASuHAGcLiNEIGTsMqSANgDioPaXh7zaNOtkTJKRyd0+rKtHIpzpcoUzofY59MU6WxG3uRv6XRfpJilT6RO6LHE20kbaUgHeRnfwtqby046GtHw6zWCNIkzpQYydyT1Zj1YnJJ8zVLZ8Pjm7q4yS7NHPkqBlkiaLOn6p0sQd/q1el67pDJ1JpjGufec8dNj8s01nPrTKIrZ1LVQ8f4fI8scsSo5VWTS793p1FTqVtLDpgjHlvVs0tc2lonSU1hhGo4vKM5Nwu5KMzNBDpUtsHuDsM8yYxVGqgLJ3krvKRH3cSYiBLxLIzMygsqKW3bPkOZFabtZxUQ20pOSzxyBFX2iQhJI8go3J6e8gHL8SuEglmdh4isCKF9t8RDSi/HJ9OZ2FZlzSp0V6I5Zo21SpWfrlhEK8ijgjUNruJW2Akkc625lipYqqDmfTluag8M4QZJe7iVO9bDSSBFCxLy1aQNvJU64yc7mliid3XYSXEp0gclGPEQNvDGo3J5+8kVvuCcNW2iCDxMTqkc7F3PNsdB0A6ACoa1VcPp+p5qS/COyl/iZ+naK/J1teGxxwiBUBiC6SrAMGB9otn2iTuc86qruBYgFmL90pzFOCddvn6rvuQnIazkEbPsN71pK5sc+orz1O8cJ5555+5a8rKIlncur9zMQW5xuBpEyc+XIOvUDmMEbHaexqiuLbul0lWktc6tK572AjfVEw3Kjc45r0yNhIt7pk0LI4kSTHdTDGJM8lfT4Q/kRs3TB2qW4oqcPOo8uq7BCWHpZZh6cJKjaqNVZPnNE+nJJaSo1yquul1V1P1WAYH4GkJqFxa67qJnJ040jUd9Op1XVg7HGc/Cmg6lSajDm2clFRWWSYIwoCrkAcgSW+GSeVLIKruzE7yQB5GLaiShbGSnQnAxzzVnIajr03CbjJ5wx6cspNEY1seFXJeJWPPkfhtWOc1seEoBCgHln571teH9SrSS5Y/qVuIY0LvkmUUZor1pki0VV8e4ytpF3rq7jIXTHpLHP3mA/Os4e36uypFBKJHIVDMUSPUd/EyuxxgHkN9h1ptEtDnjZdRNcdWnO5t6r+JWUMgIlVNwVy2AQD9ljuPhVDJ37/wAW6ceawKsI/EQzj4MKjrwe2HOJHP2pcysfXVIScmsmpxahHluWlbTZO4NxVXLwM4eaHZsENrXcJICu24G46HPpVB21sHuJEVST3UTSCPOFlZnCMD6gAY6eKrK6tlwphCxyRkmMgYXcYKMF5ow2I9AeYFERkeUyyKE8AjVFbX9YszFsDmdIA8hXJcXpyoNweJdjitJKazyKv9nnEQNdryC6pIwdiFLfvYyp3Uq5Bx5PWj7R8QNvbSyj2lGEzv43IRNvvMPzrI8VHeXaSWwCS25OqXpI5XSIGx7Qwd26bDfen9p+NfS4Ye5imZNXeSYjLBWTIVNsl8Nk5XI8Oc8q0be9p1YpyxH5kVW2lB7LKKThbQxyObpZZlcBgW1ThZCWMjd3nws2oeIDpjbarhOJWC7r39u3Rwk6n3ciCPQiqCOdWOAdxzB2YdN1O4rqBVuVpCo9cZPfsIqzisNI0cPFrdt/6SkU/wB40UR/A8S5Hvpx4uCrEcSt2A+zFG7+5VEniJ22A3rMSEAEtgADJLcgBuTU7gtgC30iVQMZEQYYKg51SsOhI2Hku+2SKq3X+2hq1v2XcsUIqvLTpXzJV6GMEj3LfvZImj2GAgcYEaIpPiJK5xnLegFR7jhMtzO1xEq/woYysuuIqwUl1B0kZBwDt8dqitHNfyZjRhCjeB31xR5G3elhhnPPSF2xvkZFae04MY0Ctc3Tnqe9IHuUHJUDyz8ayZXitn5k5ep9OeC3KCn6IrZfkg8EtmtFJmglaZ/akiHfLgbhEC+JFHPcDJ3qx/piIe2ZI/8AFikjH4mXH508W0i+xcS48pdMv+YjUPnSd9dLyeGQfZdGj/zqWx+GsuvUtbieupN5f77EsIygsJEmK5RgCrowPVWU/oa6g1UT4f8Ai8Pic+YaFwfi4U/lXEw2/wDyt1BjrCSo+AhlOfw1ErKjL4Kif2/UbXLqi+1VU3VsIgxRNcL/AMaDGQQdy8a9GHVRz6b8+BkhXleXMf8AiJqx7zJET8zXTvxgMl9bMP7zQPzRxg/CpaVnc0Z6qck/YVzi+Ysc4jCssne2z4VXJy0TZwFdjuVz4ctupGDnO1ooqkME6s0ixQXEMgInSCTV3i4wGWNl3kAGMavEPUCpUE3cKpL95atjRKT4kB9lZT1XkA/Po2+55e2DmvNgsPqgp1cbMsiKp73g8Nw10ZV1MsCFfIZ73ofcD8qsr65EcbueSKzn+UE/6Vxk4K8cakSzLI6hpO7PtSHOSQfLOAOgAFPwG3cqzqPktvuR3lTEUhbCTVFGR1RCOWN1B6V1YVFEHcSoo9iVCfdLHjUfIa1Oceak9ammsm+tnbVnCX7yWqFVTimRiN603Z2bMeD9U4+B3rNPWg7MwkKzdGOB8Ks8Bcld4XLDyLfJeVuXRNFLiivaMxMGS/aPH/8ArK2fZkB9+QRXnhAYYIBB6EZFan9q1+Q0EI5YaQ+/Olf/AJVjkl0hSfZyNR+yMHf03xv616rh1LFqnLk2/sYl3PVcYXTBa21xMgxHMwA+q47xcDyz4h8Gq34LxkzF1IXVHjLRklDkkYyfZbb2cmqeaFT3esFotWZAgLEjSdIOncrqK5Aq7sr63ICxSRbbBFKrgeQTbHyrwniunbwlppUMSe+tbL8HoOESqSWZVNuxZiSq/il+4YRREB2XUzncRpnTkDqx3wPQnpu17OQnHfuFPPSiq3uDdB+dMbhA1axLMr4wWLB8qNwCGBBwSTnGd68lbulCeZyz7YfP3NuSb6ESC01kW0eVRVzI2dwjEjAI5yOQ+/QajzIzpUiCgKMBVGABsAByAFQuHWqwghSzMx1O7nLMeQJPoMAAcgKlmSnubuNR4XL97hht5Od5Yxy/xUSTH21DfImoY7O2pP8A4eLPouP0qXcXQQAlXbJwAilj+XL3mosl6zqwWGYZBXJ0JgkY2y+T8K5RlV5qTS+eP6kcox6r8FBxKytXkVYoY9ETBmfHtOvsxqeoBGSfMAb74seGW/0uQq28Eft45SOT4YyeqgeJgPMDzFVtvwu4KrF3ZjIULrJUomBgsuCSx6gY5862VlEsMaxpsqjA9fU+pO5PU1pTuNPOWei3z9R5KMIaafN82SpD/wDf9q4mgy00vWZUqqT3EjFoDXPFPLUmarvDJEIEp2igGhmpkktweQ38/wBa5/RkJyUQk9Sq5+eKC9Gql83HJg4ZKufhGWLdzZ89sxtqx561xg/CudnZTQaliFuIXBzF4yqsc5dc+ed15H03zclq4yZwcYz0zyz0zirUeJ1YfCJ5EWV/E4dFoYxuFREyeqgqpz7xWv4xAjaSyhtJyCc7cvnyrHXdpPIjRl4QGUjUImzuOi68bc85q3bic5UBlhc9WDPHn104bHzrU4XfUKEJKtJZbz1KtzRnJpxXJHDjXtW5zylI/FG4/UCnFq43AklKa9ChGD4TUxJAIHiOMDfyNdaz+M3NKvWUqTzsT2dOUI4l3ObVquASAwqPs5B+eayrVoey6nS56E/oKfgE2rrC6pjX8U6Wfcu8UUtFe1eOxiHl/wC1pcTW7f2GHyYH/WsxZS1qP2uxnvLdt8aXX45BrCwz4r2vDY67OP1/mebvJabiRpbTSvsjGfI7fLkKW9mUjxrrH3dePhzqnjvK7C7pp23TAKsTrLiDrtC2V+xKrkD7pJBX3bipsfHJQfFErD+7fDfAOAD86pvpNdknrDuvDNhXblOmk31WxfpcWuKe0Zbe+5pbLiccuythhzR/C4/lJ3942qZvWTfQ4w6qw/tAN+tNS1jX2A0f+G7J/wBJry9z4Hep+TU291/VGxS8QLH+pH7Gu10uqswl9KnsuJB9mXn8JFGR8QalQce/rIWUecbd7j3rgH5CsG58McRt8+jUl1jv/c0aPFbWp/2w/c0Akpwkqqg4zA5wsqA/ZY6G/C2DUxJQeRB9xz+lYk6dantKLXzReThLdNErVSq1Rw1KHqvqY+kk5oqP3lOD1IpC6TuKRq5h6XXQ5bYOYExSqKTVSaqQYeaSm66QtQ2cwONNpC1JqpBsCk0maaWpCaMM7gStX2f/AII2xufjvWVUfM8vWtnwy30RIp5gfrvXofD1OTryl0S/QocQktCiSqKMUV7IyCDxfhMVzH3cy6l5+RBHUEcq8V7T8BezlKNkoSSj42Zem/mOVe84rnPbo40uqsD0YAj5Gr9jfztZbbrsU7qzjXXZnznmlEvrXv8Ab8CtkOpIIlPmFGaff8LhmUrJGjD1H+taz4/HPwbfMo/wqWPiPAhIacLjH/evZh2Ksv6hfm3+9WNjwK3h3jhjU+YUZ+dNPjtLG0GLHhdTO8keGC8x/wB6cL/1/Ovfnt0YYKqQehAIqI3A7Y7mCL8C/wC1QrjcetP8/wBiR8Ml0keGi/6Z/wB/lXX6Zjnke8Y/WvdIeHxJ7EaL7lA/QU+e1Rxh0Vh5MAf1pXxqOf8Aj/P9hv4bLHxfg8Ke5B5gH37/AK0lvc926yIACp3AOnWu+UJxy3zv5CvYX7KWfM20X4ab/wDill/y0X4ajr39pXpunUpvDWHyO0rO4pyUozW3zMNB2jt2G7mM+UgK4/mGVPzqzglVxqRg6+akMPmDWhn7HWbf8EL9wsn6GnWXZC0iJZIsMdi2TqI8ia8LeeHrZxcrack+ikl/NfoehocRrp4qxXzRQYorW/0PDy0/maZ/QcPkfmayn4eue6Li4hT7MymaWtYODQ/Z/M008Ci/tfOh+HrpdV9w/iFLszKZpc1sIuFRD6gPv3pknCIm+rj3Eim/y9X051LP1D+Iw7MyRNJmtYOCQ/ZPzNd14bFj+Gvyoj4drvnJfkHxGn2ZjaQmtZNwWJjnGPunFdbbhkSclBPmdzRHw9X1YcljucfEYY5GOIp0cZY4AyfKts9lG25RT8KdFaou6qB7hU8fDs9W81j5biPiO3Lcr+FcKEYy27/p7qtRRilFekt7eFCChBYRmznKctUgoooqcU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86" name="AutoShape 14" descr="Image result for cartoon of polar bear in trop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88" name="AutoShape 16" descr="Image result for cartoon of polar bear in trop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90" name="AutoShape 18" descr="Image result for cartoon of polar bear in trop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 descr="Image result for images of a green blo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2" name="AutoShape 4" descr="Image result for images of a green blo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4" name="AutoShape 6" descr="Image result for images of a green blo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60" name="AutoShape 12" descr="Image result for images of green penni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62" name="AutoShape 14" descr="Image result for images of green penni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64" name="AutoShape 16" descr="Image result for images of green penni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66" name="AutoShape 18" descr="Image result for images of green penni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68" name="AutoShape 20" descr="Image result for images of green penni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78" name="AutoShape 2" descr="Image result for cartoon of elephant brushing teet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74" name="AutoShape 2" descr="Polar Bear Cubs And Moth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76" name="AutoShape 4" descr="Polar Bear Cubs And Moth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80" name="AutoShape 8" descr="data:image/jpeg;base64,/9j/4AAQSkZJRgABAQAAAQABAAD/2wCEAAkGBxQSEhQUEhQUFBQUGBgWGBgUFxgUFxcYFRcXFhYXFxUYHCggGBwlGxYVITEhJSosLi4uGiAzODMsNygtLisBCgoKDg0OGxAQGywkICQsLCwsLSwsLCwsLCwsLCwsLC0sLCwsLCwsLCwsLCwsLCwsLCwsLCwsLCwsLCwsLCwsLP/AABEIAN4A4wMBIgACEQEDEQH/xAAcAAABBQEBAQAAAAAAAAAAAAAAAQIEBQYDBwj/xABHEAACAQMCAwUEBwQIBAYDAAABAgMABBESIQUxQQYTIlFhMnGBkRRCUnKSobEHIzOCFVNiY3OiwdFDVLLxNESjs8LwFiST/8QAGgEAAgMBAQAAAAAAAAAAAAAAAAIDBAUBBv/EADURAAIBAwIEBAUCBAcAAAAAAAABAgMEERIhBTFBUQYTImEycYGRodHwFbHB4RQWIyQzQmL/2gAMAwEAAhEDEQA/APcaKKKACiiigAooooAKKKQmgBaKj3l6kSl5XVFHNnYKPmapX7QvLtawM4/rJiYI/eAVLv8ABcHzpJ1YQWZPB1LJoTUO24pFJJJErgvFs4wRjlyJGG5jOM4Ox3qpZLpwS9wkY8oYh4f55S2fwisHcXrm4eS2mlZcEaiyxiVjoDupVDhD3Y5DBOT74I3dKb9O5LTt6lR4gsnr2aM15nb8cuB/Elu0H9gW9wv/ALQk/Krvh/E5pRmC8ikxzDwguPRgrqV+Iod3Tj8WV9P0EqU50361g2VFZuPjdwn8W3WQfat3yfjHKF/JjUu37T27NpZzE+cBZ1aEnp4dYAb4E1JTuKVT4ZJkeUXNFMEgO4xg8qcDUx0WiiigAooooAKKKKACiiigAooooAKKKKACiiigAooooAKKQmqbiXGtL9zAvfT9VBwkf9qZ/qD09o9B1pZSUVlgWN7epCpeV1RBzZjgb+p/SqWXidxcbW6mGP8Arpl8ZHUxQHf3F8e40+14T4xLcN30w5EjEceekUZzp+9ux8+lWeKza96+VP7kkYdyqt+CRBg7hppR/wASY94wPUrnZPcoAqw011qo7RcWFtCXAzIx0Rr9qRs4z6Dck+QrJlGVSe7yyWK6Izna7irSu1rFsi7TsObZ/wCCp6be0fIgdaqY4MD/AEp1hb6QBnJOWZjzZmOWY+pYk/GpZWtWnTUFhHpLakqMNPXqcVfao92isQx2YcmBKsvuYbipLJUO8BpmWVTjPZk6x7RTx7Pi4X1wk34hhH+IX31pbG+hukOghgNnRx4lPk6Hl+YPnWBgBzUxYjkOrFHX2XU4PuPRl/snIqnVtYVN1s/YzL7gtN+qls+xsBwgR727vbnyiPgPvibKfkD61Kh43cRbTxCVft2/tD1aFzn8Jb3VV8C493jCKYBJt8YzolA3JTPI4ySp3GCdwM1ec6qq5ubZ6W8/Pf7HmqkZ0paZLDLDhvE4511ROGA2PMMp8mUjKn0IqdWQu+HBm7xS0co2EkZ0vjyPR19GBHpXW345JAcXQ1p/Xxqdv8WIZ0feXK9SFrVteKUqz0y2kcU0zVUVxgmVlDKQykAggggg8iCOddRWoOLRRRQAUUUUAFFFFABRRRQAUUUUAFITS1nOK3DXMptY2Kxr/wCIdSQQG9mFGHJmG7EbqvkWGFnNRWWdSC/4g9y5htmKIjYmnXpjnFCTsXzsW+ruOfKdY2McKaIlCKN8DfJPMkndiepOSa6W9usaqiKFVRhVUYAA6AdK6AViXNaVSXsSxikAoY0uKY1VpS0oYYTXnfHOIfSbttJzHBmNPIsD+9cfHCZ/snzrT9suJG3tmKHEkh7pPRnzlv5VDN8KxvCbcKoA5AAD4U9nBv1v6Gtw231N1X05fMsYxihnrnI+Kjl81ovY11DJJ1ikdARUQmuyPtXMjuGCO8eDTlkpJTmo77UucEqWeZ0uCGG+eYIIOCCNwVI5EedaDs72hLMsM5/eHZJNgJcdCB7MmOg2O5HlWRkmrk8oYYOfhzBzkEHoQcEH0qGrTjVjpkVr7hcbiH/roz1nFcZUqm7J8d79NEh/fR7N01r9WQD1HPyOfSr2WsGvS0vD5o8NWoypzcJLdFOkUluxa1IXJJaFjiJyeZGN4mPmux6g8603BuMJcJlAysp0ujYDxtjOGA9CCCNiNxWZu+IRhtC5kk/q4gZH+IXZR6sQKm8F4HL3y3M/7plBVYoznKnpO49vBJIA2B863OE1rmS0zT093+9xKUp5w+RqqWkFLW6WAooooAKKKKACiiigApDS0UAVHaLiDQx+AoHYhVLsFRNW3eNk7hc8upwOtJwuyWGNUTLc2ZjuzsxyzsepJ3+NSb3g8UsiSSIGaMELnJAyQd1zg7gEZG1R5OAoN4He3PlHgoffG4K/IA1UuaM6i9LGi8Eomm5qE1ndIPC8M3+IpiP4kyP8tcmmuRztgfPRMrH+UMFz8cVk1bW4XT7Eqkix1Uhaqt+KH/l7rPl3X+udP51yn40iDMqTxjGTrhkwB1yyggfOqVSFwttD+w2Y9zJdur7vLpYx7MC8v7yXc59QgH4jUOC4wK5qhnllkVJZDLI7+CGUjGSqjVpxsqqOfMGul1bMmzRTqfIwyfqqkVsQpyjBJI9NaVbenRjByWeb36sc82aYZcVFihlY4SG4byxDIPzZQK6Pwm8P/lLj8K/6vT6J9i1/iLZbOpH7itdimG8FVULu90LMRMLgnGiQqgB0692yfq77ZrTjsHfYzi1Hp3r/AKiKhUqnY5K/so85r6FQbunNcgiru1/Z7dt7clvH93XL+oWrm0/ZpGN5biZ/RNMS/MAt+dMrecuZBU4xaR+HLPPppAMkkAeZIA+Zp1nE8xxDFLLnrGjFfxkBfzr13hvZCzgwUgQsPrSZlf8AG+TV2EqVWi6soVvEM3tTil8zyPhfCby2dZ3gEa7oTNIqAB/Mxh8LkDfFbDhXCDdxpLNMzRuAwjhDwJg/bOdb9eoHpWr7ulC0ys6KlrccsxLm4ncVPMnjJHsOHxwroijSNfJFCj4451Kooq0iAKKKKACiiigAooooAKKKKACiiigAooooAKTFLRQA3Fcb21WVGjfOlwVOCVOD5EbipFFAEaytEijWOMYVBgDOfmTzPrXcCnUUANNGKdRXAPOOO8GjXiE13pHeQm0mB66C7Ry4/lVq9ENZftXb5lwP/MWs8J+8gDx/9Unzq+4bcCSGJwch0RvflQaZtvAqOMvGrdZhA00QmO4jZ1DnOceHn0NWS1869nL8Sd/38BuLq7YhRnxCQnkPLGPgFr2PhXDbuKGJfpZaRUQOJkWRNQA1aWXS+PIlj8ajpy1ZwXLm28hRy92k/uaiivLu0/ayZJ2hlkNv3QQn6OxbWXGoNrZAQvIaccwc5q34J+0KDu4/pbmNm1ASFQI30Np15BOjOOoAznGQKbJWxtk3VFVUvHIlbBJwQhVhgq4dlQFGBOrDMoPlkVa104FFFJQAtFJmkJoAdRWX7R9sIrY6VxK43fDqqxjOPG5yFJIYBeZwegNZiT9pspyVtl09MtJtnkSwTB9w+dRyqwjzYjmk8M9PorMdju1iXqsDhJUJyuThgMeNCRuNxkcx15itMKdNPdDJ5WULRRRXToUUUUAFFFFABRRRQAUUUUAFFFQuJ8RS3jMkraUXrz3OwAA3JJ6CuN4Am01nA5++qThXaq3uG0Ix1HkCOfM4BBIzgE4zmqXjxmvL9bVXCW0cbNNtlnbEZUAcsASKd8jJ3BwKIyUllAXXaQAG2m6RzqDj7MwaDJ9MyKfhS9kSfoyoecTyxe4RTOij8IWo/aiFYbBokViMRxJvnSSyrGzFjkgNpJPOq/hXGHgnk+kRrBFOXkVmcHQ6JEGB9GwWz0Jxvmm6HOpPt7CK2u3PdxqbnxJIFAbWB44iR5hQ48/H5VeYpt3bJPGVcalYAjB9cqysORBwQR5CqcX7W5CXTDTySc7K/kJeiSdPstzGPZoiEtw452Ytbwq1xEHZdgcspK5zpOkjUuehryXjPCry2nePuiVldivdRkrICfAE0jAwpVdJ5Y+J9uzn3dMf71xvLpYkZ3OFUEn4dAOpzt8RXZQTORm4s8r4LZC2ih78z200EkkpizpiKOclRqBUOowwONJIxk7EeyJIMD9TjesvHxCK5YW1xGEmMffdyzBnVM6QwZeTc+W9VJS4jC2LSExnWS+gAtACDpR1OA3iVCuNgSRzFLP0rJ2L1PBrI+0tszhBJuW0g6X0FuWkS40E89gelUH7R+NzwJElvs05ZS+2pQq52zy+8QceWTXCaLvnW2iHIxtJp9mKNGDb+THTpVfUnkN9RxjgMF0F79NWgnGGZeeNSnSdwcDIPPFQQnKpFvkSVoadkzyGwgnkKyM9y5GyyaJXVFJwZVkZidOrqpyfLFaWHtbNGjIWDd54EmlJXu2GoOxQgPpAwQp3yy8wc16JM8cMZJ0xxxr6Kqqo+QAFeV9u4nu5Injt0Ul9ARlKzzFgO77w48MZAY9SApyRutdhDT1IVHB14D2f+kOok0xCIRk7r3gGgMAAR/EYYZ3O4zgedbaHsbZBcGBJCc5eQa3OrmS53z5eXSsJfdiZ4ldygk5y/umRiCAdesyIC+RjSN+WPWuv7PO1RinW0kkDwtqMbbEqzsCqeHkPERvywvniuZSlhoXKTwzU8A7HG1u2lSQGIqygMC0ni0nBc8wCOfPGPKteBQKWpYxUVhEiWAooopjoUUUUAFFFFABRRRQAUUUUAFZTt/w+SWFCilxGxZlAzsUZQ2n6wBIyBvgnG9aumtSTjqjgDyjsnwQ3crzGWeB7eSMgPGoyP4gUZAIjBBAG2ATWq4SEt7uUyXCuZkVgzlFy+tgyrjyAj28gKzfHbAgNlQ0ltiS6eSfV366WCFY2JydyQCAFwVGc1xhCo8yqsah43UsVGlEk+jCSTT10qrtjaoINU5qkl0zkm8vNPzM9cYPQu1FuXs7gKMt3bMv3kGpP8yis32z4eLy3g8egGWPxjcgTI0Y/zPH8gelbSOMBAuSQFC5O5IxjJPWsesRbhzxjCyQBogXIVQ9s+IyzHYZ0Icnzq4uTK76Gr4RbGKGKNjqZEVCeWdKhc4+FVV/J9KlESYMUUgaZzuCyHKwr0Y5wW6ADHM7JJeteELbsyQfXnGQX/u4D1HnINgNlyd1tra1SJAkahVUYAHT/AL9a4jpWNwCFf4YeLHSGR4l3/sKdP5VxfhcKfvZGkfu8vqmkaRU0jJYK3hBAB3xkVcSNWe7Q3KZVJP4SgzzdcxxMuiPH1u8kIAX62lhTvZZE5vBWX1nG7rezQhrmZRDbJlo3SPd9cjqcg4yxP1QQo3J1AgkUoiyPcXci6VeU5VFBBkk0gAKinBxzYgDNLLcNqa4mUmWTCJGNzGpPhhTzZiNTHqfRRWm7PcI7kM8mGnl9thuFA9mJCfqLk+85PWqKk60sL4V+S5oVKO/N/gl8H4alvGI0ztuzHdnY+07HqSamE07FUHaa7yY7VW0tcZ1HOCsKbyFeuWyqDHLVnpVh4islfmV83EVuJgXyLZG/c5HgmkU4MhOeQI8AOAd232xM4NCJ7h7lhlYtUEPwP7+QZ83Gj3R+tceNHRD3carl9MMakZUFyEXw9VUeLA+zWg4dZrDGkaeygCj3AYyfWqtCTqSc38iSawsEgCvGuI8LkXjwWJSczRzDC7BWVDISeWkBGGfM17NimhPdVqUc4IZR1YHLS0UUwwUUUUAFFFFABRRRQAUUUUAFFFV/FOJrFpUAySucJGmNTeZOdlUdWOAKAJ5NV11xyBG0NIpf7C+N/wAC5NRl4bLNvdSHSf8AgwZRB6PJ7cn+UHfarG1tUiXTGioo+qgCj5CgDyftNIhaNFKsBJJPqZAszl2BCsWbJwHzuB7A8qseBGR7iJ4o1cYZTrbAH7twSzIrqBuFwdyelekxwqo8Kqu+fCANzzO1Nm1YOnGcHGc4z05etR+RF1PM64wSedLy/L6ZyYqV7iN+4W9hthsAhkWZkBOyL3kAI9NTeVTezvA4HkeR52u5FO+tj3anPtCHOnOV2Y55HBG9c+zYaR5DL3gLllnSRoTHLKoCOEiALBRjAORkAZzzqwkRLSSEgCO3SE24I2WPdWTUeiYUgMeR+9UpCaEgVzdqrLHijTM+mMiEAaJWOnvG31aYyM6RthuR3xUt3pooVyGzSY3JwBuSegG5rGvKtxK1y20Sgd3k4DiMuwnYdB4iVHkdRGcYl8WufpLvCCe4jOmXH/FfmYs/YXbV5k46NnMcduGu5Vs4Nw7hGYci3Nx6pGoLN5kBfMVVr1HUl5UPqy1RpqEfNn9DXdiI1ugL0g6SXW3B6RqdBlx9pypx5LjHtHOyFRrC0WKNI0GEjUKo9FGBUkVJGKisIilJyeWBrLcOjS5ae4cLIJHMSZAYCOAlQMeshlf3MtXHaK9MFtNKvtJGxX72MLt97FVlvwMW6xiDCsiorD6koVQuXA+ttkON9t8ikrP0nY8zhbWCfTYkQELEjzMoJ0hie6iIXOFODNy8q1YFUXAY8z3cvm6Qj7sKZPuw8sgq9zRRjpgkE3li0U3NDHHPapRR1FRxdJ0dfgwNd1ORQpJvAC0UUV0AooooAKKKKACkzUHi3ERCo2Lu50oi83Y749BgEknYAVBThzy+K4kZv7uMmOJfTbDP5ZY4PkK7g5km8Y4mII9WCzsQkaDYvI2dKj5Ek9ACelcOEcN7vLyEPPJjvJPPH1E+zGOij1J3Jqrs+FwrfFo4kQQQ8wMfvJick+oSPH8586nz8Sd5GitlVym0kjkiONvsbbyN6A7Z3I5UYDJcg0maqDZ3De1dFf8ACijUf+prNc5ra6Cnu7hGOR/GhBOM7jVGVAyNs6aMHGy6LUxmpuo9ah8S4lHCuqVgozgbFmJ54VFBLH0ANd5czhAFsn9IFgiB1twSwADMZZCNyNzgQ4+NXJrJSdoMXEc3cyrFoaOR2C6gCwZGEYYuQDnO2QGz6VbSdprQDP0iI+itrb8Kgt8MUsakH1Q0oTXQszWY7V8ZZNMMH8R2RWcHSIlkbSPH9VmOw2JG5xtgun7TGTa3iYj7cwKL7xF7bfEL76zr2Phb6TdEhyWk06ItZbAOstljsAAAQAAMVDWu4JaYvLJ6VpNvVJYRH4pxbuYzbqBBIuQ+TlY03zKGb29RzpJ3znPI0/sNayb3EEluMqETUpmeOMnJLAOArOcE9TgZpUkslKvnvmGI1c95dMDkAIJPEF3wNyN6tOFMTcktGYCkZARgFeVXK+Pw+HSunGMkgscgbZzalw6dJ+Wsd33LU6eqS1NP2Lzv7z/mI/8A+G3/ALlOTiN4nMW8w/ngP/zFPV6XNZ0eJV1vqOu3h2IXHuLNLD3bwTRani1MmmVQgkUuQyEn2QdyoqdZM0gDQ3izR53JWN/eC0enB94oDVB4nweC4B71ASwwWXKORnOCy7kZ6HIq2uJal619iJ2+ORz7O9o4ltwI1eeV5JnZYhkAyTO3jkYhFwCOuduVS5Ly8k+vFbr5IO+f8b4UH+U1D7qeIAIVmjUYAf8AdSADprUaDt0Kr76fBxaMkI2qKT7Eo0k/dbdX/lJpa/EKrWYbL25hGjHO45+Hs+8txcyenemIfhhC1z/oa36xBvvs0n/WTUtpK4SSVk1eIVOsmW40I9hsNtFFnu444889Cquffgb1p+DtmFD6H9TWRLk1s7GHRGq+Qq5wGc6lac3yxj8kV7FRikSKKKK9UZoUUUUAFIxpaw3HLUz3csewGIly8pUq4OtGWD2ZomzpZSd9JG9AF2jd5eSNzEMaIvo0uXc/FRFvUy/vVhRpG1EDAwoyxLMFVQOpLEAVD4VwxbczaMASuHAGcLiNEIGTsMqSANgDioPaXh7zaNOtkTJKRyd0+rKtHIpzpcoUzofY59MU6WxG3uRv6XRfpJilT6RO6LHE20kbaUgHeRnfwtqby046GtHw6zWCNIkzpQYydyT1Zj1YnJJ8zVLZ8Pjm7q4yS7NHPkqBlkiaLOn6p0sQd/q1el67pDJ1JpjGufec8dNj8s01nPrTKIrZ1LVQ8f4fI8scsSo5VWTS793p1FTqVtLDpgjHlvVs0tc2lonSU1hhGo4vKM5Nwu5KMzNBDpUtsHuDsM8yYxVGqgLJ3krvKRH3cSYiBLxLIzMygsqKW3bPkOZFabtZxUQ20pOSzxyBFX2iQhJI8go3J6e8gHL8SuEglmdh4isCKF9t8RDSi/HJ9OZ2FZlzSp0V6I5Zo21SpWfrlhEK8ijgjUNruJW2Akkc625lipYqqDmfTluag8M4QZJe7iVO9bDSSBFCxLy1aQNvJU64yc7mliid3XYSXEp0gclGPEQNvDGo3J5+8kVvuCcNW2iCDxMTqkc7F3PNsdB0A6ACoa1VcPp+p5qS/COyl/iZ+naK/J1teGxxwiBUBiC6SrAMGB9otn2iTuc86qruBYgFmL90pzFOCddvn6rvuQnIazkEbPsN71pK5sc+orz1O8cJ5555+5a8rKIlncur9zMQW5xuBpEyc+XIOvUDmMEbHaexqiuLbul0lWktc6tK572AjfVEw3Kjc45r0yNhIt7pk0LI4kSTHdTDGJM8lfT4Q/kRs3TB2qW4oqcPOo8uq7BCWHpZZh6cJKjaqNVZPnNE+nJJaSo1yquul1V1P1WAYH4GkJqFxa67qJnJ040jUd9Op1XVg7HGc/Cmg6lSajDm2clFRWWSYIwoCrkAcgSW+GSeVLIKruzE7yQB5GLaiShbGSnQnAxzzVnIajr03CbjJ5wx6cspNEY1seFXJeJWPPkfhtWOc1seEoBCgHln571teH9SrSS5Y/qVuIY0LvkmUUZor1pki0VV8e4ytpF3rq7jIXTHpLHP3mA/Os4e36uypFBKJHIVDMUSPUd/EyuxxgHkN9h1ptEtDnjZdRNcdWnO5t6r+JWUMgIlVNwVy2AQD9ljuPhVDJ37/wAW6ceawKsI/EQzj4MKjrwe2HOJHP2pcysfXVIScmsmpxahHluWlbTZO4NxVXLwM4eaHZsENrXcJICu24G46HPpVB21sHuJEVST3UTSCPOFlZnCMD6gAY6eKrK6tlwphCxyRkmMgYXcYKMF5ow2I9AeYFERkeUyyKE8AjVFbX9YszFsDmdIA8hXJcXpyoNweJdjitJKazyKv9nnEQNdryC6pIwdiFLfvYyp3Uq5Bx5PWj7R8QNvbSyj2lGEzv43IRNvvMPzrI8VHeXaSWwCS25OqXpI5XSIGx7Qwd26bDfen9p+NfS4Ye5imZNXeSYjLBWTIVNsl8Nk5XI8Oc8q0be9p1YpyxH5kVW2lB7LKKThbQxyObpZZlcBgW1ThZCWMjd3nws2oeIDpjbarhOJWC7r39u3Rwk6n3ciCPQiqCOdWOAdxzB2YdN1O4rqBVuVpCo9cZPfsIqzisNI0cPFrdt/6SkU/wB40UR/A8S5Hvpx4uCrEcSt2A+zFG7+5VEniJ22A3rMSEAEtgADJLcgBuTU7gtgC30iVQMZEQYYKg51SsOhI2Hku+2SKq3X+2hq1v2XcsUIqvLTpXzJV6GMEj3LfvZImj2GAgcYEaIpPiJK5xnLegFR7jhMtzO1xEq/woYysuuIqwUl1B0kZBwDt8dqitHNfyZjRhCjeB31xR5G3elhhnPPSF2xvkZFae04MY0Ctc3Tnqe9IHuUHJUDyz8ayZXitn5k5ep9OeC3KCn6IrZfkg8EtmtFJmglaZ/akiHfLgbhEC+JFHPcDJ3qx/piIe2ZI/8AFikjH4mXH508W0i+xcS48pdMv+YjUPnSd9dLyeGQfZdGj/zqWx+GsuvUtbieupN5f77EsIygsJEmK5RgCrowPVWU/oa6g1UT4f8Ai8Pic+YaFwfi4U/lXEw2/wDyt1BjrCSo+AhlOfw1ErKjL4Kif2/UbXLqi+1VU3VsIgxRNcL/AMaDGQQdy8a9GHVRz6b8+BkhXleXMf8AiJqx7zJET8zXTvxgMl9bMP7zQPzRxg/CpaVnc0Z6qck/YVzi+Ysc4jCssne2z4VXJy0TZwFdjuVz4ctupGDnO1ooqkME6s0ixQXEMgInSCTV3i4wGWNl3kAGMavEPUCpUE3cKpL95atjRKT4kB9lZT1XkA/Po2+55e2DmvNgsPqgp1cbMsiKp73g8Nw10ZV1MsCFfIZ73ofcD8qsr65EcbueSKzn+UE/6Vxk4K8cakSzLI6hpO7PtSHOSQfLOAOgAFPwG3cqzqPktvuR3lTEUhbCTVFGR1RCOWN1B6V1YVFEHcSoo9iVCfdLHjUfIa1Oceak9ammsm+tnbVnCX7yWqFVTimRiN603Z2bMeD9U4+B3rNPWg7MwkKzdGOB8Ks8Bcld4XLDyLfJeVuXRNFLiivaMxMGS/aPH/8ArK2fZkB9+QRXnhAYYIBB6EZFan9q1+Q0EI5YaQ+/Olf/AJVjkl0hSfZyNR+yMHf03xv616rh1LFqnLk2/sYl3PVcYXTBa21xMgxHMwA+q47xcDyz4h8Gq34LxkzF1IXVHjLRklDkkYyfZbb2cmqeaFT3esFotWZAgLEjSdIOncrqK5Aq7sr63ICxSRbbBFKrgeQTbHyrwniunbwlppUMSe+tbL8HoOESqSWZVNuxZiSq/il+4YRREB2XUzncRpnTkDqx3wPQnpu17OQnHfuFPPSiq3uDdB+dMbhA1axLMr4wWLB8qNwCGBBwSTnGd68lbulCeZyz7YfP3NuSb6ESC01kW0eVRVzI2dwjEjAI5yOQ+/QajzIzpUiCgKMBVGABsAByAFQuHWqwghSzMx1O7nLMeQJPoMAAcgKlmSnubuNR4XL97hht5Od5Yxy/xUSTH21DfImoY7O2pP8A4eLPouP0qXcXQQAlXbJwAilj+XL3mosl6zqwWGYZBXJ0JgkY2y+T8K5RlV5qTS+eP6kcox6r8FBxKytXkVYoY9ETBmfHtOvsxqeoBGSfMAb74seGW/0uQq28Eft45SOT4YyeqgeJgPMDzFVtvwu4KrF3ZjIULrJUomBgsuCSx6gY5862VlEsMaxpsqjA9fU+pO5PU1pTuNPOWei3z9R5KMIaafN82SpD/wDf9q4mgy00vWZUqqT3EjFoDXPFPLUmarvDJEIEp2igGhmpkktweQ38/wBa5/RkJyUQk9Sq5+eKC9Gql83HJg4ZKufhGWLdzZ89sxtqx561xg/CudnZTQaliFuIXBzF4yqsc5dc+ed15H03zclq4yZwcYz0zyz0zirUeJ1YfCJ5EWV/E4dFoYxuFREyeqgqpz7xWv4xAjaSyhtJyCc7cvnyrHXdpPIjRl4QGUjUImzuOi68bc85q3bic5UBlhc9WDPHn104bHzrU4XfUKEJKtJZbz1KtzRnJpxXJHDjXtW5zylI/FG4/UCnFq43AklKa9ChGD4TUxJAIHiOMDfyNdaz+M3NKvWUqTzsT2dOUI4l3ObVquASAwqPs5B+eayrVoey6nS56E/oKfgE2rrC6pjX8U6Wfcu8UUtFe1eOxiHl/wC1pcTW7f2GHyYH/WsxZS1qP2uxnvLdt8aXX45BrCwz4r2vDY67OP1/mebvJabiRpbTSvsjGfI7fLkKW9mUjxrrH3dePhzqnjvK7C7pp23TAKsTrLiDrtC2V+xKrkD7pJBX3bipsfHJQfFErD+7fDfAOAD86pvpNdknrDuvDNhXblOmk31WxfpcWuKe0Zbe+5pbLiccuythhzR/C4/lJ3942qZvWTfQ4w6qw/tAN+tNS1jX2A0f+G7J/wBJry9z4Hep+TU291/VGxS8QLH+pH7Gu10uqswl9KnsuJB9mXn8JFGR8QalQce/rIWUecbd7j3rgH5CsG58McRt8+jUl1jv/c0aPFbWp/2w/c0Akpwkqqg4zA5wsqA/ZY6G/C2DUxJQeRB9xz+lYk6dantKLXzReThLdNErVSq1Rw1KHqvqY+kk5oqP3lOD1IpC6TuKRq5h6XXQ5bYOYExSqKTVSaqQYeaSm66QtQ2cwONNpC1JqpBsCk0maaWpCaMM7gStX2f/AII2xufjvWVUfM8vWtnwy30RIp5gfrvXofD1OTryl0S/QocQktCiSqKMUV7IyCDxfhMVzH3cy6l5+RBHUEcq8V7T8BezlKNkoSSj42Zem/mOVe84rnPbo40uqsD0YAj5Gr9jfztZbbrsU7qzjXXZnznmlEvrXv8Ab8CtkOpIIlPmFGaff8LhmUrJGjD1H+taz4/HPwbfMo/wqWPiPAhIacLjH/evZh2Ksv6hfm3+9WNjwK3h3jhjU+YUZ+dNPjtLG0GLHhdTO8keGC8x/wB6cL/1/Ovfnt0YYKqQehAIqI3A7Y7mCL8C/wC1QrjcetP8/wBiR8Ml0keGi/6Z/wB/lXX6Zjnke8Y/WvdIeHxJ7EaL7lA/QU+e1Rxh0Vh5MAf1pXxqOf8Aj/P9hv4bLHxfg8Ke5B5gH37/AK0lvc926yIACp3AOnWu+UJxy3zv5CvYX7KWfM20X4ab/wDill/y0X4ajr39pXpunUpvDWHyO0rO4pyUozW3zMNB2jt2G7mM+UgK4/mGVPzqzglVxqRg6+akMPmDWhn7HWbf8EL9wsn6GnWXZC0iJZIsMdi2TqI8ia8LeeHrZxcrack+ikl/NfoehocRrp4qxXzRQYorW/0PDy0/maZ/QcPkfmayn4eue6Li4hT7MymaWtYODQ/Z/M008Ci/tfOh+HrpdV9w/iFLszKZpc1sIuFRD6gPv3pknCIm+rj3Eim/y9X051LP1D+Iw7MyRNJmtYOCQ/ZPzNd14bFj+Gvyoj4drvnJfkHxGn2ZjaQmtZNwWJjnGPunFdbbhkSclBPmdzRHw9X1YcljucfEYY5GOIp0cZY4AyfKts9lG25RT8KdFaou6qB7hU8fDs9W81j5biPiO3Lcr+FcKEYy27/p7qtRRilFekt7eFCChBYRmznKctUgoooqcU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82" name="AutoShape 10" descr="data:image/jpeg;base64,/9j/4AAQSkZJRgABAQAAAQABAAD/2wCEAAkGBxQSEhQUEhQUFBQUGBgWGBgUFxgUFxcYFRcXFhYXFxUYHCggGBwlGxYVITEhJSosLi4uGiAzODMsNygtLisBCgoKDg0OGxAQGywkICQsLCwsLSwsLCwsLCwsLCwsLC0sLCwsLCwsLCwsLCwsLCwsLCwsLCwsLCwsLCwsLCwsLP/AABEIAN4A4wMBIgACEQEDEQH/xAAcAAABBQEBAQAAAAAAAAAAAAAAAQIEBQYDBwj/xABHEAACAQMCAwUEBwQIBAYDAAABAgMABBESIQUxQQYTIlFhMnGBkRRCUnKSobEHIzOCFVNiY3OiwdFDVLLxNESjs8LwFiST/8QAGgEAAgMBAQAAAAAAAAAAAAAAAAIDBAUBBv/EADURAAIBAwIEBAUCBAcAAAAAAAABAgMEERIhBTFBUQYTImEycYGRodHwFbHB4RQWIyQzQmL/2gAMAwEAAhEDEQA/APcaKKKACiiigAooooAKKKQmgBaKj3l6kSl5XVFHNnYKPmapX7QvLtawM4/rJiYI/eAVLv8ABcHzpJ1YQWZPB1LJoTUO24pFJJJErgvFs4wRjlyJGG5jOM4Ox3qpZLpwS9wkY8oYh4f55S2fwisHcXrm4eS2mlZcEaiyxiVjoDupVDhD3Y5DBOT74I3dKb9O5LTt6lR4gsnr2aM15nb8cuB/Elu0H9gW9wv/ALQk/Krvh/E5pRmC8ikxzDwguPRgrqV+Iod3Tj8WV9P0EqU50361g2VFZuPjdwn8W3WQfat3yfjHKF/JjUu37T27NpZzE+cBZ1aEnp4dYAb4E1JTuKVT4ZJkeUXNFMEgO4xg8qcDUx0WiiigAooooAKKKKACiiigAooooAKKKKACiiigAooooAKKQmqbiXGtL9zAvfT9VBwkf9qZ/qD09o9B1pZSUVlgWN7epCpeV1RBzZjgb+p/SqWXidxcbW6mGP8Arpl8ZHUxQHf3F8e40+14T4xLcN30w5EjEceekUZzp+9ux8+lWeKza96+VP7kkYdyqt+CRBg7hppR/wASY94wPUrnZPcoAqw011qo7RcWFtCXAzIx0Rr9qRs4z6Dck+QrJlGVSe7yyWK6Izna7irSu1rFsi7TsObZ/wCCp6be0fIgdaqY4MD/AEp1hb6QBnJOWZjzZmOWY+pYk/GpZWtWnTUFhHpLakqMNPXqcVfao92isQx2YcmBKsvuYbipLJUO8BpmWVTjPZk6x7RTx7Pi4X1wk34hhH+IX31pbG+hukOghgNnRx4lPk6Hl+YPnWBgBzUxYjkOrFHX2XU4PuPRl/snIqnVtYVN1s/YzL7gtN+qls+xsBwgR727vbnyiPgPvibKfkD61Kh43cRbTxCVft2/tD1aFzn8Jb3VV8C493jCKYBJt8YzolA3JTPI4ySp3GCdwM1ec6qq5ubZ6W8/Pf7HmqkZ0paZLDLDhvE4511ROGA2PMMp8mUjKn0IqdWQu+HBm7xS0co2EkZ0vjyPR19GBHpXW345JAcXQ1p/Xxqdv8WIZ0feXK9SFrVteKUqz0y2kcU0zVUVxgmVlDKQykAggggg8iCOddRWoOLRRRQAUUUUAFFFFABRRRQAUUUUAFITS1nOK3DXMptY2Kxr/wCIdSQQG9mFGHJmG7EbqvkWGFnNRWWdSC/4g9y5htmKIjYmnXpjnFCTsXzsW+ruOfKdY2McKaIlCKN8DfJPMkndiepOSa6W9usaqiKFVRhVUYAA6AdK6AViXNaVSXsSxikAoY0uKY1VpS0oYYTXnfHOIfSbttJzHBmNPIsD+9cfHCZ/snzrT9suJG3tmKHEkh7pPRnzlv5VDN8KxvCbcKoA5AAD4U9nBv1v6Gtw231N1X05fMsYxihnrnI+Kjl81ovY11DJJ1ikdARUQmuyPtXMjuGCO8eDTlkpJTmo77UucEqWeZ0uCGG+eYIIOCCNwVI5EedaDs72hLMsM5/eHZJNgJcdCB7MmOg2O5HlWRkmrk8oYYOfhzBzkEHoQcEH0qGrTjVjpkVr7hcbiH/roz1nFcZUqm7J8d79NEh/fR7N01r9WQD1HPyOfSr2WsGvS0vD5o8NWoypzcJLdFOkUluxa1IXJJaFjiJyeZGN4mPmux6g8603BuMJcJlAysp0ujYDxtjOGA9CCCNiNxWZu+IRhtC5kk/q4gZH+IXZR6sQKm8F4HL3y3M/7plBVYoznKnpO49vBJIA2B863OE1rmS0zT093+9xKUp5w+RqqWkFLW6WAooooAKKKKACiiigApDS0UAVHaLiDQx+AoHYhVLsFRNW3eNk7hc8upwOtJwuyWGNUTLc2ZjuzsxyzsepJ3+NSb3g8UsiSSIGaMELnJAyQd1zg7gEZG1R5OAoN4He3PlHgoffG4K/IA1UuaM6i9LGi8Eomm5qE1ndIPC8M3+IpiP4kyP8tcmmuRztgfPRMrH+UMFz8cVk1bW4XT7Eqkix1Uhaqt+KH/l7rPl3X+udP51yn40iDMqTxjGTrhkwB1yyggfOqVSFwttD+w2Y9zJdur7vLpYx7MC8v7yXc59QgH4jUOC4wK5qhnllkVJZDLI7+CGUjGSqjVpxsqqOfMGul1bMmzRTqfIwyfqqkVsQpyjBJI9NaVbenRjByWeb36sc82aYZcVFihlY4SG4byxDIPzZQK6Pwm8P/lLj8K/6vT6J9i1/iLZbOpH7itdimG8FVULu90LMRMLgnGiQqgB0692yfq77ZrTjsHfYzi1Hp3r/AKiKhUqnY5K/so85r6FQbunNcgiru1/Z7dt7clvH93XL+oWrm0/ZpGN5biZ/RNMS/MAt+dMrecuZBU4xaR+HLPPppAMkkAeZIA+Zp1nE8xxDFLLnrGjFfxkBfzr13hvZCzgwUgQsPrSZlf8AG+TV2EqVWi6soVvEM3tTil8zyPhfCby2dZ3gEa7oTNIqAB/Mxh8LkDfFbDhXCDdxpLNMzRuAwjhDwJg/bOdb9eoHpWr7ulC0ys6KlrccsxLm4ncVPMnjJHsOHxwroijSNfJFCj4451Kooq0iAKKKKACiiigAooooAKKKKACiiigAooooAKTFLRQA3Fcb21WVGjfOlwVOCVOD5EbipFFAEaytEijWOMYVBgDOfmTzPrXcCnUUANNGKdRXAPOOO8GjXiE13pHeQm0mB66C7Ry4/lVq9ENZftXb5lwP/MWs8J+8gDx/9Unzq+4bcCSGJwch0RvflQaZtvAqOMvGrdZhA00QmO4jZ1DnOceHn0NWS1869nL8Sd/38BuLq7YhRnxCQnkPLGPgFr2PhXDbuKGJfpZaRUQOJkWRNQA1aWXS+PIlj8ajpy1ZwXLm28hRy92k/uaiivLu0/ayZJ2hlkNv3QQn6OxbWXGoNrZAQvIaccwc5q34J+0KDu4/pbmNm1ASFQI30Np15BOjOOoAznGQKbJWxtk3VFVUvHIlbBJwQhVhgq4dlQFGBOrDMoPlkVa104FFFJQAtFJmkJoAdRWX7R9sIrY6VxK43fDqqxjOPG5yFJIYBeZwegNZiT9pspyVtl09MtJtnkSwTB9w+dRyqwjzYjmk8M9PorMdju1iXqsDhJUJyuThgMeNCRuNxkcx15itMKdNPdDJ5WULRRRXToUUUUAFFFFABRRRQAUUUUAFFFQuJ8RS3jMkraUXrz3OwAA3JJ6CuN4Am01nA5++qThXaq3uG0Ix1HkCOfM4BBIzgE4zmqXjxmvL9bVXCW0cbNNtlnbEZUAcsASKd8jJ3BwKIyUllAXXaQAG2m6RzqDj7MwaDJ9MyKfhS9kSfoyoecTyxe4RTOij8IWo/aiFYbBokViMRxJvnSSyrGzFjkgNpJPOq/hXGHgnk+kRrBFOXkVmcHQ6JEGB9GwWz0Jxvmm6HOpPt7CK2u3PdxqbnxJIFAbWB44iR5hQ48/H5VeYpt3bJPGVcalYAjB9cqysORBwQR5CqcX7W5CXTDTySc7K/kJeiSdPstzGPZoiEtw452Ytbwq1xEHZdgcspK5zpOkjUuehryXjPCry2nePuiVldivdRkrICfAE0jAwpVdJ5Y+J9uzn3dMf71xvLpYkZ3OFUEn4dAOpzt8RXZQTORm4s8r4LZC2ih78z200EkkpizpiKOclRqBUOowwONJIxk7EeyJIMD9TjesvHxCK5YW1xGEmMffdyzBnVM6QwZeTc+W9VJS4jC2LSExnWS+gAtACDpR1OA3iVCuNgSRzFLP0rJ2L1PBrI+0tszhBJuW0g6X0FuWkS40E89gelUH7R+NzwJElvs05ZS+2pQq52zy+8QceWTXCaLvnW2iHIxtJp9mKNGDb+THTpVfUnkN9RxjgMF0F79NWgnGGZeeNSnSdwcDIPPFQQnKpFvkSVoadkzyGwgnkKyM9y5GyyaJXVFJwZVkZidOrqpyfLFaWHtbNGjIWDd54EmlJXu2GoOxQgPpAwQp3yy8wc16JM8cMZJ0xxxr6Kqqo+QAFeV9u4nu5Injt0Ul9ARlKzzFgO77w48MZAY9SApyRutdhDT1IVHB14D2f+kOok0xCIRk7r3gGgMAAR/EYYZ3O4zgedbaHsbZBcGBJCc5eQa3OrmS53z5eXSsJfdiZ4ldygk5y/umRiCAdesyIC+RjSN+WPWuv7PO1RinW0kkDwtqMbbEqzsCqeHkPERvywvniuZSlhoXKTwzU8A7HG1u2lSQGIqygMC0ni0nBc8wCOfPGPKteBQKWpYxUVhEiWAooopjoUUUUAFFFFABRRRQAUUUUAFZTt/w+SWFCilxGxZlAzsUZQ2n6wBIyBvgnG9aumtSTjqjgDyjsnwQ3crzGWeB7eSMgPGoyP4gUZAIjBBAG2ATWq4SEt7uUyXCuZkVgzlFy+tgyrjyAj28gKzfHbAgNlQ0ltiS6eSfV366WCFY2JydyQCAFwVGc1xhCo8yqsah43UsVGlEk+jCSTT10qrtjaoINU5qkl0zkm8vNPzM9cYPQu1FuXs7gKMt3bMv3kGpP8yis32z4eLy3g8egGWPxjcgTI0Y/zPH8gelbSOMBAuSQFC5O5IxjJPWsesRbhzxjCyQBogXIVQ9s+IyzHYZ0Icnzq4uTK76Gr4RbGKGKNjqZEVCeWdKhc4+FVV/J9KlESYMUUgaZzuCyHKwr0Y5wW6ADHM7JJeteELbsyQfXnGQX/u4D1HnINgNlyd1tra1SJAkahVUYAHT/AL9a4jpWNwCFf4YeLHSGR4l3/sKdP5VxfhcKfvZGkfu8vqmkaRU0jJYK3hBAB3xkVcSNWe7Q3KZVJP4SgzzdcxxMuiPH1u8kIAX62lhTvZZE5vBWX1nG7rezQhrmZRDbJlo3SPd9cjqcg4yxP1QQo3J1AgkUoiyPcXci6VeU5VFBBkk0gAKinBxzYgDNLLcNqa4mUmWTCJGNzGpPhhTzZiNTHqfRRWm7PcI7kM8mGnl9thuFA9mJCfqLk+85PWqKk60sL4V+S5oVKO/N/gl8H4alvGI0ztuzHdnY+07HqSamE07FUHaa7yY7VW0tcZ1HOCsKbyFeuWyqDHLVnpVh4islfmV83EVuJgXyLZG/c5HgmkU4MhOeQI8AOAd232xM4NCJ7h7lhlYtUEPwP7+QZ83Gj3R+tceNHRD3carl9MMakZUFyEXw9VUeLA+zWg4dZrDGkaeygCj3AYyfWqtCTqSc38iSawsEgCvGuI8LkXjwWJSczRzDC7BWVDISeWkBGGfM17NimhPdVqUc4IZR1YHLS0UUwwUUUUAFFFFABRRRQAUUUUAFFFV/FOJrFpUAySucJGmNTeZOdlUdWOAKAJ5NV11xyBG0NIpf7C+N/wAC5NRl4bLNvdSHSf8AgwZRB6PJ7cn+UHfarG1tUiXTGioo+qgCj5CgDyftNIhaNFKsBJJPqZAszl2BCsWbJwHzuB7A8qseBGR7iJ4o1cYZTrbAH7twSzIrqBuFwdyelekxwqo8Kqu+fCANzzO1Nm1YOnGcHGc4z05etR+RF1PM64wSedLy/L6ZyYqV7iN+4W9hthsAhkWZkBOyL3kAI9NTeVTezvA4HkeR52u5FO+tj3anPtCHOnOV2Y55HBG9c+zYaR5DL3gLllnSRoTHLKoCOEiALBRjAORkAZzzqwkRLSSEgCO3SE24I2WPdWTUeiYUgMeR+9UpCaEgVzdqrLHijTM+mMiEAaJWOnvG31aYyM6RthuR3xUt3pooVyGzSY3JwBuSegG5rGvKtxK1y20Sgd3k4DiMuwnYdB4iVHkdRGcYl8WufpLvCCe4jOmXH/FfmYs/YXbV5k46NnMcduGu5Vs4Nw7hGYci3Nx6pGoLN5kBfMVVr1HUl5UPqy1RpqEfNn9DXdiI1ugL0g6SXW3B6RqdBlx9pypx5LjHtHOyFRrC0WKNI0GEjUKo9FGBUkVJGKisIilJyeWBrLcOjS5ae4cLIJHMSZAYCOAlQMeshlf3MtXHaK9MFtNKvtJGxX72MLt97FVlvwMW6xiDCsiorD6koVQuXA+ttkON9t8ikrP0nY8zhbWCfTYkQELEjzMoJ0hie6iIXOFODNy8q1YFUXAY8z3cvm6Qj7sKZPuw8sgq9zRRjpgkE3li0U3NDHHPapRR1FRxdJ0dfgwNd1ORQpJvAC0UUV0AooooAKKKKACkzUHi3ERCo2Lu50oi83Y749BgEknYAVBThzy+K4kZv7uMmOJfTbDP5ZY4PkK7g5km8Y4mII9WCzsQkaDYvI2dKj5Ek9ACelcOEcN7vLyEPPJjvJPPH1E+zGOij1J3Jqrs+FwrfFo4kQQQ8wMfvJick+oSPH8586nz8Sd5GitlVym0kjkiONvsbbyN6A7Z3I5UYDJcg0maqDZ3De1dFf8ACijUf+prNc5ra6Cnu7hGOR/GhBOM7jVGVAyNs6aMHGy6LUxmpuo9ah8S4lHCuqVgozgbFmJ54VFBLH0ANd5czhAFsn9IFgiB1twSwADMZZCNyNzgQ4+NXJrJSdoMXEc3cyrFoaOR2C6gCwZGEYYuQDnO2QGz6VbSdprQDP0iI+itrb8Kgt8MUsakH1Q0oTXQszWY7V8ZZNMMH8R2RWcHSIlkbSPH9VmOw2JG5xtgun7TGTa3iYj7cwKL7xF7bfEL76zr2Phb6TdEhyWk06ItZbAOstljsAAAQAAMVDWu4JaYvLJ6VpNvVJYRH4pxbuYzbqBBIuQ+TlY03zKGb29RzpJ3znPI0/sNayb3EEluMqETUpmeOMnJLAOArOcE9TgZpUkslKvnvmGI1c95dMDkAIJPEF3wNyN6tOFMTcktGYCkZARgFeVXK+Pw+HSunGMkgscgbZzalw6dJ+Wsd33LU6eqS1NP2Lzv7z/mI/8A+G3/ALlOTiN4nMW8w/ngP/zFPV6XNZ0eJV1vqOu3h2IXHuLNLD3bwTRani1MmmVQgkUuQyEn2QdyoqdZM0gDQ3izR53JWN/eC0enB94oDVB4nweC4B71ASwwWXKORnOCy7kZ6HIq2uJal619iJ2+ORz7O9o4ltwI1eeV5JnZYhkAyTO3jkYhFwCOuduVS5Ly8k+vFbr5IO+f8b4UH+U1D7qeIAIVmjUYAf8AdSADprUaDt0Kr76fBxaMkI2qKT7Eo0k/dbdX/lJpa/EKrWYbL25hGjHO45+Hs+8txcyenemIfhhC1z/oa36xBvvs0n/WTUtpK4SSVk1eIVOsmW40I9hsNtFFnu444889Cquffgb1p+DtmFD6H9TWRLk1s7GHRGq+Qq5wGc6lac3yxj8kV7FRikSKKKK9UZoUUUUAFIxpaw3HLUz3csewGIly8pUq4OtGWD2ZomzpZSd9JG9AF2jd5eSNzEMaIvo0uXc/FRFvUy/vVhRpG1EDAwoyxLMFVQOpLEAVD4VwxbczaMASuHAGcLiNEIGTsMqSANgDioPaXh7zaNOtkTJKRyd0+rKtHIpzpcoUzofY59MU6WxG3uRv6XRfpJilT6RO6LHE20kbaUgHeRnfwtqby046GtHw6zWCNIkzpQYydyT1Zj1YnJJ8zVLZ8Pjm7q4yS7NHPkqBlkiaLOn6p0sQd/q1el67pDJ1JpjGufec8dNj8s01nPrTKIrZ1LVQ8f4fI8scsSo5VWTS793p1FTqVtLDpgjHlvVs0tc2lonSU1hhGo4vKM5Nwu5KMzNBDpUtsHuDsM8yYxVGqgLJ3krvKRH3cSYiBLxLIzMygsqKW3bPkOZFabtZxUQ20pOSzxyBFX2iQhJI8go3J6e8gHL8SuEglmdh4isCKF9t8RDSi/HJ9OZ2FZlzSp0V6I5Zo21SpWfrlhEK8ijgjUNruJW2Akkc625lipYqqDmfTluag8M4QZJe7iVO9bDSSBFCxLy1aQNvJU64yc7mliid3XYSXEp0gclGPEQNvDGo3J5+8kVvuCcNW2iCDxMTqkc7F3PNsdB0A6ACoa1VcPp+p5qS/COyl/iZ+naK/J1teGxxwiBUBiC6SrAMGB9otn2iTuc86qruBYgFmL90pzFOCddvn6rvuQnIazkEbPsN71pK5sc+orz1O8cJ5555+5a8rKIlncur9zMQW5xuBpEyc+XIOvUDmMEbHaexqiuLbul0lWktc6tK572AjfVEw3Kjc45r0yNhIt7pk0LI4kSTHdTDGJM8lfT4Q/kRs3TB2qW4oqcPOo8uq7BCWHpZZh6cJKjaqNVZPnNE+nJJaSo1yquul1V1P1WAYH4GkJqFxa67qJnJ040jUd9Op1XVg7HGc/Cmg6lSajDm2clFRWWSYIwoCrkAcgSW+GSeVLIKruzE7yQB5GLaiShbGSnQnAxzzVnIajr03CbjJ5wx6cspNEY1seFXJeJWPPkfhtWOc1seEoBCgHln571teH9SrSS5Y/qVuIY0LvkmUUZor1pki0VV8e4ytpF3rq7jIXTHpLHP3mA/Os4e36uypFBKJHIVDMUSPUd/EyuxxgHkN9h1ptEtDnjZdRNcdWnO5t6r+JWUMgIlVNwVy2AQD9ljuPhVDJ37/wAW6ceawKsI/EQzj4MKjrwe2HOJHP2pcysfXVIScmsmpxahHluWlbTZO4NxVXLwM4eaHZsENrXcJICu24G46HPpVB21sHuJEVST3UTSCPOFlZnCMD6gAY6eKrK6tlwphCxyRkmMgYXcYKMF5ow2I9AeYFERkeUyyKE8AjVFbX9YszFsDmdIA8hXJcXpyoNweJdjitJKazyKv9nnEQNdryC6pIwdiFLfvYyp3Uq5Bx5PWj7R8QNvbSyj2lGEzv43IRNvvMPzrI8VHeXaSWwCS25OqXpI5XSIGx7Qwd26bDfen9p+NfS4Ye5imZNXeSYjLBWTIVNsl8Nk5XI8Oc8q0be9p1YpyxH5kVW2lB7LKKThbQxyObpZZlcBgW1ThZCWMjd3nws2oeIDpjbarhOJWC7r39u3Rwk6n3ciCPQiqCOdWOAdxzB2YdN1O4rqBVuVpCo9cZPfsIqzisNI0cPFrdt/6SkU/wB40UR/A8S5Hvpx4uCrEcSt2A+zFG7+5VEniJ22A3rMSEAEtgADJLcgBuTU7gtgC30iVQMZEQYYKg51SsOhI2Hku+2SKq3X+2hq1v2XcsUIqvLTpXzJV6GMEj3LfvZImj2GAgcYEaIpPiJK5xnLegFR7jhMtzO1xEq/woYysuuIqwUl1B0kZBwDt8dqitHNfyZjRhCjeB31xR5G3elhhnPPSF2xvkZFae04MY0Ctc3Tnqe9IHuUHJUDyz8ayZXitn5k5ep9OeC3KCn6IrZfkg8EtmtFJmglaZ/akiHfLgbhEC+JFHPcDJ3qx/piIe2ZI/8AFikjH4mXH508W0i+xcS48pdMv+YjUPnSd9dLyeGQfZdGj/zqWx+GsuvUtbieupN5f77EsIygsJEmK5RgCrowPVWU/oa6g1UT4f8Ai8Pic+YaFwfi4U/lXEw2/wDyt1BjrCSo+AhlOfw1ErKjL4Kif2/UbXLqi+1VU3VsIgxRNcL/AMaDGQQdy8a9GHVRz6b8+BkhXleXMf8AiJqx7zJET8zXTvxgMl9bMP7zQPzRxg/CpaVnc0Z6qck/YVzi+Ysc4jCssne2z4VXJy0TZwFdjuVz4ctupGDnO1ooqkME6s0ixQXEMgInSCTV3i4wGWNl3kAGMavEPUCpUE3cKpL95atjRKT4kB9lZT1XkA/Po2+55e2DmvNgsPqgp1cbMsiKp73g8Nw10ZV1MsCFfIZ73ofcD8qsr65EcbueSKzn+UE/6Vxk4K8cakSzLI6hpO7PtSHOSQfLOAOgAFPwG3cqzqPktvuR3lTEUhbCTVFGR1RCOWN1B6V1YVFEHcSoo9iVCfdLHjUfIa1Oceak9ammsm+tnbVnCX7yWqFVTimRiN603Z2bMeD9U4+B3rNPWg7MwkKzdGOB8Ks8Bcld4XLDyLfJeVuXRNFLiivaMxMGS/aPH/8ArK2fZkB9+QRXnhAYYIBB6EZFan9q1+Q0EI5YaQ+/Olf/AJVjkl0hSfZyNR+yMHf03xv616rh1LFqnLk2/sYl3PVcYXTBa21xMgxHMwA+q47xcDyz4h8Gq34LxkzF1IXVHjLRklDkkYyfZbb2cmqeaFT3esFotWZAgLEjSdIOncrqK5Aq7sr63ICxSRbbBFKrgeQTbHyrwniunbwlppUMSe+tbL8HoOESqSWZVNuxZiSq/il+4YRREB2XUzncRpnTkDqx3wPQnpu17OQnHfuFPPSiq3uDdB+dMbhA1axLMr4wWLB8qNwCGBBwSTnGd68lbulCeZyz7YfP3NuSb6ESC01kW0eVRVzI2dwjEjAI5yOQ+/QajzIzpUiCgKMBVGABsAByAFQuHWqwghSzMx1O7nLMeQJPoMAAcgKlmSnubuNR4XL97hht5Od5Yxy/xUSTH21DfImoY7O2pP8A4eLPouP0qXcXQQAlXbJwAilj+XL3mosl6zqwWGYZBXJ0JgkY2y+T8K5RlV5qTS+eP6kcox6r8FBxKytXkVYoY9ETBmfHtOvsxqeoBGSfMAb74seGW/0uQq28Eft45SOT4YyeqgeJgPMDzFVtvwu4KrF3ZjIULrJUomBgsuCSx6gY5862VlEsMaxpsqjA9fU+pO5PU1pTuNPOWei3z9R5KMIaafN82SpD/wDf9q4mgy00vWZUqqT3EjFoDXPFPLUmarvDJEIEp2igGhmpkktweQ38/wBa5/RkJyUQk9Sq5+eKC9Gql83HJg4ZKufhGWLdzZ89sxtqx561xg/CudnZTQaliFuIXBzF4yqsc5dc+ed15H03zclq4yZwcYz0zyz0zirUeJ1YfCJ5EWV/E4dFoYxuFREyeqgqpz7xWv4xAjaSyhtJyCc7cvnyrHXdpPIjRl4QGUjUImzuOi68bc85q3bic5UBlhc9WDPHn104bHzrU4XfUKEJKtJZbz1KtzRnJpxXJHDjXtW5zylI/FG4/UCnFq43AklKa9ChGD4TUxJAIHiOMDfyNdaz+M3NKvWUqTzsT2dOUI4l3ObVquASAwqPs5B+eayrVoey6nS56E/oKfgE2rrC6pjX8U6Wfcu8UUtFe1eOxiHl/wC1pcTW7f2GHyYH/WsxZS1qP2uxnvLdt8aXX45BrCwz4r2vDY67OP1/mebvJabiRpbTSvsjGfI7fLkKW9mUjxrrH3dePhzqnjvK7C7pp23TAKsTrLiDrtC2V+xKrkD7pJBX3bipsfHJQfFErD+7fDfAOAD86pvpNdknrDuvDNhXblOmk31WxfpcWuKe0Zbe+5pbLiccuythhzR/C4/lJ3942qZvWTfQ4w6qw/tAN+tNS1jX2A0f+G7J/wBJry9z4Hep+TU291/VGxS8QLH+pH7Gu10uqswl9KnsuJB9mXn8JFGR8QalQce/rIWUecbd7j3rgH5CsG58McRt8+jUl1jv/c0aPFbWp/2w/c0Akpwkqqg4zA5wsqA/ZY6G/C2DUxJQeRB9xz+lYk6dantKLXzReThLdNErVSq1Rw1KHqvqY+kk5oqP3lOD1IpC6TuKRq5h6XXQ5bYOYExSqKTVSaqQYeaSm66QtQ2cwONNpC1JqpBsCk0maaWpCaMM7gStX2f/AII2xufjvWVUfM8vWtnwy30RIp5gfrvXofD1OTryl0S/QocQktCiSqKMUV7IyCDxfhMVzH3cy6l5+RBHUEcq8V7T8BezlKNkoSSj42Zem/mOVe84rnPbo40uqsD0YAj5Gr9jfztZbbrsU7qzjXXZnznmlEvrXv8Ab8CtkOpIIlPmFGaff8LhmUrJGjD1H+taz4/HPwbfMo/wqWPiPAhIacLjH/evZh2Ksv6hfm3+9WNjwK3h3jhjU+YUZ+dNPjtLG0GLHhdTO8keGC8x/wB6cL/1/Ovfnt0YYKqQehAIqI3A7Y7mCL8C/wC1QrjcetP8/wBiR8Ml0keGi/6Z/wB/lXX6Zjnke8Y/WvdIeHxJ7EaL7lA/QU+e1Rxh0Vh5MAf1pXxqOf8Aj/P9hv4bLHxfg8Ke5B5gH37/AK0lvc926yIACp3AOnWu+UJxy3zv5CvYX7KWfM20X4ab/wDill/y0X4ajr39pXpunUpvDWHyO0rO4pyUozW3zMNB2jt2G7mM+UgK4/mGVPzqzglVxqRg6+akMPmDWhn7HWbf8EL9wsn6GnWXZC0iJZIsMdi2TqI8ia8LeeHrZxcrack+ikl/NfoehocRrp4qxXzRQYorW/0PDy0/maZ/QcPkfmayn4eue6Li4hT7MymaWtYODQ/Z/M008Ci/tfOh+HrpdV9w/iFLszKZpc1sIuFRD6gPv3pknCIm+rj3Eim/y9X051LP1D+Iw7MyRNJmtYOCQ/ZPzNd14bFj+Gvyoj4drvnJfkHxGn2ZjaQmtZNwWJjnGPunFdbbhkSclBPmdzRHw9X1YcljucfEYY5GOIp0cZY4AyfKts9lG25RT8KdFaou6qB7hU8fDs9W81j5biPiO3Lcr+FcKEYy27/p7qtRRilFekt7eFCChBYRmznKctUgoooqcU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84" name="AutoShape 12" descr="data:image/jpeg;base64,/9j/4AAQSkZJRgABAQAAAQABAAD/2wCEAAkGBxQSEhQUEhQUFBQUGBgWGBgUFxgUFxcYFRcXFhYXFxUYHCggGBwlGxYVITEhJSosLi4uGiAzODMsNygtLisBCgoKDg0OGxAQGywkICQsLCwsLSwsLCwsLCwsLCwsLC0sLCwsLCwsLCwsLCwsLCwsLCwsLCwsLCwsLCwsLCwsLP/AABEIAN4A4wMBIgACEQEDEQH/xAAcAAABBQEBAQAAAAAAAAAAAAAAAQIEBQYDBwj/xABHEAACAQMCAwUEBwQIBAYDAAABAgMABBESIQUxQQYTIlFhMnGBkRRCUnKSobEHIzOCFVNiY3OiwdFDVLLxNESjs8LwFiST/8QAGgEAAgMBAQAAAAAAAAAAAAAAAAIDBAUBBv/EADURAAIBAwIEBAUCBAcAAAAAAAABAgMEERIhBTFBUQYTImEycYGRodHwFbHB4RQWIyQzQmL/2gAMAwEAAhEDEQA/APcaKKKACiiigAooooAKKKQmgBaKj3l6kSl5XVFHNnYKPmapX7QvLtawM4/rJiYI/eAVLv8ABcHzpJ1YQWZPB1LJoTUO24pFJJJErgvFs4wRjlyJGG5jOM4Ox3qpZLpwS9wkY8oYh4f55S2fwisHcXrm4eS2mlZcEaiyxiVjoDupVDhD3Y5DBOT74I3dKb9O5LTt6lR4gsnr2aM15nb8cuB/Elu0H9gW9wv/ALQk/Krvh/E5pRmC8ikxzDwguPRgrqV+Iod3Tj8WV9P0EqU50361g2VFZuPjdwn8W3WQfat3yfjHKF/JjUu37T27NpZzE+cBZ1aEnp4dYAb4E1JTuKVT4ZJkeUXNFMEgO4xg8qcDUx0WiiigAooooAKKKKACiiigAooooAKKKKACiiigAooooAKKQmqbiXGtL9zAvfT9VBwkf9qZ/qD09o9B1pZSUVlgWN7epCpeV1RBzZjgb+p/SqWXidxcbW6mGP8Arpl8ZHUxQHf3F8e40+14T4xLcN30w5EjEceekUZzp+9ux8+lWeKza96+VP7kkYdyqt+CRBg7hppR/wASY94wPUrnZPcoAqw011qo7RcWFtCXAzIx0Rr9qRs4z6Dck+QrJlGVSe7yyWK6Izna7irSu1rFsi7TsObZ/wCCp6be0fIgdaqY4MD/AEp1hb6QBnJOWZjzZmOWY+pYk/GpZWtWnTUFhHpLakqMNPXqcVfao92isQx2YcmBKsvuYbipLJUO8BpmWVTjPZk6x7RTx7Pi4X1wk34hhH+IX31pbG+hukOghgNnRx4lPk6Hl+YPnWBgBzUxYjkOrFHX2XU4PuPRl/snIqnVtYVN1s/YzL7gtN+qls+xsBwgR727vbnyiPgPvibKfkD61Kh43cRbTxCVft2/tD1aFzn8Jb3VV8C493jCKYBJt8YzolA3JTPI4ySp3GCdwM1ec6qq5ubZ6W8/Pf7HmqkZ0paZLDLDhvE4511ROGA2PMMp8mUjKn0IqdWQu+HBm7xS0co2EkZ0vjyPR19GBHpXW345JAcXQ1p/Xxqdv8WIZ0feXK9SFrVteKUqz0y2kcU0zVUVxgmVlDKQykAggggg8iCOddRWoOLRRRQAUUUUAFFFFABRRRQAUUUUAFITS1nOK3DXMptY2Kxr/wCIdSQQG9mFGHJmG7EbqvkWGFnNRWWdSC/4g9y5htmKIjYmnXpjnFCTsXzsW+ruOfKdY2McKaIlCKN8DfJPMkndiepOSa6W9usaqiKFVRhVUYAA6AdK6AViXNaVSXsSxikAoY0uKY1VpS0oYYTXnfHOIfSbttJzHBmNPIsD+9cfHCZ/snzrT9suJG3tmKHEkh7pPRnzlv5VDN8KxvCbcKoA5AAD4U9nBv1v6Gtw231N1X05fMsYxihnrnI+Kjl81ovY11DJJ1ikdARUQmuyPtXMjuGCO8eDTlkpJTmo77UucEqWeZ0uCGG+eYIIOCCNwVI5EedaDs72hLMsM5/eHZJNgJcdCB7MmOg2O5HlWRkmrk8oYYOfhzBzkEHoQcEH0qGrTjVjpkVr7hcbiH/roz1nFcZUqm7J8d79NEh/fR7N01r9WQD1HPyOfSr2WsGvS0vD5o8NWoypzcJLdFOkUluxa1IXJJaFjiJyeZGN4mPmux6g8603BuMJcJlAysp0ujYDxtjOGA9CCCNiNxWZu+IRhtC5kk/q4gZH+IXZR6sQKm8F4HL3y3M/7plBVYoznKnpO49vBJIA2B863OE1rmS0zT093+9xKUp5w+RqqWkFLW6WAooooAKKKKACiiigApDS0UAVHaLiDQx+AoHYhVLsFRNW3eNk7hc8upwOtJwuyWGNUTLc2ZjuzsxyzsepJ3+NSb3g8UsiSSIGaMELnJAyQd1zg7gEZG1R5OAoN4He3PlHgoffG4K/IA1UuaM6i9LGi8Eomm5qE1ndIPC8M3+IpiP4kyP8tcmmuRztgfPRMrH+UMFz8cVk1bW4XT7Eqkix1Uhaqt+KH/l7rPl3X+udP51yn40iDMqTxjGTrhkwB1yyggfOqVSFwttD+w2Y9zJdur7vLpYx7MC8v7yXc59QgH4jUOC4wK5qhnllkVJZDLI7+CGUjGSqjVpxsqqOfMGul1bMmzRTqfIwyfqqkVsQpyjBJI9NaVbenRjByWeb36sc82aYZcVFihlY4SG4byxDIPzZQK6Pwm8P/lLj8K/6vT6J9i1/iLZbOpH7itdimG8FVULu90LMRMLgnGiQqgB0692yfq77ZrTjsHfYzi1Hp3r/AKiKhUqnY5K/so85r6FQbunNcgiru1/Z7dt7clvH93XL+oWrm0/ZpGN5biZ/RNMS/MAt+dMrecuZBU4xaR+HLPPppAMkkAeZIA+Zp1nE8xxDFLLnrGjFfxkBfzr13hvZCzgwUgQsPrSZlf8AG+TV2EqVWi6soVvEM3tTil8zyPhfCby2dZ3gEa7oTNIqAB/Mxh8LkDfFbDhXCDdxpLNMzRuAwjhDwJg/bOdb9eoHpWr7ulC0ys6KlrccsxLm4ncVPMnjJHsOHxwroijSNfJFCj4451Kooq0iAKKKKACiiigAooooAKKKKACiiigAooooAKTFLRQA3Fcb21WVGjfOlwVOCVOD5EbipFFAEaytEijWOMYVBgDOfmTzPrXcCnUUANNGKdRXAPOOO8GjXiE13pHeQm0mB66C7Ry4/lVq9ENZftXb5lwP/MWs8J+8gDx/9Unzq+4bcCSGJwch0RvflQaZtvAqOMvGrdZhA00QmO4jZ1DnOceHn0NWS1869nL8Sd/38BuLq7YhRnxCQnkPLGPgFr2PhXDbuKGJfpZaRUQOJkWRNQA1aWXS+PIlj8ajpy1ZwXLm28hRy92k/uaiivLu0/ayZJ2hlkNv3QQn6OxbWXGoNrZAQvIaccwc5q34J+0KDu4/pbmNm1ASFQI30Np15BOjOOoAznGQKbJWxtk3VFVUvHIlbBJwQhVhgq4dlQFGBOrDMoPlkVa104FFFJQAtFJmkJoAdRWX7R9sIrY6VxK43fDqqxjOPG5yFJIYBeZwegNZiT9pspyVtl09MtJtnkSwTB9w+dRyqwjzYjmk8M9PorMdju1iXqsDhJUJyuThgMeNCRuNxkcx15itMKdNPdDJ5WULRRRXToUUUUAFFFFABRRRQAUUUUAFFFQuJ8RS3jMkraUXrz3OwAA3JJ6CuN4Am01nA5++qThXaq3uG0Ix1HkCOfM4BBIzgE4zmqXjxmvL9bVXCW0cbNNtlnbEZUAcsASKd8jJ3BwKIyUllAXXaQAG2m6RzqDj7MwaDJ9MyKfhS9kSfoyoecTyxe4RTOij8IWo/aiFYbBokViMRxJvnSSyrGzFjkgNpJPOq/hXGHgnk+kRrBFOXkVmcHQ6JEGB9GwWz0Jxvmm6HOpPt7CK2u3PdxqbnxJIFAbWB44iR5hQ48/H5VeYpt3bJPGVcalYAjB9cqysORBwQR5CqcX7W5CXTDTySc7K/kJeiSdPstzGPZoiEtw452Ytbwq1xEHZdgcspK5zpOkjUuehryXjPCry2nePuiVldivdRkrICfAE0jAwpVdJ5Y+J9uzn3dMf71xvLpYkZ3OFUEn4dAOpzt8RXZQTORm4s8r4LZC2ih78z200EkkpizpiKOclRqBUOowwONJIxk7EeyJIMD9TjesvHxCK5YW1xGEmMffdyzBnVM6QwZeTc+W9VJS4jC2LSExnWS+gAtACDpR1OA3iVCuNgSRzFLP0rJ2L1PBrI+0tszhBJuW0g6X0FuWkS40E89gelUH7R+NzwJElvs05ZS+2pQq52zy+8QceWTXCaLvnW2iHIxtJp9mKNGDb+THTpVfUnkN9RxjgMF0F79NWgnGGZeeNSnSdwcDIPPFQQnKpFvkSVoadkzyGwgnkKyM9y5GyyaJXVFJwZVkZidOrqpyfLFaWHtbNGjIWDd54EmlJXu2GoOxQgPpAwQp3yy8wc16JM8cMZJ0xxxr6Kqqo+QAFeV9u4nu5Injt0Ul9ARlKzzFgO77w48MZAY9SApyRutdhDT1IVHB14D2f+kOok0xCIRk7r3gGgMAAR/EYYZ3O4zgedbaHsbZBcGBJCc5eQa3OrmS53z5eXSsJfdiZ4ldygk5y/umRiCAdesyIC+RjSN+WPWuv7PO1RinW0kkDwtqMbbEqzsCqeHkPERvywvniuZSlhoXKTwzU8A7HG1u2lSQGIqygMC0ni0nBc8wCOfPGPKteBQKWpYxUVhEiWAooopjoUUUUAFFFFABRRRQAUUUUAFZTt/w+SWFCilxGxZlAzsUZQ2n6wBIyBvgnG9aumtSTjqjgDyjsnwQ3crzGWeB7eSMgPGoyP4gUZAIjBBAG2ATWq4SEt7uUyXCuZkVgzlFy+tgyrjyAj28gKzfHbAgNlQ0ltiS6eSfV366WCFY2JydyQCAFwVGc1xhCo8yqsah43UsVGlEk+jCSTT10qrtjaoINU5qkl0zkm8vNPzM9cYPQu1FuXs7gKMt3bMv3kGpP8yis32z4eLy3g8egGWPxjcgTI0Y/zPH8gelbSOMBAuSQFC5O5IxjJPWsesRbhzxjCyQBogXIVQ9s+IyzHYZ0Icnzq4uTK76Gr4RbGKGKNjqZEVCeWdKhc4+FVV/J9KlESYMUUgaZzuCyHKwr0Y5wW6ADHM7JJeteELbsyQfXnGQX/u4D1HnINgNlyd1tra1SJAkahVUYAHT/AL9a4jpWNwCFf4YeLHSGR4l3/sKdP5VxfhcKfvZGkfu8vqmkaRU0jJYK3hBAB3xkVcSNWe7Q3KZVJP4SgzzdcxxMuiPH1u8kIAX62lhTvZZE5vBWX1nG7rezQhrmZRDbJlo3SPd9cjqcg4yxP1QQo3J1AgkUoiyPcXci6VeU5VFBBkk0gAKinBxzYgDNLLcNqa4mUmWTCJGNzGpPhhTzZiNTHqfRRWm7PcI7kM8mGnl9thuFA9mJCfqLk+85PWqKk60sL4V+S5oVKO/N/gl8H4alvGI0ztuzHdnY+07HqSamE07FUHaa7yY7VW0tcZ1HOCsKbyFeuWyqDHLVnpVh4islfmV83EVuJgXyLZG/c5HgmkU4MhOeQI8AOAd232xM4NCJ7h7lhlYtUEPwP7+QZ83Gj3R+tceNHRD3carl9MMakZUFyEXw9VUeLA+zWg4dZrDGkaeygCj3AYyfWqtCTqSc38iSawsEgCvGuI8LkXjwWJSczRzDC7BWVDISeWkBGGfM17NimhPdVqUc4IZR1YHLS0UUwwUUUUAFFFFABRRRQAUUUUAFFFV/FOJrFpUAySucJGmNTeZOdlUdWOAKAJ5NV11xyBG0NIpf7C+N/wAC5NRl4bLNvdSHSf8AgwZRB6PJ7cn+UHfarG1tUiXTGioo+qgCj5CgDyftNIhaNFKsBJJPqZAszl2BCsWbJwHzuB7A8qseBGR7iJ4o1cYZTrbAH7twSzIrqBuFwdyelekxwqo8Kqu+fCANzzO1Nm1YOnGcHGc4z05etR+RF1PM64wSedLy/L6ZyYqV7iN+4W9hthsAhkWZkBOyL3kAI9NTeVTezvA4HkeR52u5FO+tj3anPtCHOnOV2Y55HBG9c+zYaR5DL3gLllnSRoTHLKoCOEiALBRjAORkAZzzqwkRLSSEgCO3SE24I2WPdWTUeiYUgMeR+9UpCaEgVzdqrLHijTM+mMiEAaJWOnvG31aYyM6RthuR3xUt3pooVyGzSY3JwBuSegG5rGvKtxK1y20Sgd3k4DiMuwnYdB4iVHkdRGcYl8WufpLvCCe4jOmXH/FfmYs/YXbV5k46NnMcduGu5Vs4Nw7hGYci3Nx6pGoLN5kBfMVVr1HUl5UPqy1RpqEfNn9DXdiI1ugL0g6SXW3B6RqdBlx9pypx5LjHtHOyFRrC0WKNI0GEjUKo9FGBUkVJGKisIilJyeWBrLcOjS5ae4cLIJHMSZAYCOAlQMeshlf3MtXHaK9MFtNKvtJGxX72MLt97FVlvwMW6xiDCsiorD6koVQuXA+ttkON9t8ikrP0nY8zhbWCfTYkQELEjzMoJ0hie6iIXOFODNy8q1YFUXAY8z3cvm6Qj7sKZPuw8sgq9zRRjpgkE3li0U3NDHHPapRR1FRxdJ0dfgwNd1ORQpJvAC0UUV0AooooAKKKKACkzUHi3ERCo2Lu50oi83Y749BgEknYAVBThzy+K4kZv7uMmOJfTbDP5ZY4PkK7g5km8Y4mII9WCzsQkaDYvI2dKj5Ek9ACelcOEcN7vLyEPPJjvJPPH1E+zGOij1J3Jqrs+FwrfFo4kQQQ8wMfvJick+oSPH8586nz8Sd5GitlVym0kjkiONvsbbyN6A7Z3I5UYDJcg0maqDZ3De1dFf8ACijUf+prNc5ra6Cnu7hGOR/GhBOM7jVGVAyNs6aMHGy6LUxmpuo9ah8S4lHCuqVgozgbFmJ54VFBLH0ANd5czhAFsn9IFgiB1twSwADMZZCNyNzgQ4+NXJrJSdoMXEc3cyrFoaOR2C6gCwZGEYYuQDnO2QGz6VbSdprQDP0iI+itrb8Kgt8MUsakH1Q0oTXQszWY7V8ZZNMMH8R2RWcHSIlkbSPH9VmOw2JG5xtgun7TGTa3iYj7cwKL7xF7bfEL76zr2Phb6TdEhyWk06ItZbAOstljsAAAQAAMVDWu4JaYvLJ6VpNvVJYRH4pxbuYzbqBBIuQ+TlY03zKGb29RzpJ3znPI0/sNayb3EEluMqETUpmeOMnJLAOArOcE9TgZpUkslKvnvmGI1c95dMDkAIJPEF3wNyN6tOFMTcktGYCkZARgFeVXK+Pw+HSunGMkgscgbZzalw6dJ+Wsd33LU6eqS1NP2Lzv7z/mI/8A+G3/ALlOTiN4nMW8w/ngP/zFPV6XNZ0eJV1vqOu3h2IXHuLNLD3bwTRani1MmmVQgkUuQyEn2QdyoqdZM0gDQ3izR53JWN/eC0enB94oDVB4nweC4B71ASwwWXKORnOCy7kZ6HIq2uJal619iJ2+ORz7O9o4ltwI1eeV5JnZYhkAyTO3jkYhFwCOuduVS5Ly8k+vFbr5IO+f8b4UH+U1D7qeIAIVmjUYAf8AdSADprUaDt0Kr76fBxaMkI2qKT7Eo0k/dbdX/lJpa/EKrWYbL25hGjHO45+Hs+8txcyenemIfhhC1z/oa36xBvvs0n/WTUtpK4SSVk1eIVOsmW40I9hsNtFFnu444889Cquffgb1p+DtmFD6H9TWRLk1s7GHRGq+Qq5wGc6lac3yxj8kV7FRikSKKKK9UZoUUUUAFIxpaw3HLUz3csewGIly8pUq4OtGWD2ZomzpZSd9JG9AF2jd5eSNzEMaIvo0uXc/FRFvUy/vVhRpG1EDAwoyxLMFVQOpLEAVD4VwxbczaMASuHAGcLiNEIGTsMqSANgDioPaXh7zaNOtkTJKRyd0+rKtHIpzpcoUzofY59MU6WxG3uRv6XRfpJilT6RO6LHE20kbaUgHeRnfwtqby046GtHw6zWCNIkzpQYydyT1Zj1YnJJ8zVLZ8Pjm7q4yS7NHPkqBlkiaLOn6p0sQd/q1el67pDJ1JpjGufec8dNj8s01nPrTKIrZ1LVQ8f4fI8scsSo5VWTS793p1FTqVtLDpgjHlvVs0tc2lonSU1hhGo4vKM5Nwu5KMzNBDpUtsHuDsM8yYxVGqgLJ3krvKRH3cSYiBLxLIzMygsqKW3bPkOZFabtZxUQ20pOSzxyBFX2iQhJI8go3J6e8gHL8SuEglmdh4isCKF9t8RDSi/HJ9OZ2FZlzSp0V6I5Zo21SpWfrlhEK8ijgjUNruJW2Akkc625lipYqqDmfTluag8M4QZJe7iVO9bDSSBFCxLy1aQNvJU64yc7mliid3XYSXEp0gclGPEQNvDGo3J5+8kVvuCcNW2iCDxMTqkc7F3PNsdB0A6ACoa1VcPp+p5qS/COyl/iZ+naK/J1teGxxwiBUBiC6SrAMGB9otn2iTuc86qruBYgFmL90pzFOCddvn6rvuQnIazkEbPsN71pK5sc+orz1O8cJ5555+5a8rKIlncur9zMQW5xuBpEyc+XIOvUDmMEbHaexqiuLbul0lWktc6tK572AjfVEw3Kjc45r0yNhIt7pk0LI4kSTHdTDGJM8lfT4Q/kRs3TB2qW4oqcPOo8uq7BCWHpZZh6cJKjaqNVZPnNE+nJJaSo1yquul1V1P1WAYH4GkJqFxa67qJnJ040jUd9Op1XVg7HGc/Cmg6lSajDm2clFRWWSYIwoCrkAcgSW+GSeVLIKruzE7yQB5GLaiShbGSnQnAxzzVnIajr03CbjJ5wx6cspNEY1seFXJeJWPPkfhtWOc1seEoBCgHln571teH9SrSS5Y/qVuIY0LvkmUUZor1pki0VV8e4ytpF3rq7jIXTHpLHP3mA/Os4e36uypFBKJHIVDMUSPUd/EyuxxgHkN9h1ptEtDnjZdRNcdWnO5t6r+JWUMgIlVNwVy2AQD9ljuPhVDJ37/wAW6ceawKsI/EQzj4MKjrwe2HOJHP2pcysfXVIScmsmpxahHluWlbTZO4NxVXLwM4eaHZsENrXcJICu24G46HPpVB21sHuJEVST3UTSCPOFlZnCMD6gAY6eKrK6tlwphCxyRkmMgYXcYKMF5ow2I9AeYFERkeUyyKE8AjVFbX9YszFsDmdIA8hXJcXpyoNweJdjitJKazyKv9nnEQNdryC6pIwdiFLfvYyp3Uq5Bx5PWj7R8QNvbSyj2lGEzv43IRNvvMPzrI8VHeXaSWwCS25OqXpI5XSIGx7Qwd26bDfen9p+NfS4Ye5imZNXeSYjLBWTIVNsl8Nk5XI8Oc8q0be9p1YpyxH5kVW2lB7LKKThbQxyObpZZlcBgW1ThZCWMjd3nws2oeIDpjbarhOJWC7r39u3Rwk6n3ciCPQiqCOdWOAdxzB2YdN1O4rqBVuVpCo9cZPfsIqzisNI0cPFrdt/6SkU/wB40UR/A8S5Hvpx4uCrEcSt2A+zFG7+5VEniJ22A3rMSEAEtgADJLcgBuTU7gtgC30iVQMZEQYYKg51SsOhI2Hku+2SKq3X+2hq1v2XcsUIqvLTpXzJV6GMEj3LfvZImj2GAgcYEaIpPiJK5xnLegFR7jhMtzO1xEq/woYysuuIqwUl1B0kZBwDt8dqitHNfyZjRhCjeB31xR5G3elhhnPPSF2xvkZFae04MY0Ctc3Tnqe9IHuUHJUDyz8ayZXitn5k5ep9OeC3KCn6IrZfkg8EtmtFJmglaZ/akiHfLgbhEC+JFHPcDJ3qx/piIe2ZI/8AFikjH4mXH508W0i+xcS48pdMv+YjUPnSd9dLyeGQfZdGj/zqWx+GsuvUtbieupN5f77EsIygsJEmK5RgCrowPVWU/oa6g1UT4f8Ai8Pic+YaFwfi4U/lXEw2/wDyt1BjrCSo+AhlOfw1ErKjL4Kif2/UbXLqi+1VU3VsIgxRNcL/AMaDGQQdy8a9GHVRz6b8+BkhXleXMf8AiJqx7zJET8zXTvxgMl9bMP7zQPzRxg/CpaVnc0Z6qck/YVzi+Ysc4jCssne2z4VXJy0TZwFdjuVz4ctupGDnO1ooqkME6s0ixQXEMgInSCTV3i4wGWNl3kAGMavEPUCpUE3cKpL95atjRKT4kB9lZT1XkA/Po2+55e2DmvNgsPqgp1cbMsiKp73g8Nw10ZV1MsCFfIZ73ofcD8qsr65EcbueSKzn+UE/6Vxk4K8cakSzLI6hpO7PtSHOSQfLOAOgAFPwG3cqzqPktvuR3lTEUhbCTVFGR1RCOWN1B6V1YVFEHcSoo9iVCfdLHjUfIa1Oceak9ammsm+tnbVnCX7yWqFVTimRiN603Z2bMeD9U4+B3rNPWg7MwkKzdGOB8Ks8Bcld4XLDyLfJeVuXRNFLiivaMxMGS/aPH/8ArK2fZkB9+QRXnhAYYIBB6EZFan9q1+Q0EI5YaQ+/Olf/AJVjkl0hSfZyNR+yMHf03xv616rh1LFqnLk2/sYl3PVcYXTBa21xMgxHMwA+q47xcDyz4h8Gq34LxkzF1IXVHjLRklDkkYyfZbb2cmqeaFT3esFotWZAgLEjSdIOncrqK5Aq7sr63ICxSRbbBFKrgeQTbHyrwniunbwlppUMSe+tbL8HoOESqSWZVNuxZiSq/il+4YRREB2XUzncRpnTkDqx3wPQnpu17OQnHfuFPPSiq3uDdB+dMbhA1axLMr4wWLB8qNwCGBBwSTnGd68lbulCeZyz7YfP3NuSb6ESC01kW0eVRVzI2dwjEjAI5yOQ+/QajzIzpUiCgKMBVGABsAByAFQuHWqwghSzMx1O7nLMeQJPoMAAcgKlmSnubuNR4XL97hht5Od5Yxy/xUSTH21DfImoY7O2pP8A4eLPouP0qXcXQQAlXbJwAilj+XL3mosl6zqwWGYZBXJ0JgkY2y+T8K5RlV5qTS+eP6kcox6r8FBxKytXkVYoY9ETBmfHtOvsxqeoBGSfMAb74seGW/0uQq28Eft45SOT4YyeqgeJgPMDzFVtvwu4KrF3ZjIULrJUomBgsuCSx6gY5862VlEsMaxpsqjA9fU+pO5PU1pTuNPOWei3z9R5KMIaafN82SpD/wDf9q4mgy00vWZUqqT3EjFoDXPFPLUmarvDJEIEp2igGhmpkktweQ38/wBa5/RkJyUQk9Sq5+eKC9Gql83HJg4ZKufhGWLdzZ89sxtqx561xg/CudnZTQaliFuIXBzF4yqsc5dc+ed15H03zclq4yZwcYz0zyz0zirUeJ1YfCJ5EWV/E4dFoYxuFREyeqgqpz7xWv4xAjaSyhtJyCc7cvnyrHXdpPIjRl4QGUjUImzuOi68bc85q3bic5UBlhc9WDPHn104bHzrU4XfUKEJKtJZbz1KtzRnJpxXJHDjXtW5zylI/FG4/UCnFq43AklKa9ChGD4TUxJAIHiOMDfyNdaz+M3NKvWUqTzsT2dOUI4l3ObVquASAwqPs5B+eayrVoey6nS56E/oKfgE2rrC6pjX8U6Wfcu8UUtFe1eOxiHl/wC1pcTW7f2GHyYH/WsxZS1qP2uxnvLdt8aXX45BrCwz4r2vDY67OP1/mebvJabiRpbTSvsjGfI7fLkKW9mUjxrrH3dePhzqnjvK7C7pp23TAKsTrLiDrtC2V+xKrkD7pJBX3bipsfHJQfFErD+7fDfAOAD86pvpNdknrDuvDNhXblOmk31WxfpcWuKe0Zbe+5pbLiccuythhzR/C4/lJ3942qZvWTfQ4w6qw/tAN+tNS1jX2A0f+G7J/wBJry9z4Hep+TU291/VGxS8QLH+pH7Gu10uqswl9KnsuJB9mXn8JFGR8QalQce/rIWUecbd7j3rgH5CsG58McRt8+jUl1jv/c0aPFbWp/2w/c0Akpwkqqg4zA5wsqA/ZY6G/C2DUxJQeRB9xz+lYk6dantKLXzReThLdNErVSq1Rw1KHqvqY+kk5oqP3lOD1IpC6TuKRq5h6XXQ5bYOYExSqKTVSaqQYeaSm66QtQ2cwONNpC1JqpBsCk0maaWpCaMM7gStX2f/AII2xufjvWVUfM8vWtnwy30RIp5gfrvXofD1OTryl0S/QocQktCiSqKMUV7IyCDxfhMVzH3cy6l5+RBHUEcq8V7T8BezlKNkoSSj42Zem/mOVe84rnPbo40uqsD0YAj5Gr9jfztZbbrsU7qzjXXZnznmlEvrXv8Ab8CtkOpIIlPmFGaff8LhmUrJGjD1H+taz4/HPwbfMo/wqWPiPAhIacLjH/evZh2Ksv6hfm3+9WNjwK3h3jhjU+YUZ+dNPjtLG0GLHhdTO8keGC8x/wB6cL/1/Ovfnt0YYKqQehAIqI3A7Y7mCL8C/wC1QrjcetP8/wBiR8Ml0keGi/6Z/wB/lXX6Zjnke8Y/WvdIeHxJ7EaL7lA/QU+e1Rxh0Vh5MAf1pXxqOf8Aj/P9hv4bLHxfg8Ke5B5gH37/AK0lvc926yIACp3AOnWu+UJxy3zv5CvYX7KWfM20X4ab/wDill/y0X4ajr39pXpunUpvDWHyO0rO4pyUozW3zMNB2jt2G7mM+UgK4/mGVPzqzglVxqRg6+akMPmDWhn7HWbf8EL9wsn6GnWXZC0iJZIsMdi2TqI8ia8LeeHrZxcrack+ikl/NfoehocRrp4qxXzRQYorW/0PDy0/maZ/QcPkfmayn4eue6Li4hT7MymaWtYODQ/Z/M008Ci/tfOh+HrpdV9w/iFLszKZpc1sIuFRD6gPv3pknCIm+rj3Eim/y9X051LP1D+Iw7MyRNJmtYOCQ/ZPzNd14bFj+Gvyoj4drvnJfkHxGn2ZjaQmtZNwWJjnGPunFdbbhkSclBPmdzRHw9X1YcljucfEYY5GOIp0cZY4AyfKts9lG25RT8KdFaou6qB7hU8fDs9W81j5biPiO3Lcr+FcKEYy27/p7qtRRilFekt7eFCChBYRmznKctUgoooqcU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86" name="AutoShape 14" descr="Image result for cartoon of polar bear in trop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88" name="AutoShape 16" descr="Image result for cartoon of polar bear in trop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90" name="AutoShape 18" descr="Image result for cartoon of polar bear in trop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 rot="18721418">
            <a:off x="1952625" y="381000"/>
            <a:ext cx="5610225" cy="5610225"/>
            <a:chOff x="1285875" y="676275"/>
            <a:chExt cx="5610225" cy="5610225"/>
          </a:xfrm>
        </p:grpSpPr>
        <p:sp>
          <p:nvSpPr>
            <p:cNvPr id="22" name="Oval 21"/>
            <p:cNvSpPr/>
            <p:nvPr/>
          </p:nvSpPr>
          <p:spPr>
            <a:xfrm>
              <a:off x="1285875" y="676275"/>
              <a:ext cx="5610225" cy="561022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1676400" y="1047750"/>
              <a:ext cx="4895850" cy="48958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562100" y="3200400"/>
              <a:ext cx="5114925" cy="36195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19100" y="274638"/>
            <a:ext cx="8296275" cy="5287962"/>
          </a:xfrm>
        </p:spPr>
        <p:txBody>
          <a:bodyPr>
            <a:normAutofit/>
          </a:bodyPr>
          <a:lstStyle/>
          <a:p>
            <a:r>
              <a:rPr lang="en-US" b="1" dirty="0">
                <a:latin typeface="Comic Sans MS" pitchFamily="66" charset="0"/>
              </a:rPr>
              <a:t>Nucleation and Growth of Crystalline Structures On A Treated Substrate From A Supersaturated Solution Of C</a:t>
            </a:r>
            <a:r>
              <a:rPr lang="en-US" b="1" baseline="-25000" dirty="0">
                <a:latin typeface="Comic Sans MS" pitchFamily="66" charset="0"/>
              </a:rPr>
              <a:t>12</a:t>
            </a:r>
            <a:r>
              <a:rPr lang="en-US" b="1" dirty="0">
                <a:latin typeface="Comic Sans MS" pitchFamily="66" charset="0"/>
              </a:rPr>
              <a:t>H</a:t>
            </a:r>
            <a:r>
              <a:rPr lang="en-US" b="1" baseline="-25000" dirty="0">
                <a:latin typeface="Comic Sans MS" pitchFamily="66" charset="0"/>
              </a:rPr>
              <a:t>22</a:t>
            </a:r>
            <a:r>
              <a:rPr lang="en-US" b="1" dirty="0">
                <a:latin typeface="Comic Sans MS" pitchFamily="66" charset="0"/>
              </a:rPr>
              <a:t>O</a:t>
            </a:r>
            <a:r>
              <a:rPr lang="en-US" b="1" baseline="-25000" dirty="0">
                <a:latin typeface="Comic Sans MS" pitchFamily="66" charset="0"/>
              </a:rPr>
              <a:t>11</a:t>
            </a:r>
            <a:endParaRPr lang="en-US" b="1" dirty="0">
              <a:latin typeface="Comic Sans MS" pitchFamily="66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2400" y="5715000"/>
            <a:ext cx="3800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omic Sans MS" pitchFamily="66" charset="0"/>
              </a:rPr>
              <a:t>No!!!  Too Complicated!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92262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omic Sans MS" pitchFamily="66" charset="0"/>
              </a:rPr>
              <a:t>Better Title:</a:t>
            </a:r>
            <a:br>
              <a:rPr lang="en-US" sz="4800" dirty="0">
                <a:latin typeface="Comic Sans MS" pitchFamily="66" charset="0"/>
              </a:rPr>
            </a:br>
            <a:r>
              <a:rPr lang="en-US" sz="4800" dirty="0">
                <a:latin typeface="Comic Sans MS" pitchFamily="66" charset="0"/>
              </a:rPr>
              <a:t>Making Rock Candy!</a:t>
            </a:r>
          </a:p>
        </p:txBody>
      </p:sp>
      <p:pic>
        <p:nvPicPr>
          <p:cNvPr id="1026" name="Picture 2" descr="http://www-static.weddingbee.com/pics/43408/rock_cand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05125" y="1990725"/>
            <a:ext cx="3333750" cy="3333750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3600" y="5650468"/>
            <a:ext cx="487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mic Sans MS" pitchFamily="66" charset="0"/>
              </a:rPr>
              <a:t>And Other Crystals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81000" y="381000"/>
            <a:ext cx="8305800" cy="8382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0000"/>
                </a:solidFill>
                <a:latin typeface="Comic Sans MS" pitchFamily="66" charset="0"/>
              </a:rPr>
              <a:t>Funny Election Sign</a:t>
            </a:r>
            <a:endParaRPr lang="en-US" sz="4400" dirty="0">
              <a:solidFill>
                <a:srgbClr val="113EFB"/>
              </a:solidFill>
              <a:latin typeface="Comic Sans MS" pitchFamily="66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143000" y="1600199"/>
            <a:ext cx="6934200" cy="4648201"/>
            <a:chOff x="1143000" y="1600199"/>
            <a:chExt cx="6934200" cy="4648201"/>
          </a:xfrm>
        </p:grpSpPr>
        <p:pic>
          <p:nvPicPr>
            <p:cNvPr id="24578" name="Picture 2" descr="ball,candidate,Congress,crystal,crystal ball,foresight,future,Krystal,last name,name,politics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143000" y="1600199"/>
              <a:ext cx="6934200" cy="4618179"/>
            </a:xfrm>
            <a:prstGeom prst="rect">
              <a:avLst/>
            </a:prstGeom>
            <a:noFill/>
          </p:spPr>
        </p:pic>
        <p:sp>
          <p:nvSpPr>
            <p:cNvPr id="8" name="Rectangle 7"/>
            <p:cNvSpPr/>
            <p:nvPr/>
          </p:nvSpPr>
          <p:spPr>
            <a:xfrm>
              <a:off x="1143000" y="5943600"/>
              <a:ext cx="6934200" cy="304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Lab Safety Today</a:t>
            </a:r>
          </a:p>
        </p:txBody>
      </p:sp>
      <p:sp>
        <p:nvSpPr>
          <p:cNvPr id="9218" name="AutoShape 2" descr="data:image/jpeg;base64,/9j/4AAQSkZJRgABAQAAAQABAAD/2wCEAAkGBxEHEBMUDxIRFBUTERUSFhQTFBcVEBISFhIYFhgUExcaHCggGSYxGxgXJTElJSkrOi4uFx8/ODMxQyotOi0BCgoKDg0OFxAQFzclHCQxLTUsLi43LCwtLCwsLCwvLSwsNzcwKzcrLis1LDcsNS4rLC03Ky0rLCwtLSwuLC8sN//AABEIAOAA4AMBIgACEQEDEQH/xAAcAAEAAgMBAQEAAAAAAAAAAAAAAwUCBAYBBwj/xABFEAACAgECBAMFBAcEBwkAAAABAgADEQQhBRIxQQYTUSIyQlJhBxRxgRUjM0ORobFEU2OCFiQ0YnKi8GSSs8HCw9Hh8f/EABkBAQEBAQEBAAAAAAAAAAAAAAABAgMFBP/EACIRAQEAAgEDBQEBAAAAAAAAAAABAhEDEiGBBDFBUWHwE//aAAwDAQACEQMRAD8A+4xEQEREBERAREQEREBERAREQEREBERAREQESs4jxyrQWpSed7XRrBXWMsK1IBdiSFQZOBzEZOcZwZo38R1N3u+VSPoDbZj6E8qqfyaWS1Nuh6Si1ni7R6clUsNzg8pr0yte6t6PyAhP8xEptVw5NYP9ZazUeovbmqP40gCr/lmbuunT4URRnsqKB/ITXQnUw1vinXXqTRp6tMvz6t/MtG/aikkH6frOpG0svBj6qxb/AL5cbXFqjHIiCrNSv5YVfoyncnr1OMzT4fpTqCLbAQBvWjbEf4jjsfQfCPqdrTwmwtXUOPj1lo/OoLpz/OrH5SWSLKvIiJlSIiAiIgIiICIiAiIgIiICIiAiIgIiICVPiTjY4LUCF8y61vLopBw11pGcZ+FQMszdlB+gOzxjilXBqWuuJCrjYDLuxOFRF+JiSAB3JnK8M09t9jarWAC+xeVa85XSUE5FCHoT0LsPeYegWWTaW6S8K4edEHe5vM1FxD3W4wGYDARB8KKNlX0yTuSTtO8O813edWCyzHWRcP036QIscfqwQ1an94RuLWHp3Ufn6Yg0lP6YbJ/2dTt/2hh/7YP/AHyPl9/ogJnagmt9njebw2izf9cbdRv1/X32Xf8ArkHiTV/o/Ram3+701rj8RWSP5yx8Gab7nw3RIeqaOhT+IqXP85nJqLmIiZUiIgIiICIiAiIgIiICIiAiIgIiICRarUJpEay1lREUuzMcKqqMliewxJZwmv1X+l9uBvoaLMj5ddfW2zfWpGG3zsM9FGbJse0O/iC9dXepWpM/dKW2KgjB1Vq/OwOFB9xT6scWTvDvNex509mB3ldUv6adlXPkIxWxx+9cHBpQ+gOzH8VG/NjCwtxaxqamKopxfapww2z5NZ7MR1I90H1Ix0OloXTqqVqFVVCqqjCqoGAAO0ipqkCgADAAwANgB6CS4niiQa7WDRgeyXdzy11rjntfGcLnptuSdgASZBR/aHRbruH26fTANdqSlNa/NmxS5+gFYYk9sTuKKxSqqOiqF/gMSv4Pws6Um28h73GGIz5daZyKqc9Fz1PVjuewFpMVoiIgIiICIiAiIgIiICIiAiIgIiICInL+LON2K40miONRYvM9uAV0dBODaw7sdwi9zudlMDU8R8Sbjtz6LTswqrwNZchwdxn7pUw+Ij3yPdUgdW22K0XTqqIoVUUKqqMKqgYCqB0GJDoNHXwypaqhhV9TlmJOWdyd2YkkknqSZ7Y83OzJY8p9XqLNfadPpmKsADdcBkadD0C52NhHQdh7R7BnEda9tgo02Dcw5mY7pp6icebZ6nYhV+Ij0BIueF8PTh1YSvOMklmOXdzuzue5J3JgTcP0aaGta6l5VUYAySfUkk7sSckk7kkkzdQTBBIeI8QXhyr7LO7tyVVJjzbrMZ5EB26Akk4CgEkgCRUnENcuhVfZZ3duSupMeZa+M8q56bZJJ2UAk7CbfBeFNpSbdQVe9xhiv7OpOvk0535c7kndjuewXHgXCW0xN2pKvqHXDFc+XTXnIopzvyjbLYBcjJx7IW4mVIiICIiAiIgIiICIiAiIgIiICIiAiJWeIeN18BoNtuWJYJXWu9l1zbJVWO5J/gASdgYGt4p48eEIqUqLNTeStFROASB7VlhHRFBBY/gBuRKPhHD/ANGIeZzbbY3mX3MMPdaRuxHwjsqjZQABIuF6KxXs1OrIbU3gByN0pqGSmnp/3Rk5PxMST2xu2PNSaZpY8puLcRatlp04D6i0HkU55K1Gxutx0Uf8xwB1294zxT7lypWvmXWkrVUDgsR1Zj8KjqzdvxIE2uBcJ/RwZnbzLrSGttxjnI6Ko+FBkhV7b9ySWxPwbha8MQgEu7Nz2Wt79thGC7f0AGwAAHSWiCYIJFxDXrw9QSGd3bkrqTBtusIyEQH6Akk7KASSADCpOIa9eHqCQzu7cldSYNt1hGQiA/QEknAUAkkAGbvAuDtpmN+pKvqXXlJXeuiskHyKM9sgFmwC5AJwAqr5wHgraZjfqir6l15crk16eskHyKM9sgczYBcgE4AVVu5lSIiAiIgIiICIiAiIgIiICIiAiIgIiYu4rBLEAAZJOwAHUkwIOJa+rhdL3XuErrUu7HoAP6/QdzOG0fmcauGt1aFCFI0tD9dLUw3dx/eMMc3yj2fXPl2sPi68WsCNFQ+dOh/tVqn/AGpx8gP7MHr73yyyseaiV67yp41xVeGoDgu7tyVVL+0tsPRV/qT0AyTHGuLV8JqNlmTuFVFGbLbDstda/ExPaa3AOGWFzqdYB57rhUBymlqO/lIe5+Zu5+gEDY4BwhtIWu1BD6m0DnYe5WgOVoqz0UZ/zHJP0vUEwQSLiGvXh6gkM7u3JXUm9t1h6Ig/iSTsACSQAZBJxDXrw9QSGd3bkrqTBtusPREB/MknYAEkgAyx8P8ABG0zG/VFX1Lry+zvVp6yc+TRntkDmbYuRk4AULj4e4E2mY6jVlX1Lry+zvVpqzv5NOfy5m6uR2AUC/kUiIgIiICIiAiIgIiICIiAiIgIiICIiAnA+I9efFNzaaliNHS/LqrF/tVi/wBkQ/KD+0I6+7803PF3Gn1ljaDROVsKg6m9OukpYbKh7WsPd+Ue16Zg0mmr4dUlVKhErUKqjoAP6/j3lgnYhAAAAAMADYADoBK7ivEq+G1Nbc3KijJPcnoFUdyTsBM9frU0VbWWsFRAWZj0AE57hWjfj9y6vVKVrQ82l07fD6am4d3I90fCD6yo2+CcPs19o1esXlfB8ig9NNWfib/EI6nsNvWdKgkaCR8Q168OQFgzMzBK60GbbrD0rrHc/wAgAScAGQZ8Q168OQEhnZmCV1JvbdYeiVj16nPQAEnABlp4b4C2mY6nVlX1LrygLvVpqzv5NOfy5n6sR2AAHnhrgD6ZvvOs5W1LryhVOatLWd/Jq9TsOZ+rEdgAB0cikREBERAREQEREBERAREQEREBETlePaluO2PpKWK0ptq7VJDHIB+6VMOhIPtsPdU4G7ZUNnh3i/T667kAsVHc10XuANPqnXZlpfPXIIGcc+CV5gDOhnOanS1W1eU1aGrlCeXyjy+QDAUL0A9PTE1dDxOzgWEuZ7tP0Fpy+o047C7vanbn94bc3NuwDrZzPjHxE3DOTT6UB9XqAfLU7pTWNm1N3oo7D4mwB3xteJfElfBNOLFHnWW4XT1IwzqLGGVCnoFxuW6AZM5bhOhfS89uocWam8hrrB7u3u1Vg9EUbAfiTuYE3C+HpwmvkUlmZjZZY29l1rbtZYe5J/gMDtPdVqVoVmdgqqCzMxwqqBkkntMrrQoJJwAMknoB6mcaGPjS3uNBU/4ffbFP/hgj8z/Kom0KN4utW+1SujrbmoqYYOpcHa+0H4flU9ep+vYKJFWvKAAMAbADoB6CRcR4gnDUDMGZmYJXWgzbdYfdrrXuT/IZJwBCpeIa9OHICwZmZgldaDNt1h6V1r3P8gAScAGXHhjw++mb7zrOVtS68qqu9WkrO/lVHuenM/xEdgAJj4W8Ovpm+863lbUspCqDzVaSo/uqj3PTmf4iPQCdPIEREBERAREQEREBERAREQEREBERA8Ycwx/TrODHhvX+GAfuFg1mn5mc6XUsF1KlmLsadRjDEsTtYP8ANO9iBw3D/ENPEXNft1XqMtp718vUKPUKffH+8pI+s27Hlv4m4fo9bQza9azXUC/mP7LU4+NLBhkP1Ugz4tZ9pFXD9S1dDXanSjAWy7C6oHvykgB1GwHPhuuSe+scMspbJ7DsdTw37reNRp1BZVZPKZj5fK7czmjO1TE7nAw3fGeYbmn16awEoTlTysrDDo2M8rr2P9RgjIM0eF8d0/Gk5tPYGx1XpYn/ABqdx/5yHjPB14vW6871s6FPMrOH5T8LfMv0PqcYmRS6vUN4xtamliujrbF9qnB1Lj9zUfl9SOv9eu01C0KqooVVAVVUYVVGwAEreEKmhVNP5YqKLhEH7N1HVq2+L1IO479QTt8S4inC6+Z+YksEStBzW3WtstdS/ExP/wB7QJOJcRThiBnDMWYJXWg5rbrW92ute5P8up6S88J+HH07fetdynVMpCoDzVaOs/uqj3Y7c7/EdhsBMPCPhl6H+968KdUykJWDzVaKtutVR7sfjfv0G3XrYCIiAiIgIiICIiAiIgIiICIiAiIgIiICIny37WftIv8AC1w0ulrTnejzGtffkDllXy1B6jlY+19NjN8fHlyZTHCbqW6c/wDan9p6a9btDpq2CeYarrWxlgh9pK0PT2hjmO+AcDfI+T+RXb7j4Po3/X/zMmvrvJNgPMSSWySxJ3JY9Sc9zPPugs9xwfoev/X5T1OOY8Gpblx5ffvjWL3/AEqS7QOHrLKy9HrJDD+G8+v+AvFa8fTy7cLqEHtDoLFHxqP6jtPjuLNP8wH8Vk+k4k9LoyZFisCj1/tA3bl9fTHfOI9RxcnNh1SY5a+ce18wlkfojU6JNYhSxcg/UhlI6MrDdSOxBBE0uD018B1h1GvL2qECU6l8FNGpGHFiKPY5u93ps3IB7W5wy61G8jWKqahUDkLnyrkOB5tJIyRnYg7qdjsVLWq15nkOjqFYOAQQQRkEbgj1E9nDaejUeHDzaFfNozl9EWxyju2jY7Vn/DPsntynJPW8H4nXxihLqebksGRzoyON8EFWAI3BgbkREBERAREQEREBERAREQEREBItTqE0iNZYwVEUuzMcKqqMliewAElnJfaE9qV0nyXt0ot59WKvatFabpmvq6c+C4XfC4wQWgaemXW64tra7WrssINWltyNMdIB7Fd69Udsly4GULge0FIPRcB4/XxkMuGquqwLtPZgW1E9Dts6ns65B9diBX6biCaxFep1dHHMrKcqwPcGaHGeHDiPK6WPRfXnytRXjzK89VIOzqe6NsfxwYGH2ueKLvDWjX7o6LfbaEXI5nFYUl3RSCNjyjLbe164n5y1nFLtXY76hjY9jFnazdmP/wCYA9AAB0m94q4PrOEaphqyz2OS63cxIvGcllY7k+q9RmVf3phs4DfRhvPX9PwY9OsZjn51k52+HvNVZ1BQ/TcTz7oTujK34bGM1WfMh+m4k+i4TbxCxK9MPNd2Coqe8WP9O5JzsASZ36/8+3XcPzObni/Se6Kp7lIUBiTsFwWJPoO5/Kfoj7L/AANp+GaWrUanTqdVYBaTcil6Dn2FrB9w4wSeuTv0AEH2PeCr/DldtuvqRb3PKntLZbXUOoLKSoycHYnoM+g+kzy/U8szupjJZ8471W5FZx7g68YQDJSys89NwGXqsxjOPiBGzL8QJEo+Fatr2eq5RXqKsCysHKkHPLbUfiRsHB7YIOCCJ18quOcAp43yGw2IyZAsqc12+W21lRYb8rAYI+gIIIBHytKnTVnxAzIhI0yMVssBwb3U4aio/KCCHf8AFRvzFeprrFQCqAAoAAAwAAMAAdpjp6F0yKlaqqIoVVUAKqgYCqB0GJJAREQEREBERAREQEREBERAREQERED574m0P6G1afo1Rz3iy+/Tc3Lp2rXANybYrsLsoHQN7WemZlo+KJrQSuQVPK6MOWyt8Z5XU9DuD9QQRkETZ8R8O1XCdXbrqVbVVW1V13acAfeaUq5iG0vzjLMSh3JOx7DXNFHHq11OksGSMLao3IB/Z3KcE4OcqcEZOMGBBxfQ08aqNWoQOp/irdmU9VP1E+R+LPCmo8Oe0R940+drce3X6C4dv+Lofp0n1mq0o/JYOR8ZxnKuB1atviH8x3A2lvQA4wQCCMEEZBB6gjvLjdXY/NdGnTXOqVB/MsZURBuXdiFVR23JA6iff/sy+zL/AERsOovuFlzUivkVcV1FiGcBsnn6KAcDodt9tLS+BtNwPXJrdNp/NVCWOnDYNTf32mBPKxG/6tvxUggA/S+Ha+ridYsocOhyM7ggg4Ksp3Ug5BUgEEEET6ub1OWWPRjlen6vf+jMjZiInyNEREBERAREQEREBERAREQEREBERAREQEREBOX414XPmtquHstOob9ojZ+66sel6j3W9LF3HfmG06iIHAWa7T8RrsXVr93spAa6q9gllHpatgOCvy2Kcfgcia/Ddc9KGyxbDph7mrZORWHrYuxA/wAXlCn6bZ7jiPBdNxR631FFVrUtzVtYgYo3qpP5H8QD2E3iM9YFFpTNNP12r/1LaxXQal8Z0/Jtmu0fHZye7jdfZ5jykK0mo8KsrBdLqGo07ftKUX2kHy6WzP6kHoRg4Huch3l/otHXoK1rpRURRgKvQb5J+pzkk9yTAniIgIiICIiAiIgIiICIiAiIgIiICIiAiIgIiICIiAiIgIiICIiAiIgIiICIiAiIgIiICIiAiIgIiICIiB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20" name="AutoShape 4" descr="data:image/jpeg;base64,/9j/4AAQSkZJRgABAQAAAQABAAD/2wCEAAkGBxEHEBMUDxIRFBUTERUSFhQTFBcVEBISFhIYFhgUExcaHCggGSYxGxgXJTElJSkrOi4uFx8/ODMxQyotOi0BCgoKDg0OFxAQFzclHCQxLTUsLi43LCwtLCwsLCwvLSwsNzcwKzcrLis1LDcsNS4rLC03Ky0rLCwtLSwuLC8sN//AABEIAOAA4AMBIgACEQEDEQH/xAAcAAEAAgMBAQEAAAAAAAAAAAAAAwUCBAYBBwj/xABFEAACAgECBAMFBAcEBwkAAAABAgADEQQhBRIxQQYTUSIyQlJhBxRxgRUjM0ORobFEU2OCFiQ0YnKi8GSSs8HCw9Hh8f/EABkBAQEBAQEBAAAAAAAAAAAAAAABAgMFBP/EACIRAQEAAgEDBQEBAAAAAAAAAAABAhEDEiGBBDFBUWHwE//aAAwDAQACEQMRAD8A+4xEQEREBERAREQEREBERAREQEREBERAREQESs4jxyrQWpSed7XRrBXWMsK1IBdiSFQZOBzEZOcZwZo38R1N3u+VSPoDbZj6E8qqfyaWS1Nuh6Si1ni7R6clUsNzg8pr0yte6t6PyAhP8xEptVw5NYP9ZazUeovbmqP40gCr/lmbuunT4URRnsqKB/ITXQnUw1vinXXqTRp6tMvz6t/MtG/aikkH6frOpG0svBj6qxb/AL5cbXFqjHIiCrNSv5YVfoyncnr1OMzT4fpTqCLbAQBvWjbEf4jjsfQfCPqdrTwmwtXUOPj1lo/OoLpz/OrH5SWSLKvIiJlSIiAiIgIiICIiAiIgIiICIiAiIgIiICVPiTjY4LUCF8y61vLopBw11pGcZ+FQMszdlB+gOzxjilXBqWuuJCrjYDLuxOFRF+JiSAB3JnK8M09t9jarWAC+xeVa85XSUE5FCHoT0LsPeYegWWTaW6S8K4edEHe5vM1FxD3W4wGYDARB8KKNlX0yTuSTtO8O813edWCyzHWRcP036QIscfqwQ1an94RuLWHp3Ufn6Yg0lP6YbJ/2dTt/2hh/7YP/AHyPl9/ogJnagmt9njebw2izf9cbdRv1/X32Xf8ArkHiTV/o/Ram3+701rj8RWSP5yx8Gab7nw3RIeqaOhT+IqXP85nJqLmIiZUiIgIiICIiAiIgIiICIiAiIgIiICRarUJpEay1lREUuzMcKqqMliewxJZwmv1X+l9uBvoaLMj5ddfW2zfWpGG3zsM9FGbJse0O/iC9dXepWpM/dKW2KgjB1Vq/OwOFB9xT6scWTvDvNex509mB3ldUv6adlXPkIxWxx+9cHBpQ+gOzH8VG/NjCwtxaxqamKopxfapww2z5NZ7MR1I90H1Ix0OloXTqqVqFVVCqqjCqoGAAO0ipqkCgADAAwANgB6CS4niiQa7WDRgeyXdzy11rjntfGcLnptuSdgASZBR/aHRbruH26fTANdqSlNa/NmxS5+gFYYk9sTuKKxSqqOiqF/gMSv4Pws6Um28h73GGIz5daZyKqc9Fz1PVjuewFpMVoiIgIiICIiAiIgIiICIiAiIgIiICInL+LON2K40miONRYvM9uAV0dBODaw7sdwi9zudlMDU8R8Sbjtz6LTswqrwNZchwdxn7pUw+Ij3yPdUgdW22K0XTqqIoVUUKqqMKqgYCqB0GJDoNHXwypaqhhV9TlmJOWdyd2YkkknqSZ7Y83OzJY8p9XqLNfadPpmKsADdcBkadD0C52NhHQdh7R7BnEda9tgo02Dcw5mY7pp6icebZ6nYhV+Ij0BIueF8PTh1YSvOMklmOXdzuzue5J3JgTcP0aaGta6l5VUYAySfUkk7sSckk7kkkzdQTBBIeI8QXhyr7LO7tyVVJjzbrMZ5EB26Akk4CgEkgCRUnENcuhVfZZ3duSupMeZa+M8q56bZJJ2UAk7CbfBeFNpSbdQVe9xhiv7OpOvk0535c7kndjuewXHgXCW0xN2pKvqHXDFc+XTXnIopzvyjbLYBcjJx7IW4mVIiICIiAiIgIiICIiAiIgIiICIiAiJWeIeN18BoNtuWJYJXWu9l1zbJVWO5J/gASdgYGt4p48eEIqUqLNTeStFROASB7VlhHRFBBY/gBuRKPhHD/ANGIeZzbbY3mX3MMPdaRuxHwjsqjZQABIuF6KxXs1OrIbU3gByN0pqGSmnp/3Rk5PxMST2xu2PNSaZpY8puLcRatlp04D6i0HkU55K1Gxutx0Uf8xwB1294zxT7lypWvmXWkrVUDgsR1Zj8KjqzdvxIE2uBcJ/RwZnbzLrSGttxjnI6Ko+FBkhV7b9ySWxPwbha8MQgEu7Nz2Wt79thGC7f0AGwAAHSWiCYIJFxDXrw9QSGd3bkrqTBtusIyEQH6Akk7KASSADCpOIa9eHqCQzu7cldSYNt1hGQiA/QEknAUAkkAGbvAuDtpmN+pKvqXXlJXeuiskHyKM9sgFmwC5AJwAqr5wHgraZjfqir6l15crk16eskHyKM9sgczYBcgE4AVVu5lSIiAiIgIiICIiAiIgIiICIiAiIgIiYu4rBLEAAZJOwAHUkwIOJa+rhdL3XuErrUu7HoAP6/QdzOG0fmcauGt1aFCFI0tD9dLUw3dx/eMMc3yj2fXPl2sPi68WsCNFQ+dOh/tVqn/AGpx8gP7MHr73yyyseaiV67yp41xVeGoDgu7tyVVL+0tsPRV/qT0AyTHGuLV8JqNlmTuFVFGbLbDstda/ExPaa3AOGWFzqdYB57rhUBymlqO/lIe5+Zu5+gEDY4BwhtIWu1BD6m0DnYe5WgOVoqz0UZ/zHJP0vUEwQSLiGvXh6gkM7u3JXUm9t1h6Ig/iSTsACSQAZBJxDXrw9QSGd3bkrqTBtusPREB/MknYAEkgAyx8P8ABG0zG/VFX1Lry+zvVp6yc+TRntkDmbYuRk4AULj4e4E2mY6jVlX1Lry+zvVpqzv5NOfy5m6uR2AUC/kUiIgIiICIiAiIgIiICIiAiIgIiICIiAnA+I9efFNzaaliNHS/LqrF/tVi/wBkQ/KD+0I6+7803PF3Gn1ljaDROVsKg6m9OukpYbKh7WsPd+Ue16Zg0mmr4dUlVKhErUKqjoAP6/j3lgnYhAAAAAMADYADoBK7ivEq+G1Nbc3KijJPcnoFUdyTsBM9frU0VbWWsFRAWZj0AE57hWjfj9y6vVKVrQ82l07fD6am4d3I90fCD6yo2+CcPs19o1esXlfB8ig9NNWfib/EI6nsNvWdKgkaCR8Q168OQFgzMzBK60GbbrD0rrHc/wAgAScAGQZ8Q168OQEhnZmCV1JvbdYeiVj16nPQAEnABlp4b4C2mY6nVlX1LrygLvVpqzv5NOfy5n6sR2AAHnhrgD6ZvvOs5W1LryhVOatLWd/Jq9TsOZ+rEdgAB0cikREBERAREQEREBERAREQEREBETlePaluO2PpKWK0ptq7VJDHIB+6VMOhIPtsPdU4G7ZUNnh3i/T667kAsVHc10XuANPqnXZlpfPXIIGcc+CV5gDOhnOanS1W1eU1aGrlCeXyjy+QDAUL0A9PTE1dDxOzgWEuZ7tP0Fpy+o047C7vanbn94bc3NuwDrZzPjHxE3DOTT6UB9XqAfLU7pTWNm1N3oo7D4mwB3xteJfElfBNOLFHnWW4XT1IwzqLGGVCnoFxuW6AZM5bhOhfS89uocWam8hrrB7u3u1Vg9EUbAfiTuYE3C+HpwmvkUlmZjZZY29l1rbtZYe5J/gMDtPdVqVoVmdgqqCzMxwqqBkkntMrrQoJJwAMknoB6mcaGPjS3uNBU/4ffbFP/hgj8z/Kom0KN4utW+1SujrbmoqYYOpcHa+0H4flU9ep+vYKJFWvKAAMAbADoB6CRcR4gnDUDMGZmYJXWgzbdYfdrrXuT/IZJwBCpeIa9OHICwZmZgldaDNt1h6V1r3P8gAScAGXHhjw++mb7zrOVtS68qqu9WkrO/lVHuenM/xEdgAJj4W8Ovpm+863lbUspCqDzVaSo/uqj3PTmf4iPQCdPIEREBERAREQEREBERAREQEREBERA8Ycwx/TrODHhvX+GAfuFg1mn5mc6XUsF1KlmLsadRjDEsTtYP8ANO9iBw3D/ENPEXNft1XqMtp718vUKPUKffH+8pI+s27Hlv4m4fo9bQza9azXUC/mP7LU4+NLBhkP1Ugz4tZ9pFXD9S1dDXanSjAWy7C6oHvykgB1GwHPhuuSe+scMspbJ7DsdTw37reNRp1BZVZPKZj5fK7czmjO1TE7nAw3fGeYbmn16awEoTlTysrDDo2M8rr2P9RgjIM0eF8d0/Gk5tPYGx1XpYn/ABqdx/5yHjPB14vW6871s6FPMrOH5T8LfMv0PqcYmRS6vUN4xtamliujrbF9qnB1Lj9zUfl9SOv9eu01C0KqooVVAVVUYVVGwAEreEKmhVNP5YqKLhEH7N1HVq2+L1IO479QTt8S4inC6+Z+YksEStBzW3WtstdS/ExP/wB7QJOJcRThiBnDMWYJXWg5rbrW92ute5P8up6S88J+HH07fetdynVMpCoDzVaOs/uqj3Y7c7/EdhsBMPCPhl6H+968KdUykJWDzVaKtutVR7sfjfv0G3XrYCIiAiIgIiICIiAiIgIiICIiAiIgIiICIny37WftIv8AC1w0ulrTnejzGtffkDllXy1B6jlY+19NjN8fHlyZTHCbqW6c/wDan9p6a9btDpq2CeYarrWxlgh9pK0PT2hjmO+AcDfI+T+RXb7j4Po3/X/zMmvrvJNgPMSSWySxJ3JY9Sc9zPPugs9xwfoev/X5T1OOY8Gpblx5ffvjWL3/AEqS7QOHrLKy9HrJDD+G8+v+AvFa8fTy7cLqEHtDoLFHxqP6jtPjuLNP8wH8Vk+k4k9LoyZFisCj1/tA3bl9fTHfOI9RxcnNh1SY5a+ce18wlkfojU6JNYhSxcg/UhlI6MrDdSOxBBE0uD018B1h1GvL2qECU6l8FNGpGHFiKPY5u93ps3IB7W5wy61G8jWKqahUDkLnyrkOB5tJIyRnYg7qdjsVLWq15nkOjqFYOAQQQRkEbgj1E9nDaejUeHDzaFfNozl9EWxyju2jY7Vn/DPsntynJPW8H4nXxihLqebksGRzoyON8EFWAI3BgbkREBERAREQEREBERAREQEREBItTqE0iNZYwVEUuzMcKqqMliewAElnJfaE9qV0nyXt0ot59WKvatFabpmvq6c+C4XfC4wQWgaemXW64tra7WrssINWltyNMdIB7Fd69Udsly4GULge0FIPRcB4/XxkMuGquqwLtPZgW1E9Dts6ns65B9diBX6biCaxFep1dHHMrKcqwPcGaHGeHDiPK6WPRfXnytRXjzK89VIOzqe6NsfxwYGH2ueKLvDWjX7o6LfbaEXI5nFYUl3RSCNjyjLbe164n5y1nFLtXY76hjY9jFnazdmP/wCYA9AAB0m94q4PrOEaphqyz2OS63cxIvGcllY7k+q9RmVf3phs4DfRhvPX9PwY9OsZjn51k52+HvNVZ1BQ/TcTz7oTujK34bGM1WfMh+m4k+i4TbxCxK9MPNd2Coqe8WP9O5JzsASZ36/8+3XcPzObni/Se6Kp7lIUBiTsFwWJPoO5/Kfoj7L/AANp+GaWrUanTqdVYBaTcil6Dn2FrB9w4wSeuTv0AEH2PeCr/DldtuvqRb3PKntLZbXUOoLKSoycHYnoM+g+kzy/U8szupjJZ8471W5FZx7g68YQDJSys89NwGXqsxjOPiBGzL8QJEo+Fatr2eq5RXqKsCysHKkHPLbUfiRsHB7YIOCCJ18quOcAp43yGw2IyZAsqc12+W21lRYb8rAYI+gIIIBHytKnTVnxAzIhI0yMVssBwb3U4aio/KCCHf8AFRvzFeprrFQCqAAoAAAwAAMAAdpjp6F0yKlaqqIoVVUAKqgYCqB0GJJAREQEREBERAREQEREBERAREQERED574m0P6G1afo1Rz3iy+/Tc3Lp2rXANybYrsLsoHQN7WemZlo+KJrQSuQVPK6MOWyt8Z5XU9DuD9QQRkETZ8R8O1XCdXbrqVbVVW1V13acAfeaUq5iG0vzjLMSh3JOx7DXNFHHq11OksGSMLao3IB/Z3KcE4OcqcEZOMGBBxfQ08aqNWoQOp/irdmU9VP1E+R+LPCmo8Oe0R940+drce3X6C4dv+Lofp0n1mq0o/JYOR8ZxnKuB1atviH8x3A2lvQA4wQCCMEEZBB6gjvLjdXY/NdGnTXOqVB/MsZURBuXdiFVR23JA6iff/sy+zL/AERsOovuFlzUivkVcV1FiGcBsnn6KAcDodt9tLS+BtNwPXJrdNp/NVCWOnDYNTf32mBPKxG/6tvxUggA/S+Ha+ridYsocOhyM7ggg4Ksp3Ug5BUgEEEET6ub1OWWPRjlen6vf+jMjZiInyNEREBERAREQEREBERAREQEREBERAREQEREBOX414XPmtquHstOob9ojZ+66sel6j3W9LF3HfmG06iIHAWa7T8RrsXVr93spAa6q9gllHpatgOCvy2Kcfgcia/Ddc9KGyxbDph7mrZORWHrYuxA/wAXlCn6bZ7jiPBdNxR631FFVrUtzVtYgYo3qpP5H8QD2E3iM9YFFpTNNP12r/1LaxXQal8Z0/Jtmu0fHZye7jdfZ5jykK0mo8KsrBdLqGo07ftKUX2kHy6WzP6kHoRg4Huch3l/otHXoK1rpRURRgKvQb5J+pzkk9yTAniIgIiICIiAiIgIiICIiAiIgIiICIiAiIgIiICIiAiIgIiICIiAiIgIiICIiAiIgIiICIiAiIgIiICIiB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24" name="AutoShape 8" descr="data:image/jpeg;base64,/9j/4AAQSkZJRgABAQAAAQABAAD/2wCEAAkGBxMHBhUIERAWFhUXGBYYFRQXFhUaGxcfFBMXGBkXGh0aHCggGh0nGxgULT0iJSkrLi4uGB8zOD8tNyktLisBCgoKDg0OGxAQGy8kICQ4LTc3Ny81NDA2Mi8yLDUvMDI0NzUtLDQ1NTctLTQ3LjcvNCwvMC0sLCw0NCwsLywsNP/AABEIAQsAvQMBEQACEQEDEQH/xAAcAAEAAQUBAQAAAAAAAAAAAAAABgMEBQcIAQL/xAA9EAACAQIEAwUDCgYCAwEAAAAAAQIDEQQFBiESMUEHUWFxgRMikRQVIzJCcqGxwfAIFlJigtGioySSwhf/xAAbAQEAAwEBAQEAAAAAAAAAAAAAAwQFBgIBB//EADMRAQACAQIEAwUIAwADAAAAAAABAgMEEQUSITFBUWETcZGx8AYUIjKBocHRQuHxFiMz/9oADAMBAAIRAxEAPwDeIAAAAAAAAAAAAAAAAAAAAAAAAAAAAAAAAAAAAAAAAAAADG4DMflGZVcNf6r930SjJfH8yxlw8uOtvNjaLiUZtZmwTP5Z6fp0n9/myRXbIAAt8PjI4jEVKMecGk/VX/fkQYtRXJe9K/47boceeuS9qR/iuCdMAAAAAAAAAAAAB81JqlTdSTSSTbb5JLdtn2ImZ2gep8Suj4Ckm2r8ufgNh6AAt8TjKeF+vNRvyv1PdMdr/lhV1Gtwabb2torv5rOpn9CMXad33cMv9E0aTLPgzcn2h0FYna+8+6f6RXA4x4XHrFc97y8U+f6mpkxxek0cNotbbT6queevXr6xPf680hep6fSE/wDj/sz/ALjfzh1s/arTeFLft/bJ0K88VhXUUOBv6vHv6tK23qU89JrvFJjf9m5ps+XUYufk5N+2/wDMMDiNS1cJUdCpQipL+528Hy3RzebjWbDaceTHG/vZ2TiubHaaXpG/vY7IM2WX4mc6nE1NK7Vm7p3u7vxZncM4jXT5LWybzzfNS0GsjBe033nf5pXgM1p5hLhpuTa5+7LbzdrfidRptdh1H/zmfhP/AB0Gn1mLPO1N/hP/ABfFxaAAAAAAAAAAABTxNSFLDynUcVBJuTk0klbdtvZKx6pFptEV7+j5MxEdWgMFrTF5BhauUYeupUlKUaU5LicIxk0nTb5Jq2zTS6JHfZOF6fU2rmy12t4x23n1/wBMj7zem9YneG3eziiqekaVb2ntJ1b1atTi4nKc3upO+8oq0Xf+k5Li9pnV2rttFekR26R5ek9/1aWnj/1xPfdJjMTAFOvQjiKTpTimn0Z6raazvCLPgx56TTJG8SiWeZP83r20ZXi3az5rZv1WzNXTan2n4Zjq4HjXBY0Ue1x23rM7bT3if57MQW3PpBpjL4V08VLdxdlHotr38TP1ma1fwR4ut+zfDsGbfUX6zWdojy9fX0+tpQZrtkR1TN43M44OnDilFb2V3eVnbySt8TluMzbPqK4cdd5jy9f6/lzvFLTmzxipG8x5ev1+7G4HA8OcQwdeLV3Zq9uadt10vbkZ2m0m2rrhz12U8On21FcWaE9o0Y0KapwiopcklY7emOuOvLSNodZSlaRy1jaH2e3oAAAAAAAAAAAGH1HpujqOiqFeVTgW/BGbjFvvaW0n53t0Lmk1uTSzzY4jf1jdHkxxeNpatzjs+jS11Qyak5qhVhxubacoqDftEnbn9Szae81zOo0/GbW0V899uas7fHt/PwUL6SPaxWOzYWl9FQ0xiXUoYqu4y+vSm6bhJ2spWUE1LxTXjc5/W8UvrKxGSld48Y33+cruLDGP8spQZaYAAR7VPFiK1PBwV27uy+C/+i/otqxa9nJfaX2mbJi02KN5nedv2j+SjpmLwlpTfH3rkvC3UW1083SOhi+y2P2G2S08/nHaPT1/Z8ZNh6mVZl7Ca92eykuTa3X67eJ61F6ZsfNXvCPhGn1HDdZ7LNH4b9ImO0zHWP56T1SQznYqdKhGi24xSu7t9W31b6nimOlN+WNt3imOtN+WO6jjcBHGSjN7ShJSjJc1Zp28U7ciLPpqZprae9Z3iUWfTUyzWZ7xMTErosLAAAAAAAAAAAAAACnKhGWIWIcVxxjKKl1Sm4uS8m4Q/wDVHqL2is136T/H/ZfNvFUPL6AAAHwqSVV1bbtWv4LofeadtkcYqRecm3Wem/p5Ps+JHjVw+TET3eh9AAAAAAAAAAAAAAAAAAAAAAAHl97AegAAAAAAi+F1QqWr62RVnbePsZd/FTjJ0343bt527iWcc8kWhsZOGTbQ01WP15o90zG/9/HzZbMM9w+X1lh51V7STSjSj7025OyXCt1d9XZHiKTPVSw6HPmrN61/DHjPSPiyR5VAAAAAAAAAB5KSirt25fi7L8Q+xEz2eh8AAAA9gLHEzuwPcHUlKfBe68QL0AAAAR/U+p1kNN/+PVqO17qElTXnNq3wuSUx83i0+H8MnVz+etY9/X4f8aczzNZZxm08yklGUmto3suGKiue97Jbl+lIrXZ32k0tdNgrhrO8R5+s7/ylXZRhKWIzmeJnJOpCN6cH14rqU/RWX+RBqZmIiIYv2ky5KYK0rH4ZnrPyj68m2Sm4gAAAAAAAAARDtSx7wGluKMmpSq0lFrmnGXtE/wDrKurty4+no3fs9gjNrNrRvERbf3THL/LMaUzuOoMjhj1bifu1Ir7M4/WX5NeDRLhyRkpFlDiOito9RbFPbw9Y8PrzZclUQABTry4YgY6bvIC9wdPgpcXf+0BcAYLOtV4fIsbHDYnjpqSvCo4OUJd6Tjdpra90uaL2n4fm1FJti2nbvG/WPilphteN69WL0rqxah1TiaMJfQ04RVJf1WlLiqd+916Jcncta7h33XS47W/NMzv6dOkfXiky4PZ0rM95TEx1YA1hrDTzzXXlPBUoqKnSjOpJJLhSnJSk7c3sl5tFvFk5cczLsOF8QjT8NtkvO+0zEe/aNo+vDdm//wA8p4TGRxuFxFSlUi043tOK8LbNpq/N9WR+3mY2sz//ACDJkxzjz0i1Z/Sf5+SZU78C4rXtvblfrYgYE7b9Oz6D4AAAAAAAiWedoOGybEPDTp1nNfZ9m4+v0nDdeKuVsmqpSdp3bmj4BqdTXnrNYj37/LdrvXGtv5nw8MLGi6cYScrufE5e7ZbWVub6soajU+1jbbZ1XCOC/cbTeb80zG3bbb92EybUeJyOlOlh6zgptOStGXK+64k7c+ncu4ipmvTpWWhquHabVTFs1d5j3x8tk20NgsbqjE/OGKxNb5PF/V45RVVr7KSaXCur9F1tb09cmWea0zt83PcXzaPQU9lgx19pPpE8sefv8vj5b7ViuGPClt3Gk4qZ36y9AssVPcChRh7Sqo/EDKAAIP2oRnmeAhklDDOtVnJTultSUftOT2i5brd8uLwNvgs1w3nPkvy1jp7/ANPHb+lvSTFbc9p2j5oBpPRssbqueUYpzoypQdR8FuJ2lBLhluvtXvvyN/XcTrj0sZsO1otO3X3T3+C7m1ERj5q9d27svwccBhVh4ynJLrOc5y+Mm36cjicuWcluaYj9IiPkyLW3ndckb4pqhFYl4jhXG4qLl1tFyaXleUvifd/B79pbl5N+nf8AX6hUPjwAAAAAAAAALLNcpo5xhvk9elGcel1uvGLW8X4o8XpW8bWhY02qzaa/PitMT9d/No/XuQU9O558jpSlKMoKfvWvHilJcN1z+r+JkanFGO+0P0Xg2vya3T+0yRETE7dPHpHX90bK7WdA6EzWGbaYpVYJRcEqc4xSSjKCSdkuSas/U29PeL44mH5fxjS30+rvW0779YmfGJ+tv0SAnZiPa2zVZbk7V95XXouf78wNGUe1jF5Nmrp7V6K506j3X3JrddOfEvADe+jc1jn+Q084jTnTVVNqNRLiSUmr7Pk2rp9VZgZ0AAAtpYGnLMI4/h+kjCVNS68MpRk4vvV4p+G/eySMt4xzj36TO/6/UvXNO23guSN5AAAAAAAAAAAAAAazznS89V6+qyleOHpKnCc/6n7OMnCPj73Pp8E8++Gcuad+0Ou0vE6cP4bSK9b23mI8usxvPw/X4pxitO4XFZdHL54eDpxVoRtvH7rW6fje7Lk4qTXlmOjncfENTjyzmreeae/r7/BjNNaU/lrMZyoVXKhUXvUp84SjylGS2as2rNJ8t3YjxYPZWnlnpK5r+KffsVYy12vXxjxjymPr3Qk5YY7SHa7qTinKKey2j6fv8QNS6TySeqNTUcqje9WfvyX2Yr3py9Ip/gB2Hg8NDBYSGFpxUYQjGEIrlFRSSS8kkBWAAAAFCjio1sVPDrnDh4v8k2l+BFTNW97UjvXbf9UlsVq0refHf9lclRgAAAAAAAAAAAAeJWBu9AAYbVeZLLcolO+8k0v1f77wOWdbZo8fmThfZMDa/wDDrpn2GBq6lqR3qXpUfuxf0kl5zSXh7N94G6AAAD4q8Xs3w24ul729bHm3Nt+Hu+123/F2RutqmeFqyoVMPaS/u+HTl6mDk43fFaaZMe0x6/6a1eGUvEWpfpPp/tjdO5tHB46dWtJ2mrt2b34r9PNlDhevriy3tmn83z3W9bpZyY61xx2+SW4PM6WNlw06ik+dt0/g9zpsOswZumO0SxMumy4ut67LwsoAAAAAAAAAAAAAAADT/a7qJR4qSe0VZfq/iBo3Kcvqahz2nl9NXnWmorw4nvJ+CV2/BMDsbJ8thk+VUstpK0KUIwj5RVrvxfPzYF4AAAAIbq2p8rzOOFpw4pRW9ldvi34du5fmzluNW9tnrix13mPLv18PrzbvDa+zxTe07RP19e5jMuwPtM3jgqqcd2pLk+Ta+O3xM3S6Xm1UYc0THn8FzNm2wzkx9U+wmEhg6XsqcFFeHXzfN+p22HBjw15ccbQ5rJlvkne87q5KjAAAAAAAAAAAAAAY7P8AMFluVyr33taPmwOW9f5u8bj3ST67gT3+HXTHtcVV1NUjtC9KhdfakvpJryi1G6/rmugG+AAAAAAo0MLDDtyjFJybcn1bbvu+bI8eGlN5rHfu93yWvtFp7LfHZbHF14YnlOEotS70ndxfhz8iDUaSmW9cna1Zjr6eX12S4dRbHW1PCfrdfFtXAAAAAAAAAAAAAAANW9rWoFQpvDp7RTXr1/fgBz1CnPN80jQguKdWcYQj3uclGK+LQHYWlckhpzT1HKKfKnBJv+qT3nL1k5P1AyoAAAAAAAAAAAAAAAAAAAAAAC0zbGrL8BLEPotvPoBy/wBo+dPGYx0r83uBI/4e9MfOGfTz+pH3MOuGn3OpNWv48MG/WcX0A6IAAAAAAAAAAAAAAAAAAAAAAAANddquerC4b5MnyV35tf6/MDmzGVpZhj3JJycnaKSu3d2SS6tgdbaA04tK6Uo5XZcajxVWutSe89+qT2T7ooCRAAAAAAAAAAAAAAAAAAAAAAAKGOxKweEliHyir/6XxA5n7Ts9eLxUqfFu27/qBW7CNM/PervnGcb0sLapvydR39kvRqUv8F3gdMgAAAAAAAAAAAAAAAAAAAAAAAEG7Tc7WCwHyZPpeX6L996A5izjGPG4+VV9+wHU3ZTpn+VtG0sNKNqtT6Wt3qU0rRf3YqK8031AmAAAAAAAAAAAAAAAAAAAAAAACnXrKhRdaXJJt+gHOXarqF4nESjfeTYGH7G9M/zJrOm5xvSofTVO58L9yHrO23VRkB1SAAAAAAAAAAAAAAAAAAAAAAAARHtEzhZflfsE95bvyXL8fyA5d1BjnjsxlO+yewHR/Ynpj+XtHRxE42rYm1We26i19FD0i72fJzkBsEAAAAAAAAAAAAAAAAAAAAAAB8zmqcHN7JK7fkBz92s6jdetJJ89kvwQEI7NNNvVesaWAkr00/aV/uU2m0/vNxj/AJgdcpWVkB6AAAAAAAAAAAAAAAAAAAAAAAjeus2WXZQ4X3l+S/f5gctapzF4/Mm77Jgb47AtM/NGl3m842qYpqSvzVOF1D4tyl4px7gNogAAAAAAAAAAAAAAAAAAAAAADdlcDRXa5qT2lSST25R8un78QNXaMyGWqtU0cqV7TnepJfZhH3py8+FO1+rS6gdhYejHDUI0IRUYxSjGK5JRVkl4JAVAAAAAAAAAAAAAAAAAAAAAAAGD1fmay3KJO+8rpeXX9+IHLOs8zePzJxvsmBuH+HfTPyTKamoqkferN06XhThL3mvvTX/WgNwgAAAAAAAAAAAAAAAAAAAAAAAGme13UaTlTi9oqy9OvxA0tkOV1NSagpZZT+vWmo358Ke8pPwjFN+SA7FyvAQyvLqeX0lanThGEF4QSSu+r25gXQAAAAAAAAAAAAAAAAAAAAAADF6kzFZblUq192rL16/ADlrXmbPHZg6d9r7gbH/h00zvV1NUj30aF/R1Jr/irr+9AbyAAAAAAAAAAAAAAAAAAAAAAAANUdreoVSi6Ce0U169f34AaBwuGqZ3m8MLTXFUqzjCC8Zuy8kB2HpvJoafyKjlNL6tKCje1uJ85SfjKTk34tgZIAAAAAAAAAAAAAAAAAAAAAABZZzjll+XSxD5pbeb5fvwA5d7RM5eMxrpJ9dwJZ/Dvpn5ZnFTUVSPuUV7Ol41Jx95r7sH/wBi7gOgwAAAAAAAAAAAAAAAAAAAAAAADWvavnyw1B4ZP6q383+/zA5xrynmWY2inKU5KMYrm3J2SXi2wOu9EafjpfS9HKY2vCN6jX2py96b8uJu3gkBnQAAAAAAAAAAAAAAAAAAAAAAFvmGKWCwcsQ/sr8ei+IHMnaZnjxeLdPiu23f9QMh2B6Y+eNUvN6kb0sKlJXW0qkrqC5fZXFLbk1DvA6TAAAAAAAAAAAAAAAAAAAAAAAALDOssWb4F4WU5RvylG2z8nzA511/2X5jlmJljow+U0v66KblFf3U95LrvHiSS3aA3f2ZaZ/lXR9LAyVqsl7St9+aTaf3Vwx/xAlQAAAAAAAAAAAAAAAAAAAAAAAAAAAAAAAAAAAAAAAAAAAAAAAAAAD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26" name="AutoShape 10" descr="data:image/jpeg;base64,/9j/4AAQSkZJRgABAQAAAQABAAD/2wCEAAkGBxMHBhUIERAWFhUXGBYYFRQXFhUaGxcfFBMXGBkXGh0aHCggGh0nGxgULT0iJSkrLi4uGB8zOD8tNyktLisBCgoKDg0OGxAQGy8kICQ4LTc3Ny81NDA2Mi8yLDUvMDI0NzUtLDQ1NTctLTQ3LjcvNCwvMC0sLCw0NCwsLywsNP/AABEIAQsAvQMBEQACEQEDEQH/xAAcAAEAAQUBAQAAAAAAAAAAAAAABgMEBQcIAQL/xAA9EAACAQIEAwUDCgYCAwEAAAAAAQIDEQQFBiESMUEHUWFxgRMikRQVIzJCcqGxwfAIFlJigtGioySSwhf/xAAbAQEAAwEBAQEAAAAAAAAAAAAAAwQFBgIBB//EADMRAQACAQIEAwUIAwADAAAAAAABAgMEEQUSITFBUWETcZGx8AYUIjKBocHRQuHxFiMz/9oADAMBAAIRAxEAPwDeIAAAAAAAAAAAAAAAAAAAAAAAAAAAAAAAAAAAAAAAAAAADG4DMflGZVcNf6r930SjJfH8yxlw8uOtvNjaLiUZtZmwTP5Z6fp0n9/myRXbIAAt8PjI4jEVKMecGk/VX/fkQYtRXJe9K/47boceeuS9qR/iuCdMAAAAAAAAAAAAB81JqlTdSTSSTbb5JLdtn2ImZ2gep8Suj4Ckm2r8ufgNh6AAt8TjKeF+vNRvyv1PdMdr/lhV1Gtwabb2torv5rOpn9CMXad33cMv9E0aTLPgzcn2h0FYna+8+6f6RXA4x4XHrFc97y8U+f6mpkxxek0cNotbbT6queevXr6xPf680hep6fSE/wDj/sz/ALjfzh1s/arTeFLft/bJ0K88VhXUUOBv6vHv6tK23qU89JrvFJjf9m5ps+XUYufk5N+2/wDMMDiNS1cJUdCpQipL+528Hy3RzebjWbDaceTHG/vZ2TiubHaaXpG/vY7IM2WX4mc6nE1NK7Vm7p3u7vxZncM4jXT5LWybzzfNS0GsjBe033nf5pXgM1p5hLhpuTa5+7LbzdrfidRptdh1H/zmfhP/AB0Gn1mLPO1N/hP/ABfFxaAAAAAAAAAAABTxNSFLDynUcVBJuTk0klbdtvZKx6pFptEV7+j5MxEdWgMFrTF5BhauUYeupUlKUaU5LicIxk0nTb5Jq2zTS6JHfZOF6fU2rmy12t4x23n1/wBMj7zem9YneG3eziiqekaVb2ntJ1b1atTi4nKc3upO+8oq0Xf+k5Li9pnV2rttFekR26R5ek9/1aWnj/1xPfdJjMTAFOvQjiKTpTimn0Z6raazvCLPgx56TTJG8SiWeZP83r20ZXi3az5rZv1WzNXTan2n4Zjq4HjXBY0Ue1x23rM7bT3if57MQW3PpBpjL4V08VLdxdlHotr38TP1ma1fwR4ut+zfDsGbfUX6zWdojy9fX0+tpQZrtkR1TN43M44OnDilFb2V3eVnbySt8TluMzbPqK4cdd5jy9f6/lzvFLTmzxipG8x5ev1+7G4HA8OcQwdeLV3Zq9uadt10vbkZ2m0m2rrhz12U8On21FcWaE9o0Y0KapwiopcklY7emOuOvLSNodZSlaRy1jaH2e3oAAAAAAAAAAAGH1HpujqOiqFeVTgW/BGbjFvvaW0n53t0Lmk1uTSzzY4jf1jdHkxxeNpatzjs+jS11Qyak5qhVhxubacoqDftEnbn9Szae81zOo0/GbW0V899uas7fHt/PwUL6SPaxWOzYWl9FQ0xiXUoYqu4y+vSm6bhJ2spWUE1LxTXjc5/W8UvrKxGSld48Y33+cruLDGP8spQZaYAAR7VPFiK1PBwV27uy+C/+i/otqxa9nJfaX2mbJi02KN5nedv2j+SjpmLwlpTfH3rkvC3UW1083SOhi+y2P2G2S08/nHaPT1/Z8ZNh6mVZl7Ca92eykuTa3X67eJ61F6ZsfNXvCPhGn1HDdZ7LNH4b9ImO0zHWP56T1SQznYqdKhGi24xSu7t9W31b6nimOlN+WNt3imOtN+WO6jjcBHGSjN7ShJSjJc1Zp28U7ciLPpqZprae9Z3iUWfTUyzWZ7xMTErosLAAAAAAAAAAAAAACnKhGWIWIcVxxjKKl1Sm4uS8m4Q/wDVHqL2is136T/H/ZfNvFUPL6AAAHwqSVV1bbtWv4LofeadtkcYqRecm3Wem/p5Ps+JHjVw+TET3eh9AAAAAAAAAAAAAAAAAAAAAAAHl97AegAAAAAAi+F1QqWr62RVnbePsZd/FTjJ0343bt527iWcc8kWhsZOGTbQ01WP15o90zG/9/HzZbMM9w+X1lh51V7STSjSj7025OyXCt1d9XZHiKTPVSw6HPmrN61/DHjPSPiyR5VAAAAAAAAAB5KSirt25fi7L8Q+xEz2eh8AAAA9gLHEzuwPcHUlKfBe68QL0AAAAR/U+p1kNN/+PVqO17qElTXnNq3wuSUx83i0+H8MnVz+etY9/X4f8aczzNZZxm08yklGUmto3suGKiue97Jbl+lIrXZ32k0tdNgrhrO8R5+s7/ylXZRhKWIzmeJnJOpCN6cH14rqU/RWX+RBqZmIiIYv2ky5KYK0rH4ZnrPyj68m2Sm4gAAAAAAAAARDtSx7wGluKMmpSq0lFrmnGXtE/wDrKurty4+no3fs9gjNrNrRvERbf3THL/LMaUzuOoMjhj1bifu1Ir7M4/WX5NeDRLhyRkpFlDiOito9RbFPbw9Y8PrzZclUQABTry4YgY6bvIC9wdPgpcXf+0BcAYLOtV4fIsbHDYnjpqSvCo4OUJd6Tjdpra90uaL2n4fm1FJti2nbvG/WPilphteN69WL0rqxah1TiaMJfQ04RVJf1WlLiqd+916Jcncta7h33XS47W/NMzv6dOkfXiky4PZ0rM95TEx1YA1hrDTzzXXlPBUoqKnSjOpJJLhSnJSk7c3sl5tFvFk5cczLsOF8QjT8NtkvO+0zEe/aNo+vDdm//wA8p4TGRxuFxFSlUi043tOK8LbNpq/N9WR+3mY2sz//ACDJkxzjz0i1Z/Sf5+SZU78C4rXtvblfrYgYE7b9Oz6D4AAAAAAAiWedoOGybEPDTp1nNfZ9m4+v0nDdeKuVsmqpSdp3bmj4BqdTXnrNYj37/LdrvXGtv5nw8MLGi6cYScrufE5e7ZbWVub6soajU+1jbbZ1XCOC/cbTeb80zG3bbb92EybUeJyOlOlh6zgptOStGXK+64k7c+ncu4ipmvTpWWhquHabVTFs1d5j3x8tk20NgsbqjE/OGKxNb5PF/V45RVVr7KSaXCur9F1tb09cmWea0zt83PcXzaPQU9lgx19pPpE8sefv8vj5b7ViuGPClt3Gk4qZ36y9AssVPcChRh7Sqo/EDKAAIP2oRnmeAhklDDOtVnJTultSUftOT2i5brd8uLwNvgs1w3nPkvy1jp7/ANPHb+lvSTFbc9p2j5oBpPRssbqueUYpzoypQdR8FuJ2lBLhluvtXvvyN/XcTrj0sZsO1otO3X3T3+C7m1ERj5q9d27svwccBhVh4ynJLrOc5y+Mm36cjicuWcluaYj9IiPkyLW3ndckb4pqhFYl4jhXG4qLl1tFyaXleUvifd/B79pbl5N+nf8AX6hUPjwAAAAAAAAALLNcpo5xhvk9elGcel1uvGLW8X4o8XpW8bWhY02qzaa/PitMT9d/No/XuQU9O558jpSlKMoKfvWvHilJcN1z+r+JkanFGO+0P0Xg2vya3T+0yRETE7dPHpHX90bK7WdA6EzWGbaYpVYJRcEqc4xSSjKCSdkuSas/U29PeL44mH5fxjS30+rvW0779YmfGJ+tv0SAnZiPa2zVZbk7V95XXouf78wNGUe1jF5Nmrp7V6K506j3X3JrddOfEvADe+jc1jn+Q084jTnTVVNqNRLiSUmr7Pk2rp9VZgZ0AAAtpYGnLMI4/h+kjCVNS68MpRk4vvV4p+G/eySMt4xzj36TO/6/UvXNO23guSN5AAAAAAAAAAAAAAazznS89V6+qyleOHpKnCc/6n7OMnCPj73Pp8E8++Gcuad+0Ou0vE6cP4bSK9b23mI8usxvPw/X4pxitO4XFZdHL54eDpxVoRtvH7rW6fje7Lk4qTXlmOjncfENTjyzmreeae/r7/BjNNaU/lrMZyoVXKhUXvUp84SjylGS2as2rNJ8t3YjxYPZWnlnpK5r+KffsVYy12vXxjxjymPr3Qk5YY7SHa7qTinKKey2j6fv8QNS6TySeqNTUcqje9WfvyX2Yr3py9Ip/gB2Hg8NDBYSGFpxUYQjGEIrlFRSSS8kkBWAAAAFCjio1sVPDrnDh4v8k2l+BFTNW97UjvXbf9UlsVq0refHf9lclRgAAAAAAAAAAAAeJWBu9AAYbVeZLLcolO+8k0v1f77wOWdbZo8fmThfZMDa/wDDrpn2GBq6lqR3qXpUfuxf0kl5zSXh7N94G6AAAD4q8Xs3w24ul729bHm3Nt+Hu+123/F2RutqmeFqyoVMPaS/u+HTl6mDk43fFaaZMe0x6/6a1eGUvEWpfpPp/tjdO5tHB46dWtJ2mrt2b34r9PNlDhevriy3tmn83z3W9bpZyY61xx2+SW4PM6WNlw06ik+dt0/g9zpsOswZumO0SxMumy4ut67LwsoAAAAAAAAAAAAAAADT/a7qJR4qSe0VZfq/iBo3Kcvqahz2nl9NXnWmorw4nvJ+CV2/BMDsbJ8thk+VUstpK0KUIwj5RVrvxfPzYF4AAAAIbq2p8rzOOFpw4pRW9ldvi34du5fmzluNW9tnrix13mPLv18PrzbvDa+zxTe07RP19e5jMuwPtM3jgqqcd2pLk+Ta+O3xM3S6Xm1UYc0THn8FzNm2wzkx9U+wmEhg6XsqcFFeHXzfN+p22HBjw15ccbQ5rJlvkne87q5KjAAAAAAAAAAAAAAY7P8AMFluVyr33taPmwOW9f5u8bj3ST67gT3+HXTHtcVV1NUjtC9KhdfakvpJryi1G6/rmugG+AAAAAAo0MLDDtyjFJybcn1bbvu+bI8eGlN5rHfu93yWvtFp7LfHZbHF14YnlOEotS70ndxfhz8iDUaSmW9cna1Zjr6eX12S4dRbHW1PCfrdfFtXAAAAAAAAAAAAAAANW9rWoFQpvDp7RTXr1/fgBz1CnPN80jQguKdWcYQj3uclGK+LQHYWlckhpzT1HKKfKnBJv+qT3nL1k5P1AyoAAAAAAAAAAAAAAAAAAAAAAC0zbGrL8BLEPotvPoBy/wBo+dPGYx0r83uBI/4e9MfOGfTz+pH3MOuGn3OpNWv48MG/WcX0A6IAAAAAAAAAAAAAAAAAAAAAAAANddquerC4b5MnyV35tf6/MDmzGVpZhj3JJycnaKSu3d2SS6tgdbaA04tK6Uo5XZcajxVWutSe89+qT2T7ooCRAAAAAAAAAAAAAAAAAAAAAAAKGOxKweEliHyir/6XxA5n7Ts9eLxUqfFu27/qBW7CNM/PervnGcb0sLapvydR39kvRqUv8F3gdMgAAAAAAAAAAAAAAAAAAAAAAAEG7Tc7WCwHyZPpeX6L996A5izjGPG4+VV9+wHU3ZTpn+VtG0sNKNqtT6Wt3qU0rRf3YqK8031AmAAAAAAAAAAAAAAAAAAAAAAACnXrKhRdaXJJt+gHOXarqF4nESjfeTYGH7G9M/zJrOm5xvSofTVO58L9yHrO23VRkB1SAAAAAAAAAAAAAAAAAAAAAAAARHtEzhZflfsE95bvyXL8fyA5d1BjnjsxlO+yewHR/Ynpj+XtHRxE42rYm1We26i19FD0i72fJzkBsEAAAAAAAAAAAAAAAAAAAAAAB8zmqcHN7JK7fkBz92s6jdetJJ89kvwQEI7NNNvVesaWAkr00/aV/uU2m0/vNxj/AJgdcpWVkB6AAAAAAAAAAAAAAAAAAAAAAAjeus2WXZQ4X3l+S/f5gctapzF4/Mm77Jgb47AtM/NGl3m842qYpqSvzVOF1D4tyl4px7gNogAAAAAAAAAAAAAAAAAAAAAADdlcDRXa5qT2lSST25R8un78QNXaMyGWqtU0cqV7TnepJfZhH3py8+FO1+rS6gdhYejHDUI0IRUYxSjGK5JRVkl4JAVAAAAAAAAAAAAAAAAAAAAAAAGD1fmay3KJO+8rpeXX9+IHLOs8zePzJxvsmBuH+HfTPyTKamoqkferN06XhThL3mvvTX/WgNwgAAAAAAAAAAAAAAAAAAAAAAAGme13UaTlTi9oqy9OvxA0tkOV1NSagpZZT+vWmo358Ke8pPwjFN+SA7FyvAQyvLqeX0lanThGEF4QSSu+r25gXQAAAAAAAAAAAAAAAAAAAAAADF6kzFZblUq192rL16/ADlrXmbPHZg6d9r7gbH/h00zvV1NUj30aF/R1Jr/irr+9AbyAAAAAAAAAAAAAAAAAAAAAAAANUdreoVSi6Ce0U169f34AaBwuGqZ3m8MLTXFUqzjCC8Zuy8kB2HpvJoafyKjlNL6tKCje1uJ85SfjKTk34tgZIAAAAAAAAAAAAAAAAAAAAAABZZzjll+XSxD5pbeb5fvwA5d7RM5eMxrpJ9dwJZ/Dvpn5ZnFTUVSPuUV7Ol41Jx95r7sH/wBi7gOgwAAAAAAAAAAAAAAAAAAAAAAADWvavnyw1B4ZP6q383+/zA5xrynmWY2inKU5KMYrm3J2SXi2wOu9EafjpfS9HKY2vCN6jX2py96b8uJu3gkBnQAAAAAAAAAAAAAAAAAAAAAAFvmGKWCwcsQ/sr8ei+IHMnaZnjxeLdPiu23f9QMh2B6Y+eNUvN6kb0sKlJXW0qkrqC5fZXFLbk1DvA6TAAAAAAAAAAAAAAAAAAAAAAAALDOssWb4F4WU5RvylG2z8nzA511/2X5jlmJljow+U0v66KblFf3U95LrvHiSS3aA3f2ZaZ/lXR9LAyVqsl7St9+aTaf3Vwx/xAlQAAAAAAAAAAAAAAAAAAAAAAAAAAAAAAAAAAAAAAAAAAAAAAAAAAD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626" name="AutoShape 2" descr="Image result for image of fingers stuck together with super glu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8674" name="Picture 2" descr="Image result for image of a hot stov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2400" y="1604962"/>
            <a:ext cx="2952750" cy="1552576"/>
          </a:xfrm>
          <a:prstGeom prst="rect">
            <a:avLst/>
          </a:prstGeom>
          <a:noFill/>
        </p:spPr>
      </p:pic>
      <p:pic>
        <p:nvPicPr>
          <p:cNvPr id="28676" name="Picture 4" descr="Image result for image of a hot stov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51214" y="3505200"/>
            <a:ext cx="2706786" cy="2743200"/>
          </a:xfrm>
          <a:prstGeom prst="rect">
            <a:avLst/>
          </a:prstGeom>
          <a:noFill/>
        </p:spPr>
      </p:pic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600200"/>
            <a:ext cx="3810000" cy="4038599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omic Sans MS" pitchFamily="66" charset="0"/>
              </a:rPr>
              <a:t>We will be using </a:t>
            </a:r>
            <a:r>
              <a:rPr lang="en-US" b="1" dirty="0">
                <a:solidFill>
                  <a:srgbClr val="FF0000"/>
                </a:solidFill>
                <a:latin typeface="Comic Sans MS" pitchFamily="66" charset="0"/>
              </a:rPr>
              <a:t>a hot stove </a:t>
            </a:r>
            <a:r>
              <a:rPr lang="en-US" dirty="0">
                <a:latin typeface="Comic Sans MS" pitchFamily="66" charset="0"/>
              </a:rPr>
              <a:t>to make our rock candy solution. Let the adults do the cooking!</a:t>
            </a:r>
          </a:p>
          <a:p>
            <a:r>
              <a:rPr lang="en-US" dirty="0">
                <a:latin typeface="Comic Sans MS" pitchFamily="66" charset="0"/>
              </a:rPr>
              <a:t>Be careful with          your glass jars</a:t>
            </a:r>
          </a:p>
          <a:p>
            <a:endParaRPr lang="en-US" dirty="0">
              <a:latin typeface="Comic Sans MS" pitchFamily="66" charset="0"/>
            </a:endParaRPr>
          </a:p>
          <a:p>
            <a:pPr>
              <a:buNone/>
            </a:pPr>
            <a:endParaRPr lang="en-US" dirty="0">
              <a:latin typeface="Comic Sans MS" pitchFamily="66" charset="0"/>
            </a:endParaRPr>
          </a:p>
          <a:p>
            <a:pPr>
              <a:buNone/>
            </a:pPr>
            <a:endParaRPr lang="en-US" dirty="0">
              <a:latin typeface="Comic Sans MS" pitchFamily="66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mic Sans MS" pitchFamily="66" charset="0"/>
              </a:rPr>
              <a:t>Experiment 1: Growing Rock Candy Crystals That You Can Eat</a:t>
            </a:r>
          </a:p>
        </p:txBody>
      </p:sp>
      <p:sp>
        <p:nvSpPr>
          <p:cNvPr id="16" name="Can 15"/>
          <p:cNvSpPr/>
          <p:nvPr/>
        </p:nvSpPr>
        <p:spPr>
          <a:xfrm>
            <a:off x="4572001" y="2705101"/>
            <a:ext cx="1878290" cy="3448050"/>
          </a:xfrm>
          <a:prstGeom prst="ca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http://static01.nyt.com/images/2012/05/13/magazine/13wmt/13wmt-articleLarge-v4.png"/>
          <p:cNvPicPr>
            <a:picLocks noChangeAspect="1" noChangeArrowheads="1"/>
          </p:cNvPicPr>
          <p:nvPr/>
        </p:nvPicPr>
        <p:blipFill>
          <a:blip r:embed="rId3" cstate="print"/>
          <a:srcRect l="44278" t="3522" r="44389" b="4216"/>
          <a:stretch>
            <a:fillRect/>
          </a:stretch>
        </p:blipFill>
        <p:spPr bwMode="auto">
          <a:xfrm rot="3887484">
            <a:off x="5191160" y="1973451"/>
            <a:ext cx="422376" cy="1925536"/>
          </a:xfrm>
          <a:prstGeom prst="rect">
            <a:avLst/>
          </a:prstGeom>
          <a:noFill/>
        </p:spPr>
      </p:pic>
      <p:sp>
        <p:nvSpPr>
          <p:cNvPr id="15" name="Freeform 14"/>
          <p:cNvSpPr/>
          <p:nvPr/>
        </p:nvSpPr>
        <p:spPr>
          <a:xfrm>
            <a:off x="4581525" y="3400425"/>
            <a:ext cx="1866900" cy="2800350"/>
          </a:xfrm>
          <a:custGeom>
            <a:avLst/>
            <a:gdLst>
              <a:gd name="connsiteX0" fmla="*/ 0 w 1762125"/>
              <a:gd name="connsiteY0" fmla="*/ 220266 h 2095500"/>
              <a:gd name="connsiteX1" fmla="*/ 881063 w 1762125"/>
              <a:gd name="connsiteY1" fmla="*/ 440533 h 2095500"/>
              <a:gd name="connsiteX2" fmla="*/ 1762126 w 1762125"/>
              <a:gd name="connsiteY2" fmla="*/ 220268 h 2095500"/>
              <a:gd name="connsiteX3" fmla="*/ 1762125 w 1762125"/>
              <a:gd name="connsiteY3" fmla="*/ 1875234 h 2095500"/>
              <a:gd name="connsiteX4" fmla="*/ 1006928 w 1762125"/>
              <a:gd name="connsiteY4" fmla="*/ 2093241 h 2095500"/>
              <a:gd name="connsiteX5" fmla="*/ 755195 w 1762125"/>
              <a:gd name="connsiteY5" fmla="*/ 2093241 h 2095500"/>
              <a:gd name="connsiteX6" fmla="*/ -1 w 1762125"/>
              <a:gd name="connsiteY6" fmla="*/ 1875233 h 2095500"/>
              <a:gd name="connsiteX7" fmla="*/ 0 w 1762125"/>
              <a:gd name="connsiteY7" fmla="*/ 220266 h 2095500"/>
              <a:gd name="connsiteX0" fmla="*/ 0 w 1762125"/>
              <a:gd name="connsiteY0" fmla="*/ 220266 h 2095500"/>
              <a:gd name="connsiteX1" fmla="*/ 755197 w 1762125"/>
              <a:gd name="connsiteY1" fmla="*/ 2260 h 2095500"/>
              <a:gd name="connsiteX2" fmla="*/ 1006930 w 1762125"/>
              <a:gd name="connsiteY2" fmla="*/ 2260 h 2095500"/>
              <a:gd name="connsiteX3" fmla="*/ 1762126 w 1762125"/>
              <a:gd name="connsiteY3" fmla="*/ 220269 h 2095500"/>
              <a:gd name="connsiteX4" fmla="*/ 1006929 w 1762125"/>
              <a:gd name="connsiteY4" fmla="*/ 438276 h 2095500"/>
              <a:gd name="connsiteX5" fmla="*/ 755196 w 1762125"/>
              <a:gd name="connsiteY5" fmla="*/ 438276 h 2095500"/>
              <a:gd name="connsiteX6" fmla="*/ 0 w 1762125"/>
              <a:gd name="connsiteY6" fmla="*/ 220268 h 2095500"/>
              <a:gd name="connsiteX7" fmla="*/ 0 w 1762125"/>
              <a:gd name="connsiteY7" fmla="*/ 220266 h 2095500"/>
              <a:gd name="connsiteX0" fmla="*/ 1762125 w 1762125"/>
              <a:gd name="connsiteY0" fmla="*/ 220266 h 2095500"/>
              <a:gd name="connsiteX1" fmla="*/ 1006928 w 1762125"/>
              <a:gd name="connsiteY1" fmla="*/ 438273 h 2095500"/>
              <a:gd name="connsiteX2" fmla="*/ 755195 w 1762125"/>
              <a:gd name="connsiteY2" fmla="*/ 438273 h 2095500"/>
              <a:gd name="connsiteX3" fmla="*/ -1 w 1762125"/>
              <a:gd name="connsiteY3" fmla="*/ 220265 h 2095500"/>
              <a:gd name="connsiteX4" fmla="*/ 755196 w 1762125"/>
              <a:gd name="connsiteY4" fmla="*/ 2259 h 2095500"/>
              <a:gd name="connsiteX5" fmla="*/ 1006929 w 1762125"/>
              <a:gd name="connsiteY5" fmla="*/ 2259 h 2095500"/>
              <a:gd name="connsiteX6" fmla="*/ 1762125 w 1762125"/>
              <a:gd name="connsiteY6" fmla="*/ 220268 h 2095500"/>
              <a:gd name="connsiteX7" fmla="*/ 1762125 w 1762125"/>
              <a:gd name="connsiteY7" fmla="*/ 1875234 h 2095500"/>
              <a:gd name="connsiteX8" fmla="*/ 1006928 w 1762125"/>
              <a:gd name="connsiteY8" fmla="*/ 2093241 h 2095500"/>
              <a:gd name="connsiteX9" fmla="*/ 755195 w 1762125"/>
              <a:gd name="connsiteY9" fmla="*/ 2093241 h 2095500"/>
              <a:gd name="connsiteX10" fmla="*/ -1 w 1762125"/>
              <a:gd name="connsiteY10" fmla="*/ 1875233 h 2095500"/>
              <a:gd name="connsiteX11" fmla="*/ 0 w 1762125"/>
              <a:gd name="connsiteY11" fmla="*/ 220266 h 209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62125" h="2095500" stroke="0" extrusionOk="0">
                <a:moveTo>
                  <a:pt x="0" y="220266"/>
                </a:moveTo>
                <a:cubicBezTo>
                  <a:pt x="-2" y="341916"/>
                  <a:pt x="394464" y="440533"/>
                  <a:pt x="881063" y="440533"/>
                </a:cubicBezTo>
                <a:cubicBezTo>
                  <a:pt x="1367659" y="440533"/>
                  <a:pt x="1762124" y="341917"/>
                  <a:pt x="1762126" y="220268"/>
                </a:cubicBezTo>
                <a:cubicBezTo>
                  <a:pt x="1762126" y="771923"/>
                  <a:pt x="1762125" y="1323579"/>
                  <a:pt x="1762125" y="1875234"/>
                </a:cubicBezTo>
                <a:cubicBezTo>
                  <a:pt x="1762125" y="1984728"/>
                  <a:pt x="1440412" y="2077599"/>
                  <a:pt x="1006928" y="2093241"/>
                </a:cubicBezTo>
                <a:cubicBezTo>
                  <a:pt x="923450" y="2096253"/>
                  <a:pt x="838674" y="2096253"/>
                  <a:pt x="755195" y="2093241"/>
                </a:cubicBezTo>
                <a:cubicBezTo>
                  <a:pt x="321710" y="2077599"/>
                  <a:pt x="-4" y="1984728"/>
                  <a:pt x="-1" y="1875233"/>
                </a:cubicBezTo>
                <a:cubicBezTo>
                  <a:pt x="-1" y="1323577"/>
                  <a:pt x="0" y="771922"/>
                  <a:pt x="0" y="220266"/>
                </a:cubicBezTo>
                <a:close/>
              </a:path>
              <a:path w="1762125" h="2095500" fill="lighten" stroke="0" extrusionOk="0">
                <a:moveTo>
                  <a:pt x="0" y="220266"/>
                </a:moveTo>
                <a:cubicBezTo>
                  <a:pt x="2" y="110772"/>
                  <a:pt x="321715" y="17902"/>
                  <a:pt x="755197" y="2260"/>
                </a:cubicBezTo>
                <a:cubicBezTo>
                  <a:pt x="838675" y="-752"/>
                  <a:pt x="923451" y="-752"/>
                  <a:pt x="1006930" y="2260"/>
                </a:cubicBezTo>
                <a:cubicBezTo>
                  <a:pt x="1440417" y="17902"/>
                  <a:pt x="1762130" y="110774"/>
                  <a:pt x="1762126" y="220269"/>
                </a:cubicBezTo>
                <a:cubicBezTo>
                  <a:pt x="1762126" y="329763"/>
                  <a:pt x="1440413" y="422634"/>
                  <a:pt x="1006929" y="438276"/>
                </a:cubicBezTo>
                <a:cubicBezTo>
                  <a:pt x="923451" y="441288"/>
                  <a:pt x="838675" y="441288"/>
                  <a:pt x="755196" y="438276"/>
                </a:cubicBezTo>
                <a:cubicBezTo>
                  <a:pt x="321711" y="422634"/>
                  <a:pt x="-3" y="329763"/>
                  <a:pt x="0" y="220268"/>
                </a:cubicBezTo>
                <a:lnTo>
                  <a:pt x="0" y="220266"/>
                </a:lnTo>
                <a:close/>
              </a:path>
              <a:path w="1762125" h="2095500" fill="none" extrusionOk="0">
                <a:moveTo>
                  <a:pt x="1762125" y="220266"/>
                </a:moveTo>
                <a:cubicBezTo>
                  <a:pt x="1762125" y="329760"/>
                  <a:pt x="1440412" y="422631"/>
                  <a:pt x="1006928" y="438273"/>
                </a:cubicBezTo>
                <a:cubicBezTo>
                  <a:pt x="923450" y="441285"/>
                  <a:pt x="838674" y="441285"/>
                  <a:pt x="755195" y="438273"/>
                </a:cubicBezTo>
                <a:cubicBezTo>
                  <a:pt x="321710" y="422631"/>
                  <a:pt x="-4" y="329760"/>
                  <a:pt x="-1" y="220265"/>
                </a:cubicBezTo>
                <a:cubicBezTo>
                  <a:pt x="1" y="110771"/>
                  <a:pt x="321714" y="17901"/>
                  <a:pt x="755196" y="2259"/>
                </a:cubicBezTo>
                <a:cubicBezTo>
                  <a:pt x="838674" y="-753"/>
                  <a:pt x="923450" y="-753"/>
                  <a:pt x="1006929" y="2259"/>
                </a:cubicBezTo>
                <a:cubicBezTo>
                  <a:pt x="1440416" y="17901"/>
                  <a:pt x="1762129" y="110773"/>
                  <a:pt x="1762125" y="220268"/>
                </a:cubicBezTo>
                <a:lnTo>
                  <a:pt x="1762125" y="1875234"/>
                </a:lnTo>
                <a:cubicBezTo>
                  <a:pt x="1762125" y="1984728"/>
                  <a:pt x="1440412" y="2077599"/>
                  <a:pt x="1006928" y="2093241"/>
                </a:cubicBezTo>
                <a:cubicBezTo>
                  <a:pt x="923450" y="2096253"/>
                  <a:pt x="838674" y="2096253"/>
                  <a:pt x="755195" y="2093241"/>
                </a:cubicBezTo>
                <a:cubicBezTo>
                  <a:pt x="321710" y="2077599"/>
                  <a:pt x="-4" y="1984728"/>
                  <a:pt x="-1" y="1875233"/>
                </a:cubicBezTo>
                <a:cubicBezTo>
                  <a:pt x="-1" y="1323577"/>
                  <a:pt x="0" y="771922"/>
                  <a:pt x="0" y="220266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524500" y="2819400"/>
            <a:ext cx="66675" cy="2428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4572000" y="3224213"/>
            <a:ext cx="1" cy="2333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4569619" y="3088481"/>
            <a:ext cx="2382" cy="500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4669631" y="3043238"/>
            <a:ext cx="52388" cy="23812"/>
          </a:xfrm>
          <a:custGeom>
            <a:avLst/>
            <a:gdLst>
              <a:gd name="connsiteX0" fmla="*/ 0 w 52388"/>
              <a:gd name="connsiteY0" fmla="*/ 0 h 23812"/>
              <a:gd name="connsiteX1" fmla="*/ 52388 w 52388"/>
              <a:gd name="connsiteY1" fmla="*/ 23812 h 23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8" h="23812">
                <a:moveTo>
                  <a:pt x="0" y="0"/>
                </a:moveTo>
                <a:lnTo>
                  <a:pt x="52388" y="23812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>
            <a:off x="5338763" y="3171825"/>
            <a:ext cx="69056" cy="2381"/>
          </a:xfrm>
          <a:custGeom>
            <a:avLst/>
            <a:gdLst>
              <a:gd name="connsiteX0" fmla="*/ 69056 w 69056"/>
              <a:gd name="connsiteY0" fmla="*/ 2381 h 2381"/>
              <a:gd name="connsiteX1" fmla="*/ 0 w 69056"/>
              <a:gd name="connsiteY1" fmla="*/ 0 h 2381"/>
              <a:gd name="connsiteX2" fmla="*/ 0 w 69056"/>
              <a:gd name="connsiteY2" fmla="*/ 0 h 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56" h="2381">
                <a:moveTo>
                  <a:pt x="69056" y="238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4900613" y="3126581"/>
            <a:ext cx="164306" cy="16669"/>
          </a:xfrm>
          <a:custGeom>
            <a:avLst/>
            <a:gdLst>
              <a:gd name="connsiteX0" fmla="*/ 0 w 164306"/>
              <a:gd name="connsiteY0" fmla="*/ 0 h 16669"/>
              <a:gd name="connsiteX1" fmla="*/ 76200 w 164306"/>
              <a:gd name="connsiteY1" fmla="*/ 11907 h 16669"/>
              <a:gd name="connsiteX2" fmla="*/ 164306 w 164306"/>
              <a:gd name="connsiteY2" fmla="*/ 16669 h 16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306" h="16669">
                <a:moveTo>
                  <a:pt x="0" y="0"/>
                </a:moveTo>
                <a:cubicBezTo>
                  <a:pt x="24408" y="4564"/>
                  <a:pt x="48816" y="9129"/>
                  <a:pt x="76200" y="11907"/>
                </a:cubicBezTo>
                <a:cubicBezTo>
                  <a:pt x="103584" y="14685"/>
                  <a:pt x="133945" y="15677"/>
                  <a:pt x="164306" y="16669"/>
                </a:cubicBez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 rot="19457577">
            <a:off x="5484018" y="4155282"/>
            <a:ext cx="59532" cy="619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448301" y="4907757"/>
            <a:ext cx="59532" cy="619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 rot="633137">
            <a:off x="5476875" y="4460081"/>
            <a:ext cx="59532" cy="619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5591175" y="4305301"/>
            <a:ext cx="59532" cy="619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 rot="19384895">
            <a:off x="5557836" y="4783931"/>
            <a:ext cx="59532" cy="619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610251">
            <a:off x="5555456" y="4579145"/>
            <a:ext cx="59532" cy="619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5481637" y="4688682"/>
            <a:ext cx="59532" cy="619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 rot="300808">
            <a:off x="5560219" y="4931569"/>
            <a:ext cx="59532" cy="619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 rot="265929">
            <a:off x="5564982" y="4060032"/>
            <a:ext cx="59532" cy="619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46"/>
          <p:cNvSpPr/>
          <p:nvPr/>
        </p:nvSpPr>
        <p:spPr>
          <a:xfrm>
            <a:off x="5379244" y="2701925"/>
            <a:ext cx="121444" cy="5557"/>
          </a:xfrm>
          <a:custGeom>
            <a:avLst/>
            <a:gdLst>
              <a:gd name="connsiteX0" fmla="*/ 0 w 121444"/>
              <a:gd name="connsiteY0" fmla="*/ 5557 h 5557"/>
              <a:gd name="connsiteX1" fmla="*/ 80962 w 121444"/>
              <a:gd name="connsiteY1" fmla="*/ 794 h 5557"/>
              <a:gd name="connsiteX2" fmla="*/ 121444 w 121444"/>
              <a:gd name="connsiteY2" fmla="*/ 794 h 5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444" h="5557">
                <a:moveTo>
                  <a:pt x="0" y="5557"/>
                </a:moveTo>
                <a:lnTo>
                  <a:pt x="80962" y="794"/>
                </a:lnTo>
                <a:cubicBezTo>
                  <a:pt x="101203" y="0"/>
                  <a:pt x="111323" y="397"/>
                  <a:pt x="121444" y="794"/>
                </a:cubicBez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 47"/>
          <p:cNvSpPr/>
          <p:nvPr/>
        </p:nvSpPr>
        <p:spPr>
          <a:xfrm>
            <a:off x="5826919" y="2714625"/>
            <a:ext cx="102394" cy="7144"/>
          </a:xfrm>
          <a:custGeom>
            <a:avLst/>
            <a:gdLst>
              <a:gd name="connsiteX0" fmla="*/ 0 w 102394"/>
              <a:gd name="connsiteY0" fmla="*/ 0 h 7144"/>
              <a:gd name="connsiteX1" fmla="*/ 102394 w 102394"/>
              <a:gd name="connsiteY1" fmla="*/ 7144 h 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2394" h="7144">
                <a:moveTo>
                  <a:pt x="0" y="0"/>
                </a:moveTo>
                <a:lnTo>
                  <a:pt x="102394" y="7144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48"/>
          <p:cNvSpPr/>
          <p:nvPr/>
        </p:nvSpPr>
        <p:spPr>
          <a:xfrm>
            <a:off x="6176963" y="2776538"/>
            <a:ext cx="50006" cy="11906"/>
          </a:xfrm>
          <a:custGeom>
            <a:avLst/>
            <a:gdLst>
              <a:gd name="connsiteX0" fmla="*/ 0 w 50006"/>
              <a:gd name="connsiteY0" fmla="*/ 0 h 11906"/>
              <a:gd name="connsiteX1" fmla="*/ 50006 w 50006"/>
              <a:gd name="connsiteY1" fmla="*/ 11906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006" h="11906">
                <a:moveTo>
                  <a:pt x="0" y="0"/>
                </a:moveTo>
                <a:lnTo>
                  <a:pt x="50006" y="11906"/>
                </a:lnTo>
              </a:path>
            </a:pathLst>
          </a:cu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496049" y="5534025"/>
            <a:ext cx="1704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Pint jar with lid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72224" y="2266950"/>
            <a:ext cx="1314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Clothespin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10399" y="3048000"/>
            <a:ext cx="1219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Piece of string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38499" y="4819650"/>
            <a:ext cx="1219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Hot sugar solution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62724" y="4219575"/>
            <a:ext cx="1219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Sugar crystals</a:t>
            </a:r>
          </a:p>
        </p:txBody>
      </p:sp>
      <p:sp>
        <p:nvSpPr>
          <p:cNvPr id="58" name="Freeform 57"/>
          <p:cNvSpPr/>
          <p:nvPr/>
        </p:nvSpPr>
        <p:spPr>
          <a:xfrm>
            <a:off x="5686425" y="4195763"/>
            <a:ext cx="1104900" cy="214312"/>
          </a:xfrm>
          <a:custGeom>
            <a:avLst/>
            <a:gdLst>
              <a:gd name="connsiteX0" fmla="*/ 1104900 w 1104900"/>
              <a:gd name="connsiteY0" fmla="*/ 214312 h 214312"/>
              <a:gd name="connsiteX1" fmla="*/ 476250 w 1104900"/>
              <a:gd name="connsiteY1" fmla="*/ 14287 h 214312"/>
              <a:gd name="connsiteX2" fmla="*/ 0 w 1104900"/>
              <a:gd name="connsiteY2" fmla="*/ 128587 h 214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4900" h="214312">
                <a:moveTo>
                  <a:pt x="1104900" y="214312"/>
                </a:moveTo>
                <a:cubicBezTo>
                  <a:pt x="882650" y="121443"/>
                  <a:pt x="660400" y="28574"/>
                  <a:pt x="476250" y="14287"/>
                </a:cubicBezTo>
                <a:cubicBezTo>
                  <a:pt x="292100" y="0"/>
                  <a:pt x="146050" y="64293"/>
                  <a:pt x="0" y="128587"/>
                </a:cubicBezTo>
              </a:path>
            </a:pathLst>
          </a:cu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3" name="Footer Placeholder 3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34" name="Freeform 33"/>
          <p:cNvSpPr/>
          <p:nvPr/>
        </p:nvSpPr>
        <p:spPr>
          <a:xfrm>
            <a:off x="5648325" y="3257550"/>
            <a:ext cx="1362075" cy="419100"/>
          </a:xfrm>
          <a:custGeom>
            <a:avLst/>
            <a:gdLst>
              <a:gd name="connsiteX0" fmla="*/ 1362075 w 1362075"/>
              <a:gd name="connsiteY0" fmla="*/ 0 h 419100"/>
              <a:gd name="connsiteX1" fmla="*/ 390525 w 1362075"/>
              <a:gd name="connsiteY1" fmla="*/ 361950 h 419100"/>
              <a:gd name="connsiteX2" fmla="*/ 0 w 1362075"/>
              <a:gd name="connsiteY2" fmla="*/ 3429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2075" h="419100">
                <a:moveTo>
                  <a:pt x="1362075" y="0"/>
                </a:moveTo>
                <a:cubicBezTo>
                  <a:pt x="989806" y="152400"/>
                  <a:pt x="617538" y="304800"/>
                  <a:pt x="390525" y="361950"/>
                </a:cubicBezTo>
                <a:cubicBezTo>
                  <a:pt x="163513" y="419100"/>
                  <a:pt x="81756" y="381000"/>
                  <a:pt x="0" y="342900"/>
                </a:cubicBezTo>
              </a:path>
            </a:pathLst>
          </a:cu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/>
          <p:cNvCxnSpPr/>
          <p:nvPr/>
        </p:nvCxnSpPr>
        <p:spPr>
          <a:xfrm flipV="1">
            <a:off x="4400550" y="5200650"/>
            <a:ext cx="447675" cy="5715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715124" y="4972050"/>
            <a:ext cx="1219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Paper clip</a:t>
            </a:r>
          </a:p>
        </p:txBody>
      </p:sp>
      <p:pic>
        <p:nvPicPr>
          <p:cNvPr id="22530" name="Picture 2" descr="Image result for image of paper clip"/>
          <p:cNvPicPr>
            <a:picLocks noChangeAspect="1" noChangeArrowheads="1"/>
          </p:cNvPicPr>
          <p:nvPr/>
        </p:nvPicPr>
        <p:blipFill>
          <a:blip r:embed="rId4"/>
          <a:srcRect l="30859" r="31250"/>
          <a:stretch>
            <a:fillRect/>
          </a:stretch>
        </p:blipFill>
        <p:spPr bwMode="auto">
          <a:xfrm flipV="1">
            <a:off x="5372101" y="5073650"/>
            <a:ext cx="398202" cy="1050925"/>
          </a:xfrm>
          <a:prstGeom prst="rect">
            <a:avLst/>
          </a:prstGeom>
          <a:noFill/>
        </p:spPr>
      </p:pic>
      <p:sp>
        <p:nvSpPr>
          <p:cNvPr id="61" name="Freeform 60"/>
          <p:cNvSpPr/>
          <p:nvPr/>
        </p:nvSpPr>
        <p:spPr>
          <a:xfrm>
            <a:off x="5791200" y="5065713"/>
            <a:ext cx="828675" cy="306387"/>
          </a:xfrm>
          <a:custGeom>
            <a:avLst/>
            <a:gdLst>
              <a:gd name="connsiteX0" fmla="*/ 828675 w 828675"/>
              <a:gd name="connsiteY0" fmla="*/ 125412 h 306387"/>
              <a:gd name="connsiteX1" fmla="*/ 438150 w 828675"/>
              <a:gd name="connsiteY1" fmla="*/ 30162 h 306387"/>
              <a:gd name="connsiteX2" fmla="*/ 0 w 828675"/>
              <a:gd name="connsiteY2" fmla="*/ 306387 h 306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8675" h="306387">
                <a:moveTo>
                  <a:pt x="828675" y="125412"/>
                </a:moveTo>
                <a:cubicBezTo>
                  <a:pt x="702468" y="62706"/>
                  <a:pt x="576262" y="0"/>
                  <a:pt x="438150" y="30162"/>
                </a:cubicBezTo>
                <a:cubicBezTo>
                  <a:pt x="300038" y="60324"/>
                  <a:pt x="150019" y="183355"/>
                  <a:pt x="0" y="306387"/>
                </a:cubicBezTo>
              </a:path>
            </a:pathLst>
          </a:cu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ontent Placeholder 4"/>
          <p:cNvSpPr txBox="1">
            <a:spLocks/>
          </p:cNvSpPr>
          <p:nvPr/>
        </p:nvSpPr>
        <p:spPr>
          <a:xfrm>
            <a:off x="457200" y="1905000"/>
            <a:ext cx="2779059" cy="4525963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Materials: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Kettle or pot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solidFill>
                  <a:srgbClr val="6600FF"/>
                </a:solidFill>
                <a:latin typeface="Comic Sans MS" pitchFamily="66" charset="0"/>
              </a:rPr>
              <a:t>Distilled water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Sugar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solidFill>
                  <a:srgbClr val="6600FF"/>
                </a:solidFill>
                <a:latin typeface="Comic Sans MS" pitchFamily="66" charset="0"/>
              </a:rPr>
              <a:t>Wooden spoon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Ladle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solidFill>
                  <a:srgbClr val="6600FF"/>
                </a:solidFill>
                <a:latin typeface="Comic Sans MS" pitchFamily="66" charset="0"/>
              </a:rPr>
              <a:t>Pint jar with lid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solidFill>
                  <a:srgbClr val="6600FF"/>
                </a:solidFill>
                <a:latin typeface="Comic Sans MS" pitchFamily="66" charset="0"/>
              </a:rPr>
              <a:t>String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solidFill>
                  <a:srgbClr val="6600FF"/>
                </a:solidFill>
                <a:latin typeface="Comic Sans MS" pitchFamily="66" charset="0"/>
              </a:rPr>
              <a:t>Paper clip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Clothespin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solidFill>
                  <a:srgbClr val="6600FF"/>
                </a:solidFill>
                <a:latin typeface="Comic Sans MS" pitchFamily="66" charset="0"/>
              </a:rPr>
              <a:t>Flavorings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Food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coloring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baseline="0" dirty="0">
                <a:solidFill>
                  <a:srgbClr val="6600FF"/>
                </a:solidFill>
                <a:latin typeface="Comic Sans MS" pitchFamily="66" charset="0"/>
              </a:rPr>
              <a:t>Wax paper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89087"/>
            <a:ext cx="8229600" cy="2830513"/>
          </a:xfrm>
        </p:spPr>
        <p:txBody>
          <a:bodyPr>
            <a:noAutofit/>
          </a:bodyPr>
          <a:lstStyle/>
          <a:p>
            <a:r>
              <a:rPr lang="en-US" sz="7200" dirty="0">
                <a:latin typeface="Comic Sans MS" pitchFamily="66" charset="0"/>
              </a:rPr>
              <a:t>Now Let’s Go To The Kitchen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5794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itchFamily="66" charset="0"/>
              </a:rPr>
              <a:t>Procedure for Experiment 1</a:t>
            </a:r>
            <a:endParaRPr lang="en-US" sz="4000" dirty="0">
              <a:solidFill>
                <a:srgbClr val="6600FF"/>
              </a:solidFill>
              <a:latin typeface="Comic Sans MS" pitchFamily="66" charset="0"/>
            </a:endParaRPr>
          </a:p>
        </p:txBody>
      </p:sp>
      <p:sp>
        <p:nvSpPr>
          <p:cNvPr id="12290" name="AutoShape 2" descr="Image result for images of fleischmann's yeas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96" name="AutoShape 8" descr="Image result for images clear soda bott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19600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This makes enough solution for 16 pint jars.</a:t>
            </a:r>
          </a:p>
          <a:p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In large kettles, boil 16 cups (4 quarts) of distilled water.</a:t>
            </a:r>
          </a:p>
          <a:p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We will need 40 cups of sugar.</a:t>
            </a:r>
          </a:p>
          <a:p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Slowly add 10 cups of sugar to each quart of boiling water, stirring until the sugar dissolves.</a:t>
            </a:r>
          </a:p>
          <a:p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Allow the solution to cool for 20 minutes.</a:t>
            </a:r>
          </a:p>
          <a:p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Fill each jar full of the solution using the ladle.</a:t>
            </a:r>
          </a:p>
          <a:p>
            <a:r>
              <a:rPr lang="en-US" b="1" dirty="0">
                <a:solidFill>
                  <a:srgbClr val="FF0000"/>
                </a:solidFill>
                <a:latin typeface="Comic Sans MS" pitchFamily="66" charset="0"/>
              </a:rPr>
              <a:t>Add food coloring and flavoring to your jar!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mic Sans MS" pitchFamily="66" charset="0"/>
              </a:rPr>
              <a:t>Finishing Experiment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0650"/>
            <a:ext cx="8305800" cy="480060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rgbClr val="6600FF"/>
                </a:solidFill>
                <a:latin typeface="Comic Sans MS" pitchFamily="66" charset="0"/>
              </a:rPr>
              <a:t>Tie one end of a 6-inch piece of string to the center of a clothespin and the other end to the end of a paper clip.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rgbClr val="6600FF"/>
                </a:solidFill>
                <a:latin typeface="Comic Sans MS" pitchFamily="66" charset="0"/>
              </a:rPr>
              <a:t>Dip your string into the sugar solution.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rgbClr val="6600FF"/>
                </a:solidFill>
                <a:latin typeface="Comic Sans MS" pitchFamily="66" charset="0"/>
              </a:rPr>
              <a:t>Roll your string in some sugar.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rgbClr val="6600FF"/>
                </a:solidFill>
                <a:latin typeface="Comic Sans MS" pitchFamily="66" charset="0"/>
              </a:rPr>
              <a:t>Let the string cool down.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b="1" dirty="0">
                <a:solidFill>
                  <a:srgbClr val="FF0000"/>
                </a:solidFill>
                <a:latin typeface="Comic Sans MS" pitchFamily="66" charset="0"/>
              </a:rPr>
              <a:t>Very Important: </a:t>
            </a:r>
            <a:r>
              <a:rPr lang="en-US" sz="2200" dirty="0">
                <a:solidFill>
                  <a:srgbClr val="6600FF"/>
                </a:solidFill>
                <a:latin typeface="Comic Sans MS" pitchFamily="66" charset="0"/>
              </a:rPr>
              <a:t>Shake off any extra sugar.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rgbClr val="6600FF"/>
                </a:solidFill>
                <a:latin typeface="Comic Sans MS" pitchFamily="66" charset="0"/>
              </a:rPr>
              <a:t>Lower the string into the jar of hot sugar solution, resting the clothespin on the jar lid.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rgbClr val="6600FF"/>
                </a:solidFill>
                <a:latin typeface="Comic Sans MS" pitchFamily="66" charset="0"/>
              </a:rPr>
              <a:t>Keep the bottom end of the paper clip a half inch or so above the bottom of the jar.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rgbClr val="6600FF"/>
                </a:solidFill>
                <a:latin typeface="Comic Sans MS" pitchFamily="66" charset="0"/>
              </a:rPr>
              <a:t>Put jar in a safe, warm place and wait one week.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>
                <a:solidFill>
                  <a:srgbClr val="6600FF"/>
                </a:solidFill>
                <a:latin typeface="Comic Sans MS" pitchFamily="66" charset="0"/>
              </a:rPr>
              <a:t>Do not disturb the jar while you are waiting for the crystals to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93838"/>
            <a:ext cx="8229600" cy="2459037"/>
          </a:xfrm>
        </p:spPr>
        <p:txBody>
          <a:bodyPr>
            <a:noAutofit/>
          </a:bodyPr>
          <a:lstStyle/>
          <a:p>
            <a:r>
              <a:rPr lang="en-US" sz="7200" dirty="0">
                <a:latin typeface="Comic Sans MS" pitchFamily="66" charset="0"/>
              </a:rPr>
              <a:t>Back To The Classroom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itchFamily="66" charset="0"/>
              </a:rPr>
              <a:t>Some Beautiful Crystals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3010" name="Picture 2" descr="Image result for image of rock cand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75" y="1628775"/>
            <a:ext cx="3173046" cy="1933575"/>
          </a:xfrm>
          <a:prstGeom prst="rect">
            <a:avLst/>
          </a:prstGeom>
          <a:noFill/>
        </p:spPr>
      </p:pic>
      <p:pic>
        <p:nvPicPr>
          <p:cNvPr id="43012" name="Picture 4" descr="Image result for image of rock cand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17975" y="1406525"/>
            <a:ext cx="4572000" cy="2428875"/>
          </a:xfrm>
          <a:prstGeom prst="rect">
            <a:avLst/>
          </a:prstGeom>
          <a:noFill/>
        </p:spPr>
      </p:pic>
      <p:pic>
        <p:nvPicPr>
          <p:cNvPr id="43014" name="Picture 6" descr="Image result for images of crystal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22826" y="3856038"/>
            <a:ext cx="2463800" cy="2509792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2419350" y="4581525"/>
            <a:ext cx="2105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mic Sans MS" pitchFamily="66" charset="0"/>
              </a:rPr>
              <a:t>Geode with crystals inside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itchFamily="66" charset="0"/>
              </a:rPr>
              <a:t>More Crystals!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45058" name="Picture 2" descr="Image result for images of quartz crystal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9150" y="1524000"/>
            <a:ext cx="2381250" cy="19050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219200" y="35052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mic Sans MS" pitchFamily="66" charset="0"/>
              </a:rPr>
              <a:t>Quartz</a:t>
            </a:r>
          </a:p>
        </p:txBody>
      </p:sp>
      <p:pic>
        <p:nvPicPr>
          <p:cNvPr id="45060" name="Picture 4" descr="Image result for images of cinnabar crystal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1905000"/>
            <a:ext cx="3037873" cy="22860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5562600" y="42672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mic Sans MS" pitchFamily="66" charset="0"/>
              </a:rPr>
              <a:t>Cinnabar (mercury)</a:t>
            </a:r>
          </a:p>
        </p:txBody>
      </p:sp>
      <p:pic>
        <p:nvPicPr>
          <p:cNvPr id="45062" name="Picture 6" descr="https://upload.wikimedia.org/wikipedia/commons/thumb/7/72/Pyrite_60608.jpg/220px-Pyrite_60608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8200" y="4114800"/>
            <a:ext cx="2095500" cy="1866901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2971800" y="49530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mic Sans MS" pitchFamily="66" charset="0"/>
              </a:rPr>
              <a:t>Pyrite (fool’s gold)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mic Sans MS" pitchFamily="66" charset="0"/>
              </a:rPr>
              <a:t>Cave of Crystals, Mexico (Gypsum)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46082" name="Picture 2" descr="Image result for images of giant crystals in mexic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6514" y="1524000"/>
            <a:ext cx="7333086" cy="4876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itchFamily="66" charset="0"/>
              </a:rPr>
              <a:t>So, What are Crystals?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Crystals are solids.</a:t>
            </a:r>
          </a:p>
          <a:p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They have regular geometric shapes.</a:t>
            </a:r>
          </a:p>
          <a:p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They have faces, or </a:t>
            </a:r>
            <a:r>
              <a:rPr lang="en-US" b="1" dirty="0">
                <a:solidFill>
                  <a:srgbClr val="FF0000"/>
                </a:solidFill>
                <a:latin typeface="Comic Sans MS" pitchFamily="66" charset="0"/>
              </a:rPr>
              <a:t>facets</a:t>
            </a:r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 that meet at sharp angles.</a:t>
            </a:r>
          </a:p>
          <a:p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They are mostly found in rocks (although there are ice crystals too).</a:t>
            </a:r>
          </a:p>
          <a:p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They are </a:t>
            </a:r>
            <a:r>
              <a:rPr lang="en-US" b="1" dirty="0">
                <a:solidFill>
                  <a:srgbClr val="FF0000"/>
                </a:solidFill>
                <a:latin typeface="Comic Sans MS" pitchFamily="66" charset="0"/>
              </a:rPr>
              <a:t>orderly arrangements</a:t>
            </a:r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 of a single kind of atom or molecule.</a:t>
            </a:r>
          </a:p>
          <a:p>
            <a:endParaRPr lang="en-US" dirty="0">
              <a:solidFill>
                <a:srgbClr val="6600FF"/>
              </a:solidFill>
              <a:latin typeface="Comic Sans MS" pitchFamily="66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mic Sans MS" pitchFamily="66" charset="0"/>
              </a:rPr>
              <a:t>What Do I Mean by “Orderly”?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47106" name="Picture 2" descr="Halite crystal (microscopic)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1676400"/>
            <a:ext cx="1929114" cy="1828800"/>
          </a:xfrm>
          <a:prstGeom prst="rect">
            <a:avLst/>
          </a:prstGeom>
          <a:noFill/>
        </p:spPr>
      </p:pic>
      <p:grpSp>
        <p:nvGrpSpPr>
          <p:cNvPr id="53" name="Group 52"/>
          <p:cNvGrpSpPr/>
          <p:nvPr/>
        </p:nvGrpSpPr>
        <p:grpSpPr>
          <a:xfrm>
            <a:off x="1676400" y="4495800"/>
            <a:ext cx="1228750" cy="1219200"/>
            <a:chOff x="1133450" y="3810000"/>
            <a:chExt cx="1228750" cy="1219200"/>
          </a:xfrm>
        </p:grpSpPr>
        <p:grpSp>
          <p:nvGrpSpPr>
            <p:cNvPr id="10" name="Group 9"/>
            <p:cNvGrpSpPr/>
            <p:nvPr/>
          </p:nvGrpSpPr>
          <p:grpSpPr>
            <a:xfrm>
              <a:off x="1219200" y="4648200"/>
              <a:ext cx="381000" cy="228600"/>
              <a:chOff x="4343400" y="1981200"/>
              <a:chExt cx="381000" cy="228600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4343400" y="2019300"/>
                <a:ext cx="152400" cy="152400"/>
              </a:xfrm>
              <a:prstGeom prst="ellipse">
                <a:avLst/>
              </a:prstGeom>
              <a:solidFill>
                <a:srgbClr val="66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4495800" y="1981200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 rot="19629638">
              <a:off x="1447800" y="4276040"/>
              <a:ext cx="381000" cy="228600"/>
              <a:chOff x="4343400" y="1981200"/>
              <a:chExt cx="381000" cy="228600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4343400" y="2019300"/>
                <a:ext cx="152400" cy="152400"/>
              </a:xfrm>
              <a:prstGeom prst="ellipse">
                <a:avLst/>
              </a:prstGeom>
              <a:solidFill>
                <a:srgbClr val="66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4495800" y="1981200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 rot="1645054">
              <a:off x="1828800" y="4572000"/>
              <a:ext cx="381000" cy="228600"/>
              <a:chOff x="4343400" y="1981200"/>
              <a:chExt cx="381000" cy="228600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4343400" y="2019300"/>
                <a:ext cx="152400" cy="152400"/>
              </a:xfrm>
              <a:prstGeom prst="ellipse">
                <a:avLst/>
              </a:prstGeom>
              <a:solidFill>
                <a:srgbClr val="66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4495800" y="1981200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 rot="5836395">
              <a:off x="2057400" y="4267200"/>
              <a:ext cx="381000" cy="228600"/>
              <a:chOff x="4343400" y="1981200"/>
              <a:chExt cx="381000" cy="228600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4343400" y="2019300"/>
                <a:ext cx="152400" cy="152400"/>
              </a:xfrm>
              <a:prstGeom prst="ellipse">
                <a:avLst/>
              </a:prstGeom>
              <a:solidFill>
                <a:srgbClr val="66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4495800" y="1981200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 rot="17627407">
              <a:off x="1828800" y="4220921"/>
              <a:ext cx="381000" cy="228600"/>
              <a:chOff x="4343400" y="1981200"/>
              <a:chExt cx="381000" cy="228600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4343400" y="2019300"/>
                <a:ext cx="152400" cy="152400"/>
              </a:xfrm>
              <a:prstGeom prst="ellipse">
                <a:avLst/>
              </a:prstGeom>
              <a:solidFill>
                <a:srgbClr val="66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4495800" y="1981200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 rot="2495580">
              <a:off x="1676400" y="4800600"/>
              <a:ext cx="381000" cy="228600"/>
              <a:chOff x="4343400" y="1981200"/>
              <a:chExt cx="381000" cy="228600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4343400" y="2019300"/>
                <a:ext cx="152400" cy="152400"/>
              </a:xfrm>
              <a:prstGeom prst="ellipse">
                <a:avLst/>
              </a:prstGeom>
              <a:solidFill>
                <a:srgbClr val="66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4495800" y="1981200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 rot="14785539">
              <a:off x="1057250" y="4220815"/>
              <a:ext cx="381000" cy="228600"/>
              <a:chOff x="4343400" y="1981200"/>
              <a:chExt cx="381000" cy="228600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4343400" y="2019300"/>
                <a:ext cx="152400" cy="152400"/>
              </a:xfrm>
              <a:prstGeom prst="ellipse">
                <a:avLst/>
              </a:prstGeom>
              <a:solidFill>
                <a:srgbClr val="66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4495800" y="1981200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1752600" y="3886200"/>
              <a:ext cx="381000" cy="228600"/>
              <a:chOff x="4343400" y="1981200"/>
              <a:chExt cx="381000" cy="228600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4343400" y="2019300"/>
                <a:ext cx="152400" cy="152400"/>
              </a:xfrm>
              <a:prstGeom prst="ellipse">
                <a:avLst/>
              </a:prstGeom>
              <a:solidFill>
                <a:srgbClr val="66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4495800" y="1981200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 rot="2065758">
              <a:off x="1219200" y="3810000"/>
              <a:ext cx="381000" cy="228600"/>
              <a:chOff x="4343400" y="1981200"/>
              <a:chExt cx="381000" cy="228600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4343400" y="2019300"/>
                <a:ext cx="152400" cy="152400"/>
              </a:xfrm>
              <a:prstGeom prst="ellipse">
                <a:avLst/>
              </a:prstGeom>
              <a:solidFill>
                <a:srgbClr val="66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4495800" y="1981200"/>
                <a:ext cx="228600" cy="22860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4" name="TextBox 53"/>
          <p:cNvSpPr txBox="1"/>
          <p:nvPr/>
        </p:nvSpPr>
        <p:spPr>
          <a:xfrm>
            <a:off x="1447800" y="3657600"/>
            <a:ext cx="1600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mic Sans MS" pitchFamily="66" charset="0"/>
              </a:rPr>
              <a:t>Orderly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0" y="6019800"/>
            <a:ext cx="1600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mic Sans MS" pitchFamily="66" charset="0"/>
              </a:rPr>
              <a:t>Disorderly</a:t>
            </a:r>
          </a:p>
        </p:txBody>
      </p:sp>
      <p:pic>
        <p:nvPicPr>
          <p:cNvPr id="47108" name="Picture 4" descr="Halite crystal (Macroscopic )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3000" y="1676400"/>
            <a:ext cx="3253793" cy="2971800"/>
          </a:xfrm>
          <a:prstGeom prst="rect">
            <a:avLst/>
          </a:prstGeom>
          <a:noFill/>
        </p:spPr>
      </p:pic>
      <p:sp>
        <p:nvSpPr>
          <p:cNvPr id="57" name="Freeform 56"/>
          <p:cNvSpPr/>
          <p:nvPr/>
        </p:nvSpPr>
        <p:spPr>
          <a:xfrm>
            <a:off x="3334871" y="2266577"/>
            <a:ext cx="1488141" cy="790388"/>
          </a:xfrm>
          <a:custGeom>
            <a:avLst/>
            <a:gdLst>
              <a:gd name="connsiteX0" fmla="*/ 0 w 1488141"/>
              <a:gd name="connsiteY0" fmla="*/ 243541 h 790388"/>
              <a:gd name="connsiteX1" fmla="*/ 528917 w 1488141"/>
              <a:gd name="connsiteY1" fmla="*/ 91141 h 790388"/>
              <a:gd name="connsiteX2" fmla="*/ 1488141 w 1488141"/>
              <a:gd name="connsiteY2" fmla="*/ 790388 h 79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8141" h="790388">
                <a:moveTo>
                  <a:pt x="0" y="243541"/>
                </a:moveTo>
                <a:cubicBezTo>
                  <a:pt x="140447" y="121770"/>
                  <a:pt x="280894" y="0"/>
                  <a:pt x="528917" y="91141"/>
                </a:cubicBezTo>
                <a:cubicBezTo>
                  <a:pt x="776941" y="182282"/>
                  <a:pt x="1132541" y="486335"/>
                  <a:pt x="1488141" y="790388"/>
                </a:cubicBezTo>
              </a:path>
            </a:pathLst>
          </a:cu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5791200" y="4724400"/>
            <a:ext cx="1600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mic Sans MS" pitchFamily="66" charset="0"/>
              </a:rPr>
              <a:t>Halite (salt)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mic Sans MS" pitchFamily="66" charset="0"/>
              </a:rPr>
              <a:t>Experiment 2: Growing Needle-Shaped Crystals</a:t>
            </a:r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3" name="Footer Placeholder 3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sp>
        <p:nvSpPr>
          <p:cNvPr id="62" name="Content Placeholder 4"/>
          <p:cNvSpPr txBox="1">
            <a:spLocks/>
          </p:cNvSpPr>
          <p:nvPr/>
        </p:nvSpPr>
        <p:spPr>
          <a:xfrm>
            <a:off x="457200" y="1905000"/>
            <a:ext cx="2779059" cy="452596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Materials: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Plastic plate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solidFill>
                  <a:srgbClr val="6600FF"/>
                </a:solidFill>
                <a:latin typeface="Comic Sans MS" pitchFamily="66" charset="0"/>
              </a:rPr>
              <a:t>Plastic bowl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solidFill>
                  <a:srgbClr val="6600FF"/>
                </a:solidFill>
                <a:latin typeface="Comic Sans MS" pitchFamily="66" charset="0"/>
              </a:rPr>
              <a:t>Sheet of black construction paper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Baby food jar with lid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solidFill>
                  <a:srgbClr val="6600FF"/>
                </a:solidFill>
                <a:latin typeface="Comic Sans MS" pitchFamily="66" charset="0"/>
              </a:rPr>
              <a:t>Tablespoon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Scissors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solidFill>
                  <a:srgbClr val="6600FF"/>
                </a:solidFill>
                <a:latin typeface="Comic Sans MS" pitchFamily="66" charset="0"/>
              </a:rPr>
              <a:t>Epsom salt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629400" y="1752600"/>
            <a:ext cx="1600200" cy="1143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154" name="Picture 2" descr="Image result for image of plastic plat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0" y="1828800"/>
            <a:ext cx="1828800" cy="1828800"/>
          </a:xfrm>
          <a:prstGeom prst="rect">
            <a:avLst/>
          </a:prstGeom>
          <a:noFill/>
        </p:spPr>
      </p:pic>
      <p:pic>
        <p:nvPicPr>
          <p:cNvPr id="49156" name="Picture 4" descr="Image result for image of empty baby food ja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52800" y="3581400"/>
            <a:ext cx="1905000" cy="2049076"/>
          </a:xfrm>
          <a:prstGeom prst="rect">
            <a:avLst/>
          </a:prstGeom>
          <a:noFill/>
        </p:spPr>
      </p:pic>
      <p:pic>
        <p:nvPicPr>
          <p:cNvPr id="49158" name="Picture 6" descr="Image result for image of walmart measuring spoon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67400" y="3200400"/>
            <a:ext cx="1245235" cy="1464982"/>
          </a:xfrm>
          <a:prstGeom prst="rect">
            <a:avLst/>
          </a:prstGeom>
          <a:noFill/>
        </p:spPr>
      </p:pic>
      <p:pic>
        <p:nvPicPr>
          <p:cNvPr id="49160" name="Picture 8" descr="Image result for image of scissor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6200000" flipV="1">
            <a:off x="6920633" y="3671167"/>
            <a:ext cx="2124433" cy="878099"/>
          </a:xfrm>
          <a:prstGeom prst="rect">
            <a:avLst/>
          </a:prstGeom>
          <a:noFill/>
        </p:spPr>
      </p:pic>
      <p:pic>
        <p:nvPicPr>
          <p:cNvPr id="49162" name="Picture 10" descr="Image result for image of walmart epsom salt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715000" y="4724400"/>
            <a:ext cx="1666875" cy="16668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5794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itchFamily="66" charset="0"/>
              </a:rPr>
              <a:t>Procedure for Experiment 2</a:t>
            </a:r>
            <a:endParaRPr lang="en-US" sz="4000" dirty="0">
              <a:solidFill>
                <a:srgbClr val="6600FF"/>
              </a:solidFill>
              <a:latin typeface="Comic Sans MS" pitchFamily="66" charset="0"/>
            </a:endParaRPr>
          </a:p>
        </p:txBody>
      </p:sp>
      <p:sp>
        <p:nvSpPr>
          <p:cNvPr id="12290" name="AutoShape 2" descr="Image result for images of fleischmann's yeas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96" name="AutoShape 8" descr="Image result for images clear soda bott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196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Turn your bowl upside down on the construction paper and trace it.</a:t>
            </a:r>
          </a:p>
          <a:p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Cut the circle out and fit it inside the plastic plate.</a:t>
            </a:r>
          </a:p>
          <a:p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Fill the baby food jar half full of warm water, then add 2 Tablespoons of epsom salt.</a:t>
            </a:r>
          </a:p>
          <a:p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Put the lid on and shake 60 times.</a:t>
            </a:r>
          </a:p>
          <a:p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Let the contents of the jar settle for a couple of minutes.</a:t>
            </a:r>
          </a:p>
          <a:p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Pour the liquid onto the black paper. Don’t pour any undissolved epsom salt onto the paper.</a:t>
            </a:r>
          </a:p>
          <a:p>
            <a:r>
              <a:rPr lang="en-US" dirty="0">
                <a:solidFill>
                  <a:srgbClr val="6600FF"/>
                </a:solidFill>
                <a:latin typeface="Comic Sans MS" pitchFamily="66" charset="0"/>
              </a:rPr>
              <a:t>Wait a few days, then look at the crystals. What do they look like?</a:t>
            </a:r>
            <a:endParaRPr lang="en-US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http://b1969d.medialib.glogster.com/media/e1961d551b58dc3484234933ef7b0ace6042424cd6ed1ee7013670cdec43d91a/sugar-solutio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51375" y="1457325"/>
            <a:ext cx="3981450" cy="220027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mic Sans MS" pitchFamily="66" charset="0"/>
              </a:rPr>
              <a:t>Science Vocabulary for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247775"/>
            <a:ext cx="3714750" cy="5276850"/>
          </a:xfrm>
        </p:spPr>
        <p:txBody>
          <a:bodyPr>
            <a:normAutofit fontScale="77500" lnSpcReduction="20000"/>
          </a:bodyPr>
          <a:lstStyle/>
          <a:p>
            <a:pPr lvl="8"/>
            <a:endParaRPr lang="en-US" sz="1000" dirty="0">
              <a:latin typeface="Comic Sans MS" pitchFamily="66" charset="0"/>
            </a:endParaRPr>
          </a:p>
          <a:p>
            <a:r>
              <a:rPr lang="en-US" sz="2000" u="sng" dirty="0">
                <a:latin typeface="Comic Sans MS" pitchFamily="66" charset="0"/>
              </a:rPr>
              <a:t>Crystal</a:t>
            </a:r>
            <a:r>
              <a:rPr lang="en-US" sz="2000" dirty="0">
                <a:latin typeface="Comic Sans MS" pitchFamily="66" charset="0"/>
              </a:rPr>
              <a:t> – a large, orderly arrangement of atoms or molecules in neat rows.</a:t>
            </a:r>
            <a:endParaRPr lang="en-US" sz="2000" u="sng" dirty="0">
              <a:latin typeface="Comic Sans MS" pitchFamily="66" charset="0"/>
            </a:endParaRPr>
          </a:p>
          <a:p>
            <a:r>
              <a:rPr lang="en-US" sz="2000" u="sng" dirty="0">
                <a:latin typeface="Comic Sans MS" pitchFamily="66" charset="0"/>
              </a:rPr>
              <a:t>Solvent </a:t>
            </a:r>
            <a:r>
              <a:rPr lang="en-US" sz="2000" dirty="0">
                <a:latin typeface="Comic Sans MS" pitchFamily="66" charset="0"/>
              </a:rPr>
              <a:t>– a liquid (like water) that you dissolve stuff in.</a:t>
            </a:r>
          </a:p>
          <a:p>
            <a:r>
              <a:rPr lang="en-US" sz="2000" u="sng" dirty="0">
                <a:latin typeface="Comic Sans MS" pitchFamily="66" charset="0"/>
              </a:rPr>
              <a:t>Solute </a:t>
            </a:r>
            <a:r>
              <a:rPr lang="en-US" sz="2000" dirty="0">
                <a:latin typeface="Comic Sans MS" pitchFamily="66" charset="0"/>
              </a:rPr>
              <a:t>– a solid (like sugar) that you dissolve in the solvent.</a:t>
            </a:r>
          </a:p>
          <a:p>
            <a:r>
              <a:rPr lang="en-US" sz="2000" u="sng" dirty="0">
                <a:latin typeface="Comic Sans MS" pitchFamily="66" charset="0"/>
              </a:rPr>
              <a:t>Solution</a:t>
            </a:r>
            <a:r>
              <a:rPr lang="en-US" sz="2000" dirty="0">
                <a:latin typeface="Comic Sans MS" pitchFamily="66" charset="0"/>
              </a:rPr>
              <a:t> – the mixture of solvent and solute (like sugar water).</a:t>
            </a:r>
          </a:p>
          <a:p>
            <a:r>
              <a:rPr lang="en-US" sz="2000" u="sng" dirty="0">
                <a:latin typeface="Comic Sans MS" pitchFamily="66" charset="0"/>
              </a:rPr>
              <a:t>Saturated solution</a:t>
            </a:r>
            <a:r>
              <a:rPr lang="en-US" sz="2000" dirty="0">
                <a:latin typeface="Comic Sans MS" pitchFamily="66" charset="0"/>
              </a:rPr>
              <a:t> – a solution (like sugar in water) that can’t hold any more solute.</a:t>
            </a:r>
          </a:p>
          <a:p>
            <a:r>
              <a:rPr lang="en-US" sz="2000" u="sng" dirty="0">
                <a:latin typeface="Comic Sans MS" pitchFamily="66" charset="0"/>
              </a:rPr>
              <a:t>Supersaturated solution</a:t>
            </a:r>
            <a:r>
              <a:rPr lang="en-US" sz="2000" dirty="0">
                <a:latin typeface="Comic Sans MS" pitchFamily="66" charset="0"/>
              </a:rPr>
              <a:t> – a solution that has been heated and holds more solute (like sugar) than it can at room temperature.</a:t>
            </a:r>
          </a:p>
          <a:p>
            <a:r>
              <a:rPr lang="en-US" sz="2000" u="sng" dirty="0">
                <a:latin typeface="Comic Sans MS" pitchFamily="66" charset="0"/>
              </a:rPr>
              <a:t>Nucleation</a:t>
            </a:r>
            <a:r>
              <a:rPr lang="en-US" sz="2000" dirty="0">
                <a:latin typeface="Comic Sans MS" pitchFamily="66" charset="0"/>
              </a:rPr>
              <a:t> – the process in which a sugar molecule (solute) comes out of the sugar water solution and sticks to the sugar crystals on the string.</a:t>
            </a:r>
          </a:p>
          <a:p>
            <a:endParaRPr lang="en-US" sz="2000" dirty="0">
              <a:latin typeface="Comic Sans MS" pitchFamily="66" charset="0"/>
            </a:endParaRPr>
          </a:p>
          <a:p>
            <a:endParaRPr lang="en-US" sz="2000" dirty="0">
              <a:latin typeface="Comic Sans MS" pitchFamily="66" charset="0"/>
            </a:endParaRPr>
          </a:p>
          <a:p>
            <a:endParaRPr lang="en-US" sz="2000" dirty="0">
              <a:latin typeface="Comic Sans MS" pitchFamily="66" charset="0"/>
            </a:endParaRPr>
          </a:p>
          <a:p>
            <a:endParaRPr lang="en-US" sz="2000" dirty="0">
              <a:latin typeface="Comic Sans MS" pitchFamily="66" charset="0"/>
            </a:endParaRPr>
          </a:p>
          <a:p>
            <a:endParaRPr lang="en-US" sz="2200" dirty="0">
              <a:latin typeface="Comic Sans MS" pitchFamily="66" charset="0"/>
            </a:endParaRPr>
          </a:p>
          <a:p>
            <a:pPr lvl="8"/>
            <a:endParaRPr lang="en-US" sz="1000" dirty="0">
              <a:latin typeface="Comic Sans MS" pitchFamily="66" charset="0"/>
            </a:endParaRPr>
          </a:p>
        </p:txBody>
      </p:sp>
      <p:sp>
        <p:nvSpPr>
          <p:cNvPr id="1026" name="AutoShape 2" descr="Image result for image of copp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Image result for image of gel toothpas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4" name="AutoShape 10" descr="Image result for image of gel toothpas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6" name="AutoShape 12" descr="Image result for image of gel toothpas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data:image/jpeg;base64,/9j/4AAQSkZJRgABAQAAAQABAAD/2wCEAAkGBxMTEhQUExMWFRQVGRgbGBgWGRoaFxoVFxgaGBUYGxcYHyggGBomGxgaITEiJSkrLi8wGB8zODMsNygtLysBCgoKDg0OGBAQGiwkICQsNCwsLCwsLCwsLzcsLCwsLiwsLCwsLCwsLiwsLCwsLC8sLCwsLCwtNywsLDYsLCwtLP/AABEIAMkA+wMBIgACEQEDEQH/xAAcAAEAAgMBAQEAAAAAAAAAAAAABAUDBgcCAQj/xABGEAABAgMEBwMJBQYEBwAAAAABAAIDESEEMUFRBRJhcYGR8AahsQcTFCIyUsHR4UJigpLxFSNTorLCM0Nys0RjdIOT0tP/xAAZAQEBAQEBAQAAAAAAAAAAAAAAAQIDBAX/xAAmEQEBAAIBBAEEAwEBAAAAAAAAAQIRAxIhMVETBEFh4TKB0bEi/9oADAMBAAIRAxEAPwDuCIiAiIgIiICIiAiIgIiICIiAiIgIiICIiAiIg8RooY0ucZNaCScgKkqrs+noRa57ntbIF2qZg6orjeZZKu7V2/WIgNNGydE33sZ/cfw5rSvRnW21MszCQ32ojh9mGPaO80aNpC8mf1F+WYYzft6sOCfHc8v6dXsdpbFYyIwzY9oc05tcJjuWZY7PBaxrWMAa1oDWgXBoEgBwWRet5RERAREQEREBERAREQEREBERAREQEREBERAREQEREBERAUPS9vEGEX3m5o9559kfE7AVMWn9oLdCfEd5yKYfmnajQ5ji0vLWuLtZs8HAXU4rHJcpjemd2+OY3KdXhrOm7f5pji503OmSc3GpK2/sDoI2aBrxBKPHk5872j7EPgDXaStV7LaM9MthiOkYFnIObXxb2N2ge0fwg3rqK830vFcZ1ZeXo+p5Zf8Azj4ERF7HkEREBERAREQEREBERAREQEREBERAREQEREBF8LgLyFhdbIYviMH4h81NjOiw+lQ/fb+YL0IzfebzCbgyL45wAJJkBeTcAoukNIwoMMxIjwGjvOAGZK5t2g096VPzji2CLobTQ5F5+0e5Xatr0j29scMkNc6KR/DE2zy1zIHgoEG2wdJljJ6jdd0R86PLg0MYwcDMn7ozpp0OK0jUY0Fq96CglsR8naoDXOmMHNqw79aSnc7Ou6OsEOAwMhtDWjvOZlipKg6D0gLRZ4UX32gkZOFHjg4EKcqgiIgIiICIiAiIgIiICIiAiLHHjNY1z3GTWgkk4ACZKDIq3SWn7NApFjMafdnN35WzK0bTnbR8UlsIlkO4S9pw2nCeQ71z23SY9wnS8TyO3Fc7n6amLrtr8oMAT82x7ztk0HxPcqKJ24jxTIObDGTBWW1xnXaJLmtltvrGVVtnZjstHtBEQ/uoXvEVI+6MRtMuKxblWtSNkOknuHrRXmebjLkF6bN+BPArYdHaAgQgJMDz7zhrHvoOAVvCswyG5Jw2+adfppcPQ0Rx9WGfAbPa6orL9hxaE6oO2p7r1tQYcCvTWlanDinXWrjQ0QZcB10F5j2CIKhrjLLVrwW2LzqlPhxOutLMKX2HAzy3/RfI8UAEFpA6petxiWcG9RI2j4bgWkAg3g3Hgp8M9nW0GxaFdbYpcKQ23E47aKz0x2JdqAQ5HP4LbbPZBDGqxoaMmgS7pL5abMXChc12BbMeBqF1kk7MNU0P2FLWkvcATcFoumIohPfDY6cnHWIuJFAAch4kreO0OnY1nhOHnDrOmwAgTBNCZmtFzSBZYkZ+pCYXuOXiTcN5VHRewnaSHBsbGRLg58pETkXk3HbNbLB7Y2QmRiFv+pplzEwtDg9irS2GAACQK3ipqZEjNUWmLJFg0iNLDtuO44rlcso3qO42S2w4onDe14+6Qf0WdcA7M6XiQ4s2OIlKUsMxtGxdh7Naf8+NSJIRAKEXPGYGB2cd2sc99qlxXyIi2yIiICIiAiIgIiIC0/yiWmTYMK8PLiRgdXVAmMau7luC5ZpjSnpNpe+fqNmyGJfYBqfxX8gufJezWPlEh2aDL/DHAuFL8++XBQLX2cs8Yz1ojXSwcD/UN6tospeA3zwVPa4jmky2buFVwm3RN7P6JstnfrRQYkj6tBIHMgn1iugWTT1ld/mS2FrsNwkuPP0m8OAM65y71a2S3BmImZc/18StTPKJZK607TNmF7/5XfJYT2lsw/zJfhK5e7SU9s/0F/Kq9elUv4jO+ddtFflyTojqsHTkB10VvEEd5Wf9ow/4jFzOyRm7d5v2GU9n6qZ6S240Er6405apV+WnRHQfTWfxIc9plszWYFxuLe9c09IbMkuy4GczftBwG1Z7NpIw/YfKe0ilQKE0Fyvy/hOh0TVJvl3r4bODetQg6eikf4k64Suobxx5KI/TEX331lc43Un8Vfmh0N69FbkvQhALnb9KvkPWfnfWVJ9d6ft6K1tHvBlfMnHK64HkaqfN+DobhpLs3Z47w+LD1y24FxDa4loImd6nWSxshN1YcNrG5MaAO5aNA7X2gTm5rqYtE8ciMlJf2tjfdv8AdllnPb3UV+XFOit1cqXTlhZFYWvaHA4FazF7WWnB4H4W57Rw+S1jTXaa0uvjPE/dOr/TJPli9FRbVoA2W0ETmx4JaTfS9p3Z48FlsemXQ7RZwx0v3sOe0F4mN0ieexVAtbnXkknEmvNRIkbViNffqODt+qQeK527rX2fpNF4hRQ5oc0za4Agi4g1BXtelyEREBERAREQEREGO0z1HSv1TLfKi4toYzaCB1L9V2t5odxXDtAO9WRnMFcuX7N4LqRl8Z4k0xzkeaix7LO/5XVy30OQUyFGIpOpzPO/L4rM4g5UvpvNTQz+pXBtrkfR8zMDb3fNIVloJ7+7PrBXxYDgQDx33/A4LwIDc5c9+OPH4K7NKJ1nAulwG9YnxCKAdTEuv0V3Gss53d+ezd3rzZtG6xu44bZUyrwTcNIUC0EX0wuGHCefU1nMckUnjcTupzHyVq/RxAlTbhmK8z9CoMaxkTkCKcOqK7iK6LFdIVrOYndt6nyWOE4ipPLPgOtqsIkEzM2895A34fNfINjc6cmyHzltpcU2aRDa3XeI2btufJY4tsdXw21rXjt3qd+yzK4TkakfhvxwWL9kuNA3ltu4V71NqgRLe+s8b/E479qjx7XEcJACRnXG47a33itVcjRsrm85bF6i2J38OUsTTxBpRNmlPZ4z51nn3z+SsIMUyru7p4bhnuWR1hleMssAfl9VjEEATM55UrUC/goPtoiUPQoQc9v6LX7cXE344K6jDCd9L+E67lC9H1jOlwPR64JCosGHIdddcV4fAnVWcKB1+nXIrzGkMuGfXxV2OgeS3Tmsw2Z59Zgmyfu/aHgeJW/rh3k/jkaTs+TvONPGE8+IC7ivRx3cc8vIiItsiIiAiIgIiIMdpaSxwF5afBcPsZ1XOIuPxK7oufdqexb2udHsvrAzL4OP3jDOOepvkbmrnnjtrG6UUOKZb6VltlTu47lnhxRdTnWku8dYqsgWkObSe4Sx2bx3r3Edt+stm6S4adE6JHFcBl1d1ksb4s8xPI+I5cCqyJHNxNOuS8ttJ5qUWrng1E5beVabJFTLEKTJ4fCuN4VO2PdfgaVvN+GElMFqp6xJn1/bkki7WzoglfhLGf63/lrcsb3tmbjLdhfhsOCqzaW7DdeOO/ErwY33ht+PhtSosvP125gjZO7aBzXuJaAPZN+zeJ12OPJVQiHMcZ/PYFniR75eIxnyvCndWdtoNcKCdALiDzovptLhdIC64TmLjkLslC86BK8TIu62p52YqTKeM7+B2p3Eh0ZxMp8p0Bnt2BeIxdN0y7G8nHWwmvLC0ETLhdj8uqL460DwlPaM0VmZCmDM0vrW4OnKqjWloF2M/wC5fXWiY4c6cjeqy0Wo3TA6+qg+Wl0rsp95+ajw3SyJkdtxKxRYh505iR40/VYWxM8fiJXLSJLo/wAN3JQo0fn9Ouqr5EiU39FRHu2qyIvOwhnpKy/6nf7b13tcZ8lWhYkS1stOoRBhB8nkSDnlpYGt96WsSSLtWS7MvRxzs55eRERbZEREBERAREQEREHLvKro5kKJDiwvUfF19ek2uLdWTpYOqZnFaI/S8RlHNnWhaZ+MuS6T5W/+G/7v9i5+YOs2RE+qblxy/k6TwinT7cnflPdISWKJpsTox9/uEYbZZL7EsArJxEts+WxYDY3XiRFLtxrJZ1BKZpgmQEJ2Hu5DbsyWU6Ydd5t3Nvjrb1CgwpYHjTfivRaDmb54BUZTp586sdzEsfvdSuXhmnJmrHCZ2bcjtWF8Lb0cliZCr8rynYWTdPAGbg4bdVxBxw49ykw+0jQMeIIGEvDvVQ9pGQ31PGXWSxhu2aahtssLTLX1BaZTvONZXY3fJZRpJpMhtuO+7uyvuWqNss6mW8SJwyXv0aVznjkRydhQKdJtuDLdea3DDKfyWGLHI3/pzu+q1htqisoS076HcKL7+2Xg+yfGvArPQ11LyJFJ/QbMjsKjxpyrPofNqqP20fdOOxYoumT7jubfmnTU2uA6fPZv+JUK121rRUjH6eCqo+k4rxqtbIcz8lgg6Pe4zefiforMfZttHZfQtp0iX+jBjWwy0PfEJa0F1ZCQJcZbMRVdH0F5LIEMh1qiG0OFdQDUhcRMufxMjkvPkSsYh2KMQPbjuO8CHDHjNdDXbHGMW15hQw0BrQGtAAAAkABcABcF6RFtkREQEREBERAREQEREGg+VmF+7s78A97fzNB/sK5Vpy2vhtY1h1S+daGTRLDC8XUou2+UWyecsMQi+GWvH4TJ38pcuLaes2uxur7bZu1RiygdLdNtN6vDMfmnV4M7ei6ZdKCNBaHO1YjJAG4EOzpSRlw5LJpMiDImZaTeMDUgVIvGOxVOjdLzaIMb1oLpC+rQCCK36s8PlJWvauJ+7YPv4XUacK5rteCTkwwynnff36/ticm8bZWXRkaHGIaNYnHWbcM/dnx+kpnoziWhzC4EiWMxMEBufWCrexwBEWl2phTHrFTmMb6VEdTWDGGZpUucCRPYBX6rjzcWGGeePftP8/1vDPK4y+0l9jhYitMBPKolS5ZLLo6FdqgeOF9Kj5LULZbDGjBpJ83rhshSY1pTMvtFbBpbR72Q3RYT3sLRNwDnAFtxMiSGkX+CX6bpuMyurScu5bJ4WDtGw5n1Zb5X35FRY+iGSuLpzNAcNoIUnR0/MwriSxhmdrR39FUGnNKRmxSGxDqyEhISp6rr/vNOSxx8OXJncMVyzmM3U2Jo4AXSvmGyB7/lzUZ9ivo6VLxmORruU/RL3RYQeTsMg2ZIJF2H1xVfpa3RYLw2TZSmJ3yyJB33ZqYcOeWdwnmLc8ZOqsEWwO+yNstWXjvXg6Li4sIvvlhffdRTbNb4joLooY06hkaGUtWZO+S+6P00YjtSrS6cqUNDSUp7sti1fp+WS3Xjyk5Mbr8qg6OdkBvuXuHYWi+R7hyN6v4tnMpulWpm2W/efmoUZpAke67lhlzXn26aQRBGPL5L0/ro3Fe9bYJjf4qJGj0OM0g7l5L4Gro6CTe8xHHjEcGn8oC2tUfYdstHWPbAhHi5gJ7yrxeieHOiIiqCIiAiIgIiICIiAiIgj6RswiwokM3PY5v5mkfFfn50OJOFEYNbUDtZs/WIdqzAzNJ4XL9ErhcZobaI8P8AhxYjZZAOIBllILNy6bKsm5pq2mbOHxpQmOmfboQNY50ptworLtNClAZUnVcAcvZIBPWxXLG0vw4dUz+vqIwEEEAgioIvFZjITuXSfVXeHb+KfF2v5UnY6couNW34X/Lu2KcTrWiJJ1zIYmcDN9JdX7V5haMZDLjDc9kwRqgzFftEGZmDWuS92WyhkxMucSCXOvJwnhwwU5+XDLLLKff9f4YY2SS/ZqdhEo0ME3RGDf64C2bSGm4kB+o+EwgtpUgljpiREpTocO4qPb9EnzjI0JusQWuc2lS01kZ7F405YI0aPNkOTdUNDjINIEyZTN1cMsV7LycXNnjllrWu/fw49OWEsntfQrUBZxFLAwamsGzDgGgeqBIAezKksZYLV9MWYtgwDXWAIdIfacS8VG9ysNKEthw4Oq58tQPcGkjVbKYG/VUbTcBnmvODWDnSLZ61STWhMmmU8AuPBZhnjfd/U/7W+TvLPUSOy1sIhvhzudrCQnIOAnI7296h9qXTewyAGrszM7vFRtBWprIvrHVDgRM53t33S4rJ2iLfOANkSG1uJBJJ4GS7zjuP1e/c259W+Fl0dbNWyxmn7bi0SBvLRjlsWPQtiJeH6/s1AB9aeEwDQb1k0UJ2aOAa1p+GhlfgeSrbDHDYjHONAanZj3FdLLlOWY+f0m5Lja21zTWTiLxWZz6zUKOK5S5T6KkPjzaCNYAicj8a0VfEdjKXcCvh2ae5Fj49fRRXNWd5vwrcvEUyBVR+hexglo+x/wDTwf8AbarlQ9DWfzdngw/chw2/laB8FMXonhyERFQREQEREBERAREQEREBcW8pVhdZreYwHqRgH8gGxBvBk78YXaVr/bbs/wCmWYsbLzrPWhE3awHsnY4U2UOCzlNxY5ZZ7W1wBoThnWt/RWd5Bw3yrW/L4rVG2h0Fxa4FpBILTRzXAyc0jep8HSIlQ9cONVx02tHmYOR3zPPd1JYHG6YG4cOuqxWW0HETFB8s+CG03Z/P9FLFWLHXGt2GfRUkxK38JTlvrd8lAZEFO/Lfu6zX20RPHrfVXQzRrRIe1POtPkeE96hvtxnQSnPKewZqJaIvdOZxn10FiMziMOuvqmk2nC0NnMiZnP2SfD57dikCExxJIDjQfZP1PVVVmEb7vr9es/cN0pVr49EYK7s8CzhQGNJLWtYbptaBQ/epSgxwChxbLCDp6rZ3zAF9DOQmvLYxMp8N1+67wXyK52EsjTKeWyv6p15e6ahGjUocbjfmoL33ivxWQ1rfhTJRyRMm8DorCsT6cFP7PaP9ItVngyo+I3WH3AdZ/wDK1yq3Pr8l07yN6EJMS2OFKw4W0/5rxyDR+Nbxm6lrqiIi7uYiIgIiICIiAiIgIiICIiAiIg0jyg+T9lvBiwiIVqA9r7EQC5sSVdgeKjaKLhuk7HHssQwLTDdCiCctYUcM2OFHjaJy2XL9UqDpfREC1QzCtEJkVhwcJyOYN7TtEipZtdvzEx5zUqFaTu7+5dD7QeRk1dYbRIfwrRMtFbmxWjWA3tdvWgaU7JaTs0/OWOKRX1oQ883f+7JLRvAWLiu0mBHnj9FIixDLHhLletPh6Uc1xBoReCJEEZg1VlZ9Lz9qm/54KaXaZa3PJNSBtz6+iwQg/Pke7r5qwhWppH1J6+vAy2xmYdXUkd3WE2Krzzh8dud3x/T660Oxv6x6wxU2IGkzlyv5gqHGhNurz/8Abqm+UVlhWnHHnXjOi9ute0UyBwoq90hXqe3rNYX2oDDmevomjawiWrK/rZcoUW0kqE+03klXXZXszare4ejwj5qfrRn+rCGBkftn7rZ1NZXqzFNvfZrQcW2WhkCHe6r3XhkMEazzunIDEkDd+j9G2FkCEyDDEmQ2hrRsGZxOJOJVV2P7KwbBCLIc3PdIxIrh6z3C7/S0TMm4TN5JJvl0k0zaIiLSCIiAiIgIiICIiAiIgIiICIiAiIgIiIIWktE2e0DVjwIUUZRGNf8A1Bavb/JXoyIZiA6Ef+VEe0DcwksHJbqiDmEfyL2f/LtlpZscIbx/QCob/I5FHsaQH44BnzbFHgutopqG3G4nkkto9m1wHb2vb8XKLE8kmkMI1l4ui/8AzXbkTpi7cOb5HLefatVmaPuiI494Cn2PyHmc41uJGUKEGn8z3u8F2JE1EaToTyV6Ns5DjBMd4udaHa4/8dGfyrdWtAAAEgLgLgF9RUEREBERAREQEREBERB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data:image/jpeg;base64,/9j/4AAQSkZJRgABAQAAAQABAAD/2wCEAAkGBxMTEhQUExMWFRQVGRgbGBgWGRoaFxoVFxgaGBUYGxcYHyggGBomGxgaITEiJSkrLi8wGB8zODMsNygtLysBCgoKDg0OGBAQGiwkICQsNCwsLCwsLCwsLzcsLCwsLiwsLCwsLCwsLiwsLCwsLC8sLCwsLCwtNywsLDYsLCwtLP/AABEIAMkA+wMBIgACEQEDEQH/xAAcAAEAAgMBAQEAAAAAAAAAAAAABAUDBgcCAQj/xABGEAABAgMEBwMJBQYEBwAAAAABAAIDESEEMUFRBRJhcYGR8AahsQcTFCIyUsHR4UJigpLxFSNTorLCM0Nys0RjdIOT0tP/xAAZAQEBAQEBAQAAAAAAAAAAAAAAAQIDBAX/xAAmEQEBAAIBBAEEAwEBAAAAAAAAAQIRAxIhMVETBEFh4TKB0bEi/9oADAMBAAIRAxEAPwDuCIiAiIgIiICIiAiIgIiICIiAiIgIiICIiAiIg8RooY0ucZNaCScgKkqrs+noRa57ntbIF2qZg6orjeZZKu7V2/WIgNNGydE33sZ/cfw5rSvRnW21MszCQ32ojh9mGPaO80aNpC8mf1F+WYYzft6sOCfHc8v6dXsdpbFYyIwzY9oc05tcJjuWZY7PBaxrWMAa1oDWgXBoEgBwWRet5RERAREQEREBERAREQEREBERAREQEREBERAREQEREBERAUPS9vEGEX3m5o9559kfE7AVMWn9oLdCfEd5yKYfmnajQ5ji0vLWuLtZs8HAXU4rHJcpjemd2+OY3KdXhrOm7f5pji503OmSc3GpK2/sDoI2aBrxBKPHk5872j7EPgDXaStV7LaM9MthiOkYFnIObXxb2N2ge0fwg3rqK830vFcZ1ZeXo+p5Zf8Azj4ERF7HkEREBERAREQEREBERAREQEREBERAREQEREBF8LgLyFhdbIYviMH4h81NjOiw+lQ/fb+YL0IzfebzCbgyL45wAJJkBeTcAoukNIwoMMxIjwGjvOAGZK5t2g096VPzji2CLobTQ5F5+0e5Xatr0j29scMkNc6KR/DE2zy1zIHgoEG2wdJljJ6jdd0R86PLg0MYwcDMn7ozpp0OK0jUY0Fq96CglsR8naoDXOmMHNqw79aSnc7Ou6OsEOAwMhtDWjvOZlipKg6D0gLRZ4UX32gkZOFHjg4EKcqgiIgIiICIiAiIgIiICIiAiLHHjNY1z3GTWgkk4ACZKDIq3SWn7NApFjMafdnN35WzK0bTnbR8UlsIlkO4S9pw2nCeQ71z23SY9wnS8TyO3Fc7n6amLrtr8oMAT82x7ztk0HxPcqKJ24jxTIObDGTBWW1xnXaJLmtltvrGVVtnZjstHtBEQ/uoXvEVI+6MRtMuKxblWtSNkOknuHrRXmebjLkF6bN+BPArYdHaAgQgJMDz7zhrHvoOAVvCswyG5Jw2+adfppcPQ0Rx9WGfAbPa6orL9hxaE6oO2p7r1tQYcCvTWlanDinXWrjQ0QZcB10F5j2CIKhrjLLVrwW2LzqlPhxOutLMKX2HAzy3/RfI8UAEFpA6petxiWcG9RI2j4bgWkAg3g3Hgp8M9nW0GxaFdbYpcKQ23E47aKz0x2JdqAQ5HP4LbbPZBDGqxoaMmgS7pL5abMXChc12BbMeBqF1kk7MNU0P2FLWkvcATcFoumIohPfDY6cnHWIuJFAAch4kreO0OnY1nhOHnDrOmwAgTBNCZmtFzSBZYkZ+pCYXuOXiTcN5VHRewnaSHBsbGRLg58pETkXk3HbNbLB7Y2QmRiFv+pplzEwtDg9irS2GAACQK3ipqZEjNUWmLJFg0iNLDtuO44rlcso3qO42S2w4onDe14+6Qf0WdcA7M6XiQ4s2OIlKUsMxtGxdh7Naf8+NSJIRAKEXPGYGB2cd2sc99qlxXyIi2yIiICIiAiIgIiIC0/yiWmTYMK8PLiRgdXVAmMau7luC5ZpjSnpNpe+fqNmyGJfYBqfxX8gufJezWPlEh2aDL/DHAuFL8++XBQLX2cs8Yz1ojXSwcD/UN6tospeA3zwVPa4jmky2buFVwm3RN7P6JstnfrRQYkj6tBIHMgn1iugWTT1ld/mS2FrsNwkuPP0m8OAM65y71a2S3BmImZc/18StTPKJZK607TNmF7/5XfJYT2lsw/zJfhK5e7SU9s/0F/Kq9elUv4jO+ddtFflyTojqsHTkB10VvEEd5Wf9ow/4jFzOyRm7d5v2GU9n6qZ6S240Er6405apV+WnRHQfTWfxIc9plszWYFxuLe9c09IbMkuy4GczftBwG1Z7NpIw/YfKe0ilQKE0Fyvy/hOh0TVJvl3r4bODetQg6eikf4k64Suobxx5KI/TEX331lc43Un8Vfmh0N69FbkvQhALnb9KvkPWfnfWVJ9d6ft6K1tHvBlfMnHK64HkaqfN+DobhpLs3Z47w+LD1y24FxDa4loImd6nWSxshN1YcNrG5MaAO5aNA7X2gTm5rqYtE8ciMlJf2tjfdv8AdllnPb3UV+XFOit1cqXTlhZFYWvaHA4FazF7WWnB4H4W57Rw+S1jTXaa0uvjPE/dOr/TJPli9FRbVoA2W0ETmx4JaTfS9p3Z48FlsemXQ7RZwx0v3sOe0F4mN0ieexVAtbnXkknEmvNRIkbViNffqODt+qQeK527rX2fpNF4hRQ5oc0za4Agi4g1BXtelyEREBERAREQEREGO0z1HSv1TLfKi4toYzaCB1L9V2t5odxXDtAO9WRnMFcuX7N4LqRl8Z4k0xzkeaix7LO/5XVy30OQUyFGIpOpzPO/L4rM4g5UvpvNTQz+pXBtrkfR8zMDb3fNIVloJ7+7PrBXxYDgQDx33/A4LwIDc5c9+OPH4K7NKJ1nAulwG9YnxCKAdTEuv0V3Gss53d+ezd3rzZtG6xu44bZUyrwTcNIUC0EX0wuGHCefU1nMckUnjcTupzHyVq/RxAlTbhmK8z9CoMaxkTkCKcOqK7iK6LFdIVrOYndt6nyWOE4ipPLPgOtqsIkEzM2895A34fNfINjc6cmyHzltpcU2aRDa3XeI2btufJY4tsdXw21rXjt3qd+yzK4TkakfhvxwWL9kuNA3ltu4V71NqgRLe+s8b/E479qjx7XEcJACRnXG47a33itVcjRsrm85bF6i2J38OUsTTxBpRNmlPZ4z51nn3z+SsIMUyru7p4bhnuWR1hleMssAfl9VjEEATM55UrUC/goPtoiUPQoQc9v6LX7cXE344K6jDCd9L+E67lC9H1jOlwPR64JCosGHIdddcV4fAnVWcKB1+nXIrzGkMuGfXxV2OgeS3Tmsw2Z59Zgmyfu/aHgeJW/rh3k/jkaTs+TvONPGE8+IC7ivRx3cc8vIiItsiIiAiIgIiIMdpaSxwF5afBcPsZ1XOIuPxK7oufdqexb2udHsvrAzL4OP3jDOOepvkbmrnnjtrG6UUOKZb6VltlTu47lnhxRdTnWku8dYqsgWkObSe4Sx2bx3r3Edt+stm6S4adE6JHFcBl1d1ksb4s8xPI+I5cCqyJHNxNOuS8ttJ5qUWrng1E5beVabJFTLEKTJ4fCuN4VO2PdfgaVvN+GElMFqp6xJn1/bkki7WzoglfhLGf63/lrcsb3tmbjLdhfhsOCqzaW7DdeOO/ErwY33ht+PhtSosvP125gjZO7aBzXuJaAPZN+zeJ12OPJVQiHMcZ/PYFniR75eIxnyvCndWdtoNcKCdALiDzovptLhdIC64TmLjkLslC86BK8TIu62p52YqTKeM7+B2p3Eh0ZxMp8p0Bnt2BeIxdN0y7G8nHWwmvLC0ETLhdj8uqL460DwlPaM0VmZCmDM0vrW4OnKqjWloF2M/wC5fXWiY4c6cjeqy0Wo3TA6+qg+Wl0rsp95+ajw3SyJkdtxKxRYh505iR40/VYWxM8fiJXLSJLo/wAN3JQo0fn9Ouqr5EiU39FRHu2qyIvOwhnpKy/6nf7b13tcZ8lWhYkS1stOoRBhB8nkSDnlpYGt96WsSSLtWS7MvRxzs55eRERbZEREBERAREQEREHLvKro5kKJDiwvUfF19ek2uLdWTpYOqZnFaI/S8RlHNnWhaZ+MuS6T5W/+G/7v9i5+YOs2RE+qblxy/k6TwinT7cnflPdISWKJpsTox9/uEYbZZL7EsArJxEts+WxYDY3XiRFLtxrJZ1BKZpgmQEJ2Hu5DbsyWU6Ydd5t3Nvjrb1CgwpYHjTfivRaDmb54BUZTp586sdzEsfvdSuXhmnJmrHCZ2bcjtWF8Lb0cliZCr8rynYWTdPAGbg4bdVxBxw49ykw+0jQMeIIGEvDvVQ9pGQ31PGXWSxhu2aahtssLTLX1BaZTvONZXY3fJZRpJpMhtuO+7uyvuWqNss6mW8SJwyXv0aVznjkRydhQKdJtuDLdea3DDKfyWGLHI3/pzu+q1htqisoS076HcKL7+2Xg+yfGvArPQ11LyJFJ/QbMjsKjxpyrPofNqqP20fdOOxYoumT7jubfmnTU2uA6fPZv+JUK121rRUjH6eCqo+k4rxqtbIcz8lgg6Pe4zefiforMfZttHZfQtp0iX+jBjWwy0PfEJa0F1ZCQJcZbMRVdH0F5LIEMh1qiG0OFdQDUhcRMufxMjkvPkSsYh2KMQPbjuO8CHDHjNdDXbHGMW15hQw0BrQGtAAAAkABcABcF6RFtkREQEREBERAREQEREGg+VmF+7s78A97fzNB/sK5Vpy2vhtY1h1S+daGTRLDC8XUou2+UWyecsMQi+GWvH4TJ38pcuLaes2uxur7bZu1RiygdLdNtN6vDMfmnV4M7ei6ZdKCNBaHO1YjJAG4EOzpSRlw5LJpMiDImZaTeMDUgVIvGOxVOjdLzaIMb1oLpC+rQCCK36s8PlJWvauJ+7YPv4XUacK5rteCTkwwynnff36/ticm8bZWXRkaHGIaNYnHWbcM/dnx+kpnoziWhzC4EiWMxMEBufWCrexwBEWl2phTHrFTmMb6VEdTWDGGZpUucCRPYBX6rjzcWGGeePftP8/1vDPK4y+0l9jhYitMBPKolS5ZLLo6FdqgeOF9Kj5LULZbDGjBpJ83rhshSY1pTMvtFbBpbR72Q3RYT3sLRNwDnAFtxMiSGkX+CX6bpuMyurScu5bJ4WDtGw5n1Zb5X35FRY+iGSuLpzNAcNoIUnR0/MwriSxhmdrR39FUGnNKRmxSGxDqyEhISp6rr/vNOSxx8OXJncMVyzmM3U2Jo4AXSvmGyB7/lzUZ9ivo6VLxmORruU/RL3RYQeTsMg2ZIJF2H1xVfpa3RYLw2TZSmJ3yyJB33ZqYcOeWdwnmLc8ZOqsEWwO+yNstWXjvXg6Li4sIvvlhffdRTbNb4joLooY06hkaGUtWZO+S+6P00YjtSrS6cqUNDSUp7sti1fp+WS3Xjyk5Mbr8qg6OdkBvuXuHYWi+R7hyN6v4tnMpulWpm2W/efmoUZpAke67lhlzXn26aQRBGPL5L0/ro3Fe9bYJjf4qJGj0OM0g7l5L4Gro6CTe8xHHjEcGn8oC2tUfYdstHWPbAhHi5gJ7yrxeieHOiIiqCIiAiIgIiICIiAiIgj6RswiwokM3PY5v5mkfFfn50OJOFEYNbUDtZs/WIdqzAzNJ4XL9ErhcZobaI8P8AhxYjZZAOIBllILNy6bKsm5pq2mbOHxpQmOmfboQNY50ptworLtNClAZUnVcAcvZIBPWxXLG0vw4dUz+vqIwEEEAgioIvFZjITuXSfVXeHb+KfF2v5UnY6couNW34X/Lu2KcTrWiJJ1zIYmcDN9JdX7V5haMZDLjDc9kwRqgzFftEGZmDWuS92WyhkxMucSCXOvJwnhwwU5+XDLLLKff9f4YY2SS/ZqdhEo0ME3RGDf64C2bSGm4kB+o+EwgtpUgljpiREpTocO4qPb9EnzjI0JusQWuc2lS01kZ7F405YI0aPNkOTdUNDjINIEyZTN1cMsV7LycXNnjllrWu/fw49OWEsntfQrUBZxFLAwamsGzDgGgeqBIAezKksZYLV9MWYtgwDXWAIdIfacS8VG9ysNKEthw4Oq58tQPcGkjVbKYG/VUbTcBnmvODWDnSLZ61STWhMmmU8AuPBZhnjfd/U/7W+TvLPUSOy1sIhvhzudrCQnIOAnI7296h9qXTewyAGrszM7vFRtBWprIvrHVDgRM53t33S4rJ2iLfOANkSG1uJBJJ4GS7zjuP1e/c259W+Fl0dbNWyxmn7bi0SBvLRjlsWPQtiJeH6/s1AB9aeEwDQb1k0UJ2aOAa1p+GhlfgeSrbDHDYjHONAanZj3FdLLlOWY+f0m5Lja21zTWTiLxWZz6zUKOK5S5T6KkPjzaCNYAicj8a0VfEdjKXcCvh2ae5Fj49fRRXNWd5vwrcvEUyBVR+hexglo+x/wDTwf8AbarlQ9DWfzdngw/chw2/laB8FMXonhyERFQREQEREBERAREQEREBcW8pVhdZreYwHqRgH8gGxBvBk78YXaVr/bbs/wCmWYsbLzrPWhE3awHsnY4U2UOCzlNxY5ZZ7W1wBoThnWt/RWd5Bw3yrW/L4rVG2h0Fxa4FpBILTRzXAyc0jep8HSIlQ9cONVx02tHmYOR3zPPd1JYHG6YG4cOuqxWW0HETFB8s+CG03Z/P9FLFWLHXGt2GfRUkxK38JTlvrd8lAZEFO/Lfu6zX20RPHrfVXQzRrRIe1POtPkeE96hvtxnQSnPKewZqJaIvdOZxn10FiMziMOuvqmk2nC0NnMiZnP2SfD57dikCExxJIDjQfZP1PVVVmEb7vr9es/cN0pVr49EYK7s8CzhQGNJLWtYbptaBQ/epSgxwChxbLCDp6rZ3zAF9DOQmvLYxMp8N1+67wXyK52EsjTKeWyv6p15e6ahGjUocbjfmoL33ivxWQ1rfhTJRyRMm8DorCsT6cFP7PaP9ItVngyo+I3WH3AdZ/wDK1yq3Pr8l07yN6EJMS2OFKw4W0/5rxyDR+Nbxm6lrqiIi7uYiIgIiICIiAiIgIiICIiAiIg0jyg+T9lvBiwiIVqA9r7EQC5sSVdgeKjaKLhuk7HHssQwLTDdCiCctYUcM2OFHjaJy2XL9UqDpfREC1QzCtEJkVhwcJyOYN7TtEipZtdvzEx5zUqFaTu7+5dD7QeRk1dYbRIfwrRMtFbmxWjWA3tdvWgaU7JaTs0/OWOKRX1oQ883f+7JLRvAWLiu0mBHnj9FIixDLHhLletPh6Uc1xBoReCJEEZg1VlZ9Lz9qm/54KaXaZa3PJNSBtz6+iwQg/Pke7r5qwhWppH1J6+vAy2xmYdXUkd3WE2Krzzh8dud3x/T660Oxv6x6wxU2IGkzlyv5gqHGhNurz/8Abqm+UVlhWnHHnXjOi9ute0UyBwoq90hXqe3rNYX2oDDmevomjawiWrK/rZcoUW0kqE+03klXXZXszare4ejwj5qfrRn+rCGBkftn7rZ1NZXqzFNvfZrQcW2WhkCHe6r3XhkMEazzunIDEkDd+j9G2FkCEyDDEmQ2hrRsGZxOJOJVV2P7KwbBCLIc3PdIxIrh6z3C7/S0TMm4TN5JJvl0k0zaIiLSCIiAiIgIiICIiAiIgIiICIiAiIgIiIIWktE2e0DVjwIUUZRGNf8A1Bavb/JXoyIZiA6Ef+VEe0DcwksHJbqiDmEfyL2f/LtlpZscIbx/QCob/I5FHsaQH44BnzbFHgutopqG3G4nkkto9m1wHb2vb8XKLE8kmkMI1l4ui/8AzXbkTpi7cOb5HLefatVmaPuiI494Cn2PyHmc41uJGUKEGn8z3u8F2JE1EaToTyV6Ns5DjBMd4udaHa4/8dGfyrdWtAAAEgLgLgF9RUEREBERAREQEREBERB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0" descr="Image result for image of sugar solu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12" descr="Image result for image of sugar solu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8" name="AutoShape 14" descr="Image result for image of sugar solu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CB24E-D429-4046-9572-E85EECF03E6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Atoms and Molecules Session 14</a:t>
            </a:r>
          </a:p>
        </p:txBody>
      </p:sp>
      <p:pic>
        <p:nvPicPr>
          <p:cNvPr id="24" name="Picture 2" descr="Image result for image of rock cand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3810000"/>
            <a:ext cx="3173046" cy="19335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6773</TotalTime>
  <Words>863</Words>
  <Application>Microsoft Office PowerPoint</Application>
  <PresentationFormat>On-screen Show (4:3)</PresentationFormat>
  <Paragraphs>140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Comic Sans MS</vt:lpstr>
      <vt:lpstr>Office Theme</vt:lpstr>
      <vt:lpstr>Nucleation and Growth of Crystalline Structures On A Treated Substrate From A Supersaturated Solution Of C12H22O11</vt:lpstr>
      <vt:lpstr>Nucleation and Growth of Crystalline Structures On A Treated Substrate From A Supersaturated Solution Of C12H22O11</vt:lpstr>
      <vt:lpstr>Better Title: Making Rock Candy!</vt:lpstr>
      <vt:lpstr>PowerPoint Presentation</vt:lpstr>
      <vt:lpstr>Lab Safety Today</vt:lpstr>
      <vt:lpstr>Experiment 1: Growing Rock Candy Crystals That You Can Eat</vt:lpstr>
      <vt:lpstr>Now Let’s Go To The Kitchen</vt:lpstr>
      <vt:lpstr>Procedure for Experiment 1</vt:lpstr>
      <vt:lpstr>Finishing Experiment 1</vt:lpstr>
      <vt:lpstr>Back To The Classroom</vt:lpstr>
      <vt:lpstr>Some Beautiful Crystals</vt:lpstr>
      <vt:lpstr>More Crystals!</vt:lpstr>
      <vt:lpstr>Cave of Crystals, Mexico (Gypsum)</vt:lpstr>
      <vt:lpstr>So, What are Crystals?</vt:lpstr>
      <vt:lpstr>What Do I Mean by “Orderly”?</vt:lpstr>
      <vt:lpstr>Experiment 2: Growing Needle-Shaped Crystals</vt:lpstr>
      <vt:lpstr>Procedure for Experiment 2</vt:lpstr>
      <vt:lpstr>Science Vocabulary for This Week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Home</dc:creator>
  <cp:lastModifiedBy>cfam</cp:lastModifiedBy>
  <cp:revision>605</cp:revision>
  <cp:lastPrinted>2019-01-25T05:52:50Z</cp:lastPrinted>
  <dcterms:created xsi:type="dcterms:W3CDTF">2015-02-09T23:35:07Z</dcterms:created>
  <dcterms:modified xsi:type="dcterms:W3CDTF">2019-01-25T05:53:01Z</dcterms:modified>
</cp:coreProperties>
</file>