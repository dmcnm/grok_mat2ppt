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19" r:id="rId2"/>
    <p:sldId id="420" r:id="rId3"/>
    <p:sldId id="421" r:id="rId4"/>
    <p:sldId id="422" r:id="rId5"/>
    <p:sldId id="423" r:id="rId6"/>
    <p:sldId id="424" r:id="rId7"/>
  </p:sldIdLst>
  <p:sldSz cx="9144000" cy="6858000" type="screen4x3"/>
  <p:notesSz cx="6858000" cy="9312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E1DEC3-882B-4011-A121-3BEC2D5B4C1C}">
          <p14:sldIdLst>
            <p14:sldId id="419"/>
            <p14:sldId id="420"/>
            <p14:sldId id="421"/>
            <p14:sldId id="422"/>
            <p14:sldId id="423"/>
            <p14:sldId id="4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66CCFF"/>
    <a:srgbClr val="FFCC00"/>
    <a:srgbClr val="1ADDF2"/>
    <a:srgbClr val="006600"/>
    <a:srgbClr val="FFFFFF"/>
    <a:srgbClr val="F484D4"/>
    <a:srgbClr val="C1A8F2"/>
    <a:srgbClr val="966CE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>
      <p:cViewPr varScale="1">
        <p:scale>
          <a:sx n="110" d="100"/>
          <a:sy n="110" d="100"/>
        </p:scale>
        <p:origin x="108" y="10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1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61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D703A-97DC-4EB0-A8C5-26E27C040667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698500"/>
            <a:ext cx="465455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3334"/>
            <a:ext cx="5486400" cy="4190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5048"/>
            <a:ext cx="2971800" cy="4656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5048"/>
            <a:ext cx="2971800" cy="4656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9A5E7-FFA6-49A9-8042-4D73EB56CA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FCDFA-2678-4F6A-9A47-D603501DEA02}" type="datetime1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6A812-5488-464E-9D4A-75FD79E75B9E}" type="datetime1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6FF91-F451-4A8A-B186-46AEC8BA1E90}" type="datetime1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AB04-30DD-49D2-8A4D-27B401D272D2}" type="datetime1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06441-9974-468B-8484-248797F86D65}" type="datetime1">
              <a:rPr lang="en-US" smtClean="0"/>
              <a:t>5/31/2022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182B5-B305-40D5-8020-15FFCBFCE4FA}" type="datetime1">
              <a:rPr lang="en-US" smtClean="0"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F176-31D4-4506-B55C-F2F1A60C93D1}" type="datetime1">
              <a:rPr lang="en-US" smtClean="0"/>
              <a:t>5/31/2022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62FB-2DBC-4FE8-99A2-2578969CDE8A}" type="datetime1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4331-660A-4285-9E39-729776890369}" type="datetime1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9BEAF-6962-4BA7-91A5-6906439F002B}" type="datetime1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8109F-C69B-4911-B1C8-859BCB5AC2DA}" type="datetime1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EA19F-DE8B-4A8E-8C5A-12208CBD15DA}" type="datetime1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Lesson 18 Biology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23CF7-B441-4119-B06A-7F1ADEAB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Great Scientist?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BFD193-E53D-F96E-F231-794688AAF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Knowing science and math facts</a:t>
            </a:r>
          </a:p>
          <a:p>
            <a:r>
              <a:rPr lang="en-US" dirty="0"/>
              <a:t>Being able to solve known scientific problems</a:t>
            </a:r>
          </a:p>
          <a:p>
            <a:r>
              <a:rPr lang="en-US" dirty="0"/>
              <a:t>Being able to acquire new data and assemble new theories to expand knowledge and answer specific questions about the universe</a:t>
            </a:r>
          </a:p>
          <a:p>
            <a:r>
              <a:rPr lang="en-US" dirty="0"/>
              <a:t>Is there something that many of our greatest scientists have in common?</a:t>
            </a:r>
          </a:p>
          <a:p>
            <a:r>
              <a:rPr lang="en-US" dirty="0"/>
              <a:t>Pictures of Newton, Einstein, and Feynman</a:t>
            </a:r>
          </a:p>
          <a:p>
            <a:r>
              <a:rPr lang="en-US" dirty="0"/>
              <a:t>Overlays of the Bible, Violin, and Congo drums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D5CA7-0FE5-FE33-DA40-64E8C8F4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C6276-A0D8-4E6F-3532-C3C6EACF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6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66B8-2D93-35B0-77A8-EBEECB493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Science: Left-Brain or Right-Brain Thinking?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5A1033-648A-F822-C532-089628A8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0313"/>
            <a:ext cx="4040188" cy="639762"/>
          </a:xfrm>
        </p:spPr>
        <p:txBody>
          <a:bodyPr>
            <a:normAutofit/>
          </a:bodyPr>
          <a:lstStyle/>
          <a:p>
            <a:r>
              <a:rPr lang="en-US" dirty="0"/>
              <a:t>Left-Brain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B701E-2A30-3615-B6C4-20D72859C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870075"/>
            <a:ext cx="4040188" cy="425608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Helps us manipulate the world</a:t>
            </a:r>
          </a:p>
          <a:p>
            <a:r>
              <a:rPr lang="en-US" dirty="0"/>
              <a:t>Clinical attention</a:t>
            </a:r>
          </a:p>
          <a:p>
            <a:r>
              <a:rPr lang="en-US" dirty="0"/>
              <a:t>Left hemisphere sees isolated details that are</a:t>
            </a:r>
          </a:p>
          <a:p>
            <a:pPr lvl="1"/>
            <a:r>
              <a:rPr lang="en-US" dirty="0"/>
              <a:t>Familiar</a:t>
            </a:r>
          </a:p>
          <a:p>
            <a:pPr lvl="1"/>
            <a:r>
              <a:rPr lang="en-US" dirty="0"/>
              <a:t>Known</a:t>
            </a:r>
          </a:p>
          <a:p>
            <a:pPr lvl="1"/>
            <a:r>
              <a:rPr lang="en-US" dirty="0"/>
              <a:t>Fixed</a:t>
            </a:r>
          </a:p>
          <a:p>
            <a:pPr lvl="1"/>
            <a:r>
              <a:rPr lang="en-US" dirty="0"/>
              <a:t>Graspable</a:t>
            </a:r>
          </a:p>
          <a:p>
            <a:pPr lvl="1"/>
            <a:r>
              <a:rPr lang="en-US" dirty="0"/>
              <a:t>Abstracted</a:t>
            </a:r>
          </a:p>
          <a:p>
            <a:pPr lvl="1"/>
            <a:r>
              <a:rPr lang="en-US" dirty="0"/>
              <a:t>Taken out of context</a:t>
            </a:r>
          </a:p>
          <a:p>
            <a:pPr lvl="1"/>
            <a:r>
              <a:rPr lang="en-US" dirty="0"/>
              <a:t>Categorizable</a:t>
            </a:r>
          </a:p>
          <a:p>
            <a:pPr lvl="1"/>
            <a:r>
              <a:rPr lang="en-US" dirty="0"/>
              <a:t>General in nature</a:t>
            </a:r>
          </a:p>
          <a:p>
            <a:pPr lvl="1"/>
            <a:r>
              <a:rPr lang="en-US" dirty="0"/>
              <a:t>Generally inanimate, because the process has completely isolated them from everything else and </a:t>
            </a:r>
            <a:r>
              <a:rPr lang="en-US" dirty="0" err="1"/>
              <a:t>deanimated</a:t>
            </a:r>
            <a:r>
              <a:rPr lang="en-US" dirty="0"/>
              <a:t> them</a:t>
            </a:r>
          </a:p>
          <a:p>
            <a:r>
              <a:rPr lang="en-US" dirty="0"/>
              <a:t>Grasping a tiny detail</a:t>
            </a:r>
          </a:p>
          <a:p>
            <a:r>
              <a:rPr lang="en-US" dirty="0"/>
              <a:t>Narrowly, focused, targeted attention to something it already knows about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02A62C-1CC5-D2F6-2BBB-13F432202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230313"/>
            <a:ext cx="4041775" cy="639762"/>
          </a:xfrm>
        </p:spPr>
        <p:txBody>
          <a:bodyPr>
            <a:normAutofit/>
          </a:bodyPr>
          <a:lstStyle/>
          <a:p>
            <a:r>
              <a:rPr lang="en-US" dirty="0"/>
              <a:t>Right-Brain Characteristics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FFC83E-0AA2-7EBC-6706-C2E943970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870075"/>
            <a:ext cx="4041775" cy="425608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Helps us understand the world</a:t>
            </a:r>
          </a:p>
          <a:p>
            <a:r>
              <a:rPr lang="en-US" dirty="0"/>
              <a:t>Rapt attention</a:t>
            </a:r>
          </a:p>
          <a:p>
            <a:r>
              <a:rPr lang="en-US" dirty="0"/>
              <a:t>Right hemisphere’s vision sees things that are</a:t>
            </a:r>
          </a:p>
          <a:p>
            <a:pPr lvl="1"/>
            <a:r>
              <a:rPr lang="en-US" dirty="0"/>
              <a:t>only partly known</a:t>
            </a:r>
          </a:p>
          <a:p>
            <a:pPr lvl="1"/>
            <a:r>
              <a:rPr lang="en-US" dirty="0"/>
              <a:t>only partly certain of what we are looking at</a:t>
            </a:r>
          </a:p>
          <a:p>
            <a:pPr lvl="1"/>
            <a:r>
              <a:rPr lang="en-US" dirty="0"/>
              <a:t>Fresh</a:t>
            </a:r>
          </a:p>
          <a:p>
            <a:pPr lvl="1"/>
            <a:r>
              <a:rPr lang="en-US" dirty="0"/>
              <a:t>Interconnected, and situated where they are in context</a:t>
            </a:r>
          </a:p>
          <a:p>
            <a:pPr lvl="2"/>
            <a:r>
              <a:rPr lang="en-US" dirty="0"/>
              <a:t>When we take them out of context, they change their nature</a:t>
            </a:r>
          </a:p>
          <a:p>
            <a:pPr lvl="1"/>
            <a:r>
              <a:rPr lang="en-US" dirty="0"/>
              <a:t>Flowing and changing, not fixed and graspable in a simple way</a:t>
            </a:r>
          </a:p>
          <a:p>
            <a:pPr lvl="1"/>
            <a:r>
              <a:rPr lang="en-US" dirty="0"/>
              <a:t>Unique rather than exemplars of a common theme</a:t>
            </a:r>
          </a:p>
          <a:p>
            <a:pPr lvl="1"/>
            <a:r>
              <a:rPr lang="en-US" dirty="0"/>
              <a:t>Embodied rather than abstracted and disembodied</a:t>
            </a:r>
          </a:p>
          <a:p>
            <a:pPr lvl="1"/>
            <a:r>
              <a:rPr lang="en-US" dirty="0"/>
              <a:t>Animate, rather than inanimate</a:t>
            </a:r>
          </a:p>
          <a:p>
            <a:pPr lvl="1"/>
            <a:r>
              <a:rPr lang="en-US" dirty="0"/>
              <a:t>Has the ability to look out for something we might be missing -- more skeptical</a:t>
            </a:r>
          </a:p>
          <a:p>
            <a:r>
              <a:rPr lang="en-US" dirty="0"/>
              <a:t>Assembles facts for application in an embodied world.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AAB0D-BE09-26F0-86FB-F090EF4A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896E8-15F4-9132-78A1-7B17FF51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81296-0102-0786-3073-504480DD4712}"/>
              </a:ext>
            </a:extLst>
          </p:cNvPr>
          <p:cNvSpPr txBox="1"/>
          <p:nvPr/>
        </p:nvSpPr>
        <p:spPr>
          <a:xfrm>
            <a:off x="152400" y="5943600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Reason is this ability to bring together the faculties of logic with the faculties of an intuitive, implicit, embodied understanding of what it means to be alive” –Iain </a:t>
            </a:r>
            <a:r>
              <a:rPr lang="en-US" dirty="0" err="1"/>
              <a:t>McGilchrist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314E5-F22E-87B9-9517-A33B8173B3AB}"/>
              </a:ext>
            </a:extLst>
          </p:cNvPr>
          <p:cNvSpPr txBox="1"/>
          <p:nvPr/>
        </p:nvSpPr>
        <p:spPr>
          <a:xfrm>
            <a:off x="0" y="1066800"/>
            <a:ext cx="9117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Our perceptions of the world come from paying a certain kind of attention to it</a:t>
            </a:r>
          </a:p>
        </p:txBody>
      </p:sp>
    </p:spTree>
    <p:extLst>
      <p:ext uri="{BB962C8B-B14F-4D97-AF65-F5344CB8AC3E}">
        <p14:creationId xmlns:p14="http://schemas.microsoft.com/office/powerpoint/2010/main" val="153754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AA9D13A-52E0-2D1B-56A2-CF3E701F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the Right-Brain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A7F3AF2-3795-F19F-586A-215E8A9DA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If we want to educate students to be world-class scientists, we need to develop and not dismiss right-brain thinking</a:t>
            </a:r>
          </a:p>
          <a:p>
            <a:pPr lvl="1"/>
            <a:r>
              <a:rPr lang="en-US" dirty="0"/>
              <a:t>Both left and right-brain thinking are critical for breakthrough science</a:t>
            </a:r>
          </a:p>
          <a:p>
            <a:r>
              <a:rPr lang="en-US" dirty="0"/>
              <a:t>Teach an understanding of and appreciation for Music, Art, and the Sacred</a:t>
            </a:r>
          </a:p>
          <a:p>
            <a:pPr lvl="1"/>
            <a:r>
              <a:rPr lang="en-US" dirty="0"/>
              <a:t>For example: band, drawing, family, and the pledge of allegiance/reveille</a:t>
            </a:r>
          </a:p>
          <a:p>
            <a:r>
              <a:rPr lang="en-US" dirty="0"/>
              <a:t>The Saint Luke Guild was founded to bring high quality, physical reproductions of the greatest works of art to students of average means</a:t>
            </a:r>
          </a:p>
          <a:p>
            <a:pPr lvl="1"/>
            <a:r>
              <a:rPr lang="en-US" dirty="0"/>
              <a:t>Enabled by two technological developments from the last 20 years</a:t>
            </a:r>
          </a:p>
          <a:p>
            <a:pPr lvl="2"/>
            <a:r>
              <a:rPr lang="en-US" dirty="0"/>
              <a:t>The explosion of high-resolution, digital imagery of the greatest works of art, previously reserved to museum visitors</a:t>
            </a:r>
          </a:p>
          <a:p>
            <a:pPr lvl="2"/>
            <a:r>
              <a:rPr lang="en-US" dirty="0"/>
              <a:t>The dramatic improvements in low-cost, museum quality photographic printing methods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50C6F0A-4570-11DE-7F1A-9CA7071FF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B4E059-95E6-0AB5-9BE5-1D4BC6C1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5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FFA4-F0FF-6385-286A-B5DDFA8D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FC0BD-861E-5BD9-DD9A-F2E70CB46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Bring around 50 paintings showing both a timeline of art and world history to Holy Child Catholic School</a:t>
            </a:r>
          </a:p>
          <a:p>
            <a:pPr lvl="1"/>
            <a:r>
              <a:rPr lang="en-US" dirty="0"/>
              <a:t>$30k in artwork installed in the last 1.5 years</a:t>
            </a:r>
          </a:p>
          <a:p>
            <a:pPr lvl="1"/>
            <a:r>
              <a:rPr lang="en-US" dirty="0"/>
              <a:t>$30k in funding promised by donors to complete the hallway</a:t>
            </a:r>
          </a:p>
          <a:p>
            <a:r>
              <a:rPr lang="en-US" dirty="0"/>
              <a:t>Over 20 years projects of a similar scale could be done in every school throughout the country for </a:t>
            </a:r>
            <a:r>
              <a:rPr lang="en-US" dirty="0">
                <a:solidFill>
                  <a:srgbClr val="FF0000"/>
                </a:solidFill>
              </a:rPr>
              <a:t>~.05% </a:t>
            </a:r>
            <a:r>
              <a:rPr lang="en-US" dirty="0"/>
              <a:t>of their budget</a:t>
            </a:r>
          </a:p>
          <a:p>
            <a:pPr lvl="1"/>
            <a:r>
              <a:rPr lang="en-US" dirty="0"/>
              <a:t>Compare with Zuckerberg’s $300,000,000 donation to one school district – Zero improvement in student achievement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C1A44-B0D2-1882-33B0-8DD70E52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3AB60-6B42-63EE-7351-3BC52DAF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4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32BC-381B-C432-66B4-82A06B9E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Paintings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B4836-2DA3-E21E-ECE4-3DBD4A8E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>
            <a:normAutofit/>
          </a:bodyPr>
          <a:lstStyle/>
          <a:p>
            <a:r>
              <a:rPr lang="en-US" dirty="0"/>
              <a:t>Science brings us facts about the world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9B441-DA6C-657D-69E0-4140CFEB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939A5-2F0B-0A60-F2FB-B42B6731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FDD38-7A05-33A3-FB80-FB00DF8C6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220" y="2087090"/>
            <a:ext cx="5334807" cy="4110912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CA875D35-E1E2-D04A-3AB7-1E351F2C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36" y="1827818"/>
            <a:ext cx="3839456" cy="47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2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32BC-381B-C432-66B4-82A06B9E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B4836-2DA3-E21E-ECE4-3DBD4A8E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Science brings us disembodied, decontextualized facts about the world</a:t>
            </a:r>
          </a:p>
          <a:p>
            <a:r>
              <a:rPr lang="en-US" dirty="0"/>
              <a:t>Art and myth are focused on how embodied humans should act in the real world, which is particular and uncertain</a:t>
            </a:r>
          </a:p>
          <a:p>
            <a:r>
              <a:rPr lang="en-US" dirty="0"/>
              <a:t>Both left and right-brained thinking is necessary for a world-class scientific enterprise</a:t>
            </a:r>
          </a:p>
          <a:p>
            <a:r>
              <a:rPr lang="en-US" dirty="0"/>
              <a:t>The scientist is servant to the humanities major</a:t>
            </a:r>
          </a:p>
          <a:p>
            <a:pPr lvl="1"/>
            <a:r>
              <a:rPr lang="en-US" dirty="0"/>
              <a:t>They control how our inventions are used</a:t>
            </a:r>
          </a:p>
          <a:p>
            <a:r>
              <a:rPr lang="en-US" dirty="0"/>
              <a:t>The Saint Luke Guild helps develop right-brain thinking by bringing high quality reproductions of the greatest works of art in the Western Canon to average students</a:t>
            </a:r>
          </a:p>
          <a:p>
            <a:pPr lvl="1"/>
            <a:r>
              <a:rPr lang="en-US" dirty="0"/>
              <a:t>Developing an appreciation for rapt attention alongside clinical attention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9B441-DA6C-657D-69E0-4140CFEB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Lesson 18 Biology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939A5-2F0B-0A60-F2FB-B42B6731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50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7600</TotalTime>
  <Words>631</Words>
  <Application>Microsoft Office PowerPoint</Application>
  <PresentationFormat>On-screen Show (4:3)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What Makes a Great Scientist?</vt:lpstr>
      <vt:lpstr>Science: Left-Brain or Right-Brain Thinking?</vt:lpstr>
      <vt:lpstr>Developing the Right-Brain</vt:lpstr>
      <vt:lpstr>Example Project</vt:lpstr>
      <vt:lpstr>Example Paintings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Home</dc:creator>
  <cp:lastModifiedBy>Douglas Coombs</cp:lastModifiedBy>
  <cp:revision>698</cp:revision>
  <dcterms:created xsi:type="dcterms:W3CDTF">2015-02-09T23:35:07Z</dcterms:created>
  <dcterms:modified xsi:type="dcterms:W3CDTF">2022-06-01T07:31:29Z</dcterms:modified>
</cp:coreProperties>
</file>