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  <p:sldId id="273" r:id="rId42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FFCC00"/>
    <a:srgbClr val="1ADDF2"/>
    <a:srgbClr val="66CCFF"/>
    <a:srgbClr val="006600"/>
    <a:srgbClr val="FFFFFF"/>
    <a:srgbClr val="F484D4"/>
    <a:srgbClr val="C1A8F2"/>
    <a:srgbClr val="966CE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>
      <p:cViewPr varScale="1">
        <p:scale>
          <a:sx n="72" d="100"/>
          <a:sy n="72" d="100"/>
        </p:scale>
        <p:origin x="16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14.xml"/><Relationship Id="rId39" Type="http://schemas.openxmlformats.org/officeDocument/2006/relationships/slide" Target="slides/slide15.xml"/><Relationship Id="rId40" Type="http://schemas.openxmlformats.org/officeDocument/2006/relationships/slide" Target="slides/slide16.xml"/><Relationship Id="rId41" Type="http://schemas.openxmlformats.org/officeDocument/2006/relationships/slide" Target="slides/slide17.xml"/><Relationship Id="rId42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D703A-97DC-4EB0-A8C5-26E27C040667}" type="datetimeFigureOut">
              <a:rPr lang="en-US" smtClean="0"/>
              <a:pPr/>
              <a:t>1/24/2019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9"/>
            <a:ext cx="5560060" cy="4156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1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71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9A5E7-FFA6-49A9-8042-4D73EB56CA8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E1DBB-A335-468B-B479-2978DD53D278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1911B-180A-48D6-BD54-7704F07534C0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42D1-E4FA-45A6-9FA6-F698A698C742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7748A-EC8D-4666-923C-AC8F5A158965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2778-D88B-46C0-AD9F-93B2CAFA233B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8E44-4C00-4A3B-8DA1-11724B7E27FD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34F4-189E-45EC-AFB5-273FFECA49E3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C5B39-42AA-4616-97A9-2F65C9233D3B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9AEC4-D3B8-4AD8-BEA6-45432A1403B7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7C06-1812-4CC9-91F3-301782272929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82FA-9011-4F23-BA4E-22852B2556D4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7D07B-4E74-4E4E-9436-F5FDDF0A49BE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Relationship Id="rId3" Type="http://schemas.openxmlformats.org/officeDocument/2006/relationships/image" Target="../media/image3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gi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30" y="274594"/>
            <a:ext cx="8296260" cy="5287975"/>
          </a:xfrm>
        </p:spPr>
        <p:txBody>
          <a:bodyPr>
            <a:normAutofit/>
          </a:bodyPr>
          <a:lstStyle/>
          <a:p>
            <a:r>
              <a:rPr b="1">
                <a:latin typeface="Comic Sans MS"/>
              </a:rPr>
              <a:t>Nucleation and Growth of Crystalline Structures On A Treated Substrate From A Supersaturated Solution Of C12H22O11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070" y="274594"/>
            <a:ext cx="8296260" cy="5287975"/>
          </a:xfrm>
        </p:spPr>
        <p:txBody>
          <a:bodyPr>
            <a:normAutofit/>
          </a:bodyPr>
          <a:lstStyle/>
          <a:p>
            <a:r>
              <a:rPr b="1">
                <a:latin typeface="Comic Sans MS"/>
              </a:rPr>
              <a:t>Nucleation and Growth of Crystalline Structures On A Treated Substrate From A Supersaturated Solution Of C12H22O11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52609" y="381030"/>
            <a:ext cx="5610209" cy="56102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343150" y="752459"/>
            <a:ext cx="4895880" cy="48958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28850" y="2905140"/>
            <a:ext cx="5114970" cy="3619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2430" y="5715000"/>
            <a:ext cx="3800429" cy="46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FF0000"/>
                </a:solidFill>
                <a:latin typeface="Comic Sans MS"/>
              </a:rPr>
              <a:t>No!!!  Too Complicated!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594"/>
            <a:ext cx="8229600" cy="1592245"/>
          </a:xfrm>
        </p:spPr>
        <p:txBody>
          <a:bodyPr>
            <a:normAutofit/>
          </a:bodyPr>
          <a:lstStyle/>
          <a:p>
            <a:r>
              <a:rPr sz="4800">
                <a:latin typeface="Comic Sans MS"/>
              </a:rPr>
              <a:t>Better Title:</a:t>
            </a:r>
            <a:br/>
            <a:r>
              <a:rPr sz="4800">
                <a:latin typeface="Comic Sans MS"/>
              </a:rPr>
              <a:t>Making Rock Candy!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3569" y="5650443"/>
            <a:ext cx="4876769" cy="646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600">
                <a:latin typeface="Comic Sans MS"/>
              </a:rPr>
              <a:t>And Other Crystals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40" y="1990740"/>
            <a:ext cx="3333719" cy="33337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30" y="381030"/>
            <a:ext cx="8305770" cy="838230"/>
          </a:xfrm>
        </p:spPr>
        <p:txBody>
          <a:bodyPr>
            <a:normAutofit/>
          </a:bodyPr>
          <a:lstStyle/>
          <a:p>
            <a:pPr lvl="0"/>
            <a:r>
              <a:rPr sz="4400">
                <a:solidFill>
                  <a:srgbClr val="FF0000"/>
                </a:solidFill>
                <a:latin typeface="Comic Sans MS"/>
              </a:rPr>
              <a:t>Funny Election 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5943600"/>
            <a:ext cx="6934169" cy="304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  <p:pic>
        <p:nvPicPr>
          <p:cNvPr id="6" name="Picture 5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00200"/>
            <a:ext cx="6934169" cy="46181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olidFill>
                  <a:srgbClr val="FF0000"/>
                </a:solidFill>
                <a:latin typeface="Comic Sans MS"/>
              </a:rPr>
              <a:t>Lab Safety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457200" y="1600200"/>
            <a:ext cx="3810030" cy="4038630"/>
          </a:xfrm>
        </p:spPr>
        <p:txBody>
          <a:bodyPr wrap="square">
            <a:normAutofit lnSpcReduction="10000"/>
          </a:bodyPr>
          <a:lstStyle/>
          <a:p>
            <a:pPr lvl="0"/>
            <a:r>
              <a:rPr>
                <a:latin typeface="Comic Sans MS"/>
              </a:rPr>
              <a:t>We will be using </a:t>
            </a:r>
            <a:r>
              <a:rPr b="1">
                <a:solidFill>
                  <a:srgbClr val="FF0000"/>
                </a:solidFill>
                <a:latin typeface="Comic Sans MS"/>
              </a:rPr>
              <a:t>a hot stove </a:t>
            </a:r>
            <a:r>
              <a:rPr>
                <a:latin typeface="Comic Sans MS"/>
              </a:rPr>
              <a:t>to make our rock candy solution. Let the adults do the cooking!</a:t>
            </a:r>
          </a:p>
          <a:p>
            <a:pPr lvl="0"/>
            <a:r>
              <a:rPr>
                <a:latin typeface="Comic Sans MS"/>
              </a:rPr>
              <a:t>Be careful with          your glass jars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  <p:pic>
        <p:nvPicPr>
          <p:cNvPr id="10" name="Picture 9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379" y="1604954"/>
            <a:ext cx="2952780" cy="1552559"/>
          </a:xfrm>
          <a:prstGeom prst="rect">
            <a:avLst/>
          </a:prstGeom>
        </p:spPr>
      </p:pic>
      <p:pic>
        <p:nvPicPr>
          <p:cNvPr id="11" name="Picture 10" descr="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193" y="3505169"/>
            <a:ext cx="2706806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Comic Sans MS"/>
              </a:rPr>
              <a:t>Experiment 1: Growing Rock Candy Crystals That You Can Eat</a:t>
            </a:r>
          </a:p>
        </p:txBody>
      </p:sp>
      <p:sp>
        <p:nvSpPr>
          <p:cNvPr id="3" name="can 2"/>
          <p:cNvSpPr/>
          <p:nvPr/>
        </p:nvSpPr>
        <p:spPr>
          <a:xfrm>
            <a:off x="4572000" y="2705069"/>
            <a:ext cx="1878269" cy="3448019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81509" y="3400470"/>
            <a:ext cx="1866930" cy="28003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24530" y="2819369"/>
            <a:ext cx="66659" cy="24288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9657" y="3043214"/>
            <a:ext cx="52395" cy="23774"/>
          </a:xfrm>
          <a:prstGeom prst="rect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8724" y="3171870"/>
            <a:ext cx="69037" cy="2377"/>
          </a:xfrm>
          <a:prstGeom prst="rect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00635" y="3126607"/>
            <a:ext cx="164317" cy="16642"/>
          </a:xfrm>
          <a:prstGeom prst="rect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4022" y="4155307"/>
            <a:ext cx="59527" cy="619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8269" y="4907767"/>
            <a:ext cx="59527" cy="619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76890" y="4460077"/>
            <a:ext cx="59527" cy="619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1190" y="4305269"/>
            <a:ext cx="59527" cy="619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57814" y="4783957"/>
            <a:ext cx="59527" cy="619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55437" y="4579132"/>
            <a:ext cx="59527" cy="619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1645" y="4688677"/>
            <a:ext cx="59527" cy="619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60192" y="4931542"/>
            <a:ext cx="59527" cy="619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64946" y="4060027"/>
            <a:ext cx="59527" cy="619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79232" y="2701960"/>
            <a:ext cx="121432" cy="5577"/>
          </a:xfrm>
          <a:prstGeom prst="rect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26922" y="2714670"/>
            <a:ext cx="102412" cy="7132"/>
          </a:xfrm>
          <a:prstGeom prst="rect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6954" y="2776575"/>
            <a:ext cx="50017" cy="11887"/>
          </a:xfrm>
          <a:prstGeom prst="rect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6080" y="5534040"/>
            <a:ext cx="1704990" cy="646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solidFill>
                  <a:srgbClr val="6600FF"/>
                </a:solidFill>
                <a:latin typeface="Comic Sans MS"/>
              </a:rPr>
              <a:t>Pint jar with lid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179" y="2266980"/>
            <a:ext cx="1314450" cy="369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solidFill>
                  <a:srgbClr val="6600FF"/>
                </a:solidFill>
                <a:latin typeface="Comic Sans MS"/>
              </a:rPr>
              <a:t>Clothespin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430" y="3047969"/>
            <a:ext cx="1219169" cy="646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solidFill>
                  <a:srgbClr val="6600FF"/>
                </a:solidFill>
                <a:latin typeface="Comic Sans MS"/>
              </a:rPr>
              <a:t>Piece of 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8530" y="4819619"/>
            <a:ext cx="1219169" cy="923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solidFill>
                  <a:srgbClr val="6600FF"/>
                </a:solidFill>
                <a:latin typeface="Comic Sans MS"/>
              </a:rPr>
              <a:t>Hot sugar 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2740" y="4219590"/>
            <a:ext cx="1219169" cy="646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solidFill>
                  <a:srgbClr val="6600FF"/>
                </a:solidFill>
                <a:latin typeface="Comic Sans MS"/>
              </a:rPr>
              <a:t>Sugar crystals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86470" y="4195724"/>
            <a:ext cx="1104869" cy="214335"/>
          </a:xfrm>
          <a:prstGeom prst="rect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48340" y="3257550"/>
            <a:ext cx="1362090" cy="419069"/>
          </a:xfrm>
          <a:prstGeom prst="rect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15079" y="4972050"/>
            <a:ext cx="1219169" cy="369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solidFill>
                  <a:srgbClr val="6600FF"/>
                </a:solidFill>
                <a:latin typeface="Comic Sans MS"/>
              </a:rPr>
              <a:t>Paper clip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91169" y="5065684"/>
            <a:ext cx="828629" cy="306415"/>
          </a:xfrm>
          <a:prstGeom prst="rect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1904969"/>
            <a:ext cx="2779044" cy="4526005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lvl="0" algn="l">
              <a:lnSpc>
                <a:spcPct val="100000"/>
              </a:lnSpc>
              <a:buNone/>
            </a:pPr>
            <a:r>
              <a:rPr sz="2400" cap="none">
                <a:solidFill>
                  <a:schemeClr val="tx1"/>
                </a:solidFill>
                <a:latin typeface="Comic Sans MS"/>
                <a:cs typeface="+mn-cs"/>
              </a:rPr>
              <a:t>Materials: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 cap="none">
                <a:solidFill>
                  <a:srgbClr val="6600FF"/>
                </a:solidFill>
                <a:latin typeface="Comic Sans MS"/>
                <a:cs typeface="+mn-cs"/>
              </a:rPr>
              <a:t>Kettle or pot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>
                <a:solidFill>
                  <a:srgbClr val="6600FF"/>
                </a:solidFill>
                <a:latin typeface="Comic Sans MS"/>
              </a:rPr>
              <a:t>Distilled water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 cap="none">
                <a:solidFill>
                  <a:srgbClr val="6600FF"/>
                </a:solidFill>
                <a:latin typeface="Comic Sans MS"/>
                <a:cs typeface="+mn-cs"/>
              </a:rPr>
              <a:t>Sugar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>
                <a:solidFill>
                  <a:srgbClr val="6600FF"/>
                </a:solidFill>
                <a:latin typeface="Comic Sans MS"/>
              </a:rPr>
              <a:t>Wooden spoon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 cap="none">
                <a:solidFill>
                  <a:srgbClr val="6600FF"/>
                </a:solidFill>
                <a:latin typeface="Comic Sans MS"/>
                <a:cs typeface="+mn-cs"/>
              </a:rPr>
              <a:t>Ladle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>
                <a:solidFill>
                  <a:srgbClr val="6600FF"/>
                </a:solidFill>
                <a:latin typeface="Comic Sans MS"/>
              </a:rPr>
              <a:t>Pint jar with lid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>
                <a:solidFill>
                  <a:srgbClr val="6600FF"/>
                </a:solidFill>
                <a:latin typeface="Comic Sans MS"/>
              </a:rPr>
              <a:t>String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>
                <a:solidFill>
                  <a:srgbClr val="6600FF"/>
                </a:solidFill>
                <a:latin typeface="Comic Sans MS"/>
              </a:rPr>
              <a:t>Paper clip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 cap="none">
                <a:solidFill>
                  <a:srgbClr val="6600FF"/>
                </a:solidFill>
                <a:latin typeface="Comic Sans MS"/>
                <a:cs typeface="+mn-cs"/>
              </a:rPr>
              <a:t>Clothespin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>
                <a:solidFill>
                  <a:srgbClr val="6600FF"/>
                </a:solidFill>
                <a:latin typeface="Comic Sans MS"/>
              </a:rPr>
              <a:t>Flavorings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 cap="none">
                <a:solidFill>
                  <a:srgbClr val="6600FF"/>
                </a:solidFill>
                <a:latin typeface="Comic Sans MS"/>
                <a:cs typeface="+mn-cs"/>
              </a:rPr>
              <a:t>Food</a:t>
            </a:r>
            <a:r>
              <a:rPr sz="2400" cap="none">
                <a:solidFill>
                  <a:srgbClr val="6600FF"/>
                </a:solidFill>
                <a:latin typeface="Comic Sans MS"/>
                <a:cs typeface="+mn-cs"/>
              </a:rPr>
              <a:t> coloring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>
                <a:solidFill>
                  <a:srgbClr val="6600FF"/>
                </a:solidFill>
                <a:latin typeface="Comic Sans MS"/>
              </a:rPr>
              <a:t>Wax paper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  <p:pic>
        <p:nvPicPr>
          <p:cNvPr id="32" name="Picture 31" descr="image5.png"/>
          <p:cNvPicPr>
            <a:picLocks noChangeAspect="1"/>
          </p:cNvPicPr>
          <p:nvPr/>
        </p:nvPicPr>
        <p:blipFill>
          <a:blip r:embed="rId2"/>
          <a:srcRect l="44278" t="3522" r="44389" b="4216"/>
          <a:stretch>
            <a:fillRect/>
          </a:stretch>
        </p:blipFill>
        <p:spPr>
          <a:xfrm>
            <a:off x="5191140" y="1973458"/>
            <a:ext cx="422361" cy="1925543"/>
          </a:xfrm>
          <a:prstGeom prst="rect">
            <a:avLst/>
          </a:prstGeom>
        </p:spPr>
      </p:pic>
      <p:pic>
        <p:nvPicPr>
          <p:cNvPr id="33" name="Picture 32" descr="image6.png"/>
          <p:cNvPicPr>
            <a:picLocks noChangeAspect="1"/>
          </p:cNvPicPr>
          <p:nvPr/>
        </p:nvPicPr>
        <p:blipFill>
          <a:blip r:embed="rId3"/>
          <a:srcRect l="30859" r="31250"/>
          <a:stretch>
            <a:fillRect/>
          </a:stretch>
        </p:blipFill>
        <p:spPr>
          <a:xfrm>
            <a:off x="5372100" y="5073639"/>
            <a:ext cx="398221" cy="1050919"/>
          </a:xfrm>
          <a:prstGeom prst="rect">
            <a:avLst/>
          </a:prstGeom>
        </p:spPr>
      </p:pic>
      <p:cxnSp>
        <p:nvCxnSpPr>
          <p:cNvPr id="34" name="Connector 33"/>
          <p:cNvCxnSpPr/>
          <p:nvPr/>
        </p:nvCxnSpPr>
        <p:spPr>
          <a:xfrm>
            <a:off x="4572000" y="3224213"/>
            <a:ext cx="1" cy="233362"/>
          </a:xfrm>
          <a:prstGeom prst="line">
            <a:avLst/>
          </a:prstGeom>
          <a:ln w="19050">
            <a:tailEnd type="triangle"/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4569619" y="3088481"/>
            <a:ext cx="2382" cy="50007"/>
          </a:xfrm>
          <a:prstGeom prst="line">
            <a:avLst/>
          </a:prstGeom>
          <a:ln w="19050">
            <a:tailEnd type="triangle"/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400550" y="5200650"/>
            <a:ext cx="447675" cy="571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89044"/>
            <a:ext cx="8229600" cy="2830525"/>
          </a:xfrm>
        </p:spPr>
        <p:txBody>
          <a:bodyPr/>
          <a:lstStyle/>
          <a:p>
            <a:r>
              <a:rPr sz="7200">
                <a:latin typeface="Comic Sans MS"/>
              </a:rPr>
              <a:t>Now Let’s Go To The Kitchen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9455"/>
            <a:ext cx="8229600" cy="1143000"/>
          </a:xfrm>
        </p:spPr>
        <p:txBody>
          <a:bodyPr>
            <a:normAutofit/>
          </a:bodyPr>
          <a:lstStyle/>
          <a:p>
            <a:r>
              <a:rPr>
                <a:latin typeface="Comic Sans MS"/>
              </a:rPr>
              <a:t>Procedure for Experiment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457200" y="1904970"/>
            <a:ext cx="8229600" cy="4419570"/>
          </a:xfrm>
        </p:spPr>
        <p:txBody>
          <a:bodyPr wrap="square">
            <a:normAutofit fontScale="85000" lnSpcReduction="10000"/>
          </a:bodyPr>
          <a:lstStyle/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This makes enough solution for 16 pint jars.</a:t>
            </a:r>
          </a:p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In large kettles, boil 16 cups (4 quarts) of distilled water.</a:t>
            </a:r>
          </a:p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We will need 40 cups of sugar.</a:t>
            </a:r>
          </a:p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Slowly add 10 cups of sugar to each quart of boiling water, stirring until the sugar dissolves.</a:t>
            </a:r>
          </a:p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Allow the solution to cool for 20 minutes.</a:t>
            </a:r>
          </a:p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Fill each jar full of the solution using the ladle.</a:t>
            </a:r>
          </a:p>
          <a:p>
            <a:pPr lvl="0"/>
            <a:r>
              <a:rPr b="1">
                <a:solidFill>
                  <a:srgbClr val="FF0000"/>
                </a:solidFill>
                <a:latin typeface="Comic Sans MS"/>
              </a:rPr>
              <a:t>Add food coloring and flavoring to your jar!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Comic Sans MS"/>
              </a:rPr>
              <a:t>Finishing Experiment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457200" y="1390620"/>
            <a:ext cx="8305770" cy="4800600"/>
          </a:xfrm>
        </p:spPr>
        <p:txBody>
          <a:bodyPr wrap="square"/>
          <a:lstStyle/>
          <a:p>
            <a:pPr lvl="0"/>
            <a:r>
              <a:rPr sz="2200">
                <a:solidFill>
                  <a:srgbClr val="6600FF"/>
                </a:solidFill>
                <a:latin typeface="Comic Sans MS"/>
              </a:rPr>
              <a:t>Tie one end of a 6-inch piece of string to the center of a clothespin and the other end to the end of a paper clip.</a:t>
            </a:r>
          </a:p>
          <a:p>
            <a:pPr lvl="0"/>
            <a:r>
              <a:rPr sz="2200">
                <a:solidFill>
                  <a:srgbClr val="6600FF"/>
                </a:solidFill>
                <a:latin typeface="Comic Sans MS"/>
              </a:rPr>
              <a:t>Dip your string into the sugar solution.</a:t>
            </a:r>
          </a:p>
          <a:p>
            <a:pPr lvl="0"/>
            <a:r>
              <a:rPr sz="2200">
                <a:solidFill>
                  <a:srgbClr val="6600FF"/>
                </a:solidFill>
                <a:latin typeface="Comic Sans MS"/>
              </a:rPr>
              <a:t>Roll your string in some sugar.</a:t>
            </a:r>
          </a:p>
          <a:p>
            <a:pPr lvl="0"/>
            <a:r>
              <a:rPr sz="2200">
                <a:solidFill>
                  <a:srgbClr val="6600FF"/>
                </a:solidFill>
                <a:latin typeface="Comic Sans MS"/>
              </a:rPr>
              <a:t>Let the string cool down.</a:t>
            </a:r>
          </a:p>
          <a:p>
            <a:pPr lvl="0"/>
            <a:r>
              <a:rPr sz="2200" b="1">
                <a:solidFill>
                  <a:srgbClr val="FF0000"/>
                </a:solidFill>
                <a:latin typeface="Comic Sans MS"/>
              </a:rPr>
              <a:t>Very Important: </a:t>
            </a:r>
            <a:r>
              <a:rPr sz="2200">
                <a:solidFill>
                  <a:srgbClr val="6600FF"/>
                </a:solidFill>
                <a:latin typeface="Comic Sans MS"/>
              </a:rPr>
              <a:t>Shake off any extra sugar.</a:t>
            </a:r>
          </a:p>
          <a:p>
            <a:pPr lvl="0"/>
            <a:r>
              <a:rPr sz="2200">
                <a:solidFill>
                  <a:srgbClr val="6600FF"/>
                </a:solidFill>
                <a:latin typeface="Comic Sans MS"/>
              </a:rPr>
              <a:t>Lower the string into the jar of hot sugar solution, resting the clothespin on the jar lid.</a:t>
            </a:r>
          </a:p>
          <a:p>
            <a:pPr lvl="0"/>
            <a:r>
              <a:rPr sz="2200">
                <a:solidFill>
                  <a:srgbClr val="6600FF"/>
                </a:solidFill>
                <a:latin typeface="Comic Sans MS"/>
              </a:rPr>
              <a:t>Keep the bottom end of the paper clip a half inch or so above the bottom of the jar.</a:t>
            </a:r>
          </a:p>
          <a:p>
            <a:pPr lvl="0"/>
            <a:r>
              <a:rPr sz="2200">
                <a:solidFill>
                  <a:srgbClr val="6600FF"/>
                </a:solidFill>
                <a:latin typeface="Comic Sans MS"/>
              </a:rPr>
              <a:t>Put jar in a safe, warm place and wait one week.</a:t>
            </a:r>
          </a:p>
          <a:p>
            <a:pPr lvl="0"/>
            <a:r>
              <a:rPr sz="2200">
                <a:solidFill>
                  <a:srgbClr val="6600FF"/>
                </a:solidFill>
                <a:latin typeface="Comic Sans MS"/>
              </a:rPr>
              <a:t>Do not disturb the jar while you are waiting for the crystals to 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93855"/>
            <a:ext cx="8229600" cy="2459004"/>
          </a:xfrm>
        </p:spPr>
        <p:txBody>
          <a:bodyPr/>
          <a:lstStyle/>
          <a:p>
            <a:r>
              <a:rPr sz="7200">
                <a:latin typeface="Comic Sans MS"/>
              </a:rPr>
              <a:t>Back To The Classroom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Some Beautiful Crystals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19319" y="4581509"/>
            <a:ext cx="2105040" cy="120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>
                <a:latin typeface="Comic Sans MS"/>
              </a:rPr>
              <a:t>Geode with crystals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  <p:pic>
        <p:nvPicPr>
          <p:cNvPr id="5" name="Picture 4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59" y="1628729"/>
            <a:ext cx="3173059" cy="1933590"/>
          </a:xfrm>
          <a:prstGeom prst="rect">
            <a:avLst/>
          </a:prstGeom>
        </p:spPr>
      </p:pic>
      <p:pic>
        <p:nvPicPr>
          <p:cNvPr id="6" name="Picture 5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000" y="1406530"/>
            <a:ext cx="4572000" cy="2428829"/>
          </a:xfrm>
          <a:prstGeom prst="rect">
            <a:avLst/>
          </a:prstGeom>
        </p:spPr>
      </p:pic>
      <p:pic>
        <p:nvPicPr>
          <p:cNvPr id="7" name="Picture 6" descr="image9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819" y="3856024"/>
            <a:ext cx="2463759" cy="25097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More Crystals!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3505169"/>
            <a:ext cx="1600200" cy="369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latin typeface="Comic Sans MS"/>
              </a:rPr>
              <a:t>Quartz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62569" y="4267230"/>
            <a:ext cx="1600200" cy="646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latin typeface="Comic Sans MS"/>
              </a:rPr>
              <a:t>Cinnabar (mercury)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4953030"/>
            <a:ext cx="1600200" cy="646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latin typeface="Comic Sans MS"/>
              </a:rPr>
              <a:t>Pyrite (fool’s gold)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  <p:pic>
        <p:nvPicPr>
          <p:cNvPr id="7" name="Picture 6" descr="image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19" y="1524030"/>
            <a:ext cx="2381280" cy="1904969"/>
          </a:xfrm>
          <a:prstGeom prst="rect">
            <a:avLst/>
          </a:prstGeom>
        </p:spPr>
      </p:pic>
      <p:pic>
        <p:nvPicPr>
          <p:cNvPr id="8" name="Picture 7" descr="image1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904969"/>
            <a:ext cx="3037911" cy="2286000"/>
          </a:xfrm>
          <a:prstGeom prst="rect">
            <a:avLst/>
          </a:prstGeom>
        </p:spPr>
      </p:pic>
      <p:pic>
        <p:nvPicPr>
          <p:cNvPr id="9" name="Picture 8" descr="image1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30" y="4114800"/>
            <a:ext cx="2095530" cy="18669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Comic Sans MS"/>
              </a:rPr>
              <a:t>Cave of Crystals, Mexico (Gypsum)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  <p:pic>
        <p:nvPicPr>
          <p:cNvPr id="4" name="Picture 3" descr="image1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77" y="1524030"/>
            <a:ext cx="7333122" cy="48767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So, What are Crystals?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 wrap="square"/>
          <a:lstStyle/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Crystals are solids.</a:t>
            </a:r>
          </a:p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They have regular geometric shapes.</a:t>
            </a:r>
          </a:p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They have faces, or </a:t>
            </a:r>
            <a:r>
              <a:rPr b="1">
                <a:solidFill>
                  <a:srgbClr val="FF0000"/>
                </a:solidFill>
                <a:latin typeface="Comic Sans MS"/>
              </a:rPr>
              <a:t>facets</a:t>
            </a:r>
            <a:r>
              <a:rPr>
                <a:solidFill>
                  <a:srgbClr val="6600FF"/>
                </a:solidFill>
                <a:latin typeface="Comic Sans MS"/>
              </a:rPr>
              <a:t> that meet at sharp angles.</a:t>
            </a:r>
          </a:p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They are mostly found in rocks (although there are ice crystals too).</a:t>
            </a:r>
          </a:p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They are </a:t>
            </a:r>
            <a:r>
              <a:rPr b="1">
                <a:solidFill>
                  <a:srgbClr val="FF0000"/>
                </a:solidFill>
                <a:latin typeface="Comic Sans MS"/>
              </a:rPr>
              <a:t>orderly arrangements</a:t>
            </a:r>
            <a:r>
              <a:rPr>
                <a:solidFill>
                  <a:srgbClr val="6600FF"/>
                </a:solidFill>
                <a:latin typeface="Comic Sans MS"/>
              </a:rPr>
              <a:t> of a single kind of atom or molecule.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Comic Sans MS"/>
              </a:rPr>
              <a:t>What Do I Mean by “Orderly”?</a:t>
            </a:r>
          </a:p>
        </p:txBody>
      </p:sp>
      <p:sp>
        <p:nvSpPr>
          <p:cNvPr id="3" name="Oval 2"/>
          <p:cNvSpPr/>
          <p:nvPr/>
        </p:nvSpPr>
        <p:spPr>
          <a:xfrm>
            <a:off x="1219169" y="4686208"/>
            <a:ext cx="152430" cy="152430"/>
          </a:xfrm>
          <a:prstGeom prst="ellipse">
            <a:avLst/>
          </a:prstGeom>
          <a:solidFill>
            <a:srgbClr val="6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4648169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47769" y="4314047"/>
            <a:ext cx="152430" cy="152430"/>
          </a:xfrm>
          <a:prstGeom prst="ellipse">
            <a:avLst/>
          </a:prstGeom>
          <a:solidFill>
            <a:srgbClr val="6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4276008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4610039"/>
            <a:ext cx="152430" cy="152430"/>
          </a:xfrm>
          <a:prstGeom prst="ellipse">
            <a:avLst/>
          </a:prstGeom>
          <a:solidFill>
            <a:srgbClr val="6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81230" y="4572000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57400" y="4305269"/>
            <a:ext cx="152430" cy="152430"/>
          </a:xfrm>
          <a:prstGeom prst="ellipse">
            <a:avLst/>
          </a:prstGeom>
          <a:solidFill>
            <a:srgbClr val="6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09830" y="4267230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4259000"/>
            <a:ext cx="152430" cy="152430"/>
          </a:xfrm>
          <a:prstGeom prst="ellipse">
            <a:avLst/>
          </a:prstGeom>
          <a:solidFill>
            <a:srgbClr val="6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81230" y="4220961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6369" y="4838639"/>
            <a:ext cx="152430" cy="152430"/>
          </a:xfrm>
          <a:prstGeom prst="ellipse">
            <a:avLst/>
          </a:prstGeom>
          <a:solidFill>
            <a:srgbClr val="6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28800" y="4800600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7229" y="4258818"/>
            <a:ext cx="152430" cy="152430"/>
          </a:xfrm>
          <a:prstGeom prst="ellipse">
            <a:avLst/>
          </a:prstGeom>
          <a:solidFill>
            <a:srgbClr val="6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09659" y="4220778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2630" y="3924239"/>
            <a:ext cx="152430" cy="152430"/>
          </a:xfrm>
          <a:prstGeom prst="ellipse">
            <a:avLst/>
          </a:prstGeom>
          <a:solidFill>
            <a:srgbClr val="6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05060" y="3886200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19169" y="3848069"/>
            <a:ext cx="152430" cy="152430"/>
          </a:xfrm>
          <a:prstGeom prst="ellipse">
            <a:avLst/>
          </a:prstGeom>
          <a:solidFill>
            <a:srgbClr val="6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71600" y="3810030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7769" y="3657600"/>
            <a:ext cx="1600200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latin typeface="Comic Sans MS"/>
              </a:rPr>
              <a:t>Orderly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30" y="6019769"/>
            <a:ext cx="1600200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latin typeface="Comic Sans MS"/>
              </a:rPr>
              <a:t>Disorderly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4908" y="2266614"/>
            <a:ext cx="1488186" cy="790407"/>
          </a:xfrm>
          <a:prstGeom prst="rect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91169" y="4724430"/>
            <a:ext cx="1600200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latin typeface="Comic Sans MS"/>
              </a:rPr>
              <a:t>Halite (salt)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  <p:pic>
        <p:nvPicPr>
          <p:cNvPr id="26" name="Picture 2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30" y="1676369"/>
            <a:ext cx="1929109" cy="1828800"/>
          </a:xfrm>
          <a:prstGeom prst="rect">
            <a:avLst/>
          </a:prstGeom>
        </p:spPr>
      </p:pic>
      <p:pic>
        <p:nvPicPr>
          <p:cNvPr id="27" name="Picture 26" descr="image1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30" y="1676369"/>
            <a:ext cx="32538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Comic Sans MS"/>
              </a:rPr>
              <a:t>Experiment 2: Growing Needle-Shaped Crystals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4969"/>
            <a:ext cx="2779044" cy="452600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lvl="0" algn="l">
              <a:lnSpc>
                <a:spcPct val="100000"/>
              </a:lnSpc>
              <a:buNone/>
            </a:pPr>
            <a:r>
              <a:rPr sz="2400" cap="none">
                <a:solidFill>
                  <a:schemeClr val="tx1"/>
                </a:solidFill>
                <a:latin typeface="Comic Sans MS"/>
                <a:cs typeface="+mn-cs"/>
              </a:rPr>
              <a:t>Materials: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 cap="none">
                <a:solidFill>
                  <a:srgbClr val="6600FF"/>
                </a:solidFill>
                <a:latin typeface="Comic Sans MS"/>
                <a:cs typeface="+mn-cs"/>
              </a:rPr>
              <a:t>Plastic plate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>
                <a:solidFill>
                  <a:srgbClr val="6600FF"/>
                </a:solidFill>
                <a:latin typeface="Comic Sans MS"/>
              </a:rPr>
              <a:t>Plastic bowl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>
                <a:solidFill>
                  <a:srgbClr val="6600FF"/>
                </a:solidFill>
                <a:latin typeface="Comic Sans MS"/>
              </a:rPr>
              <a:t>Sheet of black construction paper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 cap="none">
                <a:solidFill>
                  <a:srgbClr val="6600FF"/>
                </a:solidFill>
                <a:latin typeface="Comic Sans MS"/>
                <a:cs typeface="+mn-cs"/>
              </a:rPr>
              <a:t>Baby food jar with lid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>
                <a:solidFill>
                  <a:srgbClr val="6600FF"/>
                </a:solidFill>
                <a:latin typeface="Comic Sans MS"/>
              </a:rPr>
              <a:t>Tablespoon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 cap="none">
                <a:solidFill>
                  <a:srgbClr val="6600FF"/>
                </a:solidFill>
                <a:latin typeface="Comic Sans MS"/>
                <a:cs typeface="+mn-cs"/>
              </a:rPr>
              <a:t>Scissors</a:t>
            </a:r>
          </a:p>
          <a:p>
            <a:pPr lvl="1" algn="l">
              <a:lnSpc>
                <a:spcPct val="100000"/>
              </a:lnSpc>
              <a:buNone/>
            </a:pPr>
            <a:r>
              <a:rPr sz="2400">
                <a:solidFill>
                  <a:srgbClr val="6600FF"/>
                </a:solidFill>
                <a:latin typeface="Comic Sans MS"/>
              </a:rPr>
              <a:t>Epsom salt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0" y="1752630"/>
            <a:ext cx="1600200" cy="1143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  <p:pic>
        <p:nvPicPr>
          <p:cNvPr id="6" name="Picture 5" descr="image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369" y="1828800"/>
            <a:ext cx="1828800" cy="1828800"/>
          </a:xfrm>
          <a:prstGeom prst="rect">
            <a:avLst/>
          </a:prstGeom>
        </p:spPr>
      </p:pic>
      <p:pic>
        <p:nvPicPr>
          <p:cNvPr id="7" name="Picture 6" descr="image1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30" y="3581430"/>
            <a:ext cx="1904969" cy="2049078"/>
          </a:xfrm>
          <a:prstGeom prst="rect">
            <a:avLst/>
          </a:prstGeom>
        </p:spPr>
      </p:pic>
      <p:pic>
        <p:nvPicPr>
          <p:cNvPr id="8" name="Picture 7" descr="image1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30" y="3200400"/>
            <a:ext cx="1245229" cy="1464960"/>
          </a:xfrm>
          <a:prstGeom prst="rect">
            <a:avLst/>
          </a:prstGeom>
        </p:spPr>
      </p:pic>
      <p:pic>
        <p:nvPicPr>
          <p:cNvPr id="9" name="Picture 8" descr="image19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636" y="3671133"/>
            <a:ext cx="2124425" cy="878098"/>
          </a:xfrm>
          <a:prstGeom prst="rect">
            <a:avLst/>
          </a:prstGeom>
        </p:spPr>
      </p:pic>
      <p:pic>
        <p:nvPicPr>
          <p:cNvPr id="10" name="Picture 9" descr="image20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4724430"/>
            <a:ext cx="1666859" cy="16668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9455"/>
            <a:ext cx="8229600" cy="1143000"/>
          </a:xfrm>
        </p:spPr>
        <p:txBody>
          <a:bodyPr>
            <a:normAutofit/>
          </a:bodyPr>
          <a:lstStyle/>
          <a:p>
            <a:r>
              <a:rPr>
                <a:latin typeface="Comic Sans MS"/>
              </a:rPr>
              <a:t>Procedure for Experiment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457200" y="1904970"/>
            <a:ext cx="8229600" cy="4419570"/>
          </a:xfrm>
        </p:spPr>
        <p:txBody>
          <a:bodyPr wrap="square">
            <a:normAutofit fontScale="77500" lnSpcReduction="20000"/>
          </a:bodyPr>
          <a:lstStyle/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Turn your bowl upside down on the construction paper and trace it.</a:t>
            </a:r>
          </a:p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Cut the circle out and fit it inside the plastic plate.</a:t>
            </a:r>
          </a:p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Fill the baby food jar half full of warm water, then add 2 Tablespoons of epsom salt.</a:t>
            </a:r>
          </a:p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Put the lid on and shake 60 times.</a:t>
            </a:r>
          </a:p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Let the contents of the jar settle for a couple of minutes.</a:t>
            </a:r>
          </a:p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Pour the liquid onto the black paper. Don’t pour any undissolved epsom salt onto the paper.</a:t>
            </a:r>
          </a:p>
          <a:p>
            <a:pPr lvl="0"/>
            <a:r>
              <a:rPr>
                <a:solidFill>
                  <a:srgbClr val="6600FF"/>
                </a:solidFill>
                <a:latin typeface="Comic Sans MS"/>
              </a:rPr>
              <a:t>Wait a few days, then look at the crystals. What do they look like?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Comic Sans MS"/>
              </a:rPr>
              <a:t>Science Vocabulary for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457200" y="1247790"/>
            <a:ext cx="3714750" cy="5276820"/>
          </a:xfrm>
        </p:spPr>
        <p:txBody>
          <a:bodyPr wrap="square">
            <a:normAutofit fontScale="77500" lnSpcReduction="20000"/>
          </a:bodyPr>
          <a:lstStyle/>
          <a:p>
            <a:pPr lvl="0"/>
            <a:r>
              <a:rPr sz="2000">
                <a:latin typeface="Comic Sans MS"/>
              </a:rPr>
              <a:t>Crystal</a:t>
            </a:r>
            <a:r>
              <a:rPr sz="2000">
                <a:latin typeface="Comic Sans MS"/>
              </a:rPr>
              <a:t> – a large, orderly arrangement of atoms or molecules in neat rows.</a:t>
            </a:r>
          </a:p>
          <a:p>
            <a:pPr lvl="0"/>
            <a:r>
              <a:rPr sz="2000">
                <a:latin typeface="Comic Sans MS"/>
              </a:rPr>
              <a:t>Solvent </a:t>
            </a:r>
            <a:r>
              <a:rPr sz="2000">
                <a:latin typeface="Comic Sans MS"/>
              </a:rPr>
              <a:t>– a liquid (like water) that you dissolve stuff in.</a:t>
            </a:r>
          </a:p>
          <a:p>
            <a:pPr lvl="0"/>
            <a:r>
              <a:rPr sz="2000">
                <a:latin typeface="Comic Sans MS"/>
              </a:rPr>
              <a:t>Solute </a:t>
            </a:r>
            <a:r>
              <a:rPr sz="2000">
                <a:latin typeface="Comic Sans MS"/>
              </a:rPr>
              <a:t>– a solid (like sugar) that you dissolve in the solvent.</a:t>
            </a:r>
          </a:p>
          <a:p>
            <a:pPr lvl="0"/>
            <a:r>
              <a:rPr sz="2000">
                <a:latin typeface="Comic Sans MS"/>
              </a:rPr>
              <a:t>Solution</a:t>
            </a:r>
            <a:r>
              <a:rPr sz="2000">
                <a:latin typeface="Comic Sans MS"/>
              </a:rPr>
              <a:t> – the mixture of solvent and solute (like sugar water).</a:t>
            </a:r>
          </a:p>
          <a:p>
            <a:pPr lvl="0"/>
            <a:r>
              <a:rPr sz="2000">
                <a:latin typeface="Comic Sans MS"/>
              </a:rPr>
              <a:t>Saturated solution</a:t>
            </a:r>
            <a:r>
              <a:rPr sz="2000">
                <a:latin typeface="Comic Sans MS"/>
              </a:rPr>
              <a:t> – a solution (like sugar in water) that can’t hold any more solute.</a:t>
            </a:r>
          </a:p>
          <a:p>
            <a:pPr lvl="0"/>
            <a:r>
              <a:rPr sz="2000">
                <a:latin typeface="Comic Sans MS"/>
              </a:rPr>
              <a:t>Supersaturated solution</a:t>
            </a:r>
            <a:r>
              <a:rPr sz="2000">
                <a:latin typeface="Comic Sans MS"/>
              </a:rPr>
              <a:t> – a solution that has been heated and holds more solute (like sugar) than it can at room temperature.</a:t>
            </a:r>
          </a:p>
          <a:p>
            <a:pPr lvl="0"/>
            <a:r>
              <a:rPr sz="2000">
                <a:latin typeface="Comic Sans MS"/>
              </a:rPr>
              <a:t>Nucleation</a:t>
            </a:r>
            <a:r>
              <a:rPr sz="2000">
                <a:latin typeface="Comic Sans MS"/>
              </a:rPr>
              <a:t> – the process in which a sugar molecule (solute) comes out of the sugar water solution and sticks to the sugar crystals on the string.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5539" y="-144475"/>
            <a:ext cx="304769" cy="3047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Atoms and Molecules Session 14</a:t>
            </a:r>
          </a:p>
        </p:txBody>
      </p:sp>
      <p:pic>
        <p:nvPicPr>
          <p:cNvPr id="14" name="Picture 13" descr="image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369" y="1457370"/>
            <a:ext cx="3981480" cy="2200229"/>
          </a:xfrm>
          <a:prstGeom prst="rect">
            <a:avLst/>
          </a:prstGeom>
        </p:spPr>
      </p:pic>
      <p:pic>
        <p:nvPicPr>
          <p:cNvPr id="15" name="Picture 14" descr="image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369" y="3810030"/>
            <a:ext cx="3173059" cy="19335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6773</TotalTime>
  <Words>863</Words>
  <Application>Microsoft Office PowerPoint</Application>
  <PresentationFormat>On-screen Show (4:3)</PresentationFormat>
  <Paragraphs>140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Comic Sans MS</vt:lpstr>
      <vt:lpstr>Office Theme</vt:lpstr>
      <vt:lpstr>Nucleation and Growth of Crystalline Structures On A Treated Substrate From A Supersaturated Solution Of C12H22O11</vt:lpstr>
      <vt:lpstr>Nucleation and Growth of Crystalline Structures On A Treated Substrate From A Supersaturated Solution Of C12H22O11</vt:lpstr>
      <vt:lpstr>Better Title: Making Rock Candy!</vt:lpstr>
      <vt:lpstr>PowerPoint Presentation</vt:lpstr>
      <vt:lpstr>Lab Safety Today</vt:lpstr>
      <vt:lpstr>Experiment 1: Growing Rock Candy Crystals That You Can Eat</vt:lpstr>
      <vt:lpstr>Now Let’s Go To The Kitchen</vt:lpstr>
      <vt:lpstr>Procedure for Experiment 1</vt:lpstr>
      <vt:lpstr>Finishing Experiment 1</vt:lpstr>
      <vt:lpstr>Back To The Classroom</vt:lpstr>
      <vt:lpstr>Some Beautiful Crystals</vt:lpstr>
      <vt:lpstr>More Crystals!</vt:lpstr>
      <vt:lpstr>Cave of Crystals, Mexico (Gypsum)</vt:lpstr>
      <vt:lpstr>So, What are Crystals?</vt:lpstr>
      <vt:lpstr>What Do I Mean by “Orderly”?</vt:lpstr>
      <vt:lpstr>Experiment 2: Growing Needle-Shaped Crystals</vt:lpstr>
      <vt:lpstr>Procedure for Experiment 2</vt:lpstr>
      <vt:lpstr>Science Vocabulary for This Week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Home</dc:creator>
  <cp:lastModifiedBy>cfam</cp:lastModifiedBy>
  <cp:revision>605</cp:revision>
  <cp:lastPrinted>2019-01-25T05:52:50Z</cp:lastPrinted>
  <dcterms:created xsi:type="dcterms:W3CDTF">2015-02-09T23:35:07Z</dcterms:created>
  <dcterms:modified xsi:type="dcterms:W3CDTF">2019-01-25T05:53:01Z</dcterms:modified>
</cp:coreProperties>
</file>