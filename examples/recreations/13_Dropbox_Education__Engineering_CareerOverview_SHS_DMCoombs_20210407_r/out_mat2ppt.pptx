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90500" y="1219200"/>
            <a:ext cx="8763000" cy="23622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52400" y="1635760"/>
            <a:ext cx="8610600" cy="164084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Mechanical EngineeringCareer Overview</a:t>
            </a:r>
          </a:p>
        </p:txBody>
      </p:sp>
      <p:sp>
        <p:nvSpPr>
          <p:cNvPr id="4" name="Rectangle 3"/>
          <p:cNvSpPr/>
          <p:nvPr/>
        </p:nvSpPr>
        <p:spPr>
          <a:xfrm>
            <a:off x="1981200" y="3505200"/>
            <a:ext cx="5486400" cy="12954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Douglas CoombsApril 8, 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0"/>
            <a:ext cx="7161213" cy="10842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0"/>
            <a:ext cx="7161213" cy="10842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Brief Personal 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0"/>
            <a:ext cx="7161213" cy="10842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Types of Engineering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0"/>
            <a:ext cx="7161213" cy="10842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Educational Requirements</a:t>
            </a:r>
          </a:p>
        </p:txBody>
      </p:sp>
      <p:sp>
        <p:nvSpPr>
          <p:cNvPr id="3" name="Rectangle 2"/>
          <p:cNvSpPr/>
          <p:nvPr/>
        </p:nvSpPr>
        <p:spPr>
          <a:xfrm>
            <a:off x="76200" y="1143001"/>
            <a:ext cx="9067800" cy="43434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 bachelors degree in engineering  entry level jobsA master’s (minimum) is required for more advanced projects Most flexible degree.  Takes an extra two years after getting a bachelor’s degreeMore advanced engineering pays better – Excellent investment of timeA PhD is required for very high level projects Can narrow opportunities.  Increases pay in many fields but can take a long time to attain (typically 2-8 years, average of 3-4).Sometimes the monetary pay-off isn’t there – Succeed or fail quickly is a good strategyEngineers get paid to go to graduate school.  They only take out loans for undergrad.</a:t>
            </a:r>
          </a:p>
        </p:txBody>
      </p:sp>
      <p:pic>
        <p:nvPicPr>
          <p:cNvPr id="4" name="Picture 3" descr="image30.png"/>
          <p:cNvPicPr>
            <a:picLocks noChangeAspect="1"/>
          </p:cNvPicPr>
          <p:nvPr/>
        </p:nvPicPr>
        <p:blipFill>
          <a:blip r:embed="rId2"/>
          <a:stretch>
            <a:fillRect/>
          </a:stretch>
        </p:blipFill>
        <p:spPr>
          <a:xfrm>
            <a:off x="2438401" y="4497352"/>
            <a:ext cx="4876800" cy="2371533"/>
          </a:xfrm>
          <a:prstGeom prst="rect">
            <a:avLst/>
          </a:prstGeom>
        </p:spPr>
      </p:pic>
      <p:cxnSp>
        <p:nvCxnSpPr>
          <p:cNvPr id="5" name="Connector 4"/>
          <p:cNvCxnSpPr/>
          <p:nvPr/>
        </p:nvCxnSpPr>
        <p:spPr>
          <a:xfrm>
            <a:off x="5029200" y="4876800"/>
            <a:ext cx="2133600" cy="0"/>
          </a:xfrm>
          <a:prstGeom prst="straightConnector1">
            <a:avLst/>
          </a:prstGeom>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032169" y="4557204"/>
            <a:ext cx="2209801" cy="30777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Get paid to go to school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084264"/>
            <a:ext cx="8991600" cy="533876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High School and College JobsPicked produce at local farmsYard work for elderlyCampus workstudy: mailroom and computer labBuilt homes for local construction companyBachelor’s degree @ University of PortlandInternship @ Boeing: Maintained manufacturing equipment for Boeing 747 and 737 Master’s degree @ University of CincinnatiTaught classes and worked on suspension modeling of pickup trucksYork InternationalDesigned and produced air handlers to keep things comfortable and quiet in schools, concert halls, and hospitalsMoog-CSA Engineering Projects: Space Launch System (rocket to go to the moon), ESPA (mount lots of small satellites on big rockets), NICER (looking at the sun’s energy from the International Space Station to feed environmental models for global warming calculations), XSS-11, DSX, Giant Magellan Telescope (six 27’ mirrors to make an 80 ft visible spectrum telescope, resolution 10 times better than Hubble), Recon Optical telescopes for pods on F-15 jets.Sandia National Laboratories Evaluate the engineering work of others to ensure that it meets technical rigor in order to keep our country safe</a:t>
            </a:r>
          </a:p>
        </p:txBody>
      </p:sp>
      <p:sp>
        <p:nvSpPr>
          <p:cNvPr id="3" name="Rectangle 2"/>
          <p:cNvSpPr/>
          <p:nvPr/>
        </p:nvSpPr>
        <p:spPr>
          <a:xfrm>
            <a:off x="990600" y="0"/>
            <a:ext cx="7161213" cy="10842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Career Overview</a:t>
            </a:r>
          </a:p>
        </p:txBody>
      </p:sp>
      <p:sp>
        <p:nvSpPr>
          <p:cNvPr id="4" name="Rectangle 3"/>
          <p:cNvSpPr/>
          <p:nvPr/>
        </p:nvSpPr>
        <p:spPr>
          <a:xfrm>
            <a:off x="6935417" y="1463073"/>
            <a:ext cx="1524000" cy="10156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Step 1:Learn to work hard</a:t>
            </a:r>
          </a:p>
        </p:txBody>
      </p:sp>
      <p:sp>
        <p:nvSpPr>
          <p:cNvPr id="5" name="Rectangle 4"/>
          <p:cNvSpPr/>
          <p:nvPr/>
        </p:nvSpPr>
        <p:spPr>
          <a:xfrm>
            <a:off x="6970823" y="2577247"/>
            <a:ext cx="2013857" cy="10156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Step 2:Learn a Valuable Skill</a:t>
            </a:r>
          </a:p>
        </p:txBody>
      </p:sp>
      <p:sp>
        <p:nvSpPr>
          <p:cNvPr id="6" name="Rectangle 5"/>
          <p:cNvSpPr/>
          <p:nvPr/>
        </p:nvSpPr>
        <p:spPr>
          <a:xfrm>
            <a:off x="6553097" y="3642111"/>
            <a:ext cx="2608716" cy="120032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Step 3:Get Paid to Work Hard at Job Using Your  Valuable Skill</a:t>
            </a:r>
          </a:p>
        </p:txBody>
      </p:sp>
      <p:pic>
        <p:nvPicPr>
          <p:cNvPr id="7" name="Picture 6" descr="image31.jpg"/>
          <p:cNvPicPr>
            <a:picLocks noChangeAspect="1"/>
          </p:cNvPicPr>
          <p:nvPr/>
        </p:nvPicPr>
        <p:blipFill>
          <a:blip r:embed="rId2"/>
          <a:stretch>
            <a:fillRect/>
          </a:stretch>
        </p:blipFill>
        <p:spPr>
          <a:xfrm>
            <a:off x="9383038" y="5230371"/>
            <a:ext cx="2628900" cy="174307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9510"/>
            <a:ext cx="7161213" cy="107475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Step 1: Learn to Work Hard</a:t>
            </a:r>
          </a:p>
        </p:txBody>
      </p:sp>
      <p:sp>
        <p:nvSpPr>
          <p:cNvPr id="3" name="Rectangle 2"/>
          <p:cNvSpPr/>
          <p:nvPr/>
        </p:nvSpPr>
        <p:spPr>
          <a:xfrm>
            <a:off x="79610" y="1205418"/>
            <a:ext cx="8566150" cy="51831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High School and College JobsPicked produce at local farmsYard work for elderlyCampus workstudy: mailroom and computer labBuilt homes for local construction company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0"/>
            <a:ext cx="7161213" cy="10842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Step 2: Learn a Valuable Skill</a:t>
            </a:r>
          </a:p>
        </p:txBody>
      </p:sp>
      <p:sp>
        <p:nvSpPr>
          <p:cNvPr id="3" name="Rectangle 2"/>
          <p:cNvSpPr/>
          <p:nvPr/>
        </p:nvSpPr>
        <p:spPr>
          <a:xfrm>
            <a:off x="169095" y="1133172"/>
            <a:ext cx="8625655" cy="528985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Bachelor’s degree @ University of PortlandInternship @ Boeing: Maintained manufacturing equipment for Boeing 747 and 737 Master’s degree @ University of CincinnatiTaught classes and worked on suspension modeling of pickup trucks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17969"/>
            <a:ext cx="7161213" cy="106629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Step 3: Work Hard at Job Using Valuable Skill</a:t>
            </a:r>
          </a:p>
        </p:txBody>
      </p:sp>
      <p:sp>
        <p:nvSpPr>
          <p:cNvPr id="3" name="Rectangle 2"/>
          <p:cNvSpPr/>
          <p:nvPr/>
        </p:nvSpPr>
        <p:spPr>
          <a:xfrm>
            <a:off x="-8906" y="1147775"/>
            <a:ext cx="8704696"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York InternationalDesigned and produced air handlers to keep things comfortable and quiet in schools, concert halls, and hospitals</a:t>
            </a:r>
          </a:p>
        </p:txBody>
      </p:sp>
      <p:sp>
        <p:nvSpPr>
          <p:cNvPr id="4" name="Rectangle 3"/>
          <p:cNvSpPr/>
          <p:nvPr/>
        </p:nvSpPr>
        <p:spPr>
          <a:xfrm>
            <a:off x="-235" y="1143000"/>
            <a:ext cx="8642350" cy="139541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Moog-CSA Engineering Projects: Space Launch System (rocket to go to the moon), ESPA (mount lots of small satellites on big rockets), NICER (looking at the sun’s energy from the International Space Station to feed environmental models for global warming calculations), XSS-11, DSX, Giant Magellan Telescope (six 27’ mirrors to make an 80 ft visible spectrum telescope, resolution 10 times better than Hubble), Recon Optical telescopes for pods on F-15 jets.</a:t>
            </a:r>
          </a:p>
        </p:txBody>
      </p:sp>
      <p:sp>
        <p:nvSpPr>
          <p:cNvPr id="5" name="Rectangle 4"/>
          <p:cNvSpPr/>
          <p:nvPr/>
        </p:nvSpPr>
        <p:spPr>
          <a:xfrm>
            <a:off x="0" y="1143000"/>
            <a:ext cx="8642350"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Sandia National Laboratories Evaluate the engineering work of others to ensure that it meets technical rigor in order to keep our country safe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0"/>
            <a:ext cx="7161213" cy="10842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Succeed in Any Career</a:t>
            </a:r>
          </a:p>
        </p:txBody>
      </p:sp>
      <p:sp>
        <p:nvSpPr>
          <p:cNvPr id="3" name="Rectangle 2"/>
          <p:cNvSpPr/>
          <p:nvPr/>
        </p:nvSpPr>
        <p:spPr>
          <a:xfrm>
            <a:off x="76200" y="1219200"/>
            <a:ext cx="8991600" cy="51831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What are the most important ingredients to a successful career?Hard workLearn as much as possible about the fieldFormal educationInternshipsApprenticeshipsVery difficult and very dangerous jobs pay better than easy jobsExamples: doctors and underwater weldersJobs that can replicate at scale pay better than jobs that require individual attentionSoftware development vs. early childhood educationPay isn’t the only factor in deciding on a careerThe pay is terrible for artists, priests and stay-at-home moms, but the spiritual and emotional rewards are great – money isn’t the most important thing in life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85800" y="3426031"/>
            <a:ext cx="7772400" cy="136207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