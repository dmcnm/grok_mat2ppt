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3"/>
  </p:notesMasterIdLst>
  <p:sldIdLst>
    <p:sldId id="256" r:id="rId2"/>
    <p:sldId id="642" r:id="rId3"/>
    <p:sldId id="637" r:id="rId4"/>
    <p:sldId id="639" r:id="rId5"/>
    <p:sldId id="640" r:id="rId6"/>
    <p:sldId id="643" r:id="rId7"/>
    <p:sldId id="644" r:id="rId8"/>
    <p:sldId id="645" r:id="rId9"/>
    <p:sldId id="641" r:id="rId10"/>
    <p:sldId id="646" r:id="rId11"/>
    <p:sldId id="647" r:id="rId12"/>
  </p:sldIdLst>
  <p:sldSz cx="12192000" cy="68580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nice Martinez" initials="JM" lastIdx="2"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042" autoAdjust="0"/>
    <p:restoredTop sz="95853"/>
  </p:normalViewPr>
  <p:slideViewPr>
    <p:cSldViewPr snapToGrid="0" snapToObjects="1">
      <p:cViewPr varScale="1">
        <p:scale>
          <a:sx n="70" d="100"/>
          <a:sy n="70" d="100"/>
        </p:scale>
        <p:origin x="78" y="1902"/>
      </p:cViewPr>
      <p:guideLst>
        <p:guide orient="horz" pos="2160"/>
        <p:guide pos="3840"/>
      </p:guideLst>
    </p:cSldViewPr>
  </p:slideViewPr>
  <p:notesTextViewPr>
    <p:cViewPr>
      <p:scale>
        <a:sx n="1" d="1"/>
        <a:sy n="1" d="1"/>
      </p:scale>
      <p:origin x="0" y="0"/>
    </p:cViewPr>
  </p:notesTextViewPr>
  <p:sorterViewPr>
    <p:cViewPr varScale="1">
      <p:scale>
        <a:sx n="100" d="100"/>
        <a:sy n="100" d="100"/>
      </p:scale>
      <p:origin x="0" y="-26472"/>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37840" cy="466434"/>
          </a:xfrm>
          <a:prstGeom prst="rect">
            <a:avLst/>
          </a:prstGeom>
        </p:spPr>
        <p:txBody>
          <a:bodyPr vert="horz" lIns="93173" tIns="46586" rIns="93173" bIns="46586" rtlCol="0"/>
          <a:lstStyle>
            <a:lvl1pPr algn="l">
              <a:defRPr sz="1300"/>
            </a:lvl1pPr>
          </a:lstStyle>
          <a:p>
            <a:endParaRPr lang="en-US"/>
          </a:p>
        </p:txBody>
      </p:sp>
      <p:sp>
        <p:nvSpPr>
          <p:cNvPr id="3" name="Date Placeholder 2"/>
          <p:cNvSpPr>
            <a:spLocks noGrp="1"/>
          </p:cNvSpPr>
          <p:nvPr>
            <p:ph type="dt" idx="1"/>
          </p:nvPr>
        </p:nvSpPr>
        <p:spPr>
          <a:xfrm>
            <a:off x="3970939" y="1"/>
            <a:ext cx="3037840" cy="466434"/>
          </a:xfrm>
          <a:prstGeom prst="rect">
            <a:avLst/>
          </a:prstGeom>
        </p:spPr>
        <p:txBody>
          <a:bodyPr vert="horz" lIns="93173" tIns="46586" rIns="93173" bIns="46586" rtlCol="0"/>
          <a:lstStyle>
            <a:lvl1pPr algn="r">
              <a:defRPr sz="1300"/>
            </a:lvl1pPr>
          </a:lstStyle>
          <a:p>
            <a:fld id="{631763FF-1AB2-1946-851C-DB0806ADF0B2}" type="datetimeFigureOut">
              <a:rPr lang="en-US" smtClean="0"/>
              <a:t>7/1/2022</a:t>
            </a:fld>
            <a:endParaRPr lang="en-US"/>
          </a:p>
        </p:txBody>
      </p:sp>
      <p:sp>
        <p:nvSpPr>
          <p:cNvPr id="4" name="Slide Image Placeholder 3"/>
          <p:cNvSpPr>
            <a:spLocks noGrp="1" noRot="1" noChangeAspect="1"/>
          </p:cNvSpPr>
          <p:nvPr>
            <p:ph type="sldImg" idx="2"/>
          </p:nvPr>
        </p:nvSpPr>
        <p:spPr>
          <a:xfrm>
            <a:off x="719138" y="1162050"/>
            <a:ext cx="5573712" cy="3136900"/>
          </a:xfrm>
          <a:prstGeom prst="rect">
            <a:avLst/>
          </a:prstGeom>
          <a:noFill/>
          <a:ln w="12700">
            <a:solidFill>
              <a:prstClr val="black"/>
            </a:solidFill>
          </a:ln>
        </p:spPr>
        <p:txBody>
          <a:bodyPr vert="horz" lIns="93173" tIns="46586" rIns="93173" bIns="46586" rtlCol="0" anchor="ctr"/>
          <a:lstStyle/>
          <a:p>
            <a:endParaRPr lang="en-US"/>
          </a:p>
        </p:txBody>
      </p:sp>
      <p:sp>
        <p:nvSpPr>
          <p:cNvPr id="5" name="Notes Placeholder 4"/>
          <p:cNvSpPr>
            <a:spLocks noGrp="1"/>
          </p:cNvSpPr>
          <p:nvPr>
            <p:ph type="body" sz="quarter" idx="3"/>
          </p:nvPr>
        </p:nvSpPr>
        <p:spPr>
          <a:xfrm>
            <a:off x="701041" y="4473892"/>
            <a:ext cx="5608320" cy="3660458"/>
          </a:xfrm>
          <a:prstGeom prst="rect">
            <a:avLst/>
          </a:prstGeom>
        </p:spPr>
        <p:txBody>
          <a:bodyPr vert="horz" lIns="93173" tIns="46586" rIns="93173" bIns="46586"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8829968"/>
            <a:ext cx="3037840" cy="466433"/>
          </a:xfrm>
          <a:prstGeom prst="rect">
            <a:avLst/>
          </a:prstGeom>
        </p:spPr>
        <p:txBody>
          <a:bodyPr vert="horz" lIns="93173" tIns="46586" rIns="93173" bIns="46586" rtlCol="0" anchor="b"/>
          <a:lstStyle>
            <a:lvl1pPr algn="l">
              <a:defRPr sz="1300"/>
            </a:lvl1pPr>
          </a:lstStyle>
          <a:p>
            <a:endParaRPr lang="en-US"/>
          </a:p>
        </p:txBody>
      </p:sp>
      <p:sp>
        <p:nvSpPr>
          <p:cNvPr id="7" name="Slide Number Placeholder 6"/>
          <p:cNvSpPr>
            <a:spLocks noGrp="1"/>
          </p:cNvSpPr>
          <p:nvPr>
            <p:ph type="sldNum" sz="quarter" idx="5"/>
          </p:nvPr>
        </p:nvSpPr>
        <p:spPr>
          <a:xfrm>
            <a:off x="3970939" y="8829968"/>
            <a:ext cx="3037840" cy="466433"/>
          </a:xfrm>
          <a:prstGeom prst="rect">
            <a:avLst/>
          </a:prstGeom>
        </p:spPr>
        <p:txBody>
          <a:bodyPr vert="horz" lIns="93173" tIns="46586" rIns="93173" bIns="46586" rtlCol="0" anchor="b"/>
          <a:lstStyle>
            <a:lvl1pPr algn="r">
              <a:defRPr sz="1300"/>
            </a:lvl1pPr>
          </a:lstStyle>
          <a:p>
            <a:fld id="{25BAF5BC-1DD1-3042-9AB2-550B19EF9856}" type="slidenum">
              <a:rPr lang="en-US" smtClean="0"/>
              <a:t>‹#›</a:t>
            </a:fld>
            <a:endParaRPr lang="en-US"/>
          </a:p>
        </p:txBody>
      </p:sp>
    </p:spTree>
    <p:extLst>
      <p:ext uri="{BB962C8B-B14F-4D97-AF65-F5344CB8AC3E}">
        <p14:creationId xmlns:p14="http://schemas.microsoft.com/office/powerpoint/2010/main" val="1924246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7/1/2022</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8053" y="1"/>
            <a:ext cx="10736802" cy="868705"/>
          </a:xfrm>
        </p:spPr>
        <p:txBody>
          <a:bodyPr/>
          <a:lstStyle>
            <a:lvl1pPr>
              <a:defRPr/>
            </a:lvl1pPr>
          </a:lstStyle>
          <a:p>
            <a:r>
              <a:rPr lang="en-US" dirty="0"/>
              <a:t>Click to edit Master title style</a:t>
            </a:r>
            <a:br>
              <a:rPr lang="en-US" dirty="0"/>
            </a:br>
            <a:r>
              <a:rPr lang="en-US" dirty="0"/>
              <a:t>Test</a:t>
            </a:r>
          </a:p>
        </p:txBody>
      </p:sp>
      <p:sp>
        <p:nvSpPr>
          <p:cNvPr id="3" name="Content Placeholder 2"/>
          <p:cNvSpPr>
            <a:spLocks noGrp="1"/>
          </p:cNvSpPr>
          <p:nvPr>
            <p:ph idx="1"/>
          </p:nvPr>
        </p:nvSpPr>
        <p:spPr>
          <a:xfrm>
            <a:off x="480061" y="938440"/>
            <a:ext cx="10386722" cy="5687646"/>
          </a:xfrm>
        </p:spPr>
        <p:txBody>
          <a:bodyPr anchor="t"/>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a:xfrm>
            <a:off x="11451771" y="6354421"/>
            <a:ext cx="740229" cy="503577"/>
          </a:xfrm>
        </p:spPr>
        <p:txBody>
          <a:bodyPr/>
          <a:lstStyle/>
          <a:p>
            <a:fld id="{6D22F896-40B5-4ADD-8801-0D06FADFA095}" type="slidenum">
              <a:rPr lang="en-US" dirty="0"/>
              <a:t>‹#›</a:t>
            </a:fld>
            <a:endParaRPr lang="en-US" dirty="0"/>
          </a:p>
        </p:txBody>
      </p:sp>
      <p:cxnSp>
        <p:nvCxnSpPr>
          <p:cNvPr id="33" name="Straight Connector 32"/>
          <p:cNvCxnSpPr>
            <a:cxnSpLocks/>
          </p:cNvCxnSpPr>
          <p:nvPr/>
        </p:nvCxnSpPr>
        <p:spPr>
          <a:xfrm>
            <a:off x="318053" y="903542"/>
            <a:ext cx="10743365"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7/1/2022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7/1/2022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7/1/2022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7/1/2022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7/1/2022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7/1/2022</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578800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4">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latin typeface="Georgia" panose="02040502050405020303" pitchFamily="18" charset="0"/>
              </a:defRPr>
            </a:lvl1pPr>
          </a:lstStyle>
          <a:p>
            <a:fld id="{48A87A34-81AB-432B-8DAE-1953F412C126}" type="datetimeFigureOut">
              <a:rPr lang="en-US" smtClean="0"/>
              <a:pPr/>
              <a:t>7/1/2022</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latin typeface="Georgia" panose="02040502050405020303" pitchFamily="18" charset="0"/>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latin typeface="Georgia" panose="02040502050405020303" pitchFamily="18" charset="0"/>
              </a:defRPr>
            </a:lvl1pPr>
          </a:lstStyle>
          <a:p>
            <a:fld id="{6D22F896-40B5-4ADD-8801-0D06FADFA095}" type="slidenum">
              <a:rPr lang="en-US" smtClean="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Georgia" panose="02040502050405020303" pitchFamily="18" charset="0"/>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Georgia" panose="02040502050405020303"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Georgia" panose="02040502050405020303"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Georgia" panose="02040502050405020303"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Georgia" panose="02040502050405020303"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Georgia" panose="02040502050405020303" pitchFamily="18" charset="0"/>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www.saintlukeguild.com/projects"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www.saintlukeguild.com/Legalese" TargetMode="External"/><Relationship Id="rId2" Type="http://schemas.openxmlformats.org/officeDocument/2006/relationships/hyperlink" Target="http://www.saintlukeguild.com/About-Us"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mailto:refunds@saintlukeguild.com" TargetMode="External"/><Relationship Id="rId2" Type="http://schemas.openxmlformats.org/officeDocument/2006/relationships/hyperlink" Target="https://www.saintlukeguild.com/about-us"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84FF0-E2D4-4C4C-8656-A0A616C4047B}"/>
              </a:ext>
            </a:extLst>
          </p:cNvPr>
          <p:cNvSpPr>
            <a:spLocks noGrp="1"/>
          </p:cNvSpPr>
          <p:nvPr>
            <p:ph type="ctrTitle"/>
          </p:nvPr>
        </p:nvSpPr>
        <p:spPr>
          <a:xfrm>
            <a:off x="2420471" y="887991"/>
            <a:ext cx="8624048" cy="2541431"/>
          </a:xfrm>
        </p:spPr>
        <p:txBody>
          <a:bodyPr>
            <a:normAutofit fontScale="90000"/>
          </a:bodyPr>
          <a:lstStyle/>
          <a:p>
            <a:r>
              <a:rPr lang="en-US" cap="none" dirty="0">
                <a:latin typeface="+mn-lt"/>
                <a:cs typeface="Apple Chancery" panose="03020702040506060504" pitchFamily="66" charset="-79"/>
              </a:rPr>
              <a:t>The Saint Luke Guild</a:t>
            </a:r>
            <a:br>
              <a:rPr lang="en-US" cap="none" dirty="0">
                <a:latin typeface="+mn-lt"/>
                <a:cs typeface="Apple Chancery" panose="03020702040506060504" pitchFamily="66" charset="-79"/>
              </a:rPr>
            </a:br>
            <a:r>
              <a:rPr lang="en-US" cap="none" dirty="0">
                <a:latin typeface="+mn-lt"/>
                <a:cs typeface="Apple Chancery" panose="03020702040506060504" pitchFamily="66" charset="-79"/>
              </a:rPr>
              <a:t>Checkout.com </a:t>
            </a:r>
            <a:br>
              <a:rPr lang="en-US" cap="none" dirty="0">
                <a:latin typeface="+mn-lt"/>
                <a:cs typeface="Apple Chancery" panose="03020702040506060504" pitchFamily="66" charset="-79"/>
              </a:rPr>
            </a:br>
            <a:r>
              <a:rPr lang="en-US" cap="none" dirty="0">
                <a:latin typeface="+mn-lt"/>
                <a:cs typeface="Apple Chancery" panose="03020702040506060504" pitchFamily="66" charset="-79"/>
              </a:rPr>
              <a:t>Requested Info</a:t>
            </a:r>
          </a:p>
        </p:txBody>
      </p:sp>
      <p:sp>
        <p:nvSpPr>
          <p:cNvPr id="3" name="Subtitle 2">
            <a:extLst>
              <a:ext uri="{FF2B5EF4-FFF2-40B4-BE49-F238E27FC236}">
                <a16:creationId xmlns:a16="http://schemas.microsoft.com/office/drawing/2014/main" id="{3DD13FE6-7C67-0D42-9555-45A8E7176BC8}"/>
              </a:ext>
            </a:extLst>
          </p:cNvPr>
          <p:cNvSpPr>
            <a:spLocks noGrp="1"/>
          </p:cNvSpPr>
          <p:nvPr>
            <p:ph type="subTitle" idx="1"/>
          </p:nvPr>
        </p:nvSpPr>
        <p:spPr>
          <a:xfrm>
            <a:off x="5087501" y="4508825"/>
            <a:ext cx="7104499" cy="1605104"/>
          </a:xfrm>
        </p:spPr>
        <p:txBody>
          <a:bodyPr>
            <a:normAutofit/>
          </a:bodyPr>
          <a:lstStyle/>
          <a:p>
            <a:r>
              <a:rPr lang="en-US" sz="2400" cap="none" dirty="0">
                <a:cs typeface="Apple Chancery" panose="03020702040506060504" pitchFamily="66" charset="-79"/>
              </a:rPr>
              <a:t>Douglas Coombs</a:t>
            </a:r>
          </a:p>
          <a:p>
            <a:r>
              <a:rPr lang="en-US" sz="2400" cap="none">
                <a:cs typeface="Apple Chancery" panose="03020702040506060504" pitchFamily="66" charset="-79"/>
              </a:rPr>
              <a:t>July 1, </a:t>
            </a:r>
            <a:r>
              <a:rPr lang="en-US" sz="2400" cap="none" dirty="0">
                <a:cs typeface="Apple Chancery" panose="03020702040506060504" pitchFamily="66" charset="-79"/>
              </a:rPr>
              <a:t>2022, Rev. 1</a:t>
            </a:r>
          </a:p>
        </p:txBody>
      </p:sp>
    </p:spTree>
    <p:extLst>
      <p:ext uri="{BB962C8B-B14F-4D97-AF65-F5344CB8AC3E}">
        <p14:creationId xmlns:p14="http://schemas.microsoft.com/office/powerpoint/2010/main" val="2792974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1AA73-0EB3-F1EB-17DE-3947E21336CE}"/>
              </a:ext>
            </a:extLst>
          </p:cNvPr>
          <p:cNvSpPr>
            <a:spLocks noGrp="1"/>
          </p:cNvSpPr>
          <p:nvPr>
            <p:ph type="title"/>
          </p:nvPr>
        </p:nvSpPr>
        <p:spPr/>
        <p:txBody>
          <a:bodyPr>
            <a:normAutofit fontScale="90000"/>
          </a:bodyPr>
          <a:lstStyle/>
          <a:p>
            <a:r>
              <a:rPr lang="en-US" dirty="0"/>
              <a:t>Transaction Information</a:t>
            </a:r>
            <a:br>
              <a:rPr lang="en-US" dirty="0"/>
            </a:br>
            <a:r>
              <a:rPr lang="en-US" dirty="0"/>
              <a:t>Data Request</a:t>
            </a:r>
            <a:br>
              <a:rPr lang="en-US" dirty="0"/>
            </a:br>
            <a:endParaRPr lang="en-US" dirty="0"/>
          </a:p>
        </p:txBody>
      </p:sp>
      <p:sp>
        <p:nvSpPr>
          <p:cNvPr id="3" name="Content Placeholder 2">
            <a:extLst>
              <a:ext uri="{FF2B5EF4-FFF2-40B4-BE49-F238E27FC236}">
                <a16:creationId xmlns:a16="http://schemas.microsoft.com/office/drawing/2014/main" id="{DA6A007B-F607-26F1-A6E5-0F2744DA9A24}"/>
              </a:ext>
            </a:extLst>
          </p:cNvPr>
          <p:cNvSpPr>
            <a:spLocks noGrp="1"/>
          </p:cNvSpPr>
          <p:nvPr>
            <p:ph idx="1"/>
          </p:nvPr>
        </p:nvSpPr>
        <p:spPr>
          <a:xfrm>
            <a:off x="480061" y="938440"/>
            <a:ext cx="11496786" cy="5687646"/>
          </a:xfrm>
        </p:spPr>
        <p:txBody>
          <a:bodyPr>
            <a:normAutofit/>
          </a:bodyPr>
          <a:lstStyle/>
          <a:p>
            <a:r>
              <a:rPr lang="en-US" dirty="0"/>
              <a:t>A payment flow to properly understand what Checkout.com is exactly processing for.</a:t>
            </a:r>
          </a:p>
          <a:p>
            <a:pPr lvl="1"/>
            <a:r>
              <a:rPr lang="en-US" dirty="0">
                <a:solidFill>
                  <a:schemeClr val="accent6">
                    <a:lumMod val="75000"/>
                  </a:schemeClr>
                </a:solidFill>
              </a:rPr>
              <a:t>See the next slide</a:t>
            </a:r>
          </a:p>
          <a:p>
            <a:r>
              <a:rPr lang="en-US" dirty="0"/>
              <a:t>Please provide further details on what the merchant will be accepting payments for.</a:t>
            </a:r>
          </a:p>
          <a:p>
            <a:pPr lvl="1"/>
            <a:r>
              <a:rPr lang="en-US" dirty="0">
                <a:solidFill>
                  <a:schemeClr val="accent6">
                    <a:lumMod val="75000"/>
                  </a:schemeClr>
                </a:solidFill>
              </a:rPr>
              <a:t>We are accepting donations to fund</a:t>
            </a:r>
          </a:p>
          <a:p>
            <a:pPr lvl="2"/>
            <a:r>
              <a:rPr lang="en-US" dirty="0">
                <a:solidFill>
                  <a:schemeClr val="accent6">
                    <a:lumMod val="75000"/>
                  </a:schemeClr>
                </a:solidFill>
              </a:rPr>
              <a:t>Art displays at schools</a:t>
            </a:r>
          </a:p>
          <a:p>
            <a:pPr lvl="2"/>
            <a:r>
              <a:rPr lang="en-US" dirty="0">
                <a:solidFill>
                  <a:schemeClr val="accent6">
                    <a:lumMod val="75000"/>
                  </a:schemeClr>
                </a:solidFill>
              </a:rPr>
              <a:t>Projects to help schools in the selection of art (e.g., a timeline/database of art masterpieces)</a:t>
            </a:r>
          </a:p>
          <a:p>
            <a:pPr lvl="2"/>
            <a:r>
              <a:rPr lang="en-US" dirty="0">
                <a:solidFill>
                  <a:schemeClr val="accent6">
                    <a:lumMod val="75000"/>
                  </a:schemeClr>
                </a:solidFill>
              </a:rPr>
              <a:t>Costs to attend educational conferences and educate schools on the value of art reproductions</a:t>
            </a:r>
          </a:p>
          <a:p>
            <a:r>
              <a:rPr lang="en-US" dirty="0"/>
              <a:t>Please provide the URL where payments will be accepted. Please also provide demo or Test login details to verify the website</a:t>
            </a:r>
          </a:p>
          <a:p>
            <a:pPr lvl="1"/>
            <a:r>
              <a:rPr lang="en-US" dirty="0">
                <a:solidFill>
                  <a:schemeClr val="accent6">
                    <a:lumMod val="75000"/>
                  </a:schemeClr>
                </a:solidFill>
                <a:hlinkClick r:id="rId2">
                  <a:extLst>
                    <a:ext uri="{A12FA001-AC4F-418D-AE19-62706E023703}">
                      <ahyp:hlinkClr xmlns:ahyp="http://schemas.microsoft.com/office/drawing/2018/hyperlinkcolor" val="tx"/>
                    </a:ext>
                  </a:extLst>
                </a:hlinkClick>
              </a:rPr>
              <a:t>www.saintlukeguild.com/projects</a:t>
            </a:r>
            <a:r>
              <a:rPr lang="en-US" dirty="0">
                <a:solidFill>
                  <a:schemeClr val="accent6">
                    <a:lumMod val="75000"/>
                  </a:schemeClr>
                </a:solidFill>
              </a:rPr>
              <a:t> (this will be updated when we begin taking payments)</a:t>
            </a:r>
          </a:p>
          <a:p>
            <a:r>
              <a:rPr lang="en-US" dirty="0"/>
              <a:t>Please confirm the annual processing volume</a:t>
            </a:r>
          </a:p>
          <a:p>
            <a:pPr lvl="1"/>
            <a:r>
              <a:rPr lang="en-US" dirty="0">
                <a:solidFill>
                  <a:schemeClr val="accent6">
                    <a:lumMod val="75000"/>
                  </a:schemeClr>
                </a:solidFill>
              </a:rPr>
              <a:t>Maybe $5k-$10k/year to begin.  It is hard to say.  We currently bring in around $20k/year in large checks.  Most larger donors will probably still choose to give via check.</a:t>
            </a:r>
          </a:p>
        </p:txBody>
      </p:sp>
    </p:spTree>
    <p:extLst>
      <p:ext uri="{BB962C8B-B14F-4D97-AF65-F5344CB8AC3E}">
        <p14:creationId xmlns:p14="http://schemas.microsoft.com/office/powerpoint/2010/main" val="13541576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Connector: Elbow 33">
            <a:extLst>
              <a:ext uri="{FF2B5EF4-FFF2-40B4-BE49-F238E27FC236}">
                <a16:creationId xmlns:a16="http://schemas.microsoft.com/office/drawing/2014/main" id="{87F71BDA-3B24-80C6-D491-707C0EE8F151}"/>
              </a:ext>
            </a:extLst>
          </p:cNvPr>
          <p:cNvCxnSpPr>
            <a:stCxn id="18" idx="3"/>
            <a:endCxn id="17" idx="1"/>
          </p:cNvCxnSpPr>
          <p:nvPr/>
        </p:nvCxnSpPr>
        <p:spPr>
          <a:xfrm>
            <a:off x="6539551" y="2438050"/>
            <a:ext cx="1726089" cy="2954840"/>
          </a:xfrm>
          <a:prstGeom prst="bentConnector3">
            <a:avLst>
              <a:gd name="adj1" fmla="val 39613"/>
            </a:avLst>
          </a:prstGeom>
          <a:ln w="38100">
            <a:tailEnd type="triangle" w="lg" len="lg"/>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961724C-4DF2-904C-8CC6-31B4E6654E8C}"/>
              </a:ext>
            </a:extLst>
          </p:cNvPr>
          <p:cNvSpPr>
            <a:spLocks noGrp="1"/>
          </p:cNvSpPr>
          <p:nvPr>
            <p:ph type="title"/>
          </p:nvPr>
        </p:nvSpPr>
        <p:spPr>
          <a:xfrm>
            <a:off x="110836" y="46180"/>
            <a:ext cx="12081164" cy="876687"/>
          </a:xfrm>
        </p:spPr>
        <p:txBody>
          <a:bodyPr>
            <a:normAutofit/>
          </a:bodyPr>
          <a:lstStyle/>
          <a:p>
            <a:r>
              <a:rPr lang="en-US" dirty="0"/>
              <a:t>Transaction Flow Chart for Website Donor Funds</a:t>
            </a:r>
          </a:p>
        </p:txBody>
      </p:sp>
      <p:sp>
        <p:nvSpPr>
          <p:cNvPr id="8" name="Content Placeholder 7">
            <a:extLst>
              <a:ext uri="{FF2B5EF4-FFF2-40B4-BE49-F238E27FC236}">
                <a16:creationId xmlns:a16="http://schemas.microsoft.com/office/drawing/2014/main" id="{902F41D6-FC3B-EC72-0ECD-6351735CD578}"/>
              </a:ext>
            </a:extLst>
          </p:cNvPr>
          <p:cNvSpPr>
            <a:spLocks noGrp="1"/>
          </p:cNvSpPr>
          <p:nvPr>
            <p:ph idx="1"/>
          </p:nvPr>
        </p:nvSpPr>
        <p:spPr>
          <a:xfrm>
            <a:off x="110836" y="4590252"/>
            <a:ext cx="5541614" cy="1519145"/>
          </a:xfrm>
        </p:spPr>
        <p:txBody>
          <a:bodyPr>
            <a:normAutofit fontScale="92500" lnSpcReduction="20000"/>
          </a:bodyPr>
          <a:lstStyle/>
          <a:p>
            <a:r>
              <a:rPr lang="en-US" sz="2800" dirty="0"/>
              <a:t>General support projects are not </a:t>
            </a:r>
            <a:br>
              <a:rPr lang="en-US" sz="2800" dirty="0"/>
            </a:br>
            <a:r>
              <a:rPr lang="en-US" sz="2800" dirty="0"/>
              <a:t>specific to any school </a:t>
            </a:r>
          </a:p>
          <a:p>
            <a:r>
              <a:rPr lang="en-US" sz="2800" dirty="0"/>
              <a:t>Project costs are school specific</a:t>
            </a:r>
          </a:p>
          <a:p>
            <a:endParaRPr lang="en-US" sz="2800" dirty="0"/>
          </a:p>
        </p:txBody>
      </p:sp>
      <p:sp>
        <p:nvSpPr>
          <p:cNvPr id="4" name="Rectangle: Rounded Corners 3">
            <a:extLst>
              <a:ext uri="{FF2B5EF4-FFF2-40B4-BE49-F238E27FC236}">
                <a16:creationId xmlns:a16="http://schemas.microsoft.com/office/drawing/2014/main" id="{ED372D03-157E-327A-1864-E94BE00B0D1D}"/>
              </a:ext>
            </a:extLst>
          </p:cNvPr>
          <p:cNvSpPr/>
          <p:nvPr/>
        </p:nvSpPr>
        <p:spPr>
          <a:xfrm>
            <a:off x="110836" y="2712492"/>
            <a:ext cx="2932615" cy="175032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Donors give to either a school project (restricted), a general support project, (restricted) or general funds (unrestricted)</a:t>
            </a:r>
          </a:p>
        </p:txBody>
      </p:sp>
      <p:sp>
        <p:nvSpPr>
          <p:cNvPr id="17" name="Rectangle: Rounded Corners 16">
            <a:extLst>
              <a:ext uri="{FF2B5EF4-FFF2-40B4-BE49-F238E27FC236}">
                <a16:creationId xmlns:a16="http://schemas.microsoft.com/office/drawing/2014/main" id="{846315E8-57D9-B8DD-08E3-83B450143CDE}"/>
              </a:ext>
            </a:extLst>
          </p:cNvPr>
          <p:cNvSpPr/>
          <p:nvPr/>
        </p:nvSpPr>
        <p:spPr>
          <a:xfrm>
            <a:off x="8265640" y="4676382"/>
            <a:ext cx="2932615" cy="143301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Project costs are spent 100% on school art projects for specific schools</a:t>
            </a:r>
          </a:p>
        </p:txBody>
      </p:sp>
      <p:sp>
        <p:nvSpPr>
          <p:cNvPr id="18" name="Rectangle: Rounded Corners 17">
            <a:extLst>
              <a:ext uri="{FF2B5EF4-FFF2-40B4-BE49-F238E27FC236}">
                <a16:creationId xmlns:a16="http://schemas.microsoft.com/office/drawing/2014/main" id="{778A1563-7F76-7B71-E9C0-BB2C6B931F0E}"/>
              </a:ext>
            </a:extLst>
          </p:cNvPr>
          <p:cNvSpPr/>
          <p:nvPr/>
        </p:nvSpPr>
        <p:spPr>
          <a:xfrm>
            <a:off x="3606936" y="1721542"/>
            <a:ext cx="2932615" cy="143301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General funds are discretionary and can cover either overhead or project costs</a:t>
            </a:r>
          </a:p>
        </p:txBody>
      </p:sp>
      <p:cxnSp>
        <p:nvCxnSpPr>
          <p:cNvPr id="9" name="Connector: Elbow 8">
            <a:extLst>
              <a:ext uri="{FF2B5EF4-FFF2-40B4-BE49-F238E27FC236}">
                <a16:creationId xmlns:a16="http://schemas.microsoft.com/office/drawing/2014/main" id="{94FF277D-1071-0FAE-868F-830260DC735D}"/>
              </a:ext>
            </a:extLst>
          </p:cNvPr>
          <p:cNvCxnSpPr>
            <a:cxnSpLocks/>
            <a:stCxn id="4" idx="3"/>
            <a:endCxn id="17" idx="1"/>
          </p:cNvCxnSpPr>
          <p:nvPr/>
        </p:nvCxnSpPr>
        <p:spPr>
          <a:xfrm>
            <a:off x="3043451" y="3587655"/>
            <a:ext cx="5222189" cy="1805235"/>
          </a:xfrm>
          <a:prstGeom prst="bentConnector3">
            <a:avLst/>
          </a:prstGeom>
          <a:ln w="38100">
            <a:solidFill>
              <a:schemeClr val="accent2">
                <a:lumMod val="60000"/>
                <a:lumOff val="4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B6FD0557-F7A3-A02C-A00A-2E448C6ADCB5}"/>
              </a:ext>
            </a:extLst>
          </p:cNvPr>
          <p:cNvCxnSpPr>
            <a:cxnSpLocks/>
            <a:stCxn id="4" idx="3"/>
            <a:endCxn id="18" idx="1"/>
          </p:cNvCxnSpPr>
          <p:nvPr/>
        </p:nvCxnSpPr>
        <p:spPr>
          <a:xfrm flipV="1">
            <a:off x="3043451" y="2438050"/>
            <a:ext cx="563485" cy="1149605"/>
          </a:xfrm>
          <a:prstGeom prst="bentConnector3">
            <a:avLst/>
          </a:prstGeom>
          <a:ln w="38100">
            <a:solidFill>
              <a:schemeClr val="accent2">
                <a:lumMod val="60000"/>
                <a:lumOff val="4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22" name="Rectangle: Rounded Corners 21">
            <a:extLst>
              <a:ext uri="{FF2B5EF4-FFF2-40B4-BE49-F238E27FC236}">
                <a16:creationId xmlns:a16="http://schemas.microsoft.com/office/drawing/2014/main" id="{26448D6B-DABC-F32D-608C-FE71303C2D17}"/>
              </a:ext>
            </a:extLst>
          </p:cNvPr>
          <p:cNvSpPr/>
          <p:nvPr/>
        </p:nvSpPr>
        <p:spPr>
          <a:xfrm>
            <a:off x="8265641" y="1101172"/>
            <a:ext cx="2932615" cy="143301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Overhead costs are things like PO box and website fees</a:t>
            </a:r>
          </a:p>
        </p:txBody>
      </p:sp>
      <p:sp>
        <p:nvSpPr>
          <p:cNvPr id="24" name="Rectangle: Rounded Corners 23">
            <a:extLst>
              <a:ext uri="{FF2B5EF4-FFF2-40B4-BE49-F238E27FC236}">
                <a16:creationId xmlns:a16="http://schemas.microsoft.com/office/drawing/2014/main" id="{0CB2ECF0-C15F-59AF-13C3-BB4255464F56}"/>
              </a:ext>
            </a:extLst>
          </p:cNvPr>
          <p:cNvSpPr/>
          <p:nvPr/>
        </p:nvSpPr>
        <p:spPr>
          <a:xfrm>
            <a:off x="8265640" y="2888777"/>
            <a:ext cx="2932615" cy="143301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General support project costs are for things like an art timeline database to help schools select art for their hallways</a:t>
            </a:r>
          </a:p>
        </p:txBody>
      </p:sp>
      <p:cxnSp>
        <p:nvCxnSpPr>
          <p:cNvPr id="30" name="Connector: Elbow 29">
            <a:extLst>
              <a:ext uri="{FF2B5EF4-FFF2-40B4-BE49-F238E27FC236}">
                <a16:creationId xmlns:a16="http://schemas.microsoft.com/office/drawing/2014/main" id="{915E5427-0DA3-79FC-4B00-12187A9D63D2}"/>
              </a:ext>
            </a:extLst>
          </p:cNvPr>
          <p:cNvCxnSpPr>
            <a:stCxn id="18" idx="3"/>
          </p:cNvCxnSpPr>
          <p:nvPr/>
        </p:nvCxnSpPr>
        <p:spPr>
          <a:xfrm flipV="1">
            <a:off x="6539551" y="1798030"/>
            <a:ext cx="1761934" cy="640020"/>
          </a:xfrm>
          <a:prstGeom prst="bentConnector3">
            <a:avLst>
              <a:gd name="adj1" fmla="val 62211"/>
            </a:avLst>
          </a:prstGeom>
          <a:ln w="38100">
            <a:tailEnd type="triangle" w="lg" len="lg"/>
          </a:ln>
        </p:spPr>
        <p:style>
          <a:lnRef idx="1">
            <a:schemeClr val="accent1"/>
          </a:lnRef>
          <a:fillRef idx="0">
            <a:schemeClr val="accent1"/>
          </a:fillRef>
          <a:effectRef idx="0">
            <a:schemeClr val="accent1"/>
          </a:effectRef>
          <a:fontRef idx="minor">
            <a:schemeClr val="tx1"/>
          </a:fontRef>
        </p:style>
      </p:cxnSp>
      <p:cxnSp>
        <p:nvCxnSpPr>
          <p:cNvPr id="32" name="Connector: Elbow 31">
            <a:extLst>
              <a:ext uri="{FF2B5EF4-FFF2-40B4-BE49-F238E27FC236}">
                <a16:creationId xmlns:a16="http://schemas.microsoft.com/office/drawing/2014/main" id="{46380545-9113-18C1-EC84-28CFA1098A45}"/>
              </a:ext>
            </a:extLst>
          </p:cNvPr>
          <p:cNvCxnSpPr>
            <a:stCxn id="18" idx="3"/>
            <a:endCxn id="24" idx="1"/>
          </p:cNvCxnSpPr>
          <p:nvPr/>
        </p:nvCxnSpPr>
        <p:spPr>
          <a:xfrm>
            <a:off x="6539551" y="2438050"/>
            <a:ext cx="1726089" cy="1167235"/>
          </a:xfrm>
          <a:prstGeom prst="bentConnector3">
            <a:avLst>
              <a:gd name="adj1" fmla="val 52077"/>
            </a:avLst>
          </a:prstGeom>
          <a:ln w="38100">
            <a:tailEnd type="triangle" w="lg" len="lg"/>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74E54E87-B816-E34F-7CE0-4A06588BAE35}"/>
              </a:ext>
            </a:extLst>
          </p:cNvPr>
          <p:cNvCxnSpPr>
            <a:stCxn id="4" idx="3"/>
            <a:endCxn id="24" idx="1"/>
          </p:cNvCxnSpPr>
          <p:nvPr/>
        </p:nvCxnSpPr>
        <p:spPr>
          <a:xfrm>
            <a:off x="3043451" y="3587655"/>
            <a:ext cx="5222189" cy="17630"/>
          </a:xfrm>
          <a:prstGeom prst="straightConnector1">
            <a:avLst/>
          </a:prstGeom>
          <a:ln w="38100">
            <a:solidFill>
              <a:schemeClr val="accent2">
                <a:lumMod val="60000"/>
                <a:lumOff val="40000"/>
              </a:schemeClr>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93339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1724C-4DF2-904C-8CC6-31B4E6654E8C}"/>
              </a:ext>
            </a:extLst>
          </p:cNvPr>
          <p:cNvSpPr>
            <a:spLocks noGrp="1"/>
          </p:cNvSpPr>
          <p:nvPr>
            <p:ph type="title"/>
          </p:nvPr>
        </p:nvSpPr>
        <p:spPr>
          <a:xfrm>
            <a:off x="110836" y="46180"/>
            <a:ext cx="12081164" cy="876687"/>
          </a:xfrm>
        </p:spPr>
        <p:txBody>
          <a:bodyPr>
            <a:normAutofit fontScale="90000"/>
          </a:bodyPr>
          <a:lstStyle/>
          <a:p>
            <a:r>
              <a:rPr lang="en-US" dirty="0"/>
              <a:t>Website Donor Forms</a:t>
            </a:r>
            <a:br>
              <a:rPr lang="en-US" dirty="0"/>
            </a:br>
            <a:r>
              <a:rPr lang="en-US" dirty="0"/>
              <a:t>Entry Point for Project Funding</a:t>
            </a:r>
          </a:p>
        </p:txBody>
      </p:sp>
      <p:sp>
        <p:nvSpPr>
          <p:cNvPr id="5" name="Content Placeholder 4">
            <a:extLst>
              <a:ext uri="{FF2B5EF4-FFF2-40B4-BE49-F238E27FC236}">
                <a16:creationId xmlns:a16="http://schemas.microsoft.com/office/drawing/2014/main" id="{1B3FC211-3C4C-0C68-3BEE-8ECAA32DF9D3}"/>
              </a:ext>
            </a:extLst>
          </p:cNvPr>
          <p:cNvSpPr>
            <a:spLocks noGrp="1"/>
          </p:cNvSpPr>
          <p:nvPr>
            <p:ph idx="1"/>
          </p:nvPr>
        </p:nvSpPr>
        <p:spPr>
          <a:xfrm>
            <a:off x="253639" y="938439"/>
            <a:ext cx="4869072" cy="3597702"/>
          </a:xfrm>
        </p:spPr>
        <p:txBody>
          <a:bodyPr>
            <a:normAutofit lnSpcReduction="10000"/>
          </a:bodyPr>
          <a:lstStyle/>
          <a:p>
            <a:r>
              <a:rPr lang="en-US" dirty="0"/>
              <a:t>Simple Donate Button next to each project on website takes donors to a common donation form with a drop down menu to select a project</a:t>
            </a:r>
          </a:p>
          <a:p>
            <a:r>
              <a:rPr lang="en-US" dirty="0"/>
              <a:t>The Saint Luke Guild should be able to add projects to the list</a:t>
            </a:r>
          </a:p>
          <a:p>
            <a:r>
              <a:rPr lang="en-US" dirty="0"/>
              <a:t>All form information should be communicated to the Saint Luke Guild along with money</a:t>
            </a:r>
          </a:p>
        </p:txBody>
      </p:sp>
      <p:sp>
        <p:nvSpPr>
          <p:cNvPr id="3" name="Rectangle: Rounded Corners 2">
            <a:extLst>
              <a:ext uri="{FF2B5EF4-FFF2-40B4-BE49-F238E27FC236}">
                <a16:creationId xmlns:a16="http://schemas.microsoft.com/office/drawing/2014/main" id="{5860BDA1-5BC3-1CAE-FF4F-B5B1150F09ED}"/>
              </a:ext>
            </a:extLst>
          </p:cNvPr>
          <p:cNvSpPr/>
          <p:nvPr/>
        </p:nvSpPr>
        <p:spPr>
          <a:xfrm>
            <a:off x="1728951" y="4731972"/>
            <a:ext cx="1918447" cy="70372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Donate Now</a:t>
            </a:r>
          </a:p>
        </p:txBody>
      </p:sp>
      <p:grpSp>
        <p:nvGrpSpPr>
          <p:cNvPr id="7" name="Group 6">
            <a:extLst>
              <a:ext uri="{FF2B5EF4-FFF2-40B4-BE49-F238E27FC236}">
                <a16:creationId xmlns:a16="http://schemas.microsoft.com/office/drawing/2014/main" id="{4A9B4A56-0DCC-157B-702E-1A68BB0982DE}"/>
              </a:ext>
            </a:extLst>
          </p:cNvPr>
          <p:cNvGrpSpPr/>
          <p:nvPr/>
        </p:nvGrpSpPr>
        <p:grpSpPr>
          <a:xfrm>
            <a:off x="5570942" y="1042968"/>
            <a:ext cx="5970494" cy="5513521"/>
            <a:chOff x="5122711" y="1473267"/>
            <a:chExt cx="5970494" cy="5513521"/>
          </a:xfrm>
        </p:grpSpPr>
        <p:sp>
          <p:nvSpPr>
            <p:cNvPr id="4" name="Rectangle: Rounded Corners 3">
              <a:extLst>
                <a:ext uri="{FF2B5EF4-FFF2-40B4-BE49-F238E27FC236}">
                  <a16:creationId xmlns:a16="http://schemas.microsoft.com/office/drawing/2014/main" id="{78D3A269-3789-4828-7690-E7C7683AC8AE}"/>
                </a:ext>
              </a:extLst>
            </p:cNvPr>
            <p:cNvSpPr/>
            <p:nvPr/>
          </p:nvSpPr>
          <p:spPr>
            <a:xfrm>
              <a:off x="5122711" y="1473267"/>
              <a:ext cx="5970494" cy="5513521"/>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D1689711-E06B-9358-B743-0D3B8114E87D}"/>
                </a:ext>
              </a:extLst>
            </p:cNvPr>
            <p:cNvSpPr txBox="1"/>
            <p:nvPr/>
          </p:nvSpPr>
          <p:spPr>
            <a:xfrm>
              <a:off x="5673421" y="1474189"/>
              <a:ext cx="5419783" cy="5512599"/>
            </a:xfrm>
            <a:prstGeom prst="rect">
              <a:avLst/>
            </a:prstGeom>
            <a:noFill/>
          </p:spPr>
          <p:txBody>
            <a:bodyPr wrap="square" rtlCol="0">
              <a:spAutoFit/>
            </a:bodyPr>
            <a:lstStyle/>
            <a:p>
              <a:pPr>
                <a:lnSpc>
                  <a:spcPct val="200000"/>
                </a:lnSpc>
              </a:pPr>
              <a:r>
                <a:rPr lang="en-US" dirty="0"/>
                <a:t>First Name: _______________________</a:t>
              </a:r>
            </a:p>
            <a:p>
              <a:pPr>
                <a:lnSpc>
                  <a:spcPct val="200000"/>
                </a:lnSpc>
              </a:pPr>
              <a:r>
                <a:rPr lang="en-US" dirty="0"/>
                <a:t>Last Name: _______________________</a:t>
              </a:r>
            </a:p>
            <a:p>
              <a:pPr>
                <a:lnSpc>
                  <a:spcPct val="200000"/>
                </a:lnSpc>
              </a:pPr>
              <a:r>
                <a:rPr lang="en-US" dirty="0"/>
                <a:t>Address: _________________________</a:t>
              </a:r>
            </a:p>
            <a:p>
              <a:pPr>
                <a:lnSpc>
                  <a:spcPct val="200000"/>
                </a:lnSpc>
              </a:pPr>
              <a:r>
                <a:rPr lang="en-US" dirty="0"/>
                <a:t>City: ____________________________</a:t>
              </a:r>
            </a:p>
            <a:p>
              <a:pPr>
                <a:lnSpc>
                  <a:spcPct val="200000"/>
                </a:lnSpc>
              </a:pPr>
              <a:r>
                <a:rPr lang="en-US" dirty="0"/>
                <a:t>State:  [Drop Down ]         Zip: ___________</a:t>
              </a:r>
            </a:p>
            <a:p>
              <a:pPr>
                <a:lnSpc>
                  <a:spcPct val="250000"/>
                </a:lnSpc>
              </a:pPr>
              <a:r>
                <a:rPr lang="en-US" dirty="0">
                  <a:sym typeface="Symbol" panose="05050102010706020507" pitchFamily="18" charset="2"/>
                </a:rPr>
                <a:t>  Keep me anonymous to project schools.</a:t>
              </a:r>
              <a:br>
                <a:rPr lang="en-US" dirty="0"/>
              </a:br>
              <a:r>
                <a:rPr lang="en-US" dirty="0"/>
                <a:t>Project: [Drop Down List]</a:t>
              </a:r>
            </a:p>
            <a:p>
              <a:pPr>
                <a:lnSpc>
                  <a:spcPct val="250000"/>
                </a:lnSpc>
              </a:pPr>
              <a:r>
                <a:rPr lang="en-US" dirty="0"/>
                <a:t>Pledge Amount: $  ___________</a:t>
              </a:r>
            </a:p>
            <a:p>
              <a:pPr>
                <a:lnSpc>
                  <a:spcPct val="250000"/>
                </a:lnSpc>
              </a:pPr>
              <a:r>
                <a:rPr lang="en-US" dirty="0"/>
                <a:t>Credit Card Info</a:t>
              </a:r>
            </a:p>
          </p:txBody>
        </p:sp>
      </p:grpSp>
      <p:sp>
        <p:nvSpPr>
          <p:cNvPr id="8" name="Arrow: Right 7">
            <a:extLst>
              <a:ext uri="{FF2B5EF4-FFF2-40B4-BE49-F238E27FC236}">
                <a16:creationId xmlns:a16="http://schemas.microsoft.com/office/drawing/2014/main" id="{C7D6133B-A7F7-8164-EE01-3B9C70FF16B2}"/>
              </a:ext>
            </a:extLst>
          </p:cNvPr>
          <p:cNvSpPr/>
          <p:nvPr/>
        </p:nvSpPr>
        <p:spPr>
          <a:xfrm>
            <a:off x="4087905" y="4840244"/>
            <a:ext cx="932325" cy="487183"/>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50934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1724C-4DF2-904C-8CC6-31B4E6654E8C}"/>
              </a:ext>
            </a:extLst>
          </p:cNvPr>
          <p:cNvSpPr>
            <a:spLocks noGrp="1"/>
          </p:cNvSpPr>
          <p:nvPr>
            <p:ph type="title"/>
          </p:nvPr>
        </p:nvSpPr>
        <p:spPr>
          <a:xfrm>
            <a:off x="110836" y="46180"/>
            <a:ext cx="12081164" cy="876687"/>
          </a:xfrm>
        </p:spPr>
        <p:txBody>
          <a:bodyPr>
            <a:normAutofit fontScale="90000"/>
          </a:bodyPr>
          <a:lstStyle/>
          <a:p>
            <a:r>
              <a:rPr lang="en-US" dirty="0"/>
              <a:t>Website Donor Forms</a:t>
            </a:r>
            <a:br>
              <a:rPr lang="en-US" dirty="0"/>
            </a:br>
            <a:r>
              <a:rPr lang="en-US" dirty="0"/>
              <a:t>Ideal Point</a:t>
            </a:r>
          </a:p>
        </p:txBody>
      </p:sp>
      <p:sp>
        <p:nvSpPr>
          <p:cNvPr id="5" name="Content Placeholder 4">
            <a:extLst>
              <a:ext uri="{FF2B5EF4-FFF2-40B4-BE49-F238E27FC236}">
                <a16:creationId xmlns:a16="http://schemas.microsoft.com/office/drawing/2014/main" id="{1B3FC211-3C4C-0C68-3BEE-8ECAA32DF9D3}"/>
              </a:ext>
            </a:extLst>
          </p:cNvPr>
          <p:cNvSpPr>
            <a:spLocks noGrp="1"/>
          </p:cNvSpPr>
          <p:nvPr>
            <p:ph idx="1"/>
          </p:nvPr>
        </p:nvSpPr>
        <p:spPr>
          <a:xfrm>
            <a:off x="253639" y="938439"/>
            <a:ext cx="4869072" cy="3597702"/>
          </a:xfrm>
        </p:spPr>
        <p:txBody>
          <a:bodyPr>
            <a:normAutofit lnSpcReduction="10000"/>
          </a:bodyPr>
          <a:lstStyle/>
          <a:p>
            <a:r>
              <a:rPr lang="en-US" dirty="0"/>
              <a:t>In an ideal world, we would be able to have bar graphs showing how much money has been donated to a given project</a:t>
            </a:r>
          </a:p>
          <a:p>
            <a:pPr lvl="1"/>
            <a:r>
              <a:rPr lang="en-US" dirty="0"/>
              <a:t>Similar to Kickstarter</a:t>
            </a:r>
          </a:p>
          <a:p>
            <a:r>
              <a:rPr lang="en-US" dirty="0"/>
              <a:t>SLG staff would be able to enter check donations to move the bar</a:t>
            </a:r>
          </a:p>
          <a:p>
            <a:r>
              <a:rPr lang="en-US" dirty="0"/>
              <a:t>This would mean each project would have a standalone donor form.</a:t>
            </a:r>
          </a:p>
        </p:txBody>
      </p:sp>
      <p:sp>
        <p:nvSpPr>
          <p:cNvPr id="3" name="Rectangle: Rounded Corners 2">
            <a:extLst>
              <a:ext uri="{FF2B5EF4-FFF2-40B4-BE49-F238E27FC236}">
                <a16:creationId xmlns:a16="http://schemas.microsoft.com/office/drawing/2014/main" id="{5860BDA1-5BC3-1CAE-FF4F-B5B1150F09ED}"/>
              </a:ext>
            </a:extLst>
          </p:cNvPr>
          <p:cNvSpPr/>
          <p:nvPr/>
        </p:nvSpPr>
        <p:spPr>
          <a:xfrm>
            <a:off x="1201275" y="5276081"/>
            <a:ext cx="1918447" cy="70372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Donate Now</a:t>
            </a:r>
          </a:p>
        </p:txBody>
      </p:sp>
      <p:grpSp>
        <p:nvGrpSpPr>
          <p:cNvPr id="7" name="Group 6">
            <a:extLst>
              <a:ext uri="{FF2B5EF4-FFF2-40B4-BE49-F238E27FC236}">
                <a16:creationId xmlns:a16="http://schemas.microsoft.com/office/drawing/2014/main" id="{4A9B4A56-0DCC-157B-702E-1A68BB0982DE}"/>
              </a:ext>
            </a:extLst>
          </p:cNvPr>
          <p:cNvGrpSpPr/>
          <p:nvPr/>
        </p:nvGrpSpPr>
        <p:grpSpPr>
          <a:xfrm>
            <a:off x="5893664" y="1544994"/>
            <a:ext cx="5970494" cy="5236522"/>
            <a:chOff x="5122711" y="1473267"/>
            <a:chExt cx="5970494" cy="5236522"/>
          </a:xfrm>
        </p:grpSpPr>
        <p:sp>
          <p:nvSpPr>
            <p:cNvPr id="4" name="Rectangle: Rounded Corners 3">
              <a:extLst>
                <a:ext uri="{FF2B5EF4-FFF2-40B4-BE49-F238E27FC236}">
                  <a16:creationId xmlns:a16="http://schemas.microsoft.com/office/drawing/2014/main" id="{78D3A269-3789-4828-7690-E7C7683AC8AE}"/>
                </a:ext>
              </a:extLst>
            </p:cNvPr>
            <p:cNvSpPr/>
            <p:nvPr/>
          </p:nvSpPr>
          <p:spPr>
            <a:xfrm>
              <a:off x="5122711" y="1473267"/>
              <a:ext cx="5970494" cy="5236522"/>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D1689711-E06B-9358-B743-0D3B8114E87D}"/>
                </a:ext>
              </a:extLst>
            </p:cNvPr>
            <p:cNvSpPr txBox="1"/>
            <p:nvPr/>
          </p:nvSpPr>
          <p:spPr>
            <a:xfrm>
              <a:off x="5673422" y="1474189"/>
              <a:ext cx="4869072" cy="5235600"/>
            </a:xfrm>
            <a:prstGeom prst="rect">
              <a:avLst/>
            </a:prstGeom>
            <a:noFill/>
          </p:spPr>
          <p:txBody>
            <a:bodyPr wrap="square" rtlCol="0">
              <a:spAutoFit/>
            </a:bodyPr>
            <a:lstStyle/>
            <a:p>
              <a:pPr>
                <a:lnSpc>
                  <a:spcPct val="200000"/>
                </a:lnSpc>
              </a:pPr>
              <a:r>
                <a:rPr lang="en-US" b="1" dirty="0"/>
                <a:t>Project: Holy Child Catholic School</a:t>
              </a:r>
            </a:p>
            <a:p>
              <a:pPr>
                <a:lnSpc>
                  <a:spcPct val="200000"/>
                </a:lnSpc>
              </a:pPr>
              <a:r>
                <a:rPr lang="en-US" dirty="0"/>
                <a:t>First Name: _______________________</a:t>
              </a:r>
            </a:p>
            <a:p>
              <a:pPr>
                <a:lnSpc>
                  <a:spcPct val="200000"/>
                </a:lnSpc>
              </a:pPr>
              <a:r>
                <a:rPr lang="en-US" dirty="0"/>
                <a:t>Last Name: _______________________</a:t>
              </a:r>
            </a:p>
            <a:p>
              <a:pPr>
                <a:lnSpc>
                  <a:spcPct val="200000"/>
                </a:lnSpc>
              </a:pPr>
              <a:r>
                <a:rPr lang="en-US" dirty="0"/>
                <a:t>Address: _________________________</a:t>
              </a:r>
            </a:p>
            <a:p>
              <a:pPr>
                <a:lnSpc>
                  <a:spcPct val="200000"/>
                </a:lnSpc>
              </a:pPr>
              <a:r>
                <a:rPr lang="en-US" dirty="0"/>
                <a:t>City: ____________________________</a:t>
              </a:r>
            </a:p>
            <a:p>
              <a:pPr>
                <a:lnSpc>
                  <a:spcPct val="200000"/>
                </a:lnSpc>
              </a:pPr>
              <a:r>
                <a:rPr lang="en-US" dirty="0"/>
                <a:t>State:  [Drop Down ]         Zip: ___________</a:t>
              </a:r>
            </a:p>
            <a:p>
              <a:pPr>
                <a:lnSpc>
                  <a:spcPct val="200000"/>
                </a:lnSpc>
              </a:pPr>
              <a:r>
                <a:rPr lang="en-US" dirty="0">
                  <a:sym typeface="Symbol" panose="05050102010706020507" pitchFamily="18" charset="2"/>
                </a:rPr>
                <a:t> </a:t>
              </a:r>
              <a:r>
                <a:rPr lang="en-US" dirty="0"/>
                <a:t>Keep me anonymous to the above school.</a:t>
              </a:r>
            </a:p>
            <a:p>
              <a:pPr>
                <a:lnSpc>
                  <a:spcPct val="250000"/>
                </a:lnSpc>
              </a:pPr>
              <a:r>
                <a:rPr lang="en-US" dirty="0"/>
                <a:t>Pledge Amount: $  ___________</a:t>
              </a:r>
            </a:p>
            <a:p>
              <a:pPr>
                <a:lnSpc>
                  <a:spcPct val="250000"/>
                </a:lnSpc>
              </a:pPr>
              <a:r>
                <a:rPr lang="en-US" dirty="0"/>
                <a:t>Credit Card Info</a:t>
              </a:r>
            </a:p>
          </p:txBody>
        </p:sp>
      </p:grpSp>
      <p:sp>
        <p:nvSpPr>
          <p:cNvPr id="8" name="Arrow: Right 7">
            <a:extLst>
              <a:ext uri="{FF2B5EF4-FFF2-40B4-BE49-F238E27FC236}">
                <a16:creationId xmlns:a16="http://schemas.microsoft.com/office/drawing/2014/main" id="{C7D6133B-A7F7-8164-EE01-3B9C70FF16B2}"/>
              </a:ext>
            </a:extLst>
          </p:cNvPr>
          <p:cNvSpPr/>
          <p:nvPr/>
        </p:nvSpPr>
        <p:spPr>
          <a:xfrm>
            <a:off x="4255368" y="5334618"/>
            <a:ext cx="932325" cy="487183"/>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120D7DB1-952F-D272-15BB-5D80EF52A543}"/>
              </a:ext>
            </a:extLst>
          </p:cNvPr>
          <p:cNvGrpSpPr/>
          <p:nvPr/>
        </p:nvGrpSpPr>
        <p:grpSpPr>
          <a:xfrm>
            <a:off x="119410" y="4551713"/>
            <a:ext cx="5745143" cy="651578"/>
            <a:chOff x="6060142" y="857186"/>
            <a:chExt cx="5745143" cy="651578"/>
          </a:xfrm>
        </p:grpSpPr>
        <p:sp>
          <p:nvSpPr>
            <p:cNvPr id="9" name="Oval 8">
              <a:extLst>
                <a:ext uri="{FF2B5EF4-FFF2-40B4-BE49-F238E27FC236}">
                  <a16:creationId xmlns:a16="http://schemas.microsoft.com/office/drawing/2014/main" id="{5B970D13-51F5-5518-FCAB-A1A862A80423}"/>
                </a:ext>
              </a:extLst>
            </p:cNvPr>
            <p:cNvSpPr>
              <a:spLocks noChangeAspect="1"/>
            </p:cNvSpPr>
            <p:nvPr/>
          </p:nvSpPr>
          <p:spPr>
            <a:xfrm>
              <a:off x="6060142" y="914404"/>
              <a:ext cx="594360" cy="59436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4852FBC-7D8F-6963-862C-B1A0C14C5662}"/>
                </a:ext>
              </a:extLst>
            </p:cNvPr>
            <p:cNvSpPr/>
            <p:nvPr/>
          </p:nvSpPr>
          <p:spPr>
            <a:xfrm>
              <a:off x="6338048" y="1050772"/>
              <a:ext cx="1882588" cy="32162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5776442-96E3-B285-506B-52C0258CDB8D}"/>
                </a:ext>
              </a:extLst>
            </p:cNvPr>
            <p:cNvSpPr/>
            <p:nvPr/>
          </p:nvSpPr>
          <p:spPr>
            <a:xfrm>
              <a:off x="8086165" y="1050772"/>
              <a:ext cx="1828800" cy="321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4F7EC59-75D1-89BB-EBCC-0A3BB9E3B8AC}"/>
                </a:ext>
              </a:extLst>
            </p:cNvPr>
            <p:cNvSpPr txBox="1"/>
            <p:nvPr/>
          </p:nvSpPr>
          <p:spPr>
            <a:xfrm>
              <a:off x="9914965" y="857186"/>
              <a:ext cx="1890320" cy="64633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$15,250 of $30,000 Raised </a:t>
              </a:r>
            </a:p>
          </p:txBody>
        </p:sp>
      </p:grpSp>
      <p:grpSp>
        <p:nvGrpSpPr>
          <p:cNvPr id="14" name="Group 13">
            <a:extLst>
              <a:ext uri="{FF2B5EF4-FFF2-40B4-BE49-F238E27FC236}">
                <a16:creationId xmlns:a16="http://schemas.microsoft.com/office/drawing/2014/main" id="{5A0B0C98-AC6A-C9FF-5DFA-6DCA16663DEB}"/>
              </a:ext>
            </a:extLst>
          </p:cNvPr>
          <p:cNvGrpSpPr/>
          <p:nvPr/>
        </p:nvGrpSpPr>
        <p:grpSpPr>
          <a:xfrm>
            <a:off x="6113913" y="892955"/>
            <a:ext cx="5745143" cy="651578"/>
            <a:chOff x="6060142" y="857186"/>
            <a:chExt cx="5745143" cy="651578"/>
          </a:xfrm>
        </p:grpSpPr>
        <p:sp>
          <p:nvSpPr>
            <p:cNvPr id="15" name="Oval 14">
              <a:extLst>
                <a:ext uri="{FF2B5EF4-FFF2-40B4-BE49-F238E27FC236}">
                  <a16:creationId xmlns:a16="http://schemas.microsoft.com/office/drawing/2014/main" id="{B99359D4-04A7-FEC2-09DD-B3A04C43F7F2}"/>
                </a:ext>
              </a:extLst>
            </p:cNvPr>
            <p:cNvSpPr>
              <a:spLocks noChangeAspect="1"/>
            </p:cNvSpPr>
            <p:nvPr/>
          </p:nvSpPr>
          <p:spPr>
            <a:xfrm>
              <a:off x="6060142" y="914404"/>
              <a:ext cx="594360" cy="59436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E6F46A8-2569-B3AC-37A8-7B05E60BCC12}"/>
                </a:ext>
              </a:extLst>
            </p:cNvPr>
            <p:cNvSpPr/>
            <p:nvPr/>
          </p:nvSpPr>
          <p:spPr>
            <a:xfrm>
              <a:off x="6338048" y="1050772"/>
              <a:ext cx="1882588" cy="32162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C0BE665-4ED6-899B-8692-175FBC1263C1}"/>
                </a:ext>
              </a:extLst>
            </p:cNvPr>
            <p:cNvSpPr/>
            <p:nvPr/>
          </p:nvSpPr>
          <p:spPr>
            <a:xfrm>
              <a:off x="8086165" y="1050772"/>
              <a:ext cx="1828800" cy="321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13D244CE-EF85-A7CD-8C05-ED38FBA806BF}"/>
                </a:ext>
              </a:extLst>
            </p:cNvPr>
            <p:cNvSpPr txBox="1"/>
            <p:nvPr/>
          </p:nvSpPr>
          <p:spPr>
            <a:xfrm>
              <a:off x="9914965" y="857186"/>
              <a:ext cx="1890320" cy="64633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$15,250 of $30,000 Raised </a:t>
              </a:r>
            </a:p>
          </p:txBody>
        </p:sp>
      </p:grpSp>
    </p:spTree>
    <p:extLst>
      <p:ext uri="{BB962C8B-B14F-4D97-AF65-F5344CB8AC3E}">
        <p14:creationId xmlns:p14="http://schemas.microsoft.com/office/powerpoint/2010/main" val="18605154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D3653-3546-FAB7-9C14-66769ED4CED6}"/>
              </a:ext>
            </a:extLst>
          </p:cNvPr>
          <p:cNvSpPr>
            <a:spLocks noGrp="1"/>
          </p:cNvSpPr>
          <p:nvPr>
            <p:ph type="title"/>
          </p:nvPr>
        </p:nvSpPr>
        <p:spPr/>
        <p:txBody>
          <a:bodyPr/>
          <a:lstStyle/>
          <a:p>
            <a:r>
              <a:rPr lang="en-US" dirty="0"/>
              <a:t>Bank Account Info</a:t>
            </a:r>
          </a:p>
        </p:txBody>
      </p:sp>
      <p:sp>
        <p:nvSpPr>
          <p:cNvPr id="3" name="Content Placeholder 2">
            <a:extLst>
              <a:ext uri="{FF2B5EF4-FFF2-40B4-BE49-F238E27FC236}">
                <a16:creationId xmlns:a16="http://schemas.microsoft.com/office/drawing/2014/main" id="{24DC4E7C-078A-F5AB-AEF1-CE45639FA026}"/>
              </a:ext>
            </a:extLst>
          </p:cNvPr>
          <p:cNvSpPr>
            <a:spLocks noGrp="1"/>
          </p:cNvSpPr>
          <p:nvPr>
            <p:ph idx="1"/>
          </p:nvPr>
        </p:nvSpPr>
        <p:spPr>
          <a:xfrm>
            <a:off x="129981" y="938440"/>
            <a:ext cx="4459948" cy="5687646"/>
          </a:xfrm>
        </p:spPr>
        <p:txBody>
          <a:bodyPr/>
          <a:lstStyle/>
          <a:p>
            <a:r>
              <a:rPr lang="en-US" dirty="0"/>
              <a:t>Routing #: 307083911</a:t>
            </a:r>
          </a:p>
          <a:p>
            <a:r>
              <a:rPr lang="en-US" dirty="0"/>
              <a:t>Auto WD and Direct Deposit #: 9225000161</a:t>
            </a:r>
          </a:p>
          <a:p>
            <a:r>
              <a:rPr lang="en-US" dirty="0"/>
              <a:t>Account #: 10422500-9001</a:t>
            </a:r>
          </a:p>
          <a:p>
            <a:pPr lvl="1"/>
            <a:r>
              <a:rPr lang="en-US" dirty="0"/>
              <a:t>Not used for electronic transactions</a:t>
            </a:r>
          </a:p>
        </p:txBody>
      </p:sp>
      <p:pic>
        <p:nvPicPr>
          <p:cNvPr id="5" name="Picture 4">
            <a:extLst>
              <a:ext uri="{FF2B5EF4-FFF2-40B4-BE49-F238E27FC236}">
                <a16:creationId xmlns:a16="http://schemas.microsoft.com/office/drawing/2014/main" id="{A9F282FA-6E35-9F42-D517-72BFD0F2DCF4}"/>
              </a:ext>
            </a:extLst>
          </p:cNvPr>
          <p:cNvPicPr>
            <a:picLocks noChangeAspect="1"/>
          </p:cNvPicPr>
          <p:nvPr/>
        </p:nvPicPr>
        <p:blipFill>
          <a:blip r:embed="rId2"/>
          <a:stretch>
            <a:fillRect/>
          </a:stretch>
        </p:blipFill>
        <p:spPr>
          <a:xfrm>
            <a:off x="4762187" y="926471"/>
            <a:ext cx="7111760" cy="5896834"/>
          </a:xfrm>
          <a:prstGeom prst="rect">
            <a:avLst/>
          </a:prstGeom>
        </p:spPr>
      </p:pic>
    </p:spTree>
    <p:extLst>
      <p:ext uri="{BB962C8B-B14F-4D97-AF65-F5344CB8AC3E}">
        <p14:creationId xmlns:p14="http://schemas.microsoft.com/office/powerpoint/2010/main" val="33914870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8D171-0184-5E8D-571F-FEE5B5BF1E34}"/>
              </a:ext>
            </a:extLst>
          </p:cNvPr>
          <p:cNvSpPr>
            <a:spLocks noGrp="1"/>
          </p:cNvSpPr>
          <p:nvPr>
            <p:ph type="title"/>
          </p:nvPr>
        </p:nvSpPr>
        <p:spPr/>
        <p:txBody>
          <a:bodyPr>
            <a:normAutofit fontScale="90000"/>
          </a:bodyPr>
          <a:lstStyle/>
          <a:p>
            <a:r>
              <a:rPr lang="en-US" dirty="0"/>
              <a:t>KYC documentation</a:t>
            </a:r>
            <a:br>
              <a:rPr lang="en-US" dirty="0"/>
            </a:br>
            <a:endParaRPr lang="en-US" dirty="0"/>
          </a:p>
        </p:txBody>
      </p:sp>
      <p:sp>
        <p:nvSpPr>
          <p:cNvPr id="3" name="Content Placeholder 2">
            <a:extLst>
              <a:ext uri="{FF2B5EF4-FFF2-40B4-BE49-F238E27FC236}">
                <a16:creationId xmlns:a16="http://schemas.microsoft.com/office/drawing/2014/main" id="{ED93C9E7-88D7-999A-9378-67F6FD52CD48}"/>
              </a:ext>
            </a:extLst>
          </p:cNvPr>
          <p:cNvSpPr>
            <a:spLocks noGrp="1"/>
          </p:cNvSpPr>
          <p:nvPr>
            <p:ph idx="1"/>
          </p:nvPr>
        </p:nvSpPr>
        <p:spPr>
          <a:xfrm>
            <a:off x="480061" y="938440"/>
            <a:ext cx="10386722" cy="675207"/>
          </a:xfrm>
        </p:spPr>
        <p:txBody>
          <a:bodyPr/>
          <a:lstStyle/>
          <a:p>
            <a:r>
              <a:rPr lang="en-US" dirty="0"/>
              <a:t>Passport/Driver’s License for Douglas Coombs</a:t>
            </a:r>
          </a:p>
        </p:txBody>
      </p:sp>
      <p:pic>
        <p:nvPicPr>
          <p:cNvPr id="5" name="Picture 4">
            <a:extLst>
              <a:ext uri="{FF2B5EF4-FFF2-40B4-BE49-F238E27FC236}">
                <a16:creationId xmlns:a16="http://schemas.microsoft.com/office/drawing/2014/main" id="{F05D9601-8909-52F8-8C1D-24FEC6FCC2AF}"/>
              </a:ext>
            </a:extLst>
          </p:cNvPr>
          <p:cNvPicPr>
            <a:picLocks noChangeAspect="1"/>
          </p:cNvPicPr>
          <p:nvPr/>
        </p:nvPicPr>
        <p:blipFill rotWithShape="1">
          <a:blip r:embed="rId2"/>
          <a:srcRect l="6551" r="6053" b="13693"/>
          <a:stretch/>
        </p:blipFill>
        <p:spPr>
          <a:xfrm>
            <a:off x="67047" y="1683381"/>
            <a:ext cx="6042212" cy="3729317"/>
          </a:xfrm>
          <a:prstGeom prst="rect">
            <a:avLst/>
          </a:prstGeom>
        </p:spPr>
      </p:pic>
      <p:pic>
        <p:nvPicPr>
          <p:cNvPr id="7" name="Picture 6">
            <a:extLst>
              <a:ext uri="{FF2B5EF4-FFF2-40B4-BE49-F238E27FC236}">
                <a16:creationId xmlns:a16="http://schemas.microsoft.com/office/drawing/2014/main" id="{0B1F89B5-92BF-C2BF-DB61-449B83D0C0D2}"/>
              </a:ext>
            </a:extLst>
          </p:cNvPr>
          <p:cNvPicPr>
            <a:picLocks noChangeAspect="1"/>
          </p:cNvPicPr>
          <p:nvPr/>
        </p:nvPicPr>
        <p:blipFill rotWithShape="1">
          <a:blip r:embed="rId3"/>
          <a:srcRect l="15460" r="15520" b="27705"/>
          <a:stretch/>
        </p:blipFill>
        <p:spPr>
          <a:xfrm>
            <a:off x="6220216" y="1689847"/>
            <a:ext cx="5923677" cy="3722851"/>
          </a:xfrm>
          <a:prstGeom prst="rect">
            <a:avLst/>
          </a:prstGeom>
        </p:spPr>
      </p:pic>
    </p:spTree>
    <p:extLst>
      <p:ext uri="{BB962C8B-B14F-4D97-AF65-F5344CB8AC3E}">
        <p14:creationId xmlns:p14="http://schemas.microsoft.com/office/powerpoint/2010/main" val="4543755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8DC06-F119-B56D-53CF-3EBB09343B63}"/>
              </a:ext>
            </a:extLst>
          </p:cNvPr>
          <p:cNvSpPr>
            <a:spLocks noGrp="1"/>
          </p:cNvSpPr>
          <p:nvPr>
            <p:ph type="title"/>
          </p:nvPr>
        </p:nvSpPr>
        <p:spPr/>
        <p:txBody>
          <a:bodyPr/>
          <a:lstStyle/>
          <a:p>
            <a:r>
              <a:rPr lang="en-US" dirty="0"/>
              <a:t>Legalese on Website</a:t>
            </a:r>
          </a:p>
        </p:txBody>
      </p:sp>
      <p:sp>
        <p:nvSpPr>
          <p:cNvPr id="3" name="Content Placeholder 2">
            <a:extLst>
              <a:ext uri="{FF2B5EF4-FFF2-40B4-BE49-F238E27FC236}">
                <a16:creationId xmlns:a16="http://schemas.microsoft.com/office/drawing/2014/main" id="{4240A24F-67FF-FCBF-5FC1-23104A0D44FF}"/>
              </a:ext>
            </a:extLst>
          </p:cNvPr>
          <p:cNvSpPr>
            <a:spLocks noGrp="1"/>
          </p:cNvSpPr>
          <p:nvPr>
            <p:ph idx="1"/>
          </p:nvPr>
        </p:nvSpPr>
        <p:spPr>
          <a:xfrm>
            <a:off x="480060" y="938440"/>
            <a:ext cx="11052297" cy="5687646"/>
          </a:xfrm>
        </p:spPr>
        <p:txBody>
          <a:bodyPr/>
          <a:lstStyle/>
          <a:p>
            <a:r>
              <a:rPr lang="en-US" b="0" i="0" dirty="0">
                <a:solidFill>
                  <a:srgbClr val="222222"/>
                </a:solidFill>
                <a:effectLst/>
                <a:latin typeface="Arial" panose="020B0604020202020204" pitchFamily="34" charset="0"/>
              </a:rPr>
              <a:t>Legal entity name: </a:t>
            </a:r>
            <a:r>
              <a:rPr lang="en-US" b="0" i="0" dirty="0">
                <a:solidFill>
                  <a:schemeClr val="accent6">
                    <a:lumMod val="75000"/>
                  </a:schemeClr>
                </a:solidFill>
                <a:effectLst/>
                <a:latin typeface="Arial" panose="020B0604020202020204" pitchFamily="34" charset="0"/>
              </a:rPr>
              <a:t>The Saint Luke Guild</a:t>
            </a:r>
          </a:p>
          <a:p>
            <a:r>
              <a:rPr lang="en-US" b="0" i="0" dirty="0">
                <a:solidFill>
                  <a:srgbClr val="222222"/>
                </a:solidFill>
                <a:effectLst/>
                <a:latin typeface="Arial" panose="020B0604020202020204" pitchFamily="34" charset="0"/>
              </a:rPr>
              <a:t>Governing jurisdiction: </a:t>
            </a:r>
            <a:r>
              <a:rPr lang="en-US" b="0" i="0" dirty="0">
                <a:solidFill>
                  <a:schemeClr val="accent6">
                    <a:lumMod val="75000"/>
                  </a:schemeClr>
                </a:solidFill>
                <a:effectLst/>
                <a:latin typeface="Arial" panose="020B0604020202020204" pitchFamily="34" charset="0"/>
              </a:rPr>
              <a:t>New Mexico</a:t>
            </a:r>
          </a:p>
          <a:p>
            <a:r>
              <a:rPr lang="en-US" b="0" i="0" dirty="0">
                <a:solidFill>
                  <a:srgbClr val="222222"/>
                </a:solidFill>
                <a:effectLst/>
                <a:latin typeface="Arial" panose="020B0604020202020204" pitchFamily="34" charset="0"/>
              </a:rPr>
              <a:t>Merchant registered business address: </a:t>
            </a:r>
            <a:r>
              <a:rPr lang="en-US" b="0" i="0" dirty="0">
                <a:solidFill>
                  <a:schemeClr val="accent6">
                    <a:lumMod val="75000"/>
                  </a:schemeClr>
                </a:solidFill>
                <a:effectLst/>
                <a:latin typeface="Arial" panose="020B0604020202020204" pitchFamily="34" charset="0"/>
              </a:rPr>
              <a:t>2718 University Blvd NE, Albuquerque, NM 87107</a:t>
            </a:r>
          </a:p>
          <a:p>
            <a:r>
              <a:rPr lang="en-US" b="0" i="0" dirty="0">
                <a:solidFill>
                  <a:srgbClr val="222222"/>
                </a:solidFill>
                <a:effectLst/>
                <a:latin typeface="Arial" panose="020B0604020202020204" pitchFamily="34" charset="0"/>
              </a:rPr>
              <a:t>Privacy Policy</a:t>
            </a:r>
          </a:p>
          <a:p>
            <a:pPr lvl="1"/>
            <a:r>
              <a:rPr lang="en-US" dirty="0">
                <a:solidFill>
                  <a:schemeClr val="accent6">
                    <a:lumMod val="75000"/>
                  </a:schemeClr>
                </a:solidFill>
                <a:latin typeface="Arial" panose="020B0604020202020204" pitchFamily="34" charset="0"/>
              </a:rPr>
              <a:t>See next slide</a:t>
            </a:r>
            <a:endParaRPr lang="en-US" b="0" i="0" dirty="0">
              <a:solidFill>
                <a:schemeClr val="accent6">
                  <a:lumMod val="75000"/>
                </a:schemeClr>
              </a:solidFill>
              <a:effectLst/>
              <a:latin typeface="Arial" panose="020B0604020202020204" pitchFamily="34" charset="0"/>
            </a:endParaRPr>
          </a:p>
          <a:p>
            <a:r>
              <a:rPr lang="en-US" b="0" i="0" dirty="0">
                <a:solidFill>
                  <a:srgbClr val="222222"/>
                </a:solidFill>
                <a:effectLst/>
                <a:latin typeface="Arial" panose="020B0604020202020204" pitchFamily="34" charset="0"/>
              </a:rPr>
              <a:t>Refund/Cancellation/Return Policy</a:t>
            </a:r>
          </a:p>
          <a:p>
            <a:pPr lvl="1"/>
            <a:r>
              <a:rPr lang="en-US" dirty="0">
                <a:solidFill>
                  <a:schemeClr val="accent6">
                    <a:lumMod val="75000"/>
                  </a:schemeClr>
                </a:solidFill>
                <a:latin typeface="Arial" panose="020B0604020202020204" pitchFamily="34" charset="0"/>
              </a:rPr>
              <a:t>See next slide</a:t>
            </a:r>
            <a:endParaRPr lang="en-US" b="0" i="0" dirty="0">
              <a:solidFill>
                <a:schemeClr val="accent6">
                  <a:lumMod val="75000"/>
                </a:schemeClr>
              </a:solidFill>
              <a:effectLst/>
              <a:latin typeface="Arial" panose="020B0604020202020204" pitchFamily="34" charset="0"/>
            </a:endParaRPr>
          </a:p>
          <a:p>
            <a:r>
              <a:rPr lang="en-US" dirty="0">
                <a:solidFill>
                  <a:srgbClr val="222222"/>
                </a:solidFill>
                <a:latin typeface="Arial" panose="020B0604020202020204" pitchFamily="34" charset="0"/>
              </a:rPr>
              <a:t>See </a:t>
            </a:r>
            <a:r>
              <a:rPr lang="en-US" dirty="0">
                <a:solidFill>
                  <a:srgbClr val="222222"/>
                </a:solidFill>
                <a:latin typeface="Arial" panose="020B0604020202020204" pitchFamily="34" charset="0"/>
                <a:hlinkClick r:id="rId2"/>
              </a:rPr>
              <a:t>www.SaintLukeGuild.com/About-Us</a:t>
            </a:r>
            <a:endParaRPr lang="en-US" dirty="0">
              <a:solidFill>
                <a:srgbClr val="222222"/>
              </a:solidFill>
              <a:latin typeface="Arial" panose="020B0604020202020204" pitchFamily="34" charset="0"/>
            </a:endParaRPr>
          </a:p>
          <a:p>
            <a:pPr lvl="1"/>
            <a:r>
              <a:rPr lang="en-US" dirty="0">
                <a:solidFill>
                  <a:srgbClr val="222222"/>
                </a:solidFill>
                <a:latin typeface="Arial" panose="020B0604020202020204" pitchFamily="34" charset="0"/>
              </a:rPr>
              <a:t>To be moved to </a:t>
            </a:r>
            <a:r>
              <a:rPr lang="en-US" dirty="0">
                <a:solidFill>
                  <a:srgbClr val="222222"/>
                </a:solidFill>
                <a:latin typeface="Arial" panose="020B0604020202020204" pitchFamily="34" charset="0"/>
                <a:hlinkClick r:id="rId3"/>
              </a:rPr>
              <a:t>www.SaintLukeGuild.com/Legalese</a:t>
            </a:r>
            <a:r>
              <a:rPr lang="en-US" dirty="0">
                <a:solidFill>
                  <a:srgbClr val="222222"/>
                </a:solidFill>
                <a:latin typeface="Arial" panose="020B0604020202020204" pitchFamily="34" charset="0"/>
              </a:rPr>
              <a:t> at a future date</a:t>
            </a:r>
            <a:endParaRPr lang="en-US" dirty="0"/>
          </a:p>
        </p:txBody>
      </p:sp>
    </p:spTree>
    <p:extLst>
      <p:ext uri="{BB962C8B-B14F-4D97-AF65-F5344CB8AC3E}">
        <p14:creationId xmlns:p14="http://schemas.microsoft.com/office/powerpoint/2010/main" val="5602789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8949E-2BC2-6665-3D70-467E8097AC8C}"/>
              </a:ext>
            </a:extLst>
          </p:cNvPr>
          <p:cNvSpPr>
            <a:spLocks noGrp="1"/>
          </p:cNvSpPr>
          <p:nvPr>
            <p:ph type="title"/>
          </p:nvPr>
        </p:nvSpPr>
        <p:spPr/>
        <p:txBody>
          <a:bodyPr/>
          <a:lstStyle/>
          <a:p>
            <a:r>
              <a:rPr lang="en-US" dirty="0"/>
              <a:t>Privacy and Refund Policy</a:t>
            </a:r>
          </a:p>
        </p:txBody>
      </p:sp>
      <p:sp>
        <p:nvSpPr>
          <p:cNvPr id="3" name="Content Placeholder 2">
            <a:extLst>
              <a:ext uri="{FF2B5EF4-FFF2-40B4-BE49-F238E27FC236}">
                <a16:creationId xmlns:a16="http://schemas.microsoft.com/office/drawing/2014/main" id="{0C92DD65-7319-E995-35C1-E6EAE526FC8A}"/>
              </a:ext>
            </a:extLst>
          </p:cNvPr>
          <p:cNvSpPr>
            <a:spLocks noGrp="1"/>
          </p:cNvSpPr>
          <p:nvPr>
            <p:ph idx="1"/>
          </p:nvPr>
        </p:nvSpPr>
        <p:spPr>
          <a:xfrm>
            <a:off x="318052" y="938439"/>
            <a:ext cx="11425713" cy="5193419"/>
          </a:xfrm>
        </p:spPr>
        <p:txBody>
          <a:bodyPr>
            <a:normAutofit fontScale="92500" lnSpcReduction="20000"/>
          </a:bodyPr>
          <a:lstStyle/>
          <a:p>
            <a:pPr marL="0" indent="0">
              <a:buNone/>
            </a:pPr>
            <a:r>
              <a:rPr lang="en-US" dirty="0">
                <a:hlinkClick r:id="rId2"/>
              </a:rPr>
              <a:t>https://www.saintlukeguild.com/about-us</a:t>
            </a:r>
            <a:endParaRPr lang="en-US" dirty="0"/>
          </a:p>
          <a:p>
            <a:pPr marL="0" indent="0">
              <a:buNone/>
            </a:pPr>
            <a:r>
              <a:rPr lang="en-US" dirty="0"/>
              <a:t>Refund Policy</a:t>
            </a:r>
          </a:p>
          <a:p>
            <a:r>
              <a:rPr lang="en-US" dirty="0"/>
              <a:t>The Saint Luke Guild does not deliver products to individuals; therefore cancellations and returns are not applicable.  Also, donor refunds are not generally offered.  Refunds will be considered on a case-by-case basis before money is distributed to the designated project (e.g., if someone accidentally entered the wrong donation amount and contact is made within one business day).  To request a refund, contact us at </a:t>
            </a:r>
            <a:r>
              <a:rPr lang="en-US" dirty="0">
                <a:hlinkClick r:id="rId3"/>
              </a:rPr>
              <a:t>refunds@saintlukeguild.com</a:t>
            </a:r>
            <a:r>
              <a:rPr lang="en-US" dirty="0"/>
              <a:t>.</a:t>
            </a:r>
          </a:p>
          <a:p>
            <a:pPr marL="0" indent="0">
              <a:buNone/>
            </a:pPr>
            <a:r>
              <a:rPr lang="en-US" dirty="0"/>
              <a:t>Privacy Policy</a:t>
            </a:r>
          </a:p>
          <a:p>
            <a:r>
              <a:rPr lang="en-US" dirty="0"/>
              <a:t>The Saint Luke Guild takes donor information and privacy very seriously.  We will never sell donor information to a third party for any reason.</a:t>
            </a:r>
          </a:p>
          <a:p>
            <a:r>
              <a:rPr lang="en-US" dirty="0"/>
              <a:t>Donor information will only be shared with outside businesses as necessary to deliver services (e.g., processing credit card donations, etc.).</a:t>
            </a:r>
          </a:p>
          <a:p>
            <a:pPr lvl="1"/>
            <a:r>
              <a:rPr lang="en-US" dirty="0"/>
              <a:t>The exception is when donors choose a specific school project to donate to.  When this occurs, donor information will typically be shared with the specified school, so that they can know to whom they should be grateful.  Donors may opt out of information sharing on the donor form.</a:t>
            </a:r>
          </a:p>
          <a:p>
            <a:endParaRPr lang="en-US" dirty="0"/>
          </a:p>
        </p:txBody>
      </p:sp>
    </p:spTree>
    <p:extLst>
      <p:ext uri="{BB962C8B-B14F-4D97-AF65-F5344CB8AC3E}">
        <p14:creationId xmlns:p14="http://schemas.microsoft.com/office/powerpoint/2010/main" val="479863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6FB13-6151-7FD8-DF35-DA0389DBF6B9}"/>
              </a:ext>
            </a:extLst>
          </p:cNvPr>
          <p:cNvSpPr>
            <a:spLocks noGrp="1"/>
          </p:cNvSpPr>
          <p:nvPr>
            <p:ph type="title"/>
          </p:nvPr>
        </p:nvSpPr>
        <p:spPr/>
        <p:txBody>
          <a:bodyPr>
            <a:normAutofit/>
          </a:bodyPr>
          <a:lstStyle/>
          <a:p>
            <a:r>
              <a:rPr lang="en-US" dirty="0"/>
              <a:t>Regulatory Documents</a:t>
            </a:r>
          </a:p>
        </p:txBody>
      </p:sp>
      <p:sp>
        <p:nvSpPr>
          <p:cNvPr id="3" name="Content Placeholder 2">
            <a:extLst>
              <a:ext uri="{FF2B5EF4-FFF2-40B4-BE49-F238E27FC236}">
                <a16:creationId xmlns:a16="http://schemas.microsoft.com/office/drawing/2014/main" id="{74731D11-0F12-9850-31FA-604600E6064C}"/>
              </a:ext>
            </a:extLst>
          </p:cNvPr>
          <p:cNvSpPr>
            <a:spLocks noGrp="1"/>
          </p:cNvSpPr>
          <p:nvPr>
            <p:ph idx="1"/>
          </p:nvPr>
        </p:nvSpPr>
        <p:spPr/>
        <p:txBody>
          <a:bodyPr/>
          <a:lstStyle/>
          <a:p>
            <a:r>
              <a:rPr lang="en-US" dirty="0"/>
              <a:t>License required to operate the business</a:t>
            </a:r>
          </a:p>
          <a:p>
            <a:pPr lvl="1"/>
            <a:r>
              <a:rPr lang="en-US" dirty="0">
                <a:solidFill>
                  <a:schemeClr val="accent6">
                    <a:lumMod val="75000"/>
                  </a:schemeClr>
                </a:solidFill>
              </a:rPr>
              <a:t>NM_SoS_InitialReport_2016917025-502856.pdf</a:t>
            </a:r>
          </a:p>
          <a:p>
            <a:pPr lvl="1"/>
            <a:r>
              <a:rPr lang="en-US" dirty="0">
                <a:solidFill>
                  <a:schemeClr val="accent6">
                    <a:lumMod val="75000"/>
                  </a:schemeClr>
                </a:solidFill>
              </a:rPr>
              <a:t>NM_ArticlesOfIncorporation_AoI_Approved.pdf</a:t>
            </a:r>
          </a:p>
          <a:p>
            <a:r>
              <a:rPr lang="en-US" dirty="0"/>
              <a:t>Licenses for all jurisdictions in which you intend to provide your services.</a:t>
            </a:r>
          </a:p>
          <a:p>
            <a:pPr lvl="1"/>
            <a:r>
              <a:rPr lang="en-US" dirty="0">
                <a:solidFill>
                  <a:schemeClr val="accent6">
                    <a:lumMod val="75000"/>
                  </a:schemeClr>
                </a:solidFill>
              </a:rPr>
              <a:t>Starting in NM.  Other locations unknown, so far.  </a:t>
            </a:r>
          </a:p>
          <a:p>
            <a:r>
              <a:rPr lang="en-US" dirty="0"/>
              <a:t>Copy of AML/KYC policy and procedures</a:t>
            </a:r>
          </a:p>
          <a:p>
            <a:pPr lvl="1"/>
            <a:r>
              <a:rPr lang="en-US" dirty="0">
                <a:solidFill>
                  <a:schemeClr val="accent6">
                    <a:lumMod val="75000"/>
                  </a:schemeClr>
                </a:solidFill>
              </a:rPr>
              <a:t>Not sure what this would look like.  Are there examples?</a:t>
            </a:r>
          </a:p>
          <a:p>
            <a:r>
              <a:rPr lang="en-US" dirty="0"/>
              <a:t>Completed AML Questionnaire</a:t>
            </a:r>
          </a:p>
          <a:p>
            <a:pPr lvl="1"/>
            <a:r>
              <a:rPr lang="en-US" dirty="0">
                <a:solidFill>
                  <a:schemeClr val="accent6">
                    <a:lumMod val="75000"/>
                  </a:schemeClr>
                </a:solidFill>
              </a:rPr>
              <a:t>Has this been done?</a:t>
            </a:r>
          </a:p>
        </p:txBody>
      </p:sp>
    </p:spTree>
    <p:extLst>
      <p:ext uri="{BB962C8B-B14F-4D97-AF65-F5344CB8AC3E}">
        <p14:creationId xmlns:p14="http://schemas.microsoft.com/office/powerpoint/2010/main" val="5867711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7732D-D2F1-D855-2DC0-B7044FCB95C4}"/>
              </a:ext>
            </a:extLst>
          </p:cNvPr>
          <p:cNvSpPr>
            <a:spLocks noGrp="1"/>
          </p:cNvSpPr>
          <p:nvPr>
            <p:ph type="title"/>
          </p:nvPr>
        </p:nvSpPr>
        <p:spPr/>
        <p:txBody>
          <a:bodyPr>
            <a:normAutofit/>
          </a:bodyPr>
          <a:lstStyle/>
          <a:p>
            <a:r>
              <a:rPr lang="en-US" dirty="0"/>
              <a:t>Corporate Documents</a:t>
            </a:r>
          </a:p>
        </p:txBody>
      </p:sp>
      <p:sp>
        <p:nvSpPr>
          <p:cNvPr id="3" name="Content Placeholder 2">
            <a:extLst>
              <a:ext uri="{FF2B5EF4-FFF2-40B4-BE49-F238E27FC236}">
                <a16:creationId xmlns:a16="http://schemas.microsoft.com/office/drawing/2014/main" id="{52DD2EB4-4514-5E61-AFC5-4C837DA2724F}"/>
              </a:ext>
            </a:extLst>
          </p:cNvPr>
          <p:cNvSpPr>
            <a:spLocks noGrp="1"/>
          </p:cNvSpPr>
          <p:nvPr>
            <p:ph idx="1"/>
          </p:nvPr>
        </p:nvSpPr>
        <p:spPr/>
        <p:txBody>
          <a:bodyPr/>
          <a:lstStyle/>
          <a:p>
            <a:r>
              <a:rPr lang="en-US" dirty="0"/>
              <a:t>Please provide 501c3 document to confirm tax exempt status</a:t>
            </a:r>
          </a:p>
          <a:p>
            <a:r>
              <a:rPr lang="en-US" dirty="0">
                <a:solidFill>
                  <a:schemeClr val="accent6">
                    <a:lumMod val="75000"/>
                  </a:schemeClr>
                </a:solidFill>
              </a:rPr>
              <a:t>The following are attached</a:t>
            </a:r>
          </a:p>
          <a:p>
            <a:pPr lvl="1"/>
            <a:r>
              <a:rPr lang="en-US" dirty="0">
                <a:solidFill>
                  <a:schemeClr val="accent6">
                    <a:lumMod val="75000"/>
                  </a:schemeClr>
                </a:solidFill>
              </a:rPr>
              <a:t>IRS_f1023ez_SaintLukeGuild_20210711_AsSubmitted.pdf</a:t>
            </a:r>
          </a:p>
          <a:p>
            <a:pPr lvl="1"/>
            <a:r>
              <a:rPr lang="en-US" dirty="0">
                <a:solidFill>
                  <a:schemeClr val="accent6">
                    <a:lumMod val="75000"/>
                  </a:schemeClr>
                </a:solidFill>
              </a:rPr>
              <a:t>IRS_fSS4_EIN_Letter_CP575Notice_1622224687610.pdf</a:t>
            </a:r>
          </a:p>
        </p:txBody>
      </p:sp>
    </p:spTree>
    <p:extLst>
      <p:ext uri="{BB962C8B-B14F-4D97-AF65-F5344CB8AC3E}">
        <p14:creationId xmlns:p14="http://schemas.microsoft.com/office/powerpoint/2010/main" val="1134973006"/>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9640</TotalTime>
  <Words>940</Words>
  <Application>Microsoft Office PowerPoint</Application>
  <PresentationFormat>Widescreen</PresentationFormat>
  <Paragraphs>93</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Georgia</vt:lpstr>
      <vt:lpstr>Times New Roman</vt:lpstr>
      <vt:lpstr>Gallery</vt:lpstr>
      <vt:lpstr>The Saint Luke Guild Checkout.com  Requested Info</vt:lpstr>
      <vt:lpstr>Transaction Information Data Request </vt:lpstr>
      <vt:lpstr>Transaction Flow Chart for Website Donor Funds</vt:lpstr>
      <vt:lpstr>Website Donor Forms Entry Point for Project Funding</vt:lpstr>
      <vt:lpstr>Website Donor Forms Ideal Point</vt:lpstr>
      <vt:lpstr>Bank Account Info</vt:lpstr>
      <vt:lpstr>KYC documentation </vt:lpstr>
      <vt:lpstr>Legalese on Website</vt:lpstr>
      <vt:lpstr>Privacy and Refund Policy</vt:lpstr>
      <vt:lpstr>Regulatory Documents</vt:lpstr>
      <vt:lpstr>Corporate Documents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Masterpieces</dc:title>
  <dc:creator>Janice Martinez</dc:creator>
  <cp:lastModifiedBy>Douglas Coombs</cp:lastModifiedBy>
  <cp:revision>400</cp:revision>
  <cp:lastPrinted>2020-08-28T15:42:36Z</cp:lastPrinted>
  <dcterms:created xsi:type="dcterms:W3CDTF">2020-02-04T20:10:58Z</dcterms:created>
  <dcterms:modified xsi:type="dcterms:W3CDTF">2022-07-01T13:48:04Z</dcterms:modified>
</cp:coreProperties>
</file>