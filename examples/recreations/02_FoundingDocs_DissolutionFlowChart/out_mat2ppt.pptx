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75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4D380-C0C6-47DA-A8C8-C14F1039C5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657881-F695-42B2-A2E4-91B8BB47B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D93DC-3E4B-42A1-A402-20F08B8DD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CAEFD-F031-424F-9422-B2C0B702207F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E85B5-4365-4C0D-8D18-DA3BB0821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010F2-4DD5-4117-9F22-93D35E968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1AC35-B36C-4D75-A6AF-F09D66D83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876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7E91C-7678-4902-BE65-52362EDAB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915C4-72C5-4178-B4EC-002B12B93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CCB1E-0B53-4E68-8EF2-9D93A4623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CAEFD-F031-424F-9422-B2C0B702207F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85A92-10BB-4E7D-BDF5-1B26D604A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AAAED-19CE-47AE-B6FA-64BA969DF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1AC35-B36C-4D75-A6AF-F09D66D83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141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D599B-E06E-4FA7-8A06-6D331C3C3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8A7D03-27EA-467D-95EC-8200B92EC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888CC-310C-434F-93F1-032F8C05B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CAEFD-F031-424F-9422-B2C0B702207F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B413E-C5ED-462B-A3A4-5DC0878A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F6656-909B-4361-9AB5-17290FEE3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1AC35-B36C-4D75-A6AF-F09D66D83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087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CFB45-2E73-47C5-A664-C917F6815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F9F7D-E91E-4B7B-9159-DD73367FB6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128E4-1383-4033-BBE1-244CFB092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5B4F6-70EE-4B61-8E27-9EF2D98A8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CAEFD-F031-424F-9422-B2C0B702207F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12F6E8-F91C-4938-AC1E-3506620F7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843E7-5CF3-453A-9E89-771B4C11C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1AC35-B36C-4D75-A6AF-F09D66D83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987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78780-9D01-44C5-85A4-FA658FFAB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C2C1B3-9375-4D50-9CB4-117CF91C1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F1DF8-572F-4BAB-B870-3D6BA05E35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EBFB6-A27D-4A1D-9B0A-21C4A515A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81E3F6-565F-4C93-B42C-CAE6AE802E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ED9BEE-D3BA-49C3-8C5A-1409539F1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CAEFD-F031-424F-9422-B2C0B702207F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AB25B3-9984-4FC4-BEF5-87FFBF08F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14082F-EAB5-40C2-89F1-30876C41D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1AC35-B36C-4D75-A6AF-F09D66D83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32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7B187-713A-4ADB-910E-1CCD12BF0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A018E4-6004-4396-8CE2-27883484E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CAEFD-F031-424F-9422-B2C0B702207F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D719A6-9F98-4C23-9E27-7EEE2DC40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0D58A9-4DFB-4AB3-B18F-B4043DE69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1AC35-B36C-4D75-A6AF-F09D66D83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334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0788B1-8F53-4EE6-9FF1-4888CAEF4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CAEFD-F031-424F-9422-B2C0B702207F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7249D6-7861-40CD-B6EB-16417797E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0D212-83FE-4FCB-B6C8-FE40E8CB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1AC35-B36C-4D75-A6AF-F09D66D83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847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44512-140E-4173-AAF9-3D8223E29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D3F37-54C3-41D9-AEB3-7CF9F0A90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6E7BA-3178-4DBE-A826-0950A444A2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C21CF-BA78-4DA3-BCC3-FC00A0518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CAEFD-F031-424F-9422-B2C0B702207F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AB6C47-009A-41E4-959E-F08F2AE42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EA73BB-8166-47ED-AEEA-4B1E543A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1AC35-B36C-4D75-A6AF-F09D66D83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735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17B15-0B81-45BF-9CD5-B730D4471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FAA211-938F-4EBA-BF38-D0448959EC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26B5E5-AD61-4F4B-AAA2-17DB0A3251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30ACE-1A71-4AE1-9D4B-024D35768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CAEFD-F031-424F-9422-B2C0B702207F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E61A4D-53EE-4FA0-AC23-67F602DE9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93DA0-D4DE-417E-BE03-1ABEC7BE2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1AC35-B36C-4D75-A6AF-F09D66D83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789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3989A-2EBD-4C0B-98BA-5ACB7973D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0F2F7-9354-4119-9718-26D7C366BD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87FD1-4C51-4EAF-A4A0-7D94CA70E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CAEFD-F031-424F-9422-B2C0B702207F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E0840-7836-4370-B0D7-CA4EF2559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B51F8-D701-4C17-97DF-5F7BC95D5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1AC35-B36C-4D75-A6AF-F09D66D83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121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F06C3C-2578-4C17-8DA4-6F1FB188F7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1D8E9E-5C64-4015-B829-65306E2F23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95A03-7513-4143-BA31-AC0625997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CAEFD-F031-424F-9422-B2C0B702207F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4BC4C-4250-4683-85B7-2760734B4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64DD6-92DB-4028-B5DF-BF90B67D7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1AC35-B36C-4D75-A6AF-F09D66D83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5341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D823D7-6362-4E8D-8D8F-7942CF7C2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9752A-8D20-4E46-B14A-5CFC52F72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8CF49-0B82-4EE5-80F6-C8C07051D5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5CAEFD-F031-424F-9422-B2C0B702207F}" type="datetimeFigureOut">
              <a:rPr lang="en-US" smtClean="0"/>
              <a:t>6/25/2021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99601-0382-4F90-98B8-74133653E7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6ED40-23F0-4CFF-9CE5-BDE8D36D6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1AC35-B36C-4D75-A6AF-F09D66D83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882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lowChartDecision 1"/>
          <p:cNvSpPr/>
          <p:nvPr/>
        </p:nvSpPr>
        <p:spPr>
          <a:xfrm>
            <a:off x="5728716" y="132588"/>
            <a:ext cx="1855317" cy="987552"/>
          </a:xfrm>
          <a:prstGeom prst="flowChartDecision">
            <a:avLst/>
          </a:prstGeom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/>
              <a:t>Are the Assets Artistic?</a:t>
            </a:r>
          </a:p>
        </p:txBody>
      </p:sp>
      <p:sp>
        <p:nvSpPr>
          <p:cNvPr id="3" name="flowChartDecision 2"/>
          <p:cNvSpPr/>
          <p:nvPr/>
        </p:nvSpPr>
        <p:spPr>
          <a:xfrm>
            <a:off x="3700576" y="911656"/>
            <a:ext cx="2395728" cy="1014984"/>
          </a:xfrm>
          <a:prstGeom prst="flowChartDecision">
            <a:avLst/>
          </a:prstGeom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/>
              <a:t>Assets Reside at a School or Nonprofit?</a:t>
            </a:r>
          </a:p>
        </p:txBody>
      </p:sp>
      <p:sp>
        <p:nvSpPr>
          <p:cNvPr id="4" name="flowChartDecision 3"/>
          <p:cNvSpPr/>
          <p:nvPr/>
        </p:nvSpPr>
        <p:spPr>
          <a:xfrm>
            <a:off x="1455724" y="1796796"/>
            <a:ext cx="2606040" cy="1133856"/>
          </a:xfrm>
          <a:prstGeom prst="flowChartDecision">
            <a:avLst/>
          </a:prstGeom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/>
              <a:t>School or Nonprofit will Accept Gift of  Artistic Assets?</a:t>
            </a:r>
          </a:p>
        </p:txBody>
      </p:sp>
      <p:sp>
        <p:nvSpPr>
          <p:cNvPr id="5" name="flowChartDecision 4"/>
          <p:cNvSpPr/>
          <p:nvPr/>
        </p:nvSpPr>
        <p:spPr>
          <a:xfrm>
            <a:off x="7235647" y="1063447"/>
            <a:ext cx="2395728" cy="1014984"/>
          </a:xfrm>
          <a:prstGeom prst="flowChartDecision">
            <a:avLst/>
          </a:prstGeom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/>
              <a:t>Are Assets Monetary?</a:t>
            </a:r>
          </a:p>
        </p:txBody>
      </p:sp>
      <p:sp>
        <p:nvSpPr>
          <p:cNvPr id="6" name="flowChartDecision 5"/>
          <p:cNvSpPr/>
          <p:nvPr/>
        </p:nvSpPr>
        <p:spPr>
          <a:xfrm>
            <a:off x="9037015" y="1876348"/>
            <a:ext cx="2395728" cy="1133856"/>
          </a:xfrm>
          <a:prstGeom prst="flowChartDecision">
            <a:avLst/>
          </a:prstGeom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/>
              <a:t>Was money donated for a specific program?</a:t>
            </a:r>
          </a:p>
        </p:txBody>
      </p:sp>
      <p:sp>
        <p:nvSpPr>
          <p:cNvPr id="7" name="flowChartDecision 6"/>
          <p:cNvSpPr/>
          <p:nvPr/>
        </p:nvSpPr>
        <p:spPr>
          <a:xfrm>
            <a:off x="2880360" y="2661818"/>
            <a:ext cx="3215944" cy="1471269"/>
          </a:xfrm>
          <a:prstGeom prst="flowChartDecision">
            <a:avLst/>
          </a:prstGeom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/>
              <a:t>School or non-profit specifies alternate non-profit to receive artistic assets?</a:t>
            </a:r>
          </a:p>
        </p:txBody>
      </p:sp>
      <p:sp>
        <p:nvSpPr>
          <p:cNvPr id="8" name="flowChartProcess 7"/>
          <p:cNvSpPr/>
          <p:nvPr/>
        </p:nvSpPr>
        <p:spPr>
          <a:xfrm>
            <a:off x="150876" y="5690311"/>
            <a:ext cx="1508760" cy="972007"/>
          </a:xfrm>
          <a:prstGeom prst="flowChartProcess">
            <a:avLst/>
          </a:prstGeom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/>
              <a:t>A) Artistic Assets gifted to school or non-profit where they reside</a:t>
            </a:r>
          </a:p>
        </p:txBody>
      </p:sp>
      <p:sp>
        <p:nvSpPr>
          <p:cNvPr id="9" name="flowChartProcess 8"/>
          <p:cNvSpPr/>
          <p:nvPr/>
        </p:nvSpPr>
        <p:spPr>
          <a:xfrm>
            <a:off x="1796796" y="5340096"/>
            <a:ext cx="1508760" cy="1323136"/>
          </a:xfrm>
          <a:prstGeom prst="flowChartProcess">
            <a:avLst/>
          </a:prstGeom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/>
              <a:t>B) Artistic Assets gifted to non-profit specified by school or non-profit where the asset resides.</a:t>
            </a:r>
          </a:p>
        </p:txBody>
      </p:sp>
      <p:sp>
        <p:nvSpPr>
          <p:cNvPr id="10" name="flowChartProcess 9"/>
          <p:cNvSpPr/>
          <p:nvPr/>
        </p:nvSpPr>
        <p:spPr>
          <a:xfrm>
            <a:off x="3443630" y="4507992"/>
            <a:ext cx="2371039" cy="2154326"/>
          </a:xfrm>
          <a:prstGeom prst="flowChartProcess">
            <a:avLst/>
          </a:prstGeom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/>
              <a:t>C) Artistic assets distributed equally among other affiliate schools where assets reside (or their specified non-profits).  Receiving schools must pay for associated packaging and transportation costs beyond what the St. Luke Guild monetary assets will cover.</a:t>
            </a:r>
          </a:p>
        </p:txBody>
      </p:sp>
      <p:sp>
        <p:nvSpPr>
          <p:cNvPr id="11" name="flowChartProcess 10"/>
          <p:cNvSpPr/>
          <p:nvPr/>
        </p:nvSpPr>
        <p:spPr>
          <a:xfrm>
            <a:off x="5952744" y="5675680"/>
            <a:ext cx="1639519" cy="987552"/>
          </a:xfrm>
          <a:prstGeom prst="flowChartProcess">
            <a:avLst/>
          </a:prstGeom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/>
              <a:t>E) Non-monetary assets sold and proceeds enter general fund</a:t>
            </a:r>
          </a:p>
        </p:txBody>
      </p:sp>
      <p:sp>
        <p:nvSpPr>
          <p:cNvPr id="12" name="flowChartProcess 11"/>
          <p:cNvSpPr/>
          <p:nvPr/>
        </p:nvSpPr>
        <p:spPr>
          <a:xfrm>
            <a:off x="7729423" y="5675680"/>
            <a:ext cx="1975104" cy="987552"/>
          </a:xfrm>
          <a:prstGeom prst="flowChartProcess">
            <a:avLst/>
          </a:prstGeom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/>
              <a:t>D) Monetary gifts tied to specific programs returned to original donors</a:t>
            </a:r>
          </a:p>
        </p:txBody>
      </p:sp>
      <p:sp>
        <p:nvSpPr>
          <p:cNvPr id="13" name="flowChartProcess 12"/>
          <p:cNvSpPr/>
          <p:nvPr/>
        </p:nvSpPr>
        <p:spPr>
          <a:xfrm>
            <a:off x="9841687" y="5340096"/>
            <a:ext cx="2255824" cy="1323136"/>
          </a:xfrm>
          <a:prstGeom prst="flowChartProcess">
            <a:avLst/>
          </a:prstGeom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/>
              <a:t>F) Remaining monetary assets not used for distributing artistic assets distributed equally among schools where artistic assets reside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31375" y="1570939"/>
            <a:ext cx="603504" cy="30540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772046" y="1570939"/>
            <a:ext cx="463601" cy="410474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8716975" y="2443276"/>
            <a:ext cx="320040" cy="323240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0969142" y="2443276"/>
            <a:ext cx="463601" cy="2896820"/>
          </a:xfrm>
          <a:prstGeom prst="bentConnector4">
            <a:avLst>
              <a:gd name="adj1" fmla="val -49334"/>
              <a:gd name="adj2" fmla="val 5978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583119" y="626364"/>
            <a:ext cx="850392" cy="43708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898440" y="626364"/>
            <a:ext cx="830276" cy="28529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905256" y="2363724"/>
            <a:ext cx="550468" cy="332658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551176" y="3397910"/>
            <a:ext cx="329184" cy="194218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4628692" y="3397910"/>
            <a:ext cx="1467612" cy="1110082"/>
          </a:xfrm>
          <a:prstGeom prst="bentConnector4">
            <a:avLst>
              <a:gd name="adj1" fmla="val -15582"/>
              <a:gd name="adj2" fmla="val 8313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061764" y="2363724"/>
            <a:ext cx="426111" cy="29809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758744" y="1419148"/>
            <a:ext cx="941832" cy="37764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096304" y="1419148"/>
            <a:ext cx="240488" cy="249539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47488" y="347472"/>
            <a:ext cx="530352" cy="277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/>
              <a:t>Yes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58084" y="1122883"/>
            <a:ext cx="530352" cy="277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/>
              <a:t>Yes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" y="2099462"/>
            <a:ext cx="530352" cy="277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/>
              <a:t>Yes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12187" y="3116275"/>
            <a:ext cx="530352" cy="277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/>
              <a:t>Yes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59928" y="320954"/>
            <a:ext cx="530352" cy="277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/>
              <a:t>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72046" y="1278331"/>
            <a:ext cx="530352" cy="277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/>
              <a:t>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66460" y="1164945"/>
            <a:ext cx="530352" cy="277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/>
              <a:t>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80383" y="2155240"/>
            <a:ext cx="530352" cy="277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/>
              <a:t>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66460" y="3093415"/>
            <a:ext cx="530352" cy="277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/>
              <a:t>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92840" y="2165299"/>
            <a:ext cx="530352" cy="277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/>
              <a:t>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167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Douglas Coombs</dc:creator>
  <cp:lastModifiedBy>Douglas Coombs</cp:lastModifiedBy>
  <cp:revision>7</cp:revision>
  <dcterms:created xsi:type="dcterms:W3CDTF">2021-06-25T06:06:14Z</dcterms:created>
  <dcterms:modified xsi:type="dcterms:W3CDTF">2021-06-25T06:48:06Z</dcterms:modified>
</cp:coreProperties>
</file>