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19"/>
    <p:sldId id="257" r:id="rId20"/>
    <p:sldId id="258" r:id="rId21"/>
    <p:sldId id="259" r:id="rId22"/>
    <p:sldId id="260" r:id="rId23"/>
    <p:sldId id="261" r:id="rId24"/>
    <p:sldId id="262" r:id="rId25"/>
    <p:sldId id="263" r:id="rId26"/>
    <p:sldId id="264" r:id="rId27"/>
    <p:sldId id="265" r:id="rId28"/>
    <p:sldId id="266" r:id="rId2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ice Martinez" initials="JM"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42" autoAdjust="0"/>
    <p:restoredTop sz="95853"/>
  </p:normalViewPr>
  <p:slideViewPr>
    <p:cSldViewPr snapToGrid="0" snapToObjects="1">
      <p:cViewPr varScale="1">
        <p:scale>
          <a:sx n="70" d="100"/>
          <a:sy n="70" d="100"/>
        </p:scale>
        <p:origin x="78" y="190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2647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840" cy="466434"/>
          </a:xfrm>
          <a:prstGeom prst="rect">
            <a:avLst/>
          </a:prstGeom>
        </p:spPr>
        <p:txBody>
          <a:bodyPr vert="horz" lIns="93173" tIns="46586" rIns="93173" bIns="46586" rtlCol="0"/>
          <a:lstStyle>
            <a:lvl1pPr algn="l">
              <a:defRPr sz="1300"/>
            </a:lvl1pPr>
          </a:lstStyle>
          <a:p>
            <a:endParaRPr lang="en-US"/>
          </a:p>
        </p:txBody>
      </p:sp>
      <p:sp>
        <p:nvSpPr>
          <p:cNvPr id="3" name="Date Placeholder 2"/>
          <p:cNvSpPr>
            <a:spLocks noGrp="1"/>
          </p:cNvSpPr>
          <p:nvPr>
            <p:ph type="dt" idx="1"/>
          </p:nvPr>
        </p:nvSpPr>
        <p:spPr>
          <a:xfrm>
            <a:off x="3970939" y="1"/>
            <a:ext cx="3037840" cy="466434"/>
          </a:xfrm>
          <a:prstGeom prst="rect">
            <a:avLst/>
          </a:prstGeom>
        </p:spPr>
        <p:txBody>
          <a:bodyPr vert="horz" lIns="93173" tIns="46586" rIns="93173" bIns="46586" rtlCol="0"/>
          <a:lstStyle>
            <a:lvl1pPr algn="r">
              <a:defRPr sz="1300"/>
            </a:lvl1pPr>
          </a:lstStyle>
          <a:p>
            <a:fld id="{631763FF-1AB2-1946-851C-DB0806ADF0B2}" type="datetimeFigureOut">
              <a:rPr lang="en-US" smtClean="0"/>
              <a:t>7/1/2022</a:t>
            </a:fld>
            <a:endParaRPr lang="en-US"/>
          </a:p>
        </p:txBody>
      </p:sp>
      <p:sp>
        <p:nvSpPr>
          <p:cNvPr id="4" name="Slide Image Placeholder 3"/>
          <p:cNvSpPr>
            <a:spLocks noGrp="1" noRot="1" noChangeAspect="1"/>
          </p:cNvSpPr>
          <p:nvPr>
            <p:ph type="sldImg" idx="2"/>
          </p:nvPr>
        </p:nvSpPr>
        <p:spPr>
          <a:xfrm>
            <a:off x="719138" y="1162050"/>
            <a:ext cx="5573712" cy="3136900"/>
          </a:xfrm>
          <a:prstGeom prst="rect">
            <a:avLst/>
          </a:prstGeom>
          <a:noFill/>
          <a:ln w="12700">
            <a:solidFill>
              <a:prstClr val="black"/>
            </a:solidFill>
          </a:ln>
        </p:spPr>
        <p:txBody>
          <a:bodyPr vert="horz" lIns="93173" tIns="46586" rIns="93173" bIns="46586" rtlCol="0" anchor="ctr"/>
          <a:lstStyle/>
          <a:p>
            <a:endParaRPr lang="en-US"/>
          </a:p>
        </p:txBody>
      </p:sp>
      <p:sp>
        <p:nvSpPr>
          <p:cNvPr id="5" name="Notes Placeholder 4"/>
          <p:cNvSpPr>
            <a:spLocks noGrp="1"/>
          </p:cNvSpPr>
          <p:nvPr>
            <p:ph type="body" sz="quarter" idx="3"/>
          </p:nvPr>
        </p:nvSpPr>
        <p:spPr>
          <a:xfrm>
            <a:off x="701041" y="4473892"/>
            <a:ext cx="5608320" cy="3660458"/>
          </a:xfrm>
          <a:prstGeom prst="rect">
            <a:avLst/>
          </a:prstGeom>
        </p:spPr>
        <p:txBody>
          <a:bodyPr vert="horz" lIns="93173" tIns="46586" rIns="93173" bIns="4658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8"/>
            <a:ext cx="3037840" cy="466433"/>
          </a:xfrm>
          <a:prstGeom prst="rect">
            <a:avLst/>
          </a:prstGeom>
        </p:spPr>
        <p:txBody>
          <a:bodyPr vert="horz" lIns="93173" tIns="46586" rIns="93173"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9" y="8829968"/>
            <a:ext cx="3037840" cy="466433"/>
          </a:xfrm>
          <a:prstGeom prst="rect">
            <a:avLst/>
          </a:prstGeom>
        </p:spPr>
        <p:txBody>
          <a:bodyPr vert="horz" lIns="93173" tIns="46586" rIns="93173" bIns="46586" rtlCol="0" anchor="b"/>
          <a:lstStyle>
            <a:lvl1pPr algn="r">
              <a:defRPr sz="1300"/>
            </a:lvl1pPr>
          </a:lstStyle>
          <a:p>
            <a:fld id="{25BAF5BC-1DD1-3042-9AB2-550B19EF9856}" type="slidenum">
              <a:rPr lang="en-US" smtClean="0"/>
              <a:t>‹#›</a:t>
            </a:fld>
            <a:endParaRPr lang="en-US"/>
          </a:p>
        </p:txBody>
      </p:sp>
    </p:spTree>
    <p:extLst>
      <p:ext uri="{BB962C8B-B14F-4D97-AF65-F5344CB8AC3E}">
        <p14:creationId xmlns:p14="http://schemas.microsoft.com/office/powerpoint/2010/main" val="1924246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8053" y="1"/>
            <a:ext cx="10736802" cy="868705"/>
          </a:xfrm>
        </p:spPr>
        <p:txBody>
          <a:bodyPr/>
          <a:lstStyle>
            <a:lvl1pPr>
              <a:defRPr/>
            </a:lvl1pPr>
          </a:lstStyle>
          <a:p>
            <a:r>
              <a:rPr lang="en-US" dirty="0"/>
              <a:t>Click to edit Master title style</a:t>
            </a:r>
            <a:br>
              <a:rPr lang="en-US" dirty="0"/>
            </a:br>
            <a:r>
              <a:rPr lang="en-US" dirty="0"/>
              <a:t>Test</a:t>
            </a:r>
          </a:p>
        </p:txBody>
      </p:sp>
      <p:sp>
        <p:nvSpPr>
          <p:cNvPr id="3" name="Content Placeholder 2"/>
          <p:cNvSpPr>
            <a:spLocks noGrp="1"/>
          </p:cNvSpPr>
          <p:nvPr>
            <p:ph idx="1"/>
          </p:nvPr>
        </p:nvSpPr>
        <p:spPr>
          <a:xfrm>
            <a:off x="480061" y="938440"/>
            <a:ext cx="10386722" cy="5687646"/>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451771" y="6354421"/>
            <a:ext cx="740229" cy="503577"/>
          </a:xfrm>
        </p:spPr>
        <p:txBody>
          <a:bodyPr/>
          <a:lstStyle/>
          <a:p>
            <a:fld id="{6D22F896-40B5-4ADD-8801-0D06FADFA095}" type="slidenum">
              <a:rPr lang="en-US" dirty="0"/>
              <a:t>‹#›</a:t>
            </a:fld>
            <a:endParaRPr lang="en-US" dirty="0"/>
          </a:p>
        </p:txBody>
      </p:sp>
      <p:cxnSp>
        <p:nvCxnSpPr>
          <p:cNvPr id="33" name="Straight Connector 32"/>
          <p:cNvCxnSpPr>
            <a:cxnSpLocks/>
          </p:cNvCxnSpPr>
          <p:nvPr/>
        </p:nvCxnSpPr>
        <p:spPr>
          <a:xfrm>
            <a:off x="318053" y="903542"/>
            <a:ext cx="10743365"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7/1/2022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7880007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latin typeface="Georgia" panose="02040502050405020303" pitchFamily="18" charset="0"/>
              </a:defRPr>
            </a:lvl1pPr>
          </a:lstStyle>
          <a:p>
            <a:fld id="{48A87A34-81AB-432B-8DAE-1953F412C126}" type="datetimeFigureOut">
              <a:rPr lang="en-US" smtClean="0"/>
              <a:pPr/>
              <a:t>7/1/2022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latin typeface="Georgia" panose="02040502050405020303" pitchFamily="18" charset="0"/>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latin typeface="Georgia" panose="02040502050405020303" pitchFamily="18" charset="0"/>
              </a:defRPr>
            </a:lvl1pPr>
          </a:lstStyle>
          <a:p>
            <a:fld id="{6D22F896-40B5-4ADD-8801-0D06FADFA095}"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Georgia" panose="02040502050405020303" pitchFamily="18" charset="0"/>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Georgia" panose="02040502050405020303"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Georgia" panose="02040502050405020303"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Georgia" panose="02040502050405020303"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Georgia" panose="02040502050405020303"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Georgia" panose="02040502050405020303" pitchFamily="18" charset="0"/>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saintlukeguild.com/projec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saintlukeguild.com/About-Us" TargetMode="External"/><Relationship Id="rId3" Type="http://schemas.openxmlformats.org/officeDocument/2006/relationships/hyperlink" Target="http://www.saintlukeguild.com/Legales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aintlukeguild.com/about-us" TargetMode="External"/><Relationship Id="rId3" Type="http://schemas.openxmlformats.org/officeDocument/2006/relationships/hyperlink" Target="mailto:refunds@saintlukeguild.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2420508" y="887974"/>
            <a:ext cx="8624072" cy="2541392"/>
          </a:xfrm>
        </p:spPr>
        <p:txBody>
          <a:bodyPr>
            <a:normAutofit fontScale="90000"/>
          </a:bodyPr>
          <a:lstStyle/>
          <a:p>
            <a:r>
              <a:rPr cap="none">
                <a:latin typeface="+mn-lt"/>
                <a:cs typeface="Apple Chancery"/>
              </a:rPr>
              <a:t>The Saint Luke Guild</a:t>
            </a:r>
            <a:br>
              <a:rPr cap="none">
                <a:latin typeface="+mn-lt"/>
                <a:cs typeface="Apple Chancery"/>
              </a:rPr>
            </a:br>
            <a:r>
              <a:rPr cap="none">
                <a:latin typeface="+mn-lt"/>
                <a:cs typeface="Apple Chancery"/>
              </a:rPr>
              <a:t>Checkout.com </a:t>
            </a:r>
            <a:br>
              <a:rPr cap="none">
                <a:latin typeface="+mn-lt"/>
                <a:cs typeface="Apple Chancery"/>
              </a:rPr>
            </a:br>
            <a:r>
              <a:rPr cap="none">
                <a:latin typeface="+mn-lt"/>
                <a:cs typeface="Apple Chancery"/>
              </a:rPr>
              <a:t>Requested Info</a:t>
            </a:r>
          </a:p>
        </p:txBody>
      </p:sp>
      <p:sp>
        <p:nvSpPr>
          <p:cNvPr id="3" name="Subtitle 2"/>
          <p:cNvSpPr>
            <a:spLocks noGrp="1"/>
          </p:cNvSpPr>
          <p:nvPr>
            <p:ph type="subTitle" idx="1"/>
          </p:nvPr>
        </p:nvSpPr>
        <p:spPr>
          <a:xfrm>
            <a:off x="5087539" y="4508815"/>
            <a:ext cx="7104522" cy="1605138"/>
          </a:xfrm>
        </p:spPr>
        <p:txBody>
          <a:bodyPr>
            <a:normAutofit/>
          </a:bodyPr>
          <a:lstStyle/>
          <a:p>
            <a:pPr lvl="0"/>
            <a:r>
              <a:rPr cap="none" sz="2400">
                <a:cs typeface="Apple Chancery"/>
              </a:rPr>
              <a:t>Douglas Coombs</a:t>
            </a:r>
          </a:p>
          <a:p>
            <a:pPr lvl="0"/>
            <a:r>
              <a:rPr cap="none" sz="2400">
                <a:cs typeface="Apple Chancery"/>
              </a:rPr>
              <a:t>July 1, </a:t>
            </a:r>
            <a:r>
              <a:rPr cap="none" sz="2400">
                <a:cs typeface="Apple Chancery"/>
              </a:rPr>
              <a:t>2022, Rev.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fontScale="90000"/>
          </a:bodyPr>
          <a:lstStyle/>
          <a:p>
            <a:r>
              <a:rPr/>
              <a:t>Transaction Information</a:t>
            </a:r>
            <a:br/>
            <a:r>
              <a:rPr/>
              <a:t>Data Request</a:t>
            </a:r>
            <a:br/>
          </a:p>
        </p:txBody>
      </p:sp>
      <p:sp>
        <p:nvSpPr>
          <p:cNvPr id="3" name="Content Placeholder 2"/>
          <p:cNvSpPr>
            <a:spLocks noGrp="1"/>
          </p:cNvSpPr>
          <p:nvPr>
            <p:ph type="obj" idx="1"/>
          </p:nvPr>
        </p:nvSpPr>
        <p:spPr>
          <a:xfrm>
            <a:off x="480060" y="938449"/>
            <a:ext cx="11496751" cy="5687659"/>
          </a:xfrm>
        </p:spPr>
        <p:txBody>
          <a:bodyPr wrap="square">
            <a:normAutofit/>
          </a:bodyPr>
          <a:lstStyle/>
          <a:p>
            <a:pPr lvl="0"/>
            <a:r>
              <a:t>A payment flow to properly understand what Checkout.com is exactly processing for.</a:t>
            </a:r>
          </a:p>
          <a:p>
            <a:pPr lvl="1"/>
            <a:r>
              <a:rPr>
                <a:solidFill>
                  <a:schemeClr val="accent6"/>
                </a:solidFill>
              </a:rPr>
              <a:t>See the next slide</a:t>
            </a:r>
          </a:p>
          <a:p>
            <a:pPr lvl="0"/>
            <a:r>
              <a:t>Please provide further details on what the merchant will be accepting payments for.</a:t>
            </a:r>
          </a:p>
          <a:p>
            <a:pPr lvl="1"/>
            <a:r>
              <a:rPr>
                <a:solidFill>
                  <a:schemeClr val="accent6"/>
                </a:solidFill>
              </a:rPr>
              <a:t>We are accepting donations to fund</a:t>
            </a:r>
          </a:p>
          <a:p>
            <a:pPr lvl="2"/>
            <a:r>
              <a:rPr>
                <a:solidFill>
                  <a:schemeClr val="accent6"/>
                </a:solidFill>
              </a:rPr>
              <a:t>Art displays at schools</a:t>
            </a:r>
          </a:p>
          <a:p>
            <a:pPr lvl="2"/>
            <a:r>
              <a:rPr>
                <a:solidFill>
                  <a:schemeClr val="accent6"/>
                </a:solidFill>
              </a:rPr>
              <a:t>Projects to help schools in the selection of art (e.g., a timeline/database of art masterpieces)</a:t>
            </a:r>
          </a:p>
          <a:p>
            <a:pPr lvl="2"/>
            <a:r>
              <a:rPr>
                <a:solidFill>
                  <a:schemeClr val="accent6"/>
                </a:solidFill>
              </a:rPr>
              <a:t>Costs to attend educational conferences and educate schools on the value of art reproductions</a:t>
            </a:r>
          </a:p>
          <a:p>
            <a:pPr lvl="0"/>
            <a:r>
              <a:t>Please provide the URL where payments will be accepted. Please also provide demo or Test login details to verify the website</a:t>
            </a:r>
          </a:p>
          <a:p>
            <a:pPr lvl="1"/>
            <a:r>
              <a:rPr>
                <a:solidFill>
                  <a:schemeClr val="accent6"/>
                </a:solidFill>
                <a:hlinkClick r:id="rId2"/>
              </a:rPr>
              <a:t>www.saintlukeguild.com/projects</a:t>
            </a:r>
            <a:r>
              <a:rPr>
                <a:solidFill>
                  <a:schemeClr val="accent6"/>
                </a:solidFill>
              </a:rPr>
              <a:t> (this will be updated when we begin taking payments)</a:t>
            </a:r>
          </a:p>
          <a:p>
            <a:pPr lvl="0"/>
            <a:r>
              <a:t>Please confirm the annual processing volume</a:t>
            </a:r>
          </a:p>
          <a:p>
            <a:pPr lvl="1"/>
            <a:r>
              <a:rPr>
                <a:solidFill>
                  <a:schemeClr val="accent6"/>
                </a:solidFill>
              </a:rPr>
              <a:t>Maybe $5k-$10k/year to begin.  It is hard to say.  We currently bring in around $20k/year in large checks.  Most larger donors will probably still choose to give via 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0825" y="46177"/>
            <a:ext cx="12081144" cy="876727"/>
          </a:xfrm>
        </p:spPr>
        <p:txBody>
          <a:bodyPr>
            <a:normAutofit/>
          </a:bodyPr>
          <a:lstStyle/>
          <a:p>
            <a:r>
              <a:rPr/>
              <a:t>Transaction Flow Chart for Website Donor Funds</a:t>
            </a:r>
          </a:p>
        </p:txBody>
      </p:sp>
      <p:sp>
        <p:nvSpPr>
          <p:cNvPr id="3" name="Content Placeholder 2"/>
          <p:cNvSpPr>
            <a:spLocks noGrp="1"/>
          </p:cNvSpPr>
          <p:nvPr>
            <p:ph type="obj" idx="1"/>
          </p:nvPr>
        </p:nvSpPr>
        <p:spPr>
          <a:xfrm>
            <a:off x="110825" y="4590288"/>
            <a:ext cx="5541630" cy="1519184"/>
          </a:xfrm>
        </p:spPr>
        <p:txBody>
          <a:bodyPr wrap="square">
            <a:normAutofit fontScale="92500" lnSpcReduction="20000"/>
          </a:bodyPr>
          <a:lstStyle/>
          <a:p>
            <a:pPr lvl="0"/>
            <a:r>
              <a:rPr sz="2800"/>
              <a:t>General support projects are not </a:t>
            </a:r>
            <a:br/>
            <a:r>
              <a:rPr sz="2800"/>
              <a:t>specific to any school</a:t>
            </a:r>
          </a:p>
          <a:p>
            <a:pPr lvl="0"/>
            <a:r>
              <a:rPr sz="2800"/>
              <a:t>Project costs are school specific</a:t>
            </a:r>
          </a:p>
        </p:txBody>
      </p:sp>
      <p:sp>
        <p:nvSpPr>
          <p:cNvPr id="4" name="Rounded Rectangle 3"/>
          <p:cNvSpPr/>
          <p:nvPr/>
        </p:nvSpPr>
        <p:spPr>
          <a:xfrm>
            <a:off x="110825" y="2712476"/>
            <a:ext cx="2932572" cy="17503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Donors give to either a school project (restricted), a general support project, (restricted) or general funds (unrestricted)</a:t>
            </a:r>
          </a:p>
        </p:txBody>
      </p:sp>
      <p:sp>
        <p:nvSpPr>
          <p:cNvPr id="5" name="Rounded Rectangle 4"/>
          <p:cNvSpPr/>
          <p:nvPr/>
        </p:nvSpPr>
        <p:spPr>
          <a:xfrm>
            <a:off x="8265627" y="4676424"/>
            <a:ext cx="2932572" cy="1433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 Project costs are spent 100% on school art projects for specific schools</a:t>
            </a:r>
          </a:p>
        </p:txBody>
      </p:sp>
      <p:sp>
        <p:nvSpPr>
          <p:cNvPr id="6" name="Rounded Rectangle 5"/>
          <p:cNvSpPr/>
          <p:nvPr/>
        </p:nvSpPr>
        <p:spPr>
          <a:xfrm>
            <a:off x="3606942" y="1721540"/>
            <a:ext cx="2932572" cy="1433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General funds are discretionary and can cover either overhead or project costs</a:t>
            </a:r>
          </a:p>
        </p:txBody>
      </p:sp>
      <p:sp>
        <p:nvSpPr>
          <p:cNvPr id="7" name="Rounded Rectangle 6"/>
          <p:cNvSpPr/>
          <p:nvPr/>
        </p:nvSpPr>
        <p:spPr>
          <a:xfrm>
            <a:off x="8265627" y="1101211"/>
            <a:ext cx="2932572" cy="1433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Overhead costs are things like PO box and website fees</a:t>
            </a:r>
          </a:p>
        </p:txBody>
      </p:sp>
      <p:sp>
        <p:nvSpPr>
          <p:cNvPr id="8" name="Rounded Rectangle 7"/>
          <p:cNvSpPr/>
          <p:nvPr/>
        </p:nvSpPr>
        <p:spPr>
          <a:xfrm>
            <a:off x="8265627" y="2888772"/>
            <a:ext cx="2932572" cy="1433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General support project costs are for things like an art timeline database to help schools select art for their hallways</a:t>
            </a:r>
          </a:p>
        </p:txBody>
      </p:sp>
      <p:cxnSp>
        <p:nvCxnSpPr>
          <p:cNvPr id="9" name="Connector 8"/>
          <p:cNvCxnSpPr>
            <a:stCxn id="6" idx="3"/>
            <a:endCxn id="5" idx="1"/>
          </p:cNvCxnSpPr>
          <p:nvPr/>
        </p:nvCxnSpPr>
        <p:spPr>
          <a:xfrm>
            <a:off x="6539514" y="2438064"/>
            <a:ext cx="1726113" cy="2954884"/>
          </a:xfrm>
          <a:prstGeom prst="bentConnector3">
            <a:avLst>
              <a:gd name="adj1" fmla="val 39613"/>
            </a:avLst>
          </a:prstGeom>
          <a:ln w="38100">
            <a:tailEnd type="triangle" w="lg" len="lg"/>
          </a:ln>
        </p:spPr>
        <p:style>
          <a:lnRef idx="2">
            <a:schemeClr val="accent1"/>
          </a:lnRef>
          <a:fillRef idx="0">
            <a:schemeClr val="accent1"/>
          </a:fillRef>
          <a:effectRef idx="1">
            <a:schemeClr val="accent1"/>
          </a:effectRef>
          <a:fontRef idx="minor">
            <a:schemeClr val="tx1"/>
          </a:fontRef>
        </p:style>
      </p:cxnSp>
      <p:cxnSp>
        <p:nvCxnSpPr>
          <p:cNvPr id="10" name="Connector 9"/>
          <p:cNvCxnSpPr>
            <a:stCxn id="4" idx="3"/>
            <a:endCxn id="5" idx="1"/>
          </p:cNvCxnSpPr>
          <p:nvPr/>
        </p:nvCxnSpPr>
        <p:spPr>
          <a:xfrm>
            <a:off x="3043397" y="3587648"/>
            <a:ext cx="5222230" cy="1805300"/>
          </a:xfrm>
          <a:prstGeom prst="bentConnector3">
            <a:avLst/>
          </a:prstGeom>
          <a:ln w="38100">
            <a:solidFill>
              <a:schemeClr val="accent2">
                <a:lumMod val="60000"/>
                <a:lumOff val="4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 name="Connector 10"/>
          <p:cNvCxnSpPr>
            <a:stCxn id="4" idx="3"/>
            <a:endCxn id="6" idx="1"/>
          </p:cNvCxnSpPr>
          <p:nvPr/>
        </p:nvCxnSpPr>
        <p:spPr>
          <a:xfrm flipV="1">
            <a:off x="3043397" y="2438064"/>
            <a:ext cx="563545" cy="1149585"/>
          </a:xfrm>
          <a:prstGeom prst="bentConnector3">
            <a:avLst/>
          </a:prstGeom>
          <a:ln w="38100">
            <a:solidFill>
              <a:schemeClr val="accent2">
                <a:lumMod val="60000"/>
                <a:lumOff val="4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11"/>
          <p:cNvCxnSpPr>
            <a:stCxn id="6" idx="3"/>
            <a:endCxn id="7" idx="1"/>
          </p:cNvCxnSpPr>
          <p:nvPr/>
        </p:nvCxnSpPr>
        <p:spPr>
          <a:xfrm flipV="1">
            <a:off x="6539514" y="1817735"/>
            <a:ext cx="1726113" cy="620330"/>
          </a:xfrm>
          <a:prstGeom prst="bentConnector3">
            <a:avLst>
              <a:gd name="adj1" fmla="val 62211"/>
            </a:avLst>
          </a:prstGeom>
          <a:ln w="38100">
            <a:tailEnd type="triangle" w="lg" len="lg"/>
          </a:ln>
        </p:spPr>
        <p:style>
          <a:lnRef idx="2">
            <a:schemeClr val="accent1"/>
          </a:lnRef>
          <a:fillRef idx="0">
            <a:schemeClr val="accent1"/>
          </a:fillRef>
          <a:effectRef idx="1">
            <a:schemeClr val="accent1"/>
          </a:effectRef>
          <a:fontRef idx="minor">
            <a:schemeClr val="tx1"/>
          </a:fontRef>
        </p:style>
      </p:cxnSp>
      <p:cxnSp>
        <p:nvCxnSpPr>
          <p:cNvPr id="13" name="Connector 12"/>
          <p:cNvCxnSpPr>
            <a:stCxn id="6" idx="3"/>
            <a:endCxn id="8" idx="1"/>
          </p:cNvCxnSpPr>
          <p:nvPr/>
        </p:nvCxnSpPr>
        <p:spPr>
          <a:xfrm>
            <a:off x="6539514" y="2438064"/>
            <a:ext cx="1726113" cy="1167232"/>
          </a:xfrm>
          <a:prstGeom prst="bentConnector3">
            <a:avLst>
              <a:gd name="adj1" fmla="val 52077"/>
            </a:avLst>
          </a:prstGeom>
          <a:ln w="38100">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13"/>
          <p:cNvCxnSpPr>
            <a:stCxn id="4" idx="3"/>
            <a:endCxn id="8" idx="1"/>
          </p:cNvCxnSpPr>
          <p:nvPr/>
        </p:nvCxnSpPr>
        <p:spPr>
          <a:xfrm>
            <a:off x="3043397" y="3587648"/>
            <a:ext cx="5222230" cy="17648"/>
          </a:xfrm>
          <a:prstGeom prst="straightConnector1">
            <a:avLst/>
          </a:prstGeom>
          <a:ln w="38100">
            <a:solidFill>
              <a:schemeClr val="accent2">
                <a:lumMod val="60000"/>
                <a:lumOff val="40000"/>
              </a:schemeClr>
            </a:solidFill>
            <a:tailEnd type="triangle" w="lg" len="lg"/>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0825" y="46177"/>
            <a:ext cx="12081144" cy="876727"/>
          </a:xfrm>
        </p:spPr>
        <p:txBody>
          <a:bodyPr>
            <a:normAutofit fontScale="90000"/>
          </a:bodyPr>
          <a:lstStyle/>
          <a:p>
            <a:r>
              <a:rPr/>
              <a:t>Website Donor Forms</a:t>
            </a:r>
            <a:br/>
            <a:r>
              <a:rPr/>
              <a:t>Entry Point for Project Funding</a:t>
            </a:r>
          </a:p>
        </p:txBody>
      </p:sp>
      <p:sp>
        <p:nvSpPr>
          <p:cNvPr id="3" name="Content Placeholder 2"/>
          <p:cNvSpPr>
            <a:spLocks noGrp="1"/>
          </p:cNvSpPr>
          <p:nvPr>
            <p:ph type="obj" idx="1"/>
          </p:nvPr>
        </p:nvSpPr>
        <p:spPr>
          <a:xfrm>
            <a:off x="253655" y="938449"/>
            <a:ext cx="4869089" cy="3597707"/>
          </a:xfrm>
        </p:spPr>
        <p:txBody>
          <a:bodyPr wrap="square">
            <a:normAutofit lnSpcReduction="10000"/>
          </a:bodyPr>
          <a:lstStyle/>
          <a:p>
            <a:pPr lvl="0"/>
            <a:r>
              <a:t>Simple Donate Button next to each project on website takes donors to a common donation form with a drop down menu to select a project</a:t>
            </a:r>
          </a:p>
          <a:p>
            <a:pPr lvl="0"/>
            <a:r>
              <a:t>The Saint Luke Guild should be able to add projects to the list</a:t>
            </a:r>
          </a:p>
          <a:p>
            <a:pPr lvl="0"/>
            <a:r>
              <a:t>All form information should be communicated to the Saint Luke Guild along with money</a:t>
            </a:r>
          </a:p>
        </p:txBody>
      </p:sp>
      <p:sp>
        <p:nvSpPr>
          <p:cNvPr id="4" name="Rounded Rectangle 3"/>
          <p:cNvSpPr/>
          <p:nvPr/>
        </p:nvSpPr>
        <p:spPr>
          <a:xfrm>
            <a:off x="1728947" y="4731928"/>
            <a:ext cx="1918411" cy="7037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Donate Now</a:t>
            </a:r>
          </a:p>
        </p:txBody>
      </p:sp>
      <p:sp>
        <p:nvSpPr>
          <p:cNvPr id="5" name="Rounded Rectangle 4"/>
          <p:cNvSpPr/>
          <p:nvPr/>
        </p:nvSpPr>
        <p:spPr>
          <a:xfrm>
            <a:off x="5570982" y="1042964"/>
            <a:ext cx="5970483" cy="551355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121633" y="1043879"/>
            <a:ext cx="5419740" cy="5512643"/>
          </a:xfrm>
          <a:prstGeom prst="rect">
            <a:avLst/>
          </a:prstGeom>
          <a:noFill/>
        </p:spPr>
        <p:txBody>
          <a:bodyPr wrap="square">
            <a:spAutoFit/>
          </a:bodyPr>
          <a:lstStyle/>
          <a:p>
            <a:pPr lvl="0">
              <a:lnSpc>
                <a:spcPct val="200000"/>
              </a:lnSpc>
              <a:buNone/>
            </a:pPr>
            <a:r>
              <a:t>First Name: _______________________</a:t>
            </a:r>
          </a:p>
          <a:p>
            <a:pPr lvl="0">
              <a:lnSpc>
                <a:spcPct val="200000"/>
              </a:lnSpc>
              <a:buNone/>
            </a:pPr>
            <a:r>
              <a:t>Last Name: _______________________</a:t>
            </a:r>
          </a:p>
          <a:p>
            <a:pPr lvl="0">
              <a:lnSpc>
                <a:spcPct val="200000"/>
              </a:lnSpc>
              <a:buNone/>
            </a:pPr>
            <a:r>
              <a:t>Address: _________________________</a:t>
            </a:r>
          </a:p>
          <a:p>
            <a:pPr lvl="0">
              <a:lnSpc>
                <a:spcPct val="200000"/>
              </a:lnSpc>
              <a:buNone/>
            </a:pPr>
            <a:r>
              <a:t>City: ____________________________</a:t>
            </a:r>
          </a:p>
          <a:p>
            <a:pPr lvl="0">
              <a:lnSpc>
                <a:spcPct val="200000"/>
              </a:lnSpc>
              <a:buNone/>
            </a:pPr>
            <a:r>
              <a:t>State:  [Drop Down ]         Zip: ___________</a:t>
            </a:r>
          </a:p>
          <a:p>
            <a:pPr lvl="0">
              <a:lnSpc>
                <a:spcPct val="250000"/>
              </a:lnSpc>
              <a:buNone/>
            </a:pPr>
            <a:r>
              <a:rPr>
                <a:sym typeface="Symbol"/>
              </a:rPr>
              <a:t></a:t>
            </a:r>
            <a:r>
              <a:t>  Keep me anonymous to project schools.</a:t>
            </a:r>
            <a:br/>
            <a:r>
              <a:t>Project: [Drop Down List]</a:t>
            </a:r>
          </a:p>
          <a:p>
            <a:pPr lvl="0">
              <a:lnSpc>
                <a:spcPct val="250000"/>
              </a:lnSpc>
              <a:buNone/>
            </a:pPr>
            <a:r>
              <a:t>Pledge Amount: $  ___________</a:t>
            </a:r>
          </a:p>
          <a:p>
            <a:pPr lvl="0">
              <a:lnSpc>
                <a:spcPct val="250000"/>
              </a:lnSpc>
              <a:buNone/>
            </a:pPr>
            <a:r>
              <a:t>Credit Card Info</a:t>
            </a:r>
          </a:p>
        </p:txBody>
      </p:sp>
      <p:sp>
        <p:nvSpPr>
          <p:cNvPr id="7" name="Right Arrow 6"/>
          <p:cNvSpPr/>
          <p:nvPr/>
        </p:nvSpPr>
        <p:spPr>
          <a:xfrm>
            <a:off x="4087916" y="4840284"/>
            <a:ext cx="932322" cy="48719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0825" y="46177"/>
            <a:ext cx="12081144" cy="876727"/>
          </a:xfrm>
        </p:spPr>
        <p:txBody>
          <a:bodyPr>
            <a:normAutofit fontScale="90000"/>
          </a:bodyPr>
          <a:lstStyle/>
          <a:p>
            <a:r>
              <a:rPr/>
              <a:t>Website Donor Forms</a:t>
            </a:r>
            <a:br/>
            <a:r>
              <a:rPr/>
              <a:t>Ideal Point</a:t>
            </a:r>
          </a:p>
        </p:txBody>
      </p:sp>
      <p:sp>
        <p:nvSpPr>
          <p:cNvPr id="3" name="Content Placeholder 2"/>
          <p:cNvSpPr>
            <a:spLocks noGrp="1"/>
          </p:cNvSpPr>
          <p:nvPr>
            <p:ph type="obj" idx="1"/>
          </p:nvPr>
        </p:nvSpPr>
        <p:spPr>
          <a:xfrm>
            <a:off x="253655" y="938449"/>
            <a:ext cx="4869089" cy="3597707"/>
          </a:xfrm>
        </p:spPr>
        <p:txBody>
          <a:bodyPr wrap="square">
            <a:normAutofit lnSpcReduction="10000"/>
          </a:bodyPr>
          <a:lstStyle/>
          <a:p>
            <a:pPr lvl="0"/>
            <a:r>
              <a:t>In an ideal world, we would be able to have bar graphs showing how much money has been donated to a given project</a:t>
            </a:r>
          </a:p>
          <a:p>
            <a:pPr lvl="1"/>
            <a:r>
              <a:t>Similar to Kickstarter</a:t>
            </a:r>
          </a:p>
          <a:p>
            <a:pPr lvl="0"/>
            <a:r>
              <a:t>SLG staff would be able to enter check donations to move the bar</a:t>
            </a:r>
          </a:p>
          <a:p>
            <a:pPr lvl="0"/>
            <a:r>
              <a:t>This would mean each project would have a standalone donor form.</a:t>
            </a:r>
          </a:p>
        </p:txBody>
      </p:sp>
      <p:sp>
        <p:nvSpPr>
          <p:cNvPr id="4" name="Rounded Rectangle 3"/>
          <p:cNvSpPr/>
          <p:nvPr/>
        </p:nvSpPr>
        <p:spPr>
          <a:xfrm>
            <a:off x="1201247" y="5276088"/>
            <a:ext cx="1918411" cy="7037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buNone/>
            </a:pPr>
            <a:r>
              <a:rPr/>
              <a:t>Donate Now</a:t>
            </a:r>
          </a:p>
        </p:txBody>
      </p:sp>
      <p:sp>
        <p:nvSpPr>
          <p:cNvPr id="5" name="Rounded Rectangle 4"/>
          <p:cNvSpPr/>
          <p:nvPr/>
        </p:nvSpPr>
        <p:spPr>
          <a:xfrm>
            <a:off x="5893673" y="1544970"/>
            <a:ext cx="5970483" cy="523649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44325" y="1545884"/>
            <a:ext cx="4869088" cy="5235580"/>
          </a:xfrm>
          <a:prstGeom prst="rect">
            <a:avLst/>
          </a:prstGeom>
          <a:noFill/>
        </p:spPr>
        <p:txBody>
          <a:bodyPr wrap="square">
            <a:spAutoFit/>
          </a:bodyPr>
          <a:lstStyle/>
          <a:p>
            <a:pPr lvl="0">
              <a:lnSpc>
                <a:spcPct val="200000"/>
              </a:lnSpc>
              <a:buNone/>
            </a:pPr>
            <a:r>
              <a:rPr b="1"/>
              <a:t>Project: Holy Child Catholic School</a:t>
            </a:r>
          </a:p>
          <a:p>
            <a:pPr lvl="0">
              <a:lnSpc>
                <a:spcPct val="200000"/>
              </a:lnSpc>
              <a:buNone/>
            </a:pPr>
            <a:r>
              <a:t>First Name: _______________________</a:t>
            </a:r>
          </a:p>
          <a:p>
            <a:pPr lvl="0">
              <a:lnSpc>
                <a:spcPct val="200000"/>
              </a:lnSpc>
              <a:buNone/>
            </a:pPr>
            <a:r>
              <a:t>Last Name: _______________________</a:t>
            </a:r>
          </a:p>
          <a:p>
            <a:pPr lvl="0">
              <a:lnSpc>
                <a:spcPct val="200000"/>
              </a:lnSpc>
              <a:buNone/>
            </a:pPr>
            <a:r>
              <a:t>Address: _________________________</a:t>
            </a:r>
          </a:p>
          <a:p>
            <a:pPr lvl="0">
              <a:lnSpc>
                <a:spcPct val="200000"/>
              </a:lnSpc>
              <a:buNone/>
            </a:pPr>
            <a:r>
              <a:t>City: ____________________________</a:t>
            </a:r>
          </a:p>
          <a:p>
            <a:pPr lvl="0">
              <a:lnSpc>
                <a:spcPct val="200000"/>
              </a:lnSpc>
              <a:buNone/>
            </a:pPr>
            <a:r>
              <a:t>State:  [Drop Down ]         Zip: ___________</a:t>
            </a:r>
          </a:p>
          <a:p>
            <a:pPr lvl="0">
              <a:lnSpc>
                <a:spcPct val="200000"/>
              </a:lnSpc>
              <a:buNone/>
            </a:pPr>
            <a:r>
              <a:rPr>
                <a:sym typeface="Symbol"/>
              </a:rPr>
              <a:t> </a:t>
            </a:r>
            <a:r>
              <a:t>Keep me anonymous to the above school.</a:t>
            </a:r>
          </a:p>
          <a:p>
            <a:pPr lvl="0">
              <a:lnSpc>
                <a:spcPct val="250000"/>
              </a:lnSpc>
              <a:buNone/>
            </a:pPr>
            <a:r>
              <a:t>Pledge Amount: $  ___________</a:t>
            </a:r>
          </a:p>
          <a:p>
            <a:pPr lvl="0">
              <a:lnSpc>
                <a:spcPct val="250000"/>
              </a:lnSpc>
              <a:buNone/>
            </a:pPr>
            <a:r>
              <a:t>Credit Card Info</a:t>
            </a:r>
          </a:p>
        </p:txBody>
      </p:sp>
      <p:sp>
        <p:nvSpPr>
          <p:cNvPr id="7" name="Right Arrow 6"/>
          <p:cNvSpPr/>
          <p:nvPr/>
        </p:nvSpPr>
        <p:spPr>
          <a:xfrm>
            <a:off x="4255343" y="5334609"/>
            <a:ext cx="932322" cy="48719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119420" y="4608941"/>
            <a:ext cx="594360" cy="59436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397306" y="4745278"/>
            <a:ext cx="1882566" cy="3215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2145365" y="4745278"/>
            <a:ext cx="1828800" cy="3215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974165" y="4551700"/>
            <a:ext cx="1890339" cy="646297"/>
          </a:xfrm>
          <a:prstGeom prst="rect">
            <a:avLst/>
          </a:prstGeom>
          <a:noFill/>
        </p:spPr>
        <p:txBody>
          <a:bodyPr wrap="square">
            <a:spAutoFit/>
          </a:bodyPr>
          <a:lstStyle/>
          <a:p>
            <a:pPr>
              <a:buNone/>
            </a:pPr>
            <a:r>
              <a:rPr b="1">
                <a:latin typeface="Times New Roman"/>
              </a:rPr>
              <a:t>$15,250 of $30,000 Raised </a:t>
            </a:r>
          </a:p>
        </p:txBody>
      </p:sp>
      <p:sp>
        <p:nvSpPr>
          <p:cNvPr id="12" name="Oval 11"/>
          <p:cNvSpPr/>
          <p:nvPr/>
        </p:nvSpPr>
        <p:spPr>
          <a:xfrm>
            <a:off x="6113952" y="950153"/>
            <a:ext cx="594360" cy="59436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391838" y="1086490"/>
            <a:ext cx="1882566" cy="3215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139897" y="1086490"/>
            <a:ext cx="1828800" cy="3215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968697" y="892911"/>
            <a:ext cx="1890339" cy="646297"/>
          </a:xfrm>
          <a:prstGeom prst="rect">
            <a:avLst/>
          </a:prstGeom>
          <a:noFill/>
        </p:spPr>
        <p:txBody>
          <a:bodyPr wrap="square">
            <a:spAutoFit/>
          </a:bodyPr>
          <a:lstStyle/>
          <a:p>
            <a:pPr>
              <a:buNone/>
            </a:pPr>
            <a:r>
              <a:rPr b="1">
                <a:latin typeface="Times New Roman"/>
              </a:rPr>
              <a:t>$15,250 of $30,000 Raised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Bank Account Info</a:t>
            </a:r>
          </a:p>
        </p:txBody>
      </p:sp>
      <p:sp>
        <p:nvSpPr>
          <p:cNvPr id="3" name="Content Placeholder 2"/>
          <p:cNvSpPr>
            <a:spLocks noGrp="1"/>
          </p:cNvSpPr>
          <p:nvPr>
            <p:ph type="obj" idx="1"/>
          </p:nvPr>
        </p:nvSpPr>
        <p:spPr>
          <a:xfrm>
            <a:off x="129936" y="938449"/>
            <a:ext cx="4459986" cy="5687659"/>
          </a:xfrm>
        </p:spPr>
        <p:txBody>
          <a:bodyPr wrap="square"/>
          <a:lstStyle/>
          <a:p>
            <a:pPr lvl="0"/>
            <a:r>
              <a:t>Routing #: 307083911</a:t>
            </a:r>
          </a:p>
          <a:p>
            <a:pPr lvl="0"/>
            <a:r>
              <a:t>Auto WD and Direct Deposit #: 9225000161</a:t>
            </a:r>
          </a:p>
          <a:p>
            <a:pPr lvl="0"/>
            <a:r>
              <a:t>Account #: 10422500-9001</a:t>
            </a:r>
          </a:p>
          <a:p>
            <a:pPr lvl="1"/>
            <a:r>
              <a:t>Not used for electronic transactions</a:t>
            </a:r>
          </a:p>
        </p:txBody>
      </p:sp>
      <p:pic>
        <p:nvPicPr>
          <p:cNvPr id="4" name="Picture 3" descr="image3.png"/>
          <p:cNvPicPr>
            <a:picLocks noChangeAspect="1"/>
          </p:cNvPicPr>
          <p:nvPr/>
        </p:nvPicPr>
        <p:blipFill>
          <a:blip r:embed="rId2"/>
          <a:stretch>
            <a:fillRect/>
          </a:stretch>
        </p:blipFill>
        <p:spPr>
          <a:xfrm>
            <a:off x="4762195" y="926470"/>
            <a:ext cx="7111746" cy="589687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fontScale="90000"/>
          </a:bodyPr>
          <a:lstStyle/>
          <a:p>
            <a:r>
              <a:rPr/>
              <a:t>KYC documentation</a:t>
            </a:r>
            <a:br/>
          </a:p>
        </p:txBody>
      </p:sp>
      <p:sp>
        <p:nvSpPr>
          <p:cNvPr id="3" name="Content Placeholder 2"/>
          <p:cNvSpPr>
            <a:spLocks noGrp="1"/>
          </p:cNvSpPr>
          <p:nvPr>
            <p:ph type="obj" idx="1"/>
          </p:nvPr>
        </p:nvSpPr>
        <p:spPr>
          <a:xfrm>
            <a:off x="480060" y="938449"/>
            <a:ext cx="10386761" cy="675193"/>
          </a:xfrm>
        </p:spPr>
        <p:txBody>
          <a:bodyPr wrap="square"/>
          <a:lstStyle/>
          <a:p>
            <a:pPr lvl="0"/>
            <a:r>
              <a:t>Passport/Driver's License for Douglas Coombs</a:t>
            </a:r>
          </a:p>
        </p:txBody>
      </p:sp>
      <p:pic>
        <p:nvPicPr>
          <p:cNvPr id="4" name="Picture 3" descr="image4.jpg"/>
          <p:cNvPicPr>
            <a:picLocks noChangeAspect="1"/>
          </p:cNvPicPr>
          <p:nvPr/>
        </p:nvPicPr>
        <p:blipFill>
          <a:blip r:embed="rId2"/>
          <a:srcRect l="6551" r="6053" b="13693"/>
          <a:stretch>
            <a:fillRect/>
          </a:stretch>
        </p:blipFill>
        <p:spPr>
          <a:xfrm>
            <a:off x="67025" y="1683410"/>
            <a:ext cx="6042172" cy="3729288"/>
          </a:xfrm>
          <a:prstGeom prst="rect">
            <a:avLst/>
          </a:prstGeom>
        </p:spPr>
      </p:pic>
      <p:pic>
        <p:nvPicPr>
          <p:cNvPr id="5" name="Picture 4" descr="image5.jpg"/>
          <p:cNvPicPr>
            <a:picLocks noChangeAspect="1"/>
          </p:cNvPicPr>
          <p:nvPr/>
        </p:nvPicPr>
        <p:blipFill>
          <a:blip r:embed="rId3"/>
          <a:srcRect l="15460" r="15520" b="27705"/>
          <a:stretch>
            <a:fillRect/>
          </a:stretch>
        </p:blipFill>
        <p:spPr>
          <a:xfrm>
            <a:off x="6220206" y="1689811"/>
            <a:ext cx="5923666" cy="372288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Legalese on Website</a:t>
            </a:r>
          </a:p>
        </p:txBody>
      </p:sp>
      <p:sp>
        <p:nvSpPr>
          <p:cNvPr id="3" name="Content Placeholder 2"/>
          <p:cNvSpPr>
            <a:spLocks noGrp="1"/>
          </p:cNvSpPr>
          <p:nvPr>
            <p:ph type="obj" idx="1"/>
          </p:nvPr>
        </p:nvSpPr>
        <p:spPr>
          <a:xfrm>
            <a:off x="480060" y="938449"/>
            <a:ext cx="11052261" cy="5687659"/>
          </a:xfrm>
        </p:spPr>
        <p:txBody>
          <a:bodyPr wrap="square"/>
          <a:lstStyle/>
          <a:p>
            <a:pPr lvl="0"/>
            <a:r>
              <a:rPr>
                <a:solidFill>
                  <a:srgbClr val="222222"/>
                </a:solidFill>
                <a:latin typeface="Arial"/>
              </a:rPr>
              <a:t>Legal entity name: </a:t>
            </a:r>
            <a:r>
              <a:rPr>
                <a:solidFill>
                  <a:schemeClr val="accent6"/>
                </a:solidFill>
                <a:latin typeface="Arial"/>
              </a:rPr>
              <a:t>The Saint Luke Guild</a:t>
            </a:r>
          </a:p>
          <a:p>
            <a:pPr lvl="0"/>
            <a:r>
              <a:rPr>
                <a:solidFill>
                  <a:srgbClr val="222222"/>
                </a:solidFill>
                <a:latin typeface="Arial"/>
              </a:rPr>
              <a:t>Governing jurisdiction: </a:t>
            </a:r>
            <a:r>
              <a:rPr>
                <a:solidFill>
                  <a:schemeClr val="accent6"/>
                </a:solidFill>
                <a:latin typeface="Arial"/>
              </a:rPr>
              <a:t>New Mexico</a:t>
            </a:r>
          </a:p>
          <a:p>
            <a:pPr lvl="0"/>
            <a:r>
              <a:rPr>
                <a:solidFill>
                  <a:srgbClr val="222222"/>
                </a:solidFill>
                <a:latin typeface="Arial"/>
              </a:rPr>
              <a:t>Merchant registered business address: </a:t>
            </a:r>
            <a:r>
              <a:rPr>
                <a:solidFill>
                  <a:schemeClr val="accent6"/>
                </a:solidFill>
                <a:latin typeface="Arial"/>
              </a:rPr>
              <a:t>2718 University Blvd NE, Albuquerque, NM 87107</a:t>
            </a:r>
          </a:p>
          <a:p>
            <a:pPr lvl="0"/>
            <a:r>
              <a:rPr>
                <a:solidFill>
                  <a:srgbClr val="222222"/>
                </a:solidFill>
                <a:latin typeface="Arial"/>
              </a:rPr>
              <a:t>Privacy Policy</a:t>
            </a:r>
          </a:p>
          <a:p>
            <a:pPr lvl="1"/>
            <a:r>
              <a:rPr>
                <a:solidFill>
                  <a:schemeClr val="accent6"/>
                </a:solidFill>
                <a:latin typeface="Arial"/>
              </a:rPr>
              <a:t>See next slide</a:t>
            </a:r>
          </a:p>
          <a:p>
            <a:pPr lvl="0"/>
            <a:r>
              <a:rPr>
                <a:solidFill>
                  <a:srgbClr val="222222"/>
                </a:solidFill>
                <a:latin typeface="Arial"/>
              </a:rPr>
              <a:t>Refund/Cancellation/Return Policy</a:t>
            </a:r>
          </a:p>
          <a:p>
            <a:pPr lvl="1"/>
            <a:r>
              <a:rPr>
                <a:solidFill>
                  <a:schemeClr val="accent6"/>
                </a:solidFill>
                <a:latin typeface="Arial"/>
              </a:rPr>
              <a:t>See next slide</a:t>
            </a:r>
          </a:p>
          <a:p>
            <a:pPr lvl="0"/>
            <a:r>
              <a:rPr>
                <a:solidFill>
                  <a:srgbClr val="222222"/>
                </a:solidFill>
                <a:latin typeface="Arial"/>
              </a:rPr>
              <a:t>See </a:t>
            </a:r>
            <a:r>
              <a:rPr>
                <a:solidFill>
                  <a:srgbClr val="222222"/>
                </a:solidFill>
                <a:latin typeface="Arial"/>
                <a:hlinkClick r:id="rId2"/>
              </a:rPr>
              <a:t>www.SaintLukeGuild.com/About-Us</a:t>
            </a:r>
          </a:p>
          <a:p>
            <a:pPr lvl="1"/>
            <a:r>
              <a:rPr>
                <a:solidFill>
                  <a:srgbClr val="222222"/>
                </a:solidFill>
                <a:latin typeface="Arial"/>
              </a:rPr>
              <a:t>To be moved to </a:t>
            </a:r>
            <a:r>
              <a:rPr>
                <a:solidFill>
                  <a:srgbClr val="222222"/>
                </a:solidFill>
                <a:latin typeface="Arial"/>
                <a:hlinkClick r:id="rId3"/>
              </a:rPr>
              <a:t>www.SaintLukeGuild.com/Legalese</a:t>
            </a:r>
            <a:r>
              <a:rPr>
                <a:solidFill>
                  <a:srgbClr val="222222"/>
                </a:solidFill>
                <a:latin typeface="Arial"/>
              </a:rPr>
              <a:t> at a future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Privacy and Refund Policy</a:t>
            </a:r>
          </a:p>
        </p:txBody>
      </p:sp>
      <p:sp>
        <p:nvSpPr>
          <p:cNvPr id="3" name="Content Placeholder 2"/>
          <p:cNvSpPr>
            <a:spLocks noGrp="1"/>
          </p:cNvSpPr>
          <p:nvPr>
            <p:ph type="obj" idx="1"/>
          </p:nvPr>
        </p:nvSpPr>
        <p:spPr>
          <a:xfrm>
            <a:off x="318028" y="938449"/>
            <a:ext cx="11425702" cy="5193426"/>
          </a:xfrm>
        </p:spPr>
        <p:txBody>
          <a:bodyPr wrap="square">
            <a:normAutofit fontScale="92500" lnSpcReduction="20000"/>
          </a:bodyPr>
          <a:lstStyle/>
          <a:p>
            <a:pPr lvl="0">
              <a:buNone/>
            </a:pPr>
            <a:r>
              <a:rPr>
                <a:hlinkClick r:id="rId2"/>
              </a:rPr>
              <a:t>https://www.saintlukeguild.com/about-us</a:t>
            </a:r>
          </a:p>
          <a:p>
            <a:pPr lvl="0">
              <a:buNone/>
            </a:pPr>
            <a:r>
              <a:t>Refund Policy</a:t>
            </a:r>
          </a:p>
          <a:p>
            <a:pPr lvl="0"/>
            <a:r>
              <a:t>The Saint Luke Guild does not deliver products to individuals; therefore cancellations and returns are not applicable.  Also, donor refunds are not generally offered.  Refunds will be considered on a case-by-case basis before money is distributed to the designated project (e.g., if someone accidentally entered the wrong donation amount and contact is made within one business day).  To request a refund, contact us at </a:t>
            </a:r>
            <a:r>
              <a:rPr>
                <a:hlinkClick r:id="rId3"/>
              </a:rPr>
              <a:t>refunds@saintlukeguild.com</a:t>
            </a:r>
            <a:r>
              <a:t>.</a:t>
            </a:r>
          </a:p>
          <a:p>
            <a:pPr lvl="0">
              <a:buNone/>
            </a:pPr>
            <a:r>
              <a:t>Privacy Policy</a:t>
            </a:r>
          </a:p>
          <a:p>
            <a:pPr lvl="0"/>
            <a:r>
              <a:t>The Saint Luke Guild takes donor information and privacy very seriously.  We will never sell donor information to a third party for any reason.</a:t>
            </a:r>
          </a:p>
          <a:p>
            <a:pPr lvl="0"/>
            <a:r>
              <a:t>Donor information will only be shared with outside businesses as necessary to deliver services (e.g., processing credit card donations, etc.).</a:t>
            </a:r>
          </a:p>
          <a:p>
            <a:pPr lvl="1"/>
            <a:r>
              <a:t>The exception is when donors choose a specific school project to donate to.  When this occurs, donor information will typically be shared with the specified school, so that they can know to whom they should be grateful.  Donors may opt out of information sharing on the donor 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rPr/>
              <a:t>Regulatory Documents</a:t>
            </a:r>
          </a:p>
        </p:txBody>
      </p:sp>
      <p:sp>
        <p:nvSpPr>
          <p:cNvPr id="3" name="Content Placeholder 2"/>
          <p:cNvSpPr>
            <a:spLocks noGrp="1"/>
          </p:cNvSpPr>
          <p:nvPr>
            <p:ph type="obj" idx="1"/>
          </p:nvPr>
        </p:nvSpPr>
        <p:spPr/>
        <p:txBody>
          <a:bodyPr wrap="square"/>
          <a:lstStyle/>
          <a:p>
            <a:pPr lvl="0"/>
            <a:r>
              <a:t>License required to operate the business</a:t>
            </a:r>
          </a:p>
          <a:p>
            <a:pPr lvl="1"/>
            <a:r>
              <a:rPr>
                <a:solidFill>
                  <a:schemeClr val="accent6"/>
                </a:solidFill>
              </a:rPr>
              <a:t>NM_SoS_InitialReport_2016917025-502856.pdf</a:t>
            </a:r>
          </a:p>
          <a:p>
            <a:pPr lvl="1"/>
            <a:r>
              <a:rPr>
                <a:solidFill>
                  <a:schemeClr val="accent6"/>
                </a:solidFill>
              </a:rPr>
              <a:t>NM_ArticlesOfIncorporation_AoI_Approved.pdf</a:t>
            </a:r>
          </a:p>
          <a:p>
            <a:pPr lvl="0"/>
            <a:r>
              <a:t>Licenses for all jurisdictions in which you intend to provide your services.</a:t>
            </a:r>
          </a:p>
          <a:p>
            <a:pPr lvl="1"/>
            <a:r>
              <a:rPr>
                <a:solidFill>
                  <a:schemeClr val="accent6"/>
                </a:solidFill>
              </a:rPr>
              <a:t>Starting in NM.  Other locations unknown, so far.</a:t>
            </a:r>
          </a:p>
          <a:p>
            <a:pPr lvl="0"/>
            <a:r>
              <a:t>Copy of AML/KYC policy and procedures</a:t>
            </a:r>
          </a:p>
          <a:p>
            <a:pPr lvl="1"/>
            <a:r>
              <a:rPr>
                <a:solidFill>
                  <a:schemeClr val="accent6"/>
                </a:solidFill>
              </a:rPr>
              <a:t>Not sure what this would look like.  Are there examples?</a:t>
            </a:r>
          </a:p>
          <a:p>
            <a:pPr lvl="0"/>
            <a:r>
              <a:t>Completed AML Questionnaire</a:t>
            </a:r>
          </a:p>
          <a:p>
            <a:pPr lvl="1"/>
            <a:r>
              <a:rPr>
                <a:solidFill>
                  <a:schemeClr val="accent6"/>
                </a:solidFill>
              </a:rPr>
              <a:t>Has this been 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rPr/>
              <a:t>Corporate Documents</a:t>
            </a:r>
          </a:p>
        </p:txBody>
      </p:sp>
      <p:sp>
        <p:nvSpPr>
          <p:cNvPr id="3" name="Content Placeholder 2"/>
          <p:cNvSpPr>
            <a:spLocks noGrp="1"/>
          </p:cNvSpPr>
          <p:nvPr>
            <p:ph type="obj" idx="1"/>
          </p:nvPr>
        </p:nvSpPr>
        <p:spPr/>
        <p:txBody>
          <a:bodyPr wrap="square"/>
          <a:lstStyle/>
          <a:p>
            <a:pPr lvl="0"/>
            <a:r>
              <a:t>Please provide 501c3 document to confirm tax exempt status</a:t>
            </a:r>
          </a:p>
          <a:p>
            <a:pPr lvl="0"/>
            <a:r>
              <a:rPr>
                <a:solidFill>
                  <a:schemeClr val="accent6"/>
                </a:solidFill>
              </a:rPr>
              <a:t>The following are attached</a:t>
            </a:r>
          </a:p>
          <a:p>
            <a:pPr lvl="1"/>
            <a:r>
              <a:rPr>
                <a:solidFill>
                  <a:schemeClr val="accent6"/>
                </a:solidFill>
              </a:rPr>
              <a:t>IRS_f1023ez_SaintLukeGuild_20210711_AsSubmitted.pdf</a:t>
            </a:r>
          </a:p>
          <a:p>
            <a:pPr lvl="1"/>
            <a:r>
              <a:rPr>
                <a:solidFill>
                  <a:schemeClr val="accent6"/>
                </a:solidFill>
              </a:rPr>
              <a:t>IRS_fSS4_EIN_Letter_CP575Notice_1622224687610.pdf</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9640</TotalTime>
  <Words>940</Words>
  <Application>Microsoft Office PowerPoint</Application>
  <PresentationFormat>Widescreen</PresentationFormat>
  <Paragraphs>93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Georgia</vt:lpstr>
      <vt:lpstr>Times New Roman</vt:lpstr>
      <vt:lpstr>Gallery</vt:lpstr>
      <vt:lpstr>The Saint Luke Guild Checkout.com  Requested Info</vt:lpstr>
      <vt:lpstr>Transaction Information Data Request </vt:lpstr>
      <vt:lpstr>Transaction Flow Chart for Website Donor Funds</vt:lpstr>
      <vt:lpstr>Website Donor Forms Entry Point for Project Funding</vt:lpstr>
      <vt:lpstr>Website Donor Forms Ideal Point</vt:lpstr>
      <vt:lpstr>Bank Account Info</vt:lpstr>
      <vt:lpstr>KYC documentation </vt:lpstr>
      <vt:lpstr>Legalese on Website</vt:lpstr>
      <vt:lpstr>Privacy and Refund Policy</vt:lpstr>
      <vt:lpstr>Regulatory Documents</vt:lpstr>
      <vt:lpstr>Corporate Documents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Masterpieces</dc:title>
  <dc:creator>Janice Martinez</dc:creator>
  <cp:lastModifiedBy>Douglas Coombs</cp:lastModifiedBy>
  <cp:revision>400</cp:revision>
  <cp:lastPrinted>2020-08-28T15:42:36Z</cp:lastPrinted>
  <dcterms:created xsi:type="dcterms:W3CDTF">2020-02-04T20:10:58Z</dcterms:created>
  <dcterms:modified xsi:type="dcterms:W3CDTF">2022-07-01T13:48:04Z</dcterms:modified>
</cp:coreProperties>
</file>