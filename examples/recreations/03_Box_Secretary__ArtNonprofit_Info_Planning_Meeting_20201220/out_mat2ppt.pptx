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3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</p:sldIdLst>
  <p:sldSz cx="12192000" cy="6858000"/>
  <p:notesSz cx="7023100" cy="93091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D18E"/>
    <a:srgbClr val="003399"/>
    <a:srgbClr val="9B99B3"/>
    <a:srgbClr val="020151"/>
    <a:srgbClr val="010127"/>
    <a:srgbClr val="04004D"/>
    <a:srgbClr val="0400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38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43343" cy="467071"/>
          </a:xfrm>
          <a:prstGeom prst="rect">
            <a:avLst/>
          </a:prstGeom>
        </p:spPr>
        <p:txBody>
          <a:bodyPr vert="horz" lIns="93304" tIns="46653" rIns="93304" bIns="4665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1"/>
            <a:ext cx="3043343" cy="467071"/>
          </a:xfrm>
          <a:prstGeom prst="rect">
            <a:avLst/>
          </a:prstGeom>
        </p:spPr>
        <p:txBody>
          <a:bodyPr vert="horz" lIns="93304" tIns="46653" rIns="93304" bIns="46653" rtlCol="0"/>
          <a:lstStyle>
            <a:lvl1pPr algn="r">
              <a:defRPr sz="1200"/>
            </a:lvl1pPr>
          </a:lstStyle>
          <a:p>
            <a:fld id="{7F7B82D3-D4F7-4B8B-8BE1-460FB89887CB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4825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04" tIns="46653" rIns="93304" bIns="4665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80005"/>
            <a:ext cx="5618480" cy="3665459"/>
          </a:xfrm>
          <a:prstGeom prst="rect">
            <a:avLst/>
          </a:prstGeom>
        </p:spPr>
        <p:txBody>
          <a:bodyPr vert="horz" lIns="93304" tIns="46653" rIns="93304" bIns="4665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43343" cy="467070"/>
          </a:xfrm>
          <a:prstGeom prst="rect">
            <a:avLst/>
          </a:prstGeom>
        </p:spPr>
        <p:txBody>
          <a:bodyPr vert="horz" lIns="93304" tIns="46653" rIns="93304" bIns="4665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30"/>
            <a:ext cx="3043343" cy="467070"/>
          </a:xfrm>
          <a:prstGeom prst="rect">
            <a:avLst/>
          </a:prstGeom>
        </p:spPr>
        <p:txBody>
          <a:bodyPr vert="horz" lIns="93304" tIns="46653" rIns="93304" bIns="46653" rtlCol="0" anchor="b"/>
          <a:lstStyle>
            <a:lvl1pPr algn="r">
              <a:defRPr sz="1200"/>
            </a:lvl1pPr>
          </a:lstStyle>
          <a:p>
            <a:fld id="{211EEFB6-8312-4F1B-A70E-46D57B978E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16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pPr/>
              <a:t>12/20/2020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69A8AA-85C3-4D8C-9C61-3E926044398E}"/>
              </a:ext>
            </a:extLst>
          </p:cNvPr>
          <p:cNvSpPr/>
          <p:nvPr userDrawn="1"/>
        </p:nvSpPr>
        <p:spPr>
          <a:xfrm>
            <a:off x="9682645" y="-4747"/>
            <a:ext cx="2509355" cy="6869866"/>
          </a:xfrm>
          <a:prstGeom prst="rect">
            <a:avLst/>
          </a:prstGeom>
          <a:solidFill>
            <a:srgbClr val="9B99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B2F07-B815-45D0-9D66-9BD0EA66D7C8}"/>
              </a:ext>
            </a:extLst>
          </p:cNvPr>
          <p:cNvSpPr/>
          <p:nvPr userDrawn="1"/>
        </p:nvSpPr>
        <p:spPr>
          <a:xfrm>
            <a:off x="1" y="-4745"/>
            <a:ext cx="2623225" cy="6869865"/>
          </a:xfrm>
          <a:prstGeom prst="rect">
            <a:avLst/>
          </a:prstGeom>
          <a:solidFill>
            <a:srgbClr val="9B99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FBFD15-DCFC-4A08-A2A1-02ACD5A3FF90}"/>
              </a:ext>
            </a:extLst>
          </p:cNvPr>
          <p:cNvSpPr/>
          <p:nvPr userDrawn="1"/>
        </p:nvSpPr>
        <p:spPr>
          <a:xfrm>
            <a:off x="2623226" y="-4747"/>
            <a:ext cx="7059420" cy="6869866"/>
          </a:xfrm>
          <a:prstGeom prst="rect">
            <a:avLst/>
          </a:prstGeom>
          <a:blipFill>
            <a:blip r:embed="rId2">
              <a:alphaModFix amt="40000"/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628064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095" y="12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3095" y="1432877"/>
            <a:ext cx="10515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12/20/2020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 descr="http://holychildcatholicschool.org/images/AMDG.jpg">
            <a:extLst>
              <a:ext uri="{FF2B5EF4-FFF2-40B4-BE49-F238E27FC236}">
                <a16:creationId xmlns:a16="http://schemas.microsoft.com/office/drawing/2014/main" id="{1A075D24-58FB-45E0-97FB-D110E42AAD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20" y="5525929"/>
            <a:ext cx="1143000" cy="1224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Content Placeholder 5">
            <a:extLst>
              <a:ext uri="{FF2B5EF4-FFF2-40B4-BE49-F238E27FC236}">
                <a16:creationId xmlns:a16="http://schemas.microsoft.com/office/drawing/2014/main" id="{FB4AF569-35E8-469F-B966-1D4991D7CA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8881" y="139366"/>
            <a:ext cx="1410420" cy="1371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4A9ABD-6110-4F9E-A27C-F9036C891C1E}"/>
              </a:ext>
            </a:extLst>
          </p:cNvPr>
          <p:cNvSpPr txBox="1"/>
          <p:nvPr userDrawn="1"/>
        </p:nvSpPr>
        <p:spPr>
          <a:xfrm>
            <a:off x="3201787" y="6315104"/>
            <a:ext cx="853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HOLY CHILD CATHOLIC SCHOOL: RAISING SAINTS, FORMING SCHOLARS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8B6997-9B4F-4EE7-914A-92A8BA753781}"/>
              </a:ext>
            </a:extLst>
          </p:cNvPr>
          <p:cNvCxnSpPr>
            <a:cxnSpLocks/>
          </p:cNvCxnSpPr>
          <p:nvPr userDrawn="1"/>
        </p:nvCxnSpPr>
        <p:spPr>
          <a:xfrm>
            <a:off x="1449421" y="6176963"/>
            <a:ext cx="10302312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3000B35-988C-48A1-ADC2-1647C99D651C}"/>
              </a:ext>
            </a:extLst>
          </p:cNvPr>
          <p:cNvCxnSpPr>
            <a:cxnSpLocks/>
          </p:cNvCxnSpPr>
          <p:nvPr userDrawn="1"/>
        </p:nvCxnSpPr>
        <p:spPr>
          <a:xfrm>
            <a:off x="535022" y="1083971"/>
            <a:ext cx="10029217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680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680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0284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677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44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105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715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586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894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7671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1C0534-AC82-40C9-9D5F-C772AE9BC3F8}" type="datetimeFigureOut">
              <a:rPr lang="en-US" smtClean="0"/>
              <a:t>12/20/2020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c" descr=" "/>
          <p:cNvSpPr txBox="1"/>
          <p:nvPr userDrawn="1"/>
        </p:nvSpPr>
        <p:spPr>
          <a:xfrm>
            <a:off x="0" y="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50" b="0" i="0" u="none" baseline="0">
                <a:solidFill>
                  <a:srgbClr val="000000"/>
                </a:solidFill>
                <a:latin typeface="Microsoft Sans Serif" panose="020B0604020202020204" pitchFamily="34" charset="0"/>
              </a:rPr>
              <a:t> </a:t>
            </a:r>
          </a:p>
        </p:txBody>
      </p:sp>
      <p:sp>
        <p:nvSpPr>
          <p:cNvPr id="8" name="fc" descr=" "/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50" b="0" i="0" u="none" baseline="0">
                <a:solidFill>
                  <a:srgbClr val="000000"/>
                </a:solidFill>
                <a:latin typeface="Microsoft Sans Serif" panose="020B0604020202020204" pitchFamily="34" charset="0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839727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/>
              <a:t>Art Non-profit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lvl="0">
              <a:buNone/>
            </a:pPr>
            <a:r>
              <a:t>Informational and Planning Meeting</a:t>
            </a:r>
          </a:p>
          <a:p>
            <a:pPr lvl="0">
              <a:buNone/>
            </a:pPr>
            <a:r>
              <a:t>December 20, 2020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93136" y="1132759"/>
            <a:ext cx="10515600" cy="4651461"/>
          </a:xfrm>
        </p:spPr>
        <p:txBody>
          <a:bodyPr wrap="square">
            <a:normAutofit/>
          </a:bodyPr>
          <a:lstStyle/>
          <a:p>
            <a:pPr lvl="0"/>
            <a:r>
              <a:t>Summary of Current Project and Status</a:t>
            </a:r>
          </a:p>
          <a:p>
            <a:pPr lvl="0"/>
            <a:r>
              <a:t>Overview of Potential Non-profit Purpose and Goals</a:t>
            </a:r>
          </a:p>
          <a:p>
            <a:pPr lvl="0"/>
            <a:r>
              <a:t>Survey of Participants and Potential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/>
              <a:t>Holy Child 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93136" y="1160556"/>
            <a:ext cx="10515600" cy="4623664"/>
          </a:xfrm>
        </p:spPr>
        <p:txBody>
          <a:bodyPr wrap="square">
            <a:normAutofit fontScale="62500" lnSpcReduction="20000"/>
          </a:bodyPr>
          <a:lstStyle/>
          <a:p>
            <a:pPr lvl="0"/>
            <a:r>
              <a:t>Mother Seton Hall art schema finished</a:t>
            </a:r>
          </a:p>
          <a:p>
            <a:pPr lvl="1"/>
            <a:r>
              <a:t>Five main hallway sections, plus intro, closing, and side hallways</a:t>
            </a:r>
          </a:p>
          <a:p>
            <a:pPr lvl="1"/>
            <a:r>
              <a:t>Focus is on reproductions of masterpiece paintings and will not include photos of statues and other architecture</a:t>
            </a:r>
          </a:p>
          <a:p>
            <a:pPr lvl="1"/>
            <a:r>
              <a:t>Each main section to cover an era of history</a:t>
            </a:r>
          </a:p>
          <a:p>
            <a:pPr lvl="2"/>
            <a:r>
              <a:t>Also looking to highlight art history</a:t>
            </a:r>
          </a:p>
          <a:p>
            <a:pPr lvl="0"/>
            <a:r>
              <a:t>Intro section complete</a:t>
            </a:r>
          </a:p>
          <a:p>
            <a:pPr lvl="1"/>
            <a:r>
              <a:t>10 paintings for just over $10k</a:t>
            </a:r>
          </a:p>
          <a:p>
            <a:pPr lvl="0"/>
            <a:r>
              <a:t>Modern Era Funding Promised ? Currently in RFQ Stage</a:t>
            </a:r>
          </a:p>
          <a:p>
            <a:pPr lvl="1"/>
            <a:r>
              <a:t>Two pieces awaiting final down select</a:t>
            </a:r>
          </a:p>
          <a:p>
            <a:pPr lvl="1"/>
            <a:r>
              <a:t>15 paintings for $10.5k-14k</a:t>
            </a:r>
          </a:p>
          <a:p>
            <a:pPr lvl="0"/>
            <a:r>
              <a:t>Fundraising and final selection remains for following sections</a:t>
            </a:r>
          </a:p>
          <a:p>
            <a:pPr lvl="1"/>
            <a:r>
              <a:t>Cradle of Civilization and OT</a:t>
            </a:r>
          </a:p>
          <a:p>
            <a:pPr lvl="1"/>
            <a:r>
              <a:t>Greece and Rome</a:t>
            </a:r>
          </a:p>
          <a:p>
            <a:pPr lvl="1"/>
            <a:r>
              <a:t>Paschal Mystery</a:t>
            </a:r>
          </a:p>
          <a:p>
            <a:pPr lvl="1"/>
            <a:r>
              <a:t>Early Church to Medieval Era</a:t>
            </a:r>
          </a:p>
          <a:p>
            <a:pPr lvl="0"/>
            <a:r>
              <a:t>Estimated Costs remaining: ~40 paintings for $35k plus lighting</a:t>
            </a:r>
          </a:p>
          <a:p>
            <a:pPr lvl="0"/>
            <a:r>
              <a:t>Planning not yet begun for Blessed Miguel Pro Hall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96519" y="2586014"/>
            <a:ext cx="4195450" cy="1938985"/>
          </a:xfrm>
          <a:prstGeom prst="rect">
            <a:avLst/>
          </a:prstGeom>
          <a:noFill/>
        </p:spPr>
        <p:txBody>
          <a:bodyPr wrap="square" vert="horz" lIns="91440" tIns="45720" rIns="91440" bIns="45720" rtlCol="0">
            <a:spAutoFit/>
          </a:bodyPr>
          <a:lstStyle/>
          <a:p>
            <a:pPr algn="ctr">
              <a:buNone/>
            </a:pPr>
            <a:r>
              <a:rPr sz="4000" b="1">
                <a:solidFill>
                  <a:schemeClr val="accent5"/>
                </a:solidFill>
              </a:rPr>
              <a:t>Mother Seton Hall Nearly 1/3 Complete!!!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136" y="1189"/>
            <a:ext cx="10515600" cy="1072591"/>
          </a:xfrm>
        </p:spPr>
        <p:txBody>
          <a:bodyPr/>
          <a:lstStyle/>
          <a:p>
            <a:r>
              <a:rPr/>
              <a:t>Mother Seton Hall Art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1436522" y="4766584"/>
            <a:ext cx="2863078" cy="1384584"/>
          </a:xfrm>
        </p:spPr>
        <p:txBody>
          <a:bodyPr wrap="square">
            <a:normAutofit fontScale="92500" lnSpcReduction="10000"/>
          </a:bodyPr>
          <a:lstStyle/>
          <a:p>
            <a:pPr lvl="0"/>
            <a:r>
              <a:rPr>
                <a:solidFill>
                  <a:srgbClr val="00B050"/>
                </a:solidFill>
              </a:rPr>
              <a:t>Completed</a:t>
            </a:r>
          </a:p>
          <a:p>
            <a:pPr lvl="0"/>
            <a:r>
              <a:rPr>
                <a:solidFill>
                  <a:srgbClr val="7030A0"/>
                </a:solidFill>
              </a:rPr>
              <a:t>In-progress</a:t>
            </a:r>
          </a:p>
          <a:p>
            <a:pPr lvl="0"/>
            <a:r>
              <a:rPr>
                <a:solidFill>
                  <a:schemeClr val="accent2"/>
                </a:solidFill>
              </a:rPr>
              <a:t>Planning Stages</a:t>
            </a:r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rcRect r="1414"/>
          <a:stretch>
            <a:fillRect/>
          </a:stretch>
        </p:blipFill>
        <p:spPr>
          <a:xfrm>
            <a:off x="707379" y="1155893"/>
            <a:ext cx="9944374" cy="3686129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856061" y="3196102"/>
            <a:ext cx="1741200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908614" y="3225363"/>
            <a:ext cx="2423892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56061" y="2755178"/>
            <a:ext cx="1741200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56061" y="4026194"/>
            <a:ext cx="787938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75446" y="3196102"/>
            <a:ext cx="0" cy="806409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32506" y="3338840"/>
            <a:ext cx="418429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908614" y="2776849"/>
            <a:ext cx="2423892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58215" y="2776849"/>
            <a:ext cx="2201693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66861" y="3197382"/>
            <a:ext cx="1773661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64769" y="3205886"/>
            <a:ext cx="2175723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164769" y="2776849"/>
            <a:ext cx="1212677" cy="0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6246" y="3196102"/>
            <a:ext cx="0" cy="533004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661507" y="2222174"/>
            <a:ext cx="0" cy="375087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71459" y="2243846"/>
            <a:ext cx="0" cy="533003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750935" y="3338840"/>
            <a:ext cx="0" cy="193121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136" y="1189"/>
            <a:ext cx="10515600" cy="1141811"/>
          </a:xfrm>
        </p:spPr>
        <p:txBody>
          <a:bodyPr>
            <a:normAutofit/>
          </a:bodyPr>
          <a:lstStyle/>
          <a:p>
            <a:r>
              <a:rPr sz="3600"/>
              <a:t>Non-profit Purposes</a:t>
            </a:r>
            <a:br/>
            <a:r>
              <a:rPr sz="3600"/>
              <a:t>Asset Protection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93136" y="1485900"/>
            <a:ext cx="11332525" cy="4298320"/>
          </a:xfrm>
        </p:spPr>
        <p:txBody>
          <a:bodyPr wrap="square">
            <a:normAutofit/>
          </a:bodyPr>
          <a:lstStyle/>
          <a:p>
            <a:pPr lvl="0"/>
            <a:r>
              <a:t>Asset protection is critical to fundraising in parishes/dioceses where future friendliness toward classical education and great art is in question</a:t>
            </a:r>
          </a:p>
          <a:p>
            <a:pPr lvl="1"/>
            <a:r>
              <a:t>Barbarian bishops and modernist priests have destroyed much church art and sold off numerous assets to pay abuse settlements</a:t>
            </a:r>
          </a:p>
          <a:p>
            <a:pPr lvl="1"/>
            <a:r>
              <a:t>Most people have stories of friends/family saving church art from literal dumpsters</a:t>
            </a:r>
          </a:p>
          <a:p>
            <a:pPr lvl="1"/>
            <a:r>
              <a:t>Non-profit can hold assets in trust and give them away to other schools if unfriendly powers take control and want to dispose of the art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136" y="1189"/>
            <a:ext cx="10515600" cy="1141811"/>
          </a:xfrm>
        </p:spPr>
        <p:txBody>
          <a:bodyPr>
            <a:normAutofit/>
          </a:bodyPr>
          <a:lstStyle/>
          <a:p>
            <a:r>
              <a:rPr sz="3600"/>
              <a:t>Non-profit Purposes</a:t>
            </a:r>
            <a:br/>
            <a:r>
              <a:rPr sz="3600"/>
              <a:t>Project and Concept Promotion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93136" y="1485900"/>
            <a:ext cx="11332525" cy="4298320"/>
          </a:xfrm>
        </p:spPr>
        <p:txBody>
          <a:bodyPr wrap="square">
            <a:normAutofit fontScale="92500" lnSpcReduction="20000"/>
          </a:bodyPr>
          <a:lstStyle/>
          <a:p>
            <a:pPr lvl="0"/>
            <a:r>
              <a:t>Holy Child is pioneering something new</a:t>
            </a:r>
          </a:p>
          <a:p>
            <a:pPr lvl="1"/>
            <a:r>
              <a:t>Never before have modern printing methods been combined with the ever-growing library of high resolution photos of museum paintings to bring the best masterpiece paintings in the western canon to schools</a:t>
            </a:r>
          </a:p>
          <a:p>
            <a:pPr lvl="0"/>
            <a:r>
              <a:t>The classical school movement is rapidly expanding and pioneering new ways to bring the a traditional education to the modern world</a:t>
            </a:r>
          </a:p>
          <a:p>
            <a:pPr lvl="1"/>
            <a:r>
              <a:t>Many schools would likely be interested if they could see this project</a:t>
            </a:r>
          </a:p>
          <a:p>
            <a:pPr lvl="0"/>
            <a:r>
              <a:t>Ways to promote concept</a:t>
            </a:r>
          </a:p>
          <a:p>
            <a:pPr lvl="1"/>
            <a:r>
              <a:t>Speak at educational conferences</a:t>
            </a:r>
          </a:p>
          <a:p>
            <a:pPr lvl="1"/>
            <a:r>
              <a:t>News coverage</a:t>
            </a:r>
          </a:p>
          <a:p>
            <a:pPr lvl="1"/>
            <a:r>
              <a:t>Publishing in academic journals and educational magazines</a:t>
            </a:r>
          </a:p>
          <a:p>
            <a:pPr lvl="1"/>
            <a:r>
              <a:t>Partnerships with local art museums</a:t>
            </a:r>
          </a:p>
          <a:p>
            <a:pPr lvl="1"/>
            <a:r>
              <a:t>Partnerships with other schools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136" y="1189"/>
            <a:ext cx="10515600" cy="1141811"/>
          </a:xfrm>
        </p:spPr>
        <p:txBody>
          <a:bodyPr>
            <a:normAutofit/>
          </a:bodyPr>
          <a:lstStyle/>
          <a:p>
            <a:r>
              <a:rPr sz="3600"/>
              <a:t>Non-profit Purposes</a:t>
            </a:r>
            <a:br/>
            <a:r>
              <a:rPr sz="3600"/>
              <a:t>Connecting School Communities and Museums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93136" y="1143000"/>
            <a:ext cx="11332525" cy="4641220"/>
          </a:xfrm>
        </p:spPr>
        <p:txBody>
          <a:bodyPr wrap="square">
            <a:normAutofit fontScale="92500" lnSpcReduction="10000"/>
          </a:bodyPr>
          <a:lstStyle/>
          <a:p>
            <a:pPr lvl="0"/>
            <a:r>
              <a:t>Reproductions shouldn't be the only art children see</a:t>
            </a:r>
          </a:p>
          <a:p>
            <a:pPr lvl="1"/>
            <a:r>
              <a:t>Most masterpiece paintings live in museums</a:t>
            </a:r>
          </a:p>
          <a:p>
            <a:pPr lvl="1"/>
            <a:r>
              <a:t>Traveling exhibits bring masterpieces to even smaller cities like Albuquerque</a:t>
            </a:r>
          </a:p>
          <a:p>
            <a:pPr lvl="0"/>
            <a:r>
              <a:t>Reserving a section of wall to display the best of local art museums would encourage families to visit</a:t>
            </a:r>
          </a:p>
          <a:p>
            <a:pPr lvl="1"/>
            <a:r>
              <a:t>Requires working with museum staff to acquire rights and select pieces for display</a:t>
            </a:r>
          </a:p>
          <a:p>
            <a:pPr lvl="1"/>
            <a:r>
              <a:t>Provides visibility of museum exhibits to school families</a:t>
            </a:r>
          </a:p>
          <a:p>
            <a:pPr lvl="1"/>
            <a:r>
              <a:t>Provides visibility of school in the wider community</a:t>
            </a:r>
          </a:p>
          <a:p>
            <a:pPr lvl="0"/>
            <a:r>
              <a:t>Win-win for families, museum, and school</a:t>
            </a:r>
          </a:p>
          <a:p>
            <a:pPr lvl="0"/>
            <a:r>
              <a:t>Strong partnerships generate opportunity for positive media interest and coverage</a:t>
            </a:r>
          </a:p>
          <a:p>
            <a:pPr lvl="1"/>
            <a:r>
              <a:t>Museum staff will likely lead this effort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136" y="1189"/>
            <a:ext cx="10515600" cy="1141811"/>
          </a:xfrm>
        </p:spPr>
        <p:txBody>
          <a:bodyPr>
            <a:normAutofit/>
          </a:bodyPr>
          <a:lstStyle/>
          <a:p>
            <a:r>
              <a:rPr sz="3600"/>
              <a:t>Non-profit Purposes</a:t>
            </a:r>
            <a:br/>
            <a:r>
              <a:rPr sz="3600"/>
              <a:t>Connecting Likeminded School Communities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93136" y="1143000"/>
            <a:ext cx="11332525" cy="4641220"/>
          </a:xfrm>
        </p:spPr>
        <p:txBody>
          <a:bodyPr wrap="square">
            <a:normAutofit lnSpcReduction="10000"/>
          </a:bodyPr>
          <a:lstStyle/>
          <a:p>
            <a:pPr lvl="0"/>
            <a:r>
              <a:t>Serve as central resource to connect classical schools that want to implement this idea</a:t>
            </a:r>
          </a:p>
          <a:p>
            <a:pPr lvl="0"/>
            <a:r>
              <a:t>Provide planning and logistical support to schools lacking expertise</a:t>
            </a:r>
          </a:p>
          <a:p>
            <a:pPr lvl="1"/>
            <a:r>
              <a:t>Can help schools with planning and piece selection</a:t>
            </a:r>
          </a:p>
          <a:p>
            <a:pPr lvl="2"/>
            <a:r>
              <a:t>Holy Child has already looked at thousands of paintings and has presentations with hundreds of potential candidates</a:t>
            </a:r>
          </a:p>
          <a:p>
            <a:pPr lvl="1"/>
            <a:r>
              <a:t>Provide logistical support to schools</a:t>
            </a:r>
          </a:p>
          <a:p>
            <a:pPr lvl="2"/>
            <a:r>
              <a:t>Connect with Duraplaq and Derek Brooks</a:t>
            </a:r>
          </a:p>
          <a:p>
            <a:pPr lvl="2"/>
            <a:r>
              <a:t>Develop connections to companies in other parts of  the country/world as time progresses</a:t>
            </a:r>
          </a:p>
          <a:p>
            <a:pPr lvl="0"/>
            <a:r>
              <a:t>Provide support to schools looking to circulate loaned paintings</a:t>
            </a:r>
          </a:p>
          <a:p>
            <a:pPr lvl="1"/>
            <a:r>
              <a:t>Similar to how most museums have traveling exhibits</a:t>
            </a:r>
          </a:p>
          <a:p>
            <a:pPr lvl="0"/>
            <a:r>
              <a:t>Help connect schools with their local art community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136" y="1189"/>
            <a:ext cx="10515600" cy="1106607"/>
          </a:xfrm>
        </p:spPr>
        <p:txBody>
          <a:bodyPr>
            <a:normAutofit/>
          </a:bodyPr>
          <a:lstStyle/>
          <a:p>
            <a:r>
              <a:rPr sz="3600"/>
              <a:t>Starting a Non-profit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562722" y="1182594"/>
            <a:ext cx="5533309" cy="4462089"/>
          </a:xfrm>
        </p:spPr>
        <p:txBody>
          <a:bodyPr wrap="square">
            <a:normAutofit fontScale="92500" lnSpcReduction="20000"/>
          </a:bodyPr>
          <a:lstStyle/>
          <a:p>
            <a:pPr lvl="0"/>
            <a:r>
              <a:t>Decide on purpose for organization and general goals</a:t>
            </a:r>
          </a:p>
          <a:p>
            <a:pPr lvl="1"/>
            <a:r>
              <a:t>Feedback - Disagreement on goals in previous slides or other ideas?</a:t>
            </a:r>
          </a:p>
          <a:p>
            <a:pPr lvl="0"/>
            <a:r>
              <a:t>Select board model</a:t>
            </a:r>
          </a:p>
          <a:p>
            <a:pPr lvl="0"/>
            <a:r>
              <a:t>Recruit and vote on transition board members (with future in mind)</a:t>
            </a:r>
          </a:p>
          <a:p>
            <a:pPr lvl="1"/>
            <a:r>
              <a:t>Highlight business/non-profit experience, time, motivation, and art expertise</a:t>
            </a:r>
          </a:p>
          <a:p>
            <a:pPr lvl="1"/>
            <a:r>
              <a:t>Avoid conflicts of interest</a:t>
            </a:r>
          </a:p>
          <a:p>
            <a:pPr lvl="1"/>
            <a:r>
              <a:t>Decide on committees - both business and art related</a:t>
            </a:r>
          </a:p>
          <a:p>
            <a:pPr lvl="0"/>
            <a:r>
              <a:t>Vote on a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72952" y="1559143"/>
            <a:ext cx="6134069" cy="4462089"/>
          </a:xfrm>
          <a:prstGeom prst="rect">
            <a:avLst/>
          </a:prstGeom>
          <a:noFill/>
        </p:spPr>
        <p:txBody>
          <a:bodyPr wrap="square"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t>Set board meeting dates for regular meetings</a:t>
            </a:r>
          </a:p>
          <a:p>
            <a:pPr lvl="1"/>
            <a:r>
              <a:t>Set due dates and goals for tasks</a:t>
            </a:r>
          </a:p>
          <a:p>
            <a:pPr lvl="0"/>
            <a:r>
              <a:t>Write Articles of Incorporation and Bylaws</a:t>
            </a:r>
          </a:p>
          <a:p>
            <a:pPr lvl="1"/>
            <a:r>
              <a:t>Select annual meeting date (mostly set in stone)</a:t>
            </a:r>
          </a:p>
          <a:p>
            <a:pPr lvl="1"/>
            <a:r>
              <a:t>Formally vote on board members</a:t>
            </a:r>
          </a:p>
          <a:p>
            <a:pPr lvl="0"/>
            <a:r>
              <a:t>Work with volunteer legal help to</a:t>
            </a:r>
          </a:p>
          <a:p>
            <a:pPr lvl="1"/>
            <a:r>
              <a:t>Submit paperwork to state of NM</a:t>
            </a:r>
          </a:p>
          <a:p>
            <a:pPr lvl="1"/>
            <a:r>
              <a:t>Submit paperwork to IRS</a:t>
            </a:r>
          </a:p>
          <a:p>
            <a:pPr lvl="0"/>
            <a:r>
              <a:t>Get training for IRS paperwork and business aspects of tax deductibility</a:t>
            </a:r>
          </a:p>
          <a:p>
            <a:pPr lvl="0"/>
            <a:r>
              <a:t>Prioritize art-related projects and get to work</a:t>
            </a:r>
          </a:p>
          <a:p>
            <a:pPr lvl="1"/>
            <a:r>
              <a:t>Can't do everything at once — figure out projects with high impact and low difficulty to begin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955432"/>
            <a:ext cx="12191970" cy="1325606"/>
          </a:xfrm>
        </p:spPr>
        <p:txBody>
          <a:bodyPr/>
          <a:lstStyle/>
          <a:p>
            <a:pPr algn="ctr"/>
            <a:r>
              <a:rPr/>
              <a:t>Questions and Feedback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16519</TotalTime>
  <Words>733</Words>
  <Application>Microsoft Office PowerPoint</Application>
  <PresentationFormat>Widescreen</PresentationFormat>
  <Paragraphs>113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Microsoft Sans Serif</vt:lpstr>
      <vt:lpstr>Times New Roman</vt:lpstr>
      <vt:lpstr>Office Theme</vt:lpstr>
      <vt:lpstr>Art Non-profit</vt:lpstr>
      <vt:lpstr>Overview</vt:lpstr>
      <vt:lpstr>Holy Child Project Overview</vt:lpstr>
      <vt:lpstr>Mother Seton Hall Art Schema</vt:lpstr>
      <vt:lpstr>Non-profit Purposes Asset Protection</vt:lpstr>
      <vt:lpstr>Non-profit Purposes Project and Concept Promotion</vt:lpstr>
      <vt:lpstr>Non-profit Purposes Connecting School Communities and Museums</vt:lpstr>
      <vt:lpstr>Non-profit Purposes Connecting Likeminded School Communities</vt:lpstr>
      <vt:lpstr>Starting a Non-profit</vt:lpstr>
      <vt:lpstr>Questions and Feedback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cfam</dc:creator>
  <cp:lastModifiedBy>Douglas Coombs</cp:lastModifiedBy>
  <cp:revision>170</cp:revision>
  <cp:lastPrinted>2018-08-10T14:08:26Z</cp:lastPrinted>
  <dcterms:created xsi:type="dcterms:W3CDTF">2017-10-21T04:06:09Z</dcterms:created>
  <dcterms:modified xsi:type="dcterms:W3CDTF">2020-12-20T08:15:09Z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073af042-833c-47dd-b860-957f86ae111e</vt:lpwstr>
  </property>
  <property fmtid="{D5CDD505-2E9C-101B-9397-08002B2CF9AE}" pid="3" name="techData">
    <vt:lpwstr>No</vt:lpwstr>
  </property>
  <property fmtid="{D5CDD505-2E9C-101B-9397-08002B2CF9AE}" pid="4" name="VisualMarking">
    <vt:lpwstr>None</vt:lpwstr>
  </property>
  <property fmtid="{D5CDD505-2E9C-101B-9397-08002B2CF9AE}" pid="5" name="ThirdPartyComment">
    <vt:lpwstr>none needed</vt:lpwstr>
  </property>
</Properties>
</file>