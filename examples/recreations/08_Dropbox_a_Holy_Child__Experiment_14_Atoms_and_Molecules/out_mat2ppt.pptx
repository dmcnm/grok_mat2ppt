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7.jpg"/><Relationship Id="rId5" Type="http://schemas.openxmlformats.org/officeDocument/2006/relationships/image" Target="../media/image18.jpg"/><Relationship Id="rId6" Type="http://schemas.openxmlformats.org/officeDocument/2006/relationships/image" Target="../media/image19.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81000" y="274638"/>
            <a:ext cx="8296275" cy="52879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Nucleation and Growth of Crystalline Structures On A Treated Substrate From A Supersaturated Solution Of C12H22O11</a:t>
            </a: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9100" y="274638"/>
            <a:ext cx="8296275" cy="52879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Nucleation and Growth of Crystalline Structures On A Treated Substrate From A Supersaturated Solution Of C12H22O11</a:t>
            </a:r>
          </a:p>
        </p:txBody>
      </p:sp>
      <p:sp>
        <p:nvSpPr>
          <p:cNvPr id="20" name="Rectangle 19"/>
          <p:cNvSpPr/>
          <p:nvPr/>
        </p:nvSpPr>
        <p:spPr>
          <a:xfrm>
            <a:off x="152400" y="5715000"/>
            <a:ext cx="3800475" cy="46166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  Too Complicated!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274638"/>
            <a:ext cx="8229600" cy="15922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Better Title:Making Rock Candy!</a:t>
            </a:r>
          </a:p>
        </p:txBody>
      </p:sp>
      <p:pic>
        <p:nvPicPr>
          <p:cNvPr id="3" name="Picture 2" descr="image1.jpeg"/>
          <p:cNvPicPr>
            <a:picLocks noChangeAspect="1"/>
          </p:cNvPicPr>
          <p:nvPr/>
        </p:nvPicPr>
        <p:blipFill>
          <a:blip r:embed="rId2"/>
          <a:stretch>
            <a:fillRect/>
          </a:stretch>
        </p:blipFill>
        <p:spPr>
          <a:xfrm>
            <a:off x="2905125" y="1990725"/>
            <a:ext cx="3333750" cy="3333750"/>
          </a:xfrm>
          <a:prstGeom prst="rect">
            <a:avLst/>
          </a:prstGeom>
        </p:spPr>
      </p:pic>
      <p:sp>
        <p:nvSpPr>
          <p:cNvPr id="4" name="Rectangle 3"/>
          <p:cNvSpPr/>
          <p:nvPr/>
        </p:nvSpPr>
        <p:spPr>
          <a:xfrm>
            <a:off x="2133600" y="5650468"/>
            <a:ext cx="487680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And Other Crystals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81000" y="381000"/>
            <a:ext cx="8305800" cy="838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Funny Election Sign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3.jpeg"/>
          <p:cNvPicPr>
            <a:picLocks noChangeAspect="1"/>
          </p:cNvPicPr>
          <p:nvPr/>
        </p:nvPicPr>
        <p:blipFill>
          <a:blip r:embed="rId2"/>
          <a:stretch>
            <a:fillRect/>
          </a:stretch>
        </p:blipFill>
        <p:spPr>
          <a:xfrm>
            <a:off x="5232400" y="1604962"/>
            <a:ext cx="2952750" cy="1552576"/>
          </a:xfrm>
          <a:prstGeom prst="rect">
            <a:avLst/>
          </a:prstGeom>
        </p:spPr>
      </p:pic>
      <p:pic>
        <p:nvPicPr>
          <p:cNvPr id="8" name="Picture 7" descr="image4.jpeg"/>
          <p:cNvPicPr>
            <a:picLocks noChangeAspect="1"/>
          </p:cNvPicPr>
          <p:nvPr/>
        </p:nvPicPr>
        <p:blipFill>
          <a:blip r:embed="rId3"/>
          <a:stretch>
            <a:fillRect/>
          </a:stretch>
        </p:blipFill>
        <p:spPr>
          <a:xfrm>
            <a:off x="4151214" y="3505200"/>
            <a:ext cx="2706786" cy="2743200"/>
          </a:xfrm>
          <a:prstGeom prst="rect">
            <a:avLst/>
          </a:prstGeom>
        </p:spPr>
      </p:pic>
      <p:sp>
        <p:nvSpPr>
          <p:cNvPr id="9" name="Rectangle 8"/>
          <p:cNvSpPr/>
          <p:nvPr/>
        </p:nvSpPr>
        <p:spPr>
          <a:xfrm>
            <a:off x="457200" y="1600200"/>
            <a:ext cx="3810000" cy="403859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We will be using a hot stove to make our rock candy solution. Let the adults do the cooking!Be careful with          your glass jars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an 1"/>
          <p:cNvSpPr/>
          <p:nvPr/>
        </p:nvSpPr>
        <p:spPr>
          <a:xfrm>
            <a:off x="4572001" y="2705101"/>
            <a:ext cx="1878290" cy="3448050"/>
          </a:xfrm>
          <a:prstGeom prst="can">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5.png"/>
          <p:cNvPicPr>
            <a:picLocks noChangeAspect="1"/>
          </p:cNvPicPr>
          <p:nvPr/>
        </p:nvPicPr>
        <p:blipFill>
          <a:blip r:embed="rId2"/>
          <a:stretch>
            <a:fillRect/>
          </a:stretch>
        </p:blipFill>
        <p:spPr>
          <a:xfrm>
            <a:off x="5191160" y="1973451"/>
            <a:ext cx="422376" cy="1925536"/>
          </a:xfrm>
          <a:prstGeom prst="rect">
            <a:avLst/>
          </a:prstGeom>
        </p:spPr>
      </p:pic>
      <p:sp>
        <p:nvSpPr>
          <p:cNvPr id="4" name="Rectangle 3"/>
          <p:cNvSpPr/>
          <p:nvPr/>
        </p:nvSpPr>
        <p:spPr>
          <a:xfrm>
            <a:off x="4581525" y="3400425"/>
            <a:ext cx="1866900" cy="280035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0" y="2819400"/>
            <a:ext cx="66675" cy="242887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4572000" y="3224213"/>
            <a:ext cx="1" cy="233362"/>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4569619" y="3088481"/>
            <a:ext cx="2382" cy="50007"/>
          </a:xfrm>
          <a:prstGeom prst="line">
            <a:avLst/>
          </a:prstGeom>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669631" y="3043238"/>
            <a:ext cx="52388" cy="238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338763" y="3171825"/>
            <a:ext cx="69056" cy="238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0613" y="3126581"/>
            <a:ext cx="164306" cy="1666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4018" y="4155282"/>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48301" y="4907757"/>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76875" y="4460081"/>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91175" y="4305301"/>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57836" y="4783931"/>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555456" y="4579145"/>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1637" y="4688682"/>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60219" y="4931569"/>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64982" y="4060032"/>
            <a:ext cx="59532" cy="619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379244" y="2701925"/>
            <a:ext cx="121444" cy="555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826919" y="2714625"/>
            <a:ext cx="102394" cy="714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963" y="2776538"/>
            <a:ext cx="50006" cy="1190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6049" y="5534025"/>
            <a:ext cx="1704975"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Pint jar with lid</a:t>
            </a:r>
          </a:p>
        </p:txBody>
      </p:sp>
      <p:sp>
        <p:nvSpPr>
          <p:cNvPr id="24" name="Rectangle 23"/>
          <p:cNvSpPr/>
          <p:nvPr/>
        </p:nvSpPr>
        <p:spPr>
          <a:xfrm>
            <a:off x="6372224" y="2266950"/>
            <a:ext cx="1314451" cy="36933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Clothespin</a:t>
            </a:r>
          </a:p>
        </p:txBody>
      </p:sp>
      <p:sp>
        <p:nvSpPr>
          <p:cNvPr id="25" name="Rectangle 24"/>
          <p:cNvSpPr/>
          <p:nvPr/>
        </p:nvSpPr>
        <p:spPr>
          <a:xfrm>
            <a:off x="7010399" y="3048000"/>
            <a:ext cx="1219201"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Piece of string</a:t>
            </a:r>
          </a:p>
        </p:txBody>
      </p:sp>
      <p:sp>
        <p:nvSpPr>
          <p:cNvPr id="26" name="Rectangle 25"/>
          <p:cNvSpPr/>
          <p:nvPr/>
        </p:nvSpPr>
        <p:spPr>
          <a:xfrm>
            <a:off x="3238499" y="4819650"/>
            <a:ext cx="1219201" cy="92333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Hot sugar solution</a:t>
            </a:r>
          </a:p>
        </p:txBody>
      </p:sp>
      <p:sp>
        <p:nvSpPr>
          <p:cNvPr id="27" name="Rectangle 26"/>
          <p:cNvSpPr/>
          <p:nvPr/>
        </p:nvSpPr>
        <p:spPr>
          <a:xfrm>
            <a:off x="6562724" y="4219575"/>
            <a:ext cx="1219201"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Sugar crystals</a:t>
            </a:r>
          </a:p>
        </p:txBody>
      </p:sp>
      <p:sp>
        <p:nvSpPr>
          <p:cNvPr id="28" name="Rectangle 27"/>
          <p:cNvSpPr/>
          <p:nvPr/>
        </p:nvSpPr>
        <p:spPr>
          <a:xfrm>
            <a:off x="5686425" y="4195763"/>
            <a:ext cx="1104900" cy="21431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48325" y="3257550"/>
            <a:ext cx="1362075" cy="4191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V="1">
            <a:off x="4400550" y="5200650"/>
            <a:ext cx="447675" cy="57150"/>
          </a:xfrm>
          <a:prstGeom prst="straightConnector1">
            <a:avLst/>
          </a:prstGeom>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715124" y="4972050"/>
            <a:ext cx="1219201" cy="36933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Paper clip</a:t>
            </a:r>
          </a:p>
        </p:txBody>
      </p:sp>
      <p:pic>
        <p:nvPicPr>
          <p:cNvPr id="32" name="Picture 31" descr="image6.png"/>
          <p:cNvPicPr>
            <a:picLocks noChangeAspect="1"/>
          </p:cNvPicPr>
          <p:nvPr/>
        </p:nvPicPr>
        <p:blipFill>
          <a:blip r:embed="rId3"/>
          <a:stretch>
            <a:fillRect/>
          </a:stretch>
        </p:blipFill>
        <p:spPr>
          <a:xfrm>
            <a:off x="5372101" y="5073650"/>
            <a:ext cx="398202" cy="1050925"/>
          </a:xfrm>
          <a:prstGeom prst="rect">
            <a:avLst/>
          </a:prstGeom>
        </p:spPr>
      </p:pic>
      <p:sp>
        <p:nvSpPr>
          <p:cNvPr id="33" name="Rectangle 32"/>
          <p:cNvSpPr/>
          <p:nvPr/>
        </p:nvSpPr>
        <p:spPr>
          <a:xfrm>
            <a:off x="5791200" y="5065713"/>
            <a:ext cx="828675" cy="3063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1905000"/>
            <a:ext cx="2779059" cy="45259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Materials:Kettle or potDistilled waterSugarWooden spoonLadlePint jar with lidStringPaper clipClothespinFlavoringsFood coloringWax paper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1589087"/>
            <a:ext cx="8229600" cy="28305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Now Let’s Go To The Kitchen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79438"/>
            <a:ext cx="8229600" cy="1143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Procedure for Experiment 1</a:t>
            </a: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905000"/>
            <a:ext cx="8229600" cy="4419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This makes enough solution for 16 pint jars.In large kettles, boil 16 cups (4 quarts) of distilled water.We will need 40 cups of sugar.Slowly add 10 cups of sugar to each quart of boiling water, stirring until the sugar dissolves.Allow the solution to cool for 20 minutes.Fill each jar full of the solution using the ladle.Add food coloring and flavoring to your jar!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1390650"/>
            <a:ext cx="8305800" cy="4800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Tie one end of a 6-inch piece of string to the center of a clothespin and the other end to the end of a paper clip.Dip your string into the sugar solution.Roll your string in some sugar.Let the string cool down.Very Important: Shake off any extra sugar.Lower the string into the jar of hot sugar solution, resting the clothespin on the jar lid.Keep the bottom end of the paper clip a half inch or so above the bottom of the jar.Put jar in a safe, warm place and wait one week.Do not disturb the jar while you are waiting for the crystals to form.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1493838"/>
            <a:ext cx="8229600" cy="245903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Back To The Classroom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7.jpeg"/>
          <p:cNvPicPr>
            <a:picLocks noChangeAspect="1"/>
          </p:cNvPicPr>
          <p:nvPr/>
        </p:nvPicPr>
        <p:blipFill>
          <a:blip r:embed="rId2"/>
          <a:stretch>
            <a:fillRect/>
          </a:stretch>
        </p:blipFill>
        <p:spPr>
          <a:xfrm>
            <a:off x="752475" y="1628775"/>
            <a:ext cx="3173046" cy="1933575"/>
          </a:xfrm>
          <a:prstGeom prst="rect">
            <a:avLst/>
          </a:prstGeom>
        </p:spPr>
      </p:pic>
      <p:pic>
        <p:nvPicPr>
          <p:cNvPr id="3" name="Picture 2" descr="image8.png"/>
          <p:cNvPicPr>
            <a:picLocks noChangeAspect="1"/>
          </p:cNvPicPr>
          <p:nvPr/>
        </p:nvPicPr>
        <p:blipFill>
          <a:blip r:embed="rId3"/>
          <a:stretch>
            <a:fillRect/>
          </a:stretch>
        </p:blipFill>
        <p:spPr>
          <a:xfrm>
            <a:off x="4117975" y="1406525"/>
            <a:ext cx="4572000" cy="2428875"/>
          </a:xfrm>
          <a:prstGeom prst="rect">
            <a:avLst/>
          </a:prstGeom>
        </p:spPr>
      </p:pic>
      <p:pic>
        <p:nvPicPr>
          <p:cNvPr id="4" name="Picture 3" descr="image9.jpeg"/>
          <p:cNvPicPr>
            <a:picLocks noChangeAspect="1"/>
          </p:cNvPicPr>
          <p:nvPr/>
        </p:nvPicPr>
        <p:blipFill>
          <a:blip r:embed="rId4"/>
          <a:stretch>
            <a:fillRect/>
          </a:stretch>
        </p:blipFill>
        <p:spPr>
          <a:xfrm>
            <a:off x="4822826" y="3856038"/>
            <a:ext cx="2463800" cy="2509792"/>
          </a:xfrm>
          <a:prstGeom prst="rect">
            <a:avLst/>
          </a:prstGeom>
        </p:spPr>
      </p:pic>
      <p:sp>
        <p:nvSpPr>
          <p:cNvPr id="5" name="Rectangle 4"/>
          <p:cNvSpPr/>
          <p:nvPr/>
        </p:nvSpPr>
        <p:spPr>
          <a:xfrm>
            <a:off x="2419350" y="4581525"/>
            <a:ext cx="2105025" cy="120032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Geode with crystals inside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0.jpeg"/>
          <p:cNvPicPr>
            <a:picLocks noChangeAspect="1"/>
          </p:cNvPicPr>
          <p:nvPr/>
        </p:nvPicPr>
        <p:blipFill>
          <a:blip r:embed="rId2"/>
          <a:stretch>
            <a:fillRect/>
          </a:stretch>
        </p:blipFill>
        <p:spPr>
          <a:xfrm>
            <a:off x="819150" y="1524000"/>
            <a:ext cx="2381250" cy="1905000"/>
          </a:xfrm>
          <a:prstGeom prst="rect">
            <a:avLst/>
          </a:prstGeom>
        </p:spPr>
      </p:pic>
      <p:sp>
        <p:nvSpPr>
          <p:cNvPr id="3" name="Rectangle 2"/>
          <p:cNvSpPr/>
          <p:nvPr/>
        </p:nvSpPr>
        <p:spPr>
          <a:xfrm>
            <a:off x="1219200" y="3505200"/>
            <a:ext cx="1600200" cy="36933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Quartz</a:t>
            </a:r>
          </a:p>
        </p:txBody>
      </p:sp>
      <p:pic>
        <p:nvPicPr>
          <p:cNvPr id="4" name="Picture 3" descr="image11.jpeg"/>
          <p:cNvPicPr>
            <a:picLocks noChangeAspect="1"/>
          </p:cNvPicPr>
          <p:nvPr/>
        </p:nvPicPr>
        <p:blipFill>
          <a:blip r:embed="rId3"/>
          <a:stretch>
            <a:fillRect/>
          </a:stretch>
        </p:blipFill>
        <p:spPr>
          <a:xfrm>
            <a:off x="4800600" y="1905000"/>
            <a:ext cx="3037873" cy="2286000"/>
          </a:xfrm>
          <a:prstGeom prst="rect">
            <a:avLst/>
          </a:prstGeom>
        </p:spPr>
      </p:pic>
      <p:sp>
        <p:nvSpPr>
          <p:cNvPr id="5" name="Rectangle 4"/>
          <p:cNvSpPr/>
          <p:nvPr/>
        </p:nvSpPr>
        <p:spPr>
          <a:xfrm>
            <a:off x="5562600" y="4267200"/>
            <a:ext cx="160020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Cinnabar (mercury)</a:t>
            </a:r>
          </a:p>
        </p:txBody>
      </p:sp>
      <p:pic>
        <p:nvPicPr>
          <p:cNvPr id="6" name="Picture 5" descr="image12.jpeg"/>
          <p:cNvPicPr>
            <a:picLocks noChangeAspect="1"/>
          </p:cNvPicPr>
          <p:nvPr/>
        </p:nvPicPr>
        <p:blipFill>
          <a:blip r:embed="rId4"/>
          <a:stretch>
            <a:fillRect/>
          </a:stretch>
        </p:blipFill>
        <p:spPr>
          <a:xfrm>
            <a:off x="838200" y="4114800"/>
            <a:ext cx="2095500" cy="1866901"/>
          </a:xfrm>
          <a:prstGeom prst="rect">
            <a:avLst/>
          </a:prstGeom>
        </p:spPr>
      </p:pic>
      <p:sp>
        <p:nvSpPr>
          <p:cNvPr id="7" name="Rectangle 6"/>
          <p:cNvSpPr/>
          <p:nvPr/>
        </p:nvSpPr>
        <p:spPr>
          <a:xfrm>
            <a:off x="2971800" y="4953000"/>
            <a:ext cx="160020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Pyrite (fool’s gold)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3.jpeg"/>
          <p:cNvPicPr>
            <a:picLocks noChangeAspect="1"/>
          </p:cNvPicPr>
          <p:nvPr/>
        </p:nvPicPr>
        <p:blipFill>
          <a:blip r:embed="rId2"/>
          <a:stretch>
            <a:fillRect/>
          </a:stretch>
        </p:blipFill>
        <p:spPr>
          <a:xfrm>
            <a:off x="896514" y="1524000"/>
            <a:ext cx="7333086" cy="48768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4.png"/>
          <p:cNvPicPr>
            <a:picLocks noChangeAspect="1"/>
          </p:cNvPicPr>
          <p:nvPr/>
        </p:nvPicPr>
        <p:blipFill>
          <a:blip r:embed="rId2"/>
          <a:stretch>
            <a:fillRect/>
          </a:stretch>
        </p:blipFill>
        <p:spPr>
          <a:xfrm>
            <a:off x="1295400" y="1676400"/>
            <a:ext cx="1929114" cy="1828800"/>
          </a:xfrm>
          <a:prstGeom prst="rect">
            <a:avLst/>
          </a:prstGeom>
        </p:spPr>
      </p:pic>
      <p:sp>
        <p:nvSpPr>
          <p:cNvPr id="3" name="Rectangle 2"/>
          <p:cNvSpPr/>
          <p:nvPr/>
        </p:nvSpPr>
        <p:spPr>
          <a:xfrm>
            <a:off x="1447800" y="3657600"/>
            <a:ext cx="1600200" cy="381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Orderly</a:t>
            </a:r>
          </a:p>
        </p:txBody>
      </p:sp>
      <p:sp>
        <p:nvSpPr>
          <p:cNvPr id="4" name="Rectangle 3"/>
          <p:cNvSpPr/>
          <p:nvPr/>
        </p:nvSpPr>
        <p:spPr>
          <a:xfrm>
            <a:off x="1524000" y="6019800"/>
            <a:ext cx="1600200" cy="381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Disorderly</a:t>
            </a:r>
          </a:p>
        </p:txBody>
      </p:sp>
      <p:pic>
        <p:nvPicPr>
          <p:cNvPr id="5" name="Picture 4" descr="image15.jpeg"/>
          <p:cNvPicPr>
            <a:picLocks noChangeAspect="1"/>
          </p:cNvPicPr>
          <p:nvPr/>
        </p:nvPicPr>
        <p:blipFill>
          <a:blip r:embed="rId3"/>
          <a:stretch>
            <a:fillRect/>
          </a:stretch>
        </p:blipFill>
        <p:spPr>
          <a:xfrm>
            <a:off x="4953000" y="1676400"/>
            <a:ext cx="3253793" cy="2971800"/>
          </a:xfrm>
          <a:prstGeom prst="rect">
            <a:avLst/>
          </a:prstGeom>
        </p:spPr>
      </p:pic>
      <p:sp>
        <p:nvSpPr>
          <p:cNvPr id="6" name="Rectangle 5"/>
          <p:cNvSpPr/>
          <p:nvPr/>
        </p:nvSpPr>
        <p:spPr>
          <a:xfrm>
            <a:off x="3334871" y="2266577"/>
            <a:ext cx="1488141" cy="790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791200" y="4724400"/>
            <a:ext cx="1600200" cy="381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Halite (salt)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1905000"/>
            <a:ext cx="2779059" cy="45259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Materials:Plastic platePlastic bowlSheet of black construction paperBaby food jar with lidTablespoonScissorsEpsom salt</a:t>
            </a:r>
          </a:p>
        </p:txBody>
      </p:sp>
      <p:sp>
        <p:nvSpPr>
          <p:cNvPr id="3" name="Rectangle 2"/>
          <p:cNvSpPr/>
          <p:nvPr/>
        </p:nvSpPr>
        <p:spPr>
          <a:xfrm>
            <a:off x="6629400" y="1752600"/>
            <a:ext cx="1600200" cy="1143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16.jpeg"/>
          <p:cNvPicPr>
            <a:picLocks noChangeAspect="1"/>
          </p:cNvPicPr>
          <p:nvPr/>
        </p:nvPicPr>
        <p:blipFill>
          <a:blip r:embed="rId2"/>
          <a:stretch>
            <a:fillRect/>
          </a:stretch>
        </p:blipFill>
        <p:spPr>
          <a:xfrm>
            <a:off x="3962400" y="1828800"/>
            <a:ext cx="1828800" cy="1828800"/>
          </a:xfrm>
          <a:prstGeom prst="rect">
            <a:avLst/>
          </a:prstGeom>
        </p:spPr>
      </p:pic>
      <p:pic>
        <p:nvPicPr>
          <p:cNvPr id="5" name="Picture 4" descr="image17.jpeg"/>
          <p:cNvPicPr>
            <a:picLocks noChangeAspect="1"/>
          </p:cNvPicPr>
          <p:nvPr/>
        </p:nvPicPr>
        <p:blipFill>
          <a:blip r:embed="rId3"/>
          <a:stretch>
            <a:fillRect/>
          </a:stretch>
        </p:blipFill>
        <p:spPr>
          <a:xfrm>
            <a:off x="3352800" y="3581400"/>
            <a:ext cx="1905000" cy="2049076"/>
          </a:xfrm>
          <a:prstGeom prst="rect">
            <a:avLst/>
          </a:prstGeom>
        </p:spPr>
      </p:pic>
      <p:pic>
        <p:nvPicPr>
          <p:cNvPr id="6" name="Picture 5" descr="image18.jpeg"/>
          <p:cNvPicPr>
            <a:picLocks noChangeAspect="1"/>
          </p:cNvPicPr>
          <p:nvPr/>
        </p:nvPicPr>
        <p:blipFill>
          <a:blip r:embed="rId4"/>
          <a:stretch>
            <a:fillRect/>
          </a:stretch>
        </p:blipFill>
        <p:spPr>
          <a:xfrm>
            <a:off x="5867400" y="3200400"/>
            <a:ext cx="1245235" cy="1464982"/>
          </a:xfrm>
          <a:prstGeom prst="rect">
            <a:avLst/>
          </a:prstGeom>
        </p:spPr>
      </p:pic>
      <p:pic>
        <p:nvPicPr>
          <p:cNvPr id="7" name="Picture 6" descr="image19.jpeg"/>
          <p:cNvPicPr>
            <a:picLocks noChangeAspect="1"/>
          </p:cNvPicPr>
          <p:nvPr/>
        </p:nvPicPr>
        <p:blipFill>
          <a:blip r:embed="rId5"/>
          <a:stretch>
            <a:fillRect/>
          </a:stretch>
        </p:blipFill>
        <p:spPr>
          <a:xfrm>
            <a:off x="6920633" y="3671167"/>
            <a:ext cx="2124433" cy="878099"/>
          </a:xfrm>
          <a:prstGeom prst="rect">
            <a:avLst/>
          </a:prstGeom>
        </p:spPr>
      </p:pic>
      <p:pic>
        <p:nvPicPr>
          <p:cNvPr id="8" name="Picture 7" descr="image20.gif"/>
          <p:cNvPicPr>
            <a:picLocks noChangeAspect="1"/>
          </p:cNvPicPr>
          <p:nvPr/>
        </p:nvPicPr>
        <p:blipFill>
          <a:blip r:embed="rId6"/>
          <a:stretch>
            <a:fillRect/>
          </a:stretch>
        </p:blipFill>
        <p:spPr>
          <a:xfrm>
            <a:off x="5715000" y="4724400"/>
            <a:ext cx="1666875" cy="1666875"/>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79438"/>
            <a:ext cx="8229600" cy="1143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Procedure for Experiment 2</a:t>
            </a:r>
          </a:p>
        </p:txBody>
      </p:sp>
      <p:sp>
        <p:nvSpPr>
          <p:cNvPr id="3" name="Rectangle 2"/>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905000"/>
            <a:ext cx="8229600" cy="4419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Turn your bowl upside down on the construction paper and trace it.Cut the circle out and fit it inside the plastic plate.Fill the baby food jar half full of warm water, then add 2 Tablespoons of epsom salt.Put the lid on and shake 60 times.Let the contents of the jar settle for a couple of minutes.Pour the liquid onto the black paper. Don’t pour any undissolved epsom salt onto the paper.Wait a few days, then look at the crystals. What do they look like?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1.jpeg"/>
          <p:cNvPicPr>
            <a:picLocks noChangeAspect="1"/>
          </p:cNvPicPr>
          <p:nvPr/>
        </p:nvPicPr>
        <p:blipFill>
          <a:blip r:embed="rId2"/>
          <a:stretch>
            <a:fillRect/>
          </a:stretch>
        </p:blipFill>
        <p:spPr>
          <a:xfrm>
            <a:off x="4651375" y="1457325"/>
            <a:ext cx="3981450" cy="2200275"/>
          </a:xfrm>
          <a:prstGeom prst="rect">
            <a:avLst/>
          </a:prstGeom>
        </p:spPr>
      </p:pic>
      <p:sp>
        <p:nvSpPr>
          <p:cNvPr id="3" name="Rectangle 2"/>
          <p:cNvSpPr/>
          <p:nvPr/>
        </p:nvSpPr>
        <p:spPr>
          <a:xfrm>
            <a:off x="457201" y="1247775"/>
            <a:ext cx="3714750" cy="527685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Crystal – a large, orderly arrangement of atoms or molecules in neat rows.Solvent – a liquid (like water) that you dissolve stuff in.Solute – a solid (like sugar) that you dissolve in the solvent.Solution – the mixture of solvent and solute (like sugar water).Saturated solution – a solution (like sugar in water) that can’t hold any more solute.Supersaturated solution – a solution that has been heated and holds more solute (like sugar) than it can at room temperature.Nucleation – the process in which a sugar molecule (solute) comes out of the sugar water solution and sticks to the sugar crystals on the string.</a:t>
            </a:r>
          </a:p>
        </p:txBody>
      </p:sp>
      <p:sp>
        <p:nvSpPr>
          <p:cNvPr id="4" name="Rectangle 3"/>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5575" y="-144463"/>
            <a:ext cx="304800" cy="3048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7.jpeg"/>
          <p:cNvPicPr>
            <a:picLocks noChangeAspect="1"/>
          </p:cNvPicPr>
          <p:nvPr/>
        </p:nvPicPr>
        <p:blipFill>
          <a:blip r:embed="rId3"/>
          <a:stretch>
            <a:fillRect/>
          </a:stretch>
        </p:blipFill>
        <p:spPr>
          <a:xfrm>
            <a:off x="5105400" y="3810000"/>
            <a:ext cx="3173046" cy="193357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