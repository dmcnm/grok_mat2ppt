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/>
  <p:sldSz cx="9144000" cy="6858000" type="screen4x3"/>
  <p:notesSz cx="7023100" cy="93091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1pPr>
    <a:lvl2pPr marL="4572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2pPr>
    <a:lvl3pPr marL="9144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3pPr>
    <a:lvl4pPr marL="1371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4pPr>
    <a:lvl5pPr marL="18288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FFFF79"/>
    <a:srgbClr val="F7FECE"/>
    <a:srgbClr val="FCFC6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6" autoAdjust="0"/>
    <p:restoredTop sz="74281" autoAdjust="0"/>
  </p:normalViewPr>
  <p:slideViewPr>
    <p:cSldViewPr>
      <p:cViewPr varScale="1">
        <p:scale>
          <a:sx n="93" d="100"/>
          <a:sy n="93" d="100"/>
        </p:scale>
        <p:origin x="-2154" y="-10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225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2294" y="-82"/>
      </p:cViewPr>
      <p:guideLst>
        <p:guide orient="horz" pos="2792"/>
        <p:guide pos="207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3" Type="http://schemas.openxmlformats.org/officeDocument/2006/relationships/tableStyles" Target="tableStyles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32" Type="http://schemas.openxmlformats.org/officeDocument/2006/relationships/theme" Target="theme/theme1.xml"/><Relationship Id="rId28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026" cy="465297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486" y="0"/>
            <a:ext cx="3043026" cy="465297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EE2650E8-05E4-4E7E-B5AC-F81B47EC6D99}" type="datetimeFigureOut">
              <a:rPr lang="en-US" smtClean="0"/>
              <a:pPr/>
              <a:t>5/1/2011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216"/>
            <a:ext cx="3043026" cy="46529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486" y="8842216"/>
            <a:ext cx="3043026" cy="46529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B246B444-12A1-4CB2-B64B-548BBBC866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1" y="1"/>
            <a:ext cx="7023100" cy="93091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8266" tIns="44133" rIns="88266" bIns="44133" anchor="ctr"/>
          <a:lstStyle/>
          <a:p>
            <a:endParaRPr lang="en-US" dirty="0"/>
          </a:p>
        </p:txBody>
      </p:sp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0" y="0"/>
            <a:ext cx="3043649" cy="46484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8266" tIns="44133" rIns="88266" bIns="44133" anchor="ctr"/>
          <a:lstStyle/>
          <a:p>
            <a:endParaRPr lang="en-US" dirty="0"/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3977928" y="0"/>
            <a:ext cx="3043649" cy="46484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8266" tIns="44133" rIns="88266" bIns="44133" anchor="ctr"/>
          <a:lstStyle/>
          <a:p>
            <a:endParaRPr lang="en-US" dirty="0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84275" y="698500"/>
            <a:ext cx="4652963" cy="348932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2616" y="4422131"/>
            <a:ext cx="5616346" cy="418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3479" tIns="46566" rIns="93479" bIns="46566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0" y="8842722"/>
            <a:ext cx="3043649" cy="46484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8266" tIns="44133" rIns="88266" bIns="44133" anchor="ctr"/>
          <a:lstStyle/>
          <a:p>
            <a:endParaRPr lang="en-US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977928" y="8842722"/>
            <a:ext cx="3042124" cy="463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3479" tIns="46566" rIns="93479" bIns="46566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882661" algn="l"/>
                <a:tab pos="1765321" algn="l"/>
                <a:tab pos="2647982" algn="l"/>
                <a:tab pos="3530643" algn="l"/>
                <a:tab pos="4413304" algn="l"/>
                <a:tab pos="5295964" algn="l"/>
                <a:tab pos="6178625" algn="l"/>
                <a:tab pos="7061286" algn="l"/>
                <a:tab pos="7943946" algn="l"/>
                <a:tab pos="8826607" algn="l"/>
                <a:tab pos="9709268" algn="l"/>
              </a:tabLst>
              <a:defRPr sz="1300">
                <a:solidFill>
                  <a:srgbClr val="000000"/>
                </a:solidFill>
              </a:defRPr>
            </a:lvl1pPr>
          </a:lstStyle>
          <a:p>
            <a:fld id="{90E86409-8C02-4D3A-B09D-8A8663F6C49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239838"/>
            <a:ext cx="4051300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3450" y="1239838"/>
            <a:ext cx="4051300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1000" y="269875"/>
            <a:ext cx="2063750" cy="61531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269875"/>
            <a:ext cx="6038850" cy="61531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69875"/>
            <a:ext cx="7154863" cy="808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0" y="1239838"/>
            <a:ext cx="4048125" cy="5176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0275" y="1239838"/>
            <a:ext cx="4048125" cy="5176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rgbClr val="FFFFFF"/>
            </a:gs>
            <a:gs pos="100000">
              <a:srgbClr val="FFFF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39838"/>
            <a:ext cx="8255000" cy="5183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7480" tIns="42840" rIns="87480" bIns="428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7869238" y="6635750"/>
            <a:ext cx="1085572" cy="22501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480" tIns="42840" rIns="87480" bIns="4284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" b="1" dirty="0">
                <a:solidFill>
                  <a:srgbClr val="000000"/>
                </a:solidFill>
              </a:rPr>
              <a:t>CES </a:t>
            </a:r>
            <a:r>
              <a:rPr lang="en-US" sz="400" b="1" dirty="0" smtClean="0">
                <a:solidFill>
                  <a:srgbClr val="000000"/>
                </a:solidFill>
              </a:rPr>
              <a:t>AFOSR Workshop 100527 </a:t>
            </a:r>
            <a:fld id="{90D26167-8F8E-4910-8E9D-33323C4B4EF6}" type="slidenum">
              <a:rPr lang="en-US" sz="900" b="1">
                <a:solidFill>
                  <a:srgbClr val="000000"/>
                </a:solidFill>
              </a:rPr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sz="900" b="1" dirty="0">
              <a:solidFill>
                <a:srgbClr val="000000"/>
              </a:solidFill>
            </a:endParaRP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627438" y="0"/>
            <a:ext cx="1361568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dirty="0" smtClean="0">
                <a:solidFill>
                  <a:srgbClr val="000000"/>
                </a:solidFill>
              </a:rPr>
              <a:t>UNCLASSIFIED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269875"/>
            <a:ext cx="7161213" cy="814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45720" tIns="47520" rIns="90000" bIns="475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1028700"/>
            <a:ext cx="9144000" cy="92075"/>
          </a:xfrm>
          <a:prstGeom prst="rect">
            <a:avLst/>
          </a:prstGeom>
          <a:gradFill rotWithShape="0">
            <a:gsLst>
              <a:gs pos="0">
                <a:srgbClr val="FED910"/>
              </a:gs>
              <a:gs pos="100000">
                <a:srgbClr val="0D2B88"/>
              </a:gs>
            </a:gsLst>
            <a:path path="rect">
              <a:fillToRect l="100000" b="10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 cstate="print"/>
          <a:srcRect l="16376" t="2377" r="12497" b="21284"/>
          <a:stretch>
            <a:fillRect/>
          </a:stretch>
        </p:blipFill>
        <p:spPr bwMode="auto">
          <a:xfrm>
            <a:off x="14288" y="52388"/>
            <a:ext cx="1189037" cy="969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153400" y="609600"/>
            <a:ext cx="990600" cy="169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077200" y="152400"/>
            <a:ext cx="471488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624888" y="152400"/>
            <a:ext cx="519112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153400" y="0"/>
            <a:ext cx="819150" cy="120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grpSp>
        <p:nvGrpSpPr>
          <p:cNvPr id="1036" name="Group 12"/>
          <p:cNvGrpSpPr>
            <a:grpSpLocks/>
          </p:cNvGrpSpPr>
          <p:nvPr/>
        </p:nvGrpSpPr>
        <p:grpSpPr bwMode="auto">
          <a:xfrm>
            <a:off x="8074025" y="787400"/>
            <a:ext cx="1068388" cy="277813"/>
            <a:chOff x="5086" y="496"/>
            <a:chExt cx="673" cy="175"/>
          </a:xfrm>
        </p:grpSpPr>
        <p:sp>
          <p:nvSpPr>
            <p:cNvPr id="1037" name="AutoShape 13"/>
            <p:cNvSpPr>
              <a:spLocks noChangeArrowheads="1"/>
            </p:cNvSpPr>
            <p:nvPr/>
          </p:nvSpPr>
          <p:spPr bwMode="auto">
            <a:xfrm>
              <a:off x="5086" y="496"/>
              <a:ext cx="674" cy="176"/>
            </a:xfrm>
            <a:prstGeom prst="roundRect">
              <a:avLst>
                <a:gd name="adj" fmla="val 565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038" name="Group 14"/>
            <p:cNvGrpSpPr>
              <a:grpSpLocks/>
            </p:cNvGrpSpPr>
            <p:nvPr/>
          </p:nvGrpSpPr>
          <p:grpSpPr bwMode="auto">
            <a:xfrm>
              <a:off x="5330" y="526"/>
              <a:ext cx="389" cy="49"/>
              <a:chOff x="5330" y="526"/>
              <a:chExt cx="389" cy="49"/>
            </a:xfrm>
          </p:grpSpPr>
          <p:sp>
            <p:nvSpPr>
              <p:cNvPr id="1039" name="AutoShape 15"/>
              <p:cNvSpPr>
                <a:spLocks noChangeArrowheads="1"/>
              </p:cNvSpPr>
              <p:nvPr/>
            </p:nvSpPr>
            <p:spPr bwMode="auto">
              <a:xfrm>
                <a:off x="5410" y="526"/>
                <a:ext cx="97" cy="50"/>
              </a:xfrm>
              <a:custGeom>
                <a:avLst/>
                <a:gdLst>
                  <a:gd name="T0" fmla="*/ 152 w 373"/>
                  <a:gd name="T1" fmla="*/ 0 h 234"/>
                  <a:gd name="T2" fmla="*/ 373 w 373"/>
                  <a:gd name="T3" fmla="*/ 0 h 234"/>
                  <a:gd name="T4" fmla="*/ 340 w 373"/>
                  <a:gd name="T5" fmla="*/ 49 h 234"/>
                  <a:gd name="T6" fmla="*/ 230 w 373"/>
                  <a:gd name="T7" fmla="*/ 49 h 234"/>
                  <a:gd name="T8" fmla="*/ 203 w 373"/>
                  <a:gd name="T9" fmla="*/ 91 h 234"/>
                  <a:gd name="T10" fmla="*/ 314 w 373"/>
                  <a:gd name="T11" fmla="*/ 91 h 234"/>
                  <a:gd name="T12" fmla="*/ 281 w 373"/>
                  <a:gd name="T13" fmla="*/ 140 h 234"/>
                  <a:gd name="T14" fmla="*/ 171 w 373"/>
                  <a:gd name="T15" fmla="*/ 140 h 234"/>
                  <a:gd name="T16" fmla="*/ 142 w 373"/>
                  <a:gd name="T17" fmla="*/ 185 h 234"/>
                  <a:gd name="T18" fmla="*/ 252 w 373"/>
                  <a:gd name="T19" fmla="*/ 185 h 234"/>
                  <a:gd name="T20" fmla="*/ 221 w 373"/>
                  <a:gd name="T21" fmla="*/ 234 h 234"/>
                  <a:gd name="T22" fmla="*/ 0 w 373"/>
                  <a:gd name="T23" fmla="*/ 234 h 234"/>
                  <a:gd name="T24" fmla="*/ 152 w 373"/>
                  <a:gd name="T25" fmla="*/ 0 h 234"/>
                  <a:gd name="T26" fmla="*/ 0 w 373"/>
                  <a:gd name="T27" fmla="*/ 0 h 234"/>
                  <a:gd name="T28" fmla="*/ 373 w 373"/>
                  <a:gd name="T2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T26" t="T27" r="T28" b="T29"/>
                <a:pathLst>
                  <a:path w="373" h="234">
                    <a:moveTo>
                      <a:pt x="152" y="0"/>
                    </a:moveTo>
                    <a:lnTo>
                      <a:pt x="373" y="0"/>
                    </a:lnTo>
                    <a:lnTo>
                      <a:pt x="340" y="49"/>
                    </a:lnTo>
                    <a:lnTo>
                      <a:pt x="230" y="49"/>
                    </a:lnTo>
                    <a:lnTo>
                      <a:pt x="203" y="91"/>
                    </a:lnTo>
                    <a:lnTo>
                      <a:pt x="314" y="91"/>
                    </a:lnTo>
                    <a:lnTo>
                      <a:pt x="281" y="140"/>
                    </a:lnTo>
                    <a:lnTo>
                      <a:pt x="171" y="140"/>
                    </a:lnTo>
                    <a:lnTo>
                      <a:pt x="142" y="185"/>
                    </a:lnTo>
                    <a:lnTo>
                      <a:pt x="252" y="185"/>
                    </a:lnTo>
                    <a:lnTo>
                      <a:pt x="221" y="234"/>
                    </a:lnTo>
                    <a:lnTo>
                      <a:pt x="0" y="234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0" name="AutoShape 16"/>
              <p:cNvSpPr>
                <a:spLocks noChangeArrowheads="1"/>
              </p:cNvSpPr>
              <p:nvPr/>
            </p:nvSpPr>
            <p:spPr bwMode="auto">
              <a:xfrm>
                <a:off x="5483" y="526"/>
                <a:ext cx="68" cy="50"/>
              </a:xfrm>
              <a:custGeom>
                <a:avLst/>
                <a:gdLst>
                  <a:gd name="T0" fmla="*/ 0 w 263"/>
                  <a:gd name="T1" fmla="*/ 234 h 234"/>
                  <a:gd name="T2" fmla="*/ 152 w 263"/>
                  <a:gd name="T3" fmla="*/ 0 h 234"/>
                  <a:gd name="T4" fmla="*/ 263 w 263"/>
                  <a:gd name="T5" fmla="*/ 0 h 234"/>
                  <a:gd name="T6" fmla="*/ 110 w 263"/>
                  <a:gd name="T7" fmla="*/ 234 h 234"/>
                  <a:gd name="T8" fmla="*/ 0 w 263"/>
                  <a:gd name="T9" fmla="*/ 234 h 234"/>
                  <a:gd name="T10" fmla="*/ 0 w 263"/>
                  <a:gd name="T11" fmla="*/ 0 h 234"/>
                  <a:gd name="T12" fmla="*/ 263 w 263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T10" t="T11" r="T12" b="T13"/>
                <a:pathLst>
                  <a:path w="263" h="234">
                    <a:moveTo>
                      <a:pt x="0" y="234"/>
                    </a:moveTo>
                    <a:lnTo>
                      <a:pt x="152" y="0"/>
                    </a:lnTo>
                    <a:lnTo>
                      <a:pt x="263" y="0"/>
                    </a:lnTo>
                    <a:lnTo>
                      <a:pt x="110" y="234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1" name="AutoShape 17"/>
              <p:cNvSpPr>
                <a:spLocks noChangeArrowheads="1"/>
              </p:cNvSpPr>
              <p:nvPr/>
            </p:nvSpPr>
            <p:spPr bwMode="auto">
              <a:xfrm>
                <a:off x="5531" y="526"/>
                <a:ext cx="107" cy="50"/>
              </a:xfrm>
              <a:custGeom>
                <a:avLst/>
                <a:gdLst>
                  <a:gd name="T0" fmla="*/ 261 w 412"/>
                  <a:gd name="T1" fmla="*/ 119 h 234"/>
                  <a:gd name="T2" fmla="*/ 237 w 412"/>
                  <a:gd name="T3" fmla="*/ 0 h 234"/>
                  <a:gd name="T4" fmla="*/ 151 w 412"/>
                  <a:gd name="T5" fmla="*/ 0 h 234"/>
                  <a:gd name="T6" fmla="*/ 0 w 412"/>
                  <a:gd name="T7" fmla="*/ 234 h 234"/>
                  <a:gd name="T8" fmla="*/ 73 w 412"/>
                  <a:gd name="T9" fmla="*/ 234 h 234"/>
                  <a:gd name="T10" fmla="*/ 149 w 412"/>
                  <a:gd name="T11" fmla="*/ 116 h 234"/>
                  <a:gd name="T12" fmla="*/ 172 w 412"/>
                  <a:gd name="T13" fmla="*/ 234 h 234"/>
                  <a:gd name="T14" fmla="*/ 259 w 412"/>
                  <a:gd name="T15" fmla="*/ 234 h 234"/>
                  <a:gd name="T16" fmla="*/ 412 w 412"/>
                  <a:gd name="T17" fmla="*/ 0 h 234"/>
                  <a:gd name="T18" fmla="*/ 338 w 412"/>
                  <a:gd name="T19" fmla="*/ 0 h 234"/>
                  <a:gd name="T20" fmla="*/ 261 w 412"/>
                  <a:gd name="T21" fmla="*/ 119 h 234"/>
                  <a:gd name="T22" fmla="*/ 0 w 412"/>
                  <a:gd name="T23" fmla="*/ 0 h 234"/>
                  <a:gd name="T24" fmla="*/ 412 w 412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T22" t="T23" r="T24" b="T25"/>
                <a:pathLst>
                  <a:path w="412" h="234">
                    <a:moveTo>
                      <a:pt x="261" y="119"/>
                    </a:moveTo>
                    <a:lnTo>
                      <a:pt x="237" y="0"/>
                    </a:lnTo>
                    <a:lnTo>
                      <a:pt x="151" y="0"/>
                    </a:lnTo>
                    <a:lnTo>
                      <a:pt x="0" y="234"/>
                    </a:lnTo>
                    <a:lnTo>
                      <a:pt x="73" y="234"/>
                    </a:lnTo>
                    <a:lnTo>
                      <a:pt x="149" y="116"/>
                    </a:lnTo>
                    <a:lnTo>
                      <a:pt x="172" y="234"/>
                    </a:lnTo>
                    <a:lnTo>
                      <a:pt x="259" y="234"/>
                    </a:lnTo>
                    <a:lnTo>
                      <a:pt x="412" y="0"/>
                    </a:lnTo>
                    <a:lnTo>
                      <a:pt x="338" y="0"/>
                    </a:lnTo>
                    <a:lnTo>
                      <a:pt x="261" y="119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2" name="AutoShape 18"/>
              <p:cNvSpPr>
                <a:spLocks noChangeArrowheads="1"/>
              </p:cNvSpPr>
              <p:nvPr/>
            </p:nvSpPr>
            <p:spPr bwMode="auto">
              <a:xfrm>
                <a:off x="5622" y="526"/>
                <a:ext cx="98" cy="50"/>
              </a:xfrm>
              <a:custGeom>
                <a:avLst/>
                <a:gdLst>
                  <a:gd name="T0" fmla="*/ 222 w 376"/>
                  <a:gd name="T1" fmla="*/ 107 h 234"/>
                  <a:gd name="T2" fmla="*/ 176 w 376"/>
                  <a:gd name="T3" fmla="*/ 179 h 234"/>
                  <a:gd name="T4" fmla="*/ 166 w 376"/>
                  <a:gd name="T5" fmla="*/ 185 h 234"/>
                  <a:gd name="T6" fmla="*/ 130 w 376"/>
                  <a:gd name="T7" fmla="*/ 185 h 234"/>
                  <a:gd name="T8" fmla="*/ 124 w 376"/>
                  <a:gd name="T9" fmla="*/ 183 h 234"/>
                  <a:gd name="T10" fmla="*/ 122 w 376"/>
                  <a:gd name="T11" fmla="*/ 177 h 234"/>
                  <a:gd name="T12" fmla="*/ 123 w 376"/>
                  <a:gd name="T13" fmla="*/ 171 h 234"/>
                  <a:gd name="T14" fmla="*/ 200 w 376"/>
                  <a:gd name="T15" fmla="*/ 55 h 234"/>
                  <a:gd name="T16" fmla="*/ 209 w 376"/>
                  <a:gd name="T17" fmla="*/ 49 h 234"/>
                  <a:gd name="T18" fmla="*/ 246 w 376"/>
                  <a:gd name="T19" fmla="*/ 49 h 234"/>
                  <a:gd name="T20" fmla="*/ 252 w 376"/>
                  <a:gd name="T21" fmla="*/ 51 h 234"/>
                  <a:gd name="T22" fmla="*/ 254 w 376"/>
                  <a:gd name="T23" fmla="*/ 57 h 234"/>
                  <a:gd name="T24" fmla="*/ 253 w 376"/>
                  <a:gd name="T25" fmla="*/ 62 h 234"/>
                  <a:gd name="T26" fmla="*/ 350 w 376"/>
                  <a:gd name="T27" fmla="*/ 80 h 234"/>
                  <a:gd name="T28" fmla="*/ 373 w 376"/>
                  <a:gd name="T29" fmla="*/ 42 h 234"/>
                  <a:gd name="T30" fmla="*/ 375 w 376"/>
                  <a:gd name="T31" fmla="*/ 25 h 234"/>
                  <a:gd name="T32" fmla="*/ 371 w 376"/>
                  <a:gd name="T33" fmla="*/ 13 h 234"/>
                  <a:gd name="T34" fmla="*/ 363 w 376"/>
                  <a:gd name="T35" fmla="*/ 6 h 234"/>
                  <a:gd name="T36" fmla="*/ 354 w 376"/>
                  <a:gd name="T37" fmla="*/ 0 h 234"/>
                  <a:gd name="T38" fmla="*/ 172 w 376"/>
                  <a:gd name="T39" fmla="*/ 0 h 234"/>
                  <a:gd name="T40" fmla="*/ 149 w 376"/>
                  <a:gd name="T41" fmla="*/ 3 h 234"/>
                  <a:gd name="T42" fmla="*/ 130 w 376"/>
                  <a:gd name="T43" fmla="*/ 12 h 234"/>
                  <a:gd name="T44" fmla="*/ 112 w 376"/>
                  <a:gd name="T45" fmla="*/ 25 h 234"/>
                  <a:gd name="T46" fmla="*/ 98 w 376"/>
                  <a:gd name="T47" fmla="*/ 43 h 234"/>
                  <a:gd name="T48" fmla="*/ 1 w 376"/>
                  <a:gd name="T49" fmla="*/ 192 h 234"/>
                  <a:gd name="T50" fmla="*/ 1 w 376"/>
                  <a:gd name="T51" fmla="*/ 208 h 234"/>
                  <a:gd name="T52" fmla="*/ 5 w 376"/>
                  <a:gd name="T53" fmla="*/ 220 h 234"/>
                  <a:gd name="T54" fmla="*/ 13 w 376"/>
                  <a:gd name="T55" fmla="*/ 228 h 234"/>
                  <a:gd name="T56" fmla="*/ 22 w 376"/>
                  <a:gd name="T57" fmla="*/ 234 h 234"/>
                  <a:gd name="T58" fmla="*/ 204 w 376"/>
                  <a:gd name="T59" fmla="*/ 234 h 234"/>
                  <a:gd name="T60" fmla="*/ 226 w 376"/>
                  <a:gd name="T61" fmla="*/ 231 h 234"/>
                  <a:gd name="T62" fmla="*/ 246 w 376"/>
                  <a:gd name="T63" fmla="*/ 222 h 234"/>
                  <a:gd name="T64" fmla="*/ 264 w 376"/>
                  <a:gd name="T65" fmla="*/ 208 h 234"/>
                  <a:gd name="T66" fmla="*/ 278 w 376"/>
                  <a:gd name="T67" fmla="*/ 190 h 234"/>
                  <a:gd name="T68" fmla="*/ 326 w 376"/>
                  <a:gd name="T69" fmla="*/ 156 h 234"/>
                  <a:gd name="T70" fmla="*/ 0 w 376"/>
                  <a:gd name="T71" fmla="*/ 0 h 234"/>
                  <a:gd name="T72" fmla="*/ 376 w 376"/>
                  <a:gd name="T7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T70" t="T71" r="T72" b="T73"/>
                <a:pathLst>
                  <a:path w="376" h="234">
                    <a:moveTo>
                      <a:pt x="358" y="107"/>
                    </a:moveTo>
                    <a:lnTo>
                      <a:pt x="222" y="107"/>
                    </a:lnTo>
                    <a:lnTo>
                      <a:pt x="180" y="174"/>
                    </a:lnTo>
                    <a:lnTo>
                      <a:pt x="176" y="179"/>
                    </a:lnTo>
                    <a:lnTo>
                      <a:pt x="172" y="182"/>
                    </a:lnTo>
                    <a:lnTo>
                      <a:pt x="166" y="185"/>
                    </a:lnTo>
                    <a:lnTo>
                      <a:pt x="160" y="185"/>
                    </a:lnTo>
                    <a:lnTo>
                      <a:pt x="130" y="185"/>
                    </a:lnTo>
                    <a:lnTo>
                      <a:pt x="127" y="185"/>
                    </a:lnTo>
                    <a:lnTo>
                      <a:pt x="124" y="183"/>
                    </a:lnTo>
                    <a:lnTo>
                      <a:pt x="123" y="180"/>
                    </a:lnTo>
                    <a:lnTo>
                      <a:pt x="122" y="177"/>
                    </a:lnTo>
                    <a:lnTo>
                      <a:pt x="123" y="174"/>
                    </a:lnTo>
                    <a:lnTo>
                      <a:pt x="123" y="171"/>
                    </a:lnTo>
                    <a:lnTo>
                      <a:pt x="196" y="59"/>
                    </a:lnTo>
                    <a:lnTo>
                      <a:pt x="200" y="55"/>
                    </a:lnTo>
                    <a:lnTo>
                      <a:pt x="204" y="52"/>
                    </a:lnTo>
                    <a:lnTo>
                      <a:pt x="209" y="49"/>
                    </a:lnTo>
                    <a:lnTo>
                      <a:pt x="216" y="49"/>
                    </a:lnTo>
                    <a:lnTo>
                      <a:pt x="246" y="49"/>
                    </a:lnTo>
                    <a:lnTo>
                      <a:pt x="249" y="49"/>
                    </a:lnTo>
                    <a:lnTo>
                      <a:pt x="252" y="51"/>
                    </a:lnTo>
                    <a:lnTo>
                      <a:pt x="253" y="54"/>
                    </a:lnTo>
                    <a:lnTo>
                      <a:pt x="254" y="57"/>
                    </a:lnTo>
                    <a:lnTo>
                      <a:pt x="253" y="59"/>
                    </a:lnTo>
                    <a:lnTo>
                      <a:pt x="253" y="62"/>
                    </a:lnTo>
                    <a:lnTo>
                      <a:pt x="240" y="80"/>
                    </a:lnTo>
                    <a:lnTo>
                      <a:pt x="350" y="80"/>
                    </a:lnTo>
                    <a:lnTo>
                      <a:pt x="370" y="51"/>
                    </a:lnTo>
                    <a:lnTo>
                      <a:pt x="373" y="42"/>
                    </a:lnTo>
                    <a:lnTo>
                      <a:pt x="376" y="31"/>
                    </a:lnTo>
                    <a:lnTo>
                      <a:pt x="375" y="25"/>
                    </a:lnTo>
                    <a:lnTo>
                      <a:pt x="373" y="19"/>
                    </a:lnTo>
                    <a:lnTo>
                      <a:pt x="371" y="13"/>
                    </a:lnTo>
                    <a:lnTo>
                      <a:pt x="367" y="9"/>
                    </a:lnTo>
                    <a:lnTo>
                      <a:pt x="363" y="6"/>
                    </a:lnTo>
                    <a:lnTo>
                      <a:pt x="359" y="3"/>
                    </a:lnTo>
                    <a:lnTo>
                      <a:pt x="354" y="0"/>
                    </a:lnTo>
                    <a:lnTo>
                      <a:pt x="349" y="0"/>
                    </a:lnTo>
                    <a:lnTo>
                      <a:pt x="172" y="0"/>
                    </a:lnTo>
                    <a:lnTo>
                      <a:pt x="160" y="0"/>
                    </a:lnTo>
                    <a:lnTo>
                      <a:pt x="149" y="3"/>
                    </a:lnTo>
                    <a:lnTo>
                      <a:pt x="139" y="6"/>
                    </a:lnTo>
                    <a:lnTo>
                      <a:pt x="130" y="12"/>
                    </a:lnTo>
                    <a:lnTo>
                      <a:pt x="121" y="18"/>
                    </a:lnTo>
                    <a:lnTo>
                      <a:pt x="112" y="25"/>
                    </a:lnTo>
                    <a:lnTo>
                      <a:pt x="104" y="33"/>
                    </a:lnTo>
                    <a:lnTo>
                      <a:pt x="98" y="43"/>
                    </a:lnTo>
                    <a:lnTo>
                      <a:pt x="5" y="183"/>
                    </a:lnTo>
                    <a:lnTo>
                      <a:pt x="1" y="192"/>
                    </a:lnTo>
                    <a:lnTo>
                      <a:pt x="0" y="202"/>
                    </a:lnTo>
                    <a:lnTo>
                      <a:pt x="1" y="208"/>
                    </a:lnTo>
                    <a:lnTo>
                      <a:pt x="3" y="214"/>
                    </a:lnTo>
                    <a:lnTo>
                      <a:pt x="5" y="220"/>
                    </a:lnTo>
                    <a:lnTo>
                      <a:pt x="8" y="225"/>
                    </a:lnTo>
                    <a:lnTo>
                      <a:pt x="13" y="228"/>
                    </a:lnTo>
                    <a:lnTo>
                      <a:pt x="17" y="231"/>
                    </a:lnTo>
                    <a:lnTo>
                      <a:pt x="22" y="234"/>
                    </a:lnTo>
                    <a:lnTo>
                      <a:pt x="27" y="234"/>
                    </a:lnTo>
                    <a:lnTo>
                      <a:pt x="204" y="234"/>
                    </a:lnTo>
                    <a:lnTo>
                      <a:pt x="216" y="232"/>
                    </a:lnTo>
                    <a:lnTo>
                      <a:pt x="226" y="231"/>
                    </a:lnTo>
                    <a:lnTo>
                      <a:pt x="236" y="226"/>
                    </a:lnTo>
                    <a:lnTo>
                      <a:pt x="246" y="222"/>
                    </a:lnTo>
                    <a:lnTo>
                      <a:pt x="255" y="216"/>
                    </a:lnTo>
                    <a:lnTo>
                      <a:pt x="264" y="208"/>
                    </a:lnTo>
                    <a:lnTo>
                      <a:pt x="272" y="199"/>
                    </a:lnTo>
                    <a:lnTo>
                      <a:pt x="278" y="190"/>
                    </a:lnTo>
                    <a:lnTo>
                      <a:pt x="300" y="156"/>
                    </a:lnTo>
                    <a:lnTo>
                      <a:pt x="326" y="156"/>
                    </a:lnTo>
                    <a:lnTo>
                      <a:pt x="358" y="107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3" name="AutoShape 19"/>
              <p:cNvSpPr>
                <a:spLocks noChangeArrowheads="1"/>
              </p:cNvSpPr>
              <p:nvPr/>
            </p:nvSpPr>
            <p:spPr bwMode="auto">
              <a:xfrm>
                <a:off x="5330" y="526"/>
                <a:ext cx="97" cy="50"/>
              </a:xfrm>
              <a:custGeom>
                <a:avLst/>
                <a:gdLst>
                  <a:gd name="T0" fmla="*/ 354 w 375"/>
                  <a:gd name="T1" fmla="*/ 0 h 234"/>
                  <a:gd name="T2" fmla="*/ 363 w 375"/>
                  <a:gd name="T3" fmla="*/ 6 h 234"/>
                  <a:gd name="T4" fmla="*/ 371 w 375"/>
                  <a:gd name="T5" fmla="*/ 13 h 234"/>
                  <a:gd name="T6" fmla="*/ 375 w 375"/>
                  <a:gd name="T7" fmla="*/ 25 h 234"/>
                  <a:gd name="T8" fmla="*/ 373 w 375"/>
                  <a:gd name="T9" fmla="*/ 42 h 234"/>
                  <a:gd name="T10" fmla="*/ 253 w 375"/>
                  <a:gd name="T11" fmla="*/ 62 h 234"/>
                  <a:gd name="T12" fmla="*/ 254 w 375"/>
                  <a:gd name="T13" fmla="*/ 57 h 234"/>
                  <a:gd name="T14" fmla="*/ 252 w 375"/>
                  <a:gd name="T15" fmla="*/ 51 h 234"/>
                  <a:gd name="T16" fmla="*/ 246 w 375"/>
                  <a:gd name="T17" fmla="*/ 49 h 234"/>
                  <a:gd name="T18" fmla="*/ 209 w 375"/>
                  <a:gd name="T19" fmla="*/ 49 h 234"/>
                  <a:gd name="T20" fmla="*/ 200 w 375"/>
                  <a:gd name="T21" fmla="*/ 55 h 234"/>
                  <a:gd name="T22" fmla="*/ 123 w 375"/>
                  <a:gd name="T23" fmla="*/ 171 h 234"/>
                  <a:gd name="T24" fmla="*/ 122 w 375"/>
                  <a:gd name="T25" fmla="*/ 177 h 234"/>
                  <a:gd name="T26" fmla="*/ 125 w 375"/>
                  <a:gd name="T27" fmla="*/ 183 h 234"/>
                  <a:gd name="T28" fmla="*/ 130 w 375"/>
                  <a:gd name="T29" fmla="*/ 185 h 234"/>
                  <a:gd name="T30" fmla="*/ 166 w 375"/>
                  <a:gd name="T31" fmla="*/ 185 h 234"/>
                  <a:gd name="T32" fmla="*/ 176 w 375"/>
                  <a:gd name="T33" fmla="*/ 179 h 234"/>
                  <a:gd name="T34" fmla="*/ 253 w 375"/>
                  <a:gd name="T35" fmla="*/ 62 h 234"/>
                  <a:gd name="T36" fmla="*/ 279 w 375"/>
                  <a:gd name="T37" fmla="*/ 190 h 234"/>
                  <a:gd name="T38" fmla="*/ 264 w 375"/>
                  <a:gd name="T39" fmla="*/ 208 h 234"/>
                  <a:gd name="T40" fmla="*/ 246 w 375"/>
                  <a:gd name="T41" fmla="*/ 222 h 234"/>
                  <a:gd name="T42" fmla="*/ 226 w 375"/>
                  <a:gd name="T43" fmla="*/ 231 h 234"/>
                  <a:gd name="T44" fmla="*/ 204 w 375"/>
                  <a:gd name="T45" fmla="*/ 234 h 234"/>
                  <a:gd name="T46" fmla="*/ 22 w 375"/>
                  <a:gd name="T47" fmla="*/ 234 h 234"/>
                  <a:gd name="T48" fmla="*/ 12 w 375"/>
                  <a:gd name="T49" fmla="*/ 228 h 234"/>
                  <a:gd name="T50" fmla="*/ 5 w 375"/>
                  <a:gd name="T51" fmla="*/ 220 h 234"/>
                  <a:gd name="T52" fmla="*/ 1 w 375"/>
                  <a:gd name="T53" fmla="*/ 208 h 234"/>
                  <a:gd name="T54" fmla="*/ 1 w 375"/>
                  <a:gd name="T55" fmla="*/ 192 h 234"/>
                  <a:gd name="T56" fmla="*/ 98 w 375"/>
                  <a:gd name="T57" fmla="*/ 43 h 234"/>
                  <a:gd name="T58" fmla="*/ 112 w 375"/>
                  <a:gd name="T59" fmla="*/ 25 h 234"/>
                  <a:gd name="T60" fmla="*/ 130 w 375"/>
                  <a:gd name="T61" fmla="*/ 12 h 234"/>
                  <a:gd name="T62" fmla="*/ 149 w 375"/>
                  <a:gd name="T63" fmla="*/ 3 h 234"/>
                  <a:gd name="T64" fmla="*/ 171 w 375"/>
                  <a:gd name="T65" fmla="*/ 0 h 234"/>
                  <a:gd name="T66" fmla="*/ 0 w 375"/>
                  <a:gd name="T67" fmla="*/ 0 h 234"/>
                  <a:gd name="T68" fmla="*/ 375 w 375"/>
                  <a:gd name="T6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T66" t="T67" r="T68" b="T69"/>
                <a:pathLst>
                  <a:path w="375" h="234">
                    <a:moveTo>
                      <a:pt x="348" y="0"/>
                    </a:moveTo>
                    <a:lnTo>
                      <a:pt x="354" y="0"/>
                    </a:lnTo>
                    <a:lnTo>
                      <a:pt x="359" y="3"/>
                    </a:lnTo>
                    <a:lnTo>
                      <a:pt x="363" y="6"/>
                    </a:lnTo>
                    <a:lnTo>
                      <a:pt x="367" y="9"/>
                    </a:lnTo>
                    <a:lnTo>
                      <a:pt x="371" y="13"/>
                    </a:lnTo>
                    <a:lnTo>
                      <a:pt x="373" y="19"/>
                    </a:lnTo>
                    <a:lnTo>
                      <a:pt x="375" y="25"/>
                    </a:lnTo>
                    <a:lnTo>
                      <a:pt x="375" y="31"/>
                    </a:lnTo>
                    <a:lnTo>
                      <a:pt x="373" y="42"/>
                    </a:lnTo>
                    <a:lnTo>
                      <a:pt x="370" y="51"/>
                    </a:lnTo>
                    <a:lnTo>
                      <a:pt x="253" y="62"/>
                    </a:lnTo>
                    <a:lnTo>
                      <a:pt x="253" y="59"/>
                    </a:lnTo>
                    <a:lnTo>
                      <a:pt x="254" y="57"/>
                    </a:lnTo>
                    <a:lnTo>
                      <a:pt x="253" y="54"/>
                    </a:lnTo>
                    <a:lnTo>
                      <a:pt x="252" y="51"/>
                    </a:lnTo>
                    <a:lnTo>
                      <a:pt x="249" y="49"/>
                    </a:lnTo>
                    <a:lnTo>
                      <a:pt x="246" y="49"/>
                    </a:lnTo>
                    <a:lnTo>
                      <a:pt x="216" y="49"/>
                    </a:lnTo>
                    <a:lnTo>
                      <a:pt x="209" y="49"/>
                    </a:lnTo>
                    <a:lnTo>
                      <a:pt x="204" y="52"/>
                    </a:lnTo>
                    <a:lnTo>
                      <a:pt x="200" y="55"/>
                    </a:lnTo>
                    <a:lnTo>
                      <a:pt x="196" y="59"/>
                    </a:lnTo>
                    <a:lnTo>
                      <a:pt x="123" y="171"/>
                    </a:lnTo>
                    <a:lnTo>
                      <a:pt x="122" y="174"/>
                    </a:lnTo>
                    <a:lnTo>
                      <a:pt x="122" y="177"/>
                    </a:lnTo>
                    <a:lnTo>
                      <a:pt x="123" y="180"/>
                    </a:lnTo>
                    <a:lnTo>
                      <a:pt x="125" y="183"/>
                    </a:lnTo>
                    <a:lnTo>
                      <a:pt x="126" y="185"/>
                    </a:lnTo>
                    <a:lnTo>
                      <a:pt x="130" y="185"/>
                    </a:lnTo>
                    <a:lnTo>
                      <a:pt x="160" y="185"/>
                    </a:lnTo>
                    <a:lnTo>
                      <a:pt x="166" y="185"/>
                    </a:lnTo>
                    <a:lnTo>
                      <a:pt x="171" y="182"/>
                    </a:lnTo>
                    <a:lnTo>
                      <a:pt x="176" y="179"/>
                    </a:lnTo>
                    <a:lnTo>
                      <a:pt x="180" y="174"/>
                    </a:lnTo>
                    <a:lnTo>
                      <a:pt x="253" y="62"/>
                    </a:lnTo>
                    <a:lnTo>
                      <a:pt x="370" y="51"/>
                    </a:lnTo>
                    <a:lnTo>
                      <a:pt x="279" y="190"/>
                    </a:lnTo>
                    <a:lnTo>
                      <a:pt x="272" y="199"/>
                    </a:lnTo>
                    <a:lnTo>
                      <a:pt x="264" y="208"/>
                    </a:lnTo>
                    <a:lnTo>
                      <a:pt x="255" y="216"/>
                    </a:lnTo>
                    <a:lnTo>
                      <a:pt x="246" y="222"/>
                    </a:lnTo>
                    <a:lnTo>
                      <a:pt x="236" y="226"/>
                    </a:lnTo>
                    <a:lnTo>
                      <a:pt x="226" y="231"/>
                    </a:lnTo>
                    <a:lnTo>
                      <a:pt x="216" y="232"/>
                    </a:lnTo>
                    <a:lnTo>
                      <a:pt x="204" y="234"/>
                    </a:lnTo>
                    <a:lnTo>
                      <a:pt x="27" y="234"/>
                    </a:lnTo>
                    <a:lnTo>
                      <a:pt x="22" y="234"/>
                    </a:lnTo>
                    <a:lnTo>
                      <a:pt x="17" y="231"/>
                    </a:lnTo>
                    <a:lnTo>
                      <a:pt x="12" y="228"/>
                    </a:lnTo>
                    <a:lnTo>
                      <a:pt x="8" y="225"/>
                    </a:lnTo>
                    <a:lnTo>
                      <a:pt x="5" y="220"/>
                    </a:lnTo>
                    <a:lnTo>
                      <a:pt x="3" y="214"/>
                    </a:lnTo>
                    <a:lnTo>
                      <a:pt x="1" y="208"/>
                    </a:lnTo>
                    <a:lnTo>
                      <a:pt x="0" y="202"/>
                    </a:lnTo>
                    <a:lnTo>
                      <a:pt x="1" y="192"/>
                    </a:lnTo>
                    <a:lnTo>
                      <a:pt x="5" y="183"/>
                    </a:lnTo>
                    <a:lnTo>
                      <a:pt x="98" y="43"/>
                    </a:lnTo>
                    <a:lnTo>
                      <a:pt x="104" y="33"/>
                    </a:lnTo>
                    <a:lnTo>
                      <a:pt x="112" y="25"/>
                    </a:lnTo>
                    <a:lnTo>
                      <a:pt x="121" y="18"/>
                    </a:lnTo>
                    <a:lnTo>
                      <a:pt x="130" y="12"/>
                    </a:lnTo>
                    <a:lnTo>
                      <a:pt x="139" y="6"/>
                    </a:lnTo>
                    <a:lnTo>
                      <a:pt x="149" y="3"/>
                    </a:lnTo>
                    <a:lnTo>
                      <a:pt x="160" y="0"/>
                    </a:lnTo>
                    <a:lnTo>
                      <a:pt x="171" y="0"/>
                    </a:lnTo>
                    <a:lnTo>
                      <a:pt x="348" y="0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44" name="Group 20"/>
            <p:cNvGrpSpPr>
              <a:grpSpLocks/>
            </p:cNvGrpSpPr>
            <p:nvPr/>
          </p:nvGrpSpPr>
          <p:grpSpPr bwMode="auto">
            <a:xfrm>
              <a:off x="5086" y="496"/>
              <a:ext cx="174" cy="136"/>
              <a:chOff x="5086" y="496"/>
              <a:chExt cx="174" cy="136"/>
            </a:xfrm>
          </p:grpSpPr>
          <p:sp>
            <p:nvSpPr>
              <p:cNvPr id="1045" name="AutoShape 21"/>
              <p:cNvSpPr>
                <a:spLocks noChangeArrowheads="1"/>
              </p:cNvSpPr>
              <p:nvPr/>
            </p:nvSpPr>
            <p:spPr bwMode="auto">
              <a:xfrm>
                <a:off x="5086" y="512"/>
                <a:ext cx="100" cy="95"/>
              </a:xfrm>
              <a:custGeom>
                <a:avLst/>
                <a:gdLst>
                  <a:gd name="T0" fmla="*/ 234 w 389"/>
                  <a:gd name="T1" fmla="*/ 5 h 451"/>
                  <a:gd name="T2" fmla="*/ 287 w 389"/>
                  <a:gd name="T3" fmla="*/ 27 h 451"/>
                  <a:gd name="T4" fmla="*/ 332 w 389"/>
                  <a:gd name="T5" fmla="*/ 66 h 451"/>
                  <a:gd name="T6" fmla="*/ 366 w 389"/>
                  <a:gd name="T7" fmla="*/ 118 h 451"/>
                  <a:gd name="T8" fmla="*/ 385 w 389"/>
                  <a:gd name="T9" fmla="*/ 181 h 451"/>
                  <a:gd name="T10" fmla="*/ 388 w 389"/>
                  <a:gd name="T11" fmla="*/ 249 h 451"/>
                  <a:gd name="T12" fmla="*/ 373 w 389"/>
                  <a:gd name="T13" fmla="*/ 315 h 451"/>
                  <a:gd name="T14" fmla="*/ 345 w 389"/>
                  <a:gd name="T15" fmla="*/ 370 h 451"/>
                  <a:gd name="T16" fmla="*/ 303 w 389"/>
                  <a:gd name="T17" fmla="*/ 414 h 451"/>
                  <a:gd name="T18" fmla="*/ 253 w 389"/>
                  <a:gd name="T19" fmla="*/ 443 h 451"/>
                  <a:gd name="T20" fmla="*/ 194 w 389"/>
                  <a:gd name="T21" fmla="*/ 451 h 451"/>
                  <a:gd name="T22" fmla="*/ 136 w 389"/>
                  <a:gd name="T23" fmla="*/ 443 h 451"/>
                  <a:gd name="T24" fmla="*/ 86 w 389"/>
                  <a:gd name="T25" fmla="*/ 414 h 451"/>
                  <a:gd name="T26" fmla="*/ 44 w 389"/>
                  <a:gd name="T27" fmla="*/ 370 h 451"/>
                  <a:gd name="T28" fmla="*/ 15 w 389"/>
                  <a:gd name="T29" fmla="*/ 315 h 451"/>
                  <a:gd name="T30" fmla="*/ 0 w 389"/>
                  <a:gd name="T31" fmla="*/ 249 h 451"/>
                  <a:gd name="T32" fmla="*/ 4 w 389"/>
                  <a:gd name="T33" fmla="*/ 181 h 451"/>
                  <a:gd name="T34" fmla="*/ 23 w 389"/>
                  <a:gd name="T35" fmla="*/ 118 h 451"/>
                  <a:gd name="T36" fmla="*/ 56 w 389"/>
                  <a:gd name="T37" fmla="*/ 66 h 451"/>
                  <a:gd name="T38" fmla="*/ 101 w 389"/>
                  <a:gd name="T39" fmla="*/ 27 h 451"/>
                  <a:gd name="T40" fmla="*/ 155 w 389"/>
                  <a:gd name="T41" fmla="*/ 5 h 451"/>
                  <a:gd name="T42" fmla="*/ 194 w 389"/>
                  <a:gd name="T43" fmla="*/ 17 h 451"/>
                  <a:gd name="T44" fmla="*/ 141 w 389"/>
                  <a:gd name="T45" fmla="*/ 27 h 451"/>
                  <a:gd name="T46" fmla="*/ 94 w 389"/>
                  <a:gd name="T47" fmla="*/ 53 h 451"/>
                  <a:gd name="T48" fmla="*/ 55 w 389"/>
                  <a:gd name="T49" fmla="*/ 93 h 451"/>
                  <a:gd name="T50" fmla="*/ 28 w 389"/>
                  <a:gd name="T51" fmla="*/ 145 h 451"/>
                  <a:gd name="T52" fmla="*/ 15 w 389"/>
                  <a:gd name="T53" fmla="*/ 204 h 451"/>
                  <a:gd name="T54" fmla="*/ 18 w 389"/>
                  <a:gd name="T55" fmla="*/ 268 h 451"/>
                  <a:gd name="T56" fmla="*/ 36 w 389"/>
                  <a:gd name="T57" fmla="*/ 326 h 451"/>
                  <a:gd name="T58" fmla="*/ 67 w 389"/>
                  <a:gd name="T59" fmla="*/ 374 h 451"/>
                  <a:gd name="T60" fmla="*/ 108 w 389"/>
                  <a:gd name="T61" fmla="*/ 410 h 451"/>
                  <a:gd name="T62" fmla="*/ 158 w 389"/>
                  <a:gd name="T63" fmla="*/ 431 h 451"/>
                  <a:gd name="T64" fmla="*/ 213 w 389"/>
                  <a:gd name="T65" fmla="*/ 434 h 451"/>
                  <a:gd name="T66" fmla="*/ 264 w 389"/>
                  <a:gd name="T67" fmla="*/ 419 h 451"/>
                  <a:gd name="T68" fmla="*/ 309 w 389"/>
                  <a:gd name="T69" fmla="*/ 387 h 451"/>
                  <a:gd name="T70" fmla="*/ 344 w 389"/>
                  <a:gd name="T71" fmla="*/ 343 h 451"/>
                  <a:gd name="T72" fmla="*/ 366 w 389"/>
                  <a:gd name="T73" fmla="*/ 288 h 451"/>
                  <a:gd name="T74" fmla="*/ 375 w 389"/>
                  <a:gd name="T75" fmla="*/ 227 h 451"/>
                  <a:gd name="T76" fmla="*/ 366 w 389"/>
                  <a:gd name="T77" fmla="*/ 164 h 451"/>
                  <a:gd name="T78" fmla="*/ 344 w 389"/>
                  <a:gd name="T79" fmla="*/ 109 h 451"/>
                  <a:gd name="T80" fmla="*/ 309 w 389"/>
                  <a:gd name="T81" fmla="*/ 64 h 451"/>
                  <a:gd name="T82" fmla="*/ 264 w 389"/>
                  <a:gd name="T83" fmla="*/ 33 h 451"/>
                  <a:gd name="T84" fmla="*/ 213 w 389"/>
                  <a:gd name="T85" fmla="*/ 18 h 451"/>
                  <a:gd name="T86" fmla="*/ 0 w 389"/>
                  <a:gd name="T87" fmla="*/ 0 h 451"/>
                  <a:gd name="T88" fmla="*/ 389 w 389"/>
                  <a:gd name="T89" fmla="*/ 451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T86" t="T87" r="T88" b="T89"/>
                <a:pathLst>
                  <a:path w="389" h="451">
                    <a:moveTo>
                      <a:pt x="194" y="0"/>
                    </a:moveTo>
                    <a:lnTo>
                      <a:pt x="214" y="2"/>
                    </a:lnTo>
                    <a:lnTo>
                      <a:pt x="234" y="5"/>
                    </a:lnTo>
                    <a:lnTo>
                      <a:pt x="253" y="11"/>
                    </a:lnTo>
                    <a:lnTo>
                      <a:pt x="269" y="18"/>
                    </a:lnTo>
                    <a:lnTo>
                      <a:pt x="287" y="27"/>
                    </a:lnTo>
                    <a:lnTo>
                      <a:pt x="303" y="39"/>
                    </a:lnTo>
                    <a:lnTo>
                      <a:pt x="318" y="51"/>
                    </a:lnTo>
                    <a:lnTo>
                      <a:pt x="332" y="66"/>
                    </a:lnTo>
                    <a:lnTo>
                      <a:pt x="345" y="82"/>
                    </a:lnTo>
                    <a:lnTo>
                      <a:pt x="355" y="100"/>
                    </a:lnTo>
                    <a:lnTo>
                      <a:pt x="366" y="118"/>
                    </a:lnTo>
                    <a:lnTo>
                      <a:pt x="373" y="139"/>
                    </a:lnTo>
                    <a:lnTo>
                      <a:pt x="380" y="158"/>
                    </a:lnTo>
                    <a:lnTo>
                      <a:pt x="385" y="181"/>
                    </a:lnTo>
                    <a:lnTo>
                      <a:pt x="388" y="203"/>
                    </a:lnTo>
                    <a:lnTo>
                      <a:pt x="389" y="227"/>
                    </a:lnTo>
                    <a:lnTo>
                      <a:pt x="388" y="249"/>
                    </a:lnTo>
                    <a:lnTo>
                      <a:pt x="385" y="271"/>
                    </a:lnTo>
                    <a:lnTo>
                      <a:pt x="380" y="294"/>
                    </a:lnTo>
                    <a:lnTo>
                      <a:pt x="373" y="315"/>
                    </a:lnTo>
                    <a:lnTo>
                      <a:pt x="366" y="334"/>
                    </a:lnTo>
                    <a:lnTo>
                      <a:pt x="355" y="353"/>
                    </a:lnTo>
                    <a:lnTo>
                      <a:pt x="345" y="370"/>
                    </a:lnTo>
                    <a:lnTo>
                      <a:pt x="332" y="386"/>
                    </a:lnTo>
                    <a:lnTo>
                      <a:pt x="318" y="401"/>
                    </a:lnTo>
                    <a:lnTo>
                      <a:pt x="303" y="414"/>
                    </a:lnTo>
                    <a:lnTo>
                      <a:pt x="287" y="425"/>
                    </a:lnTo>
                    <a:lnTo>
                      <a:pt x="269" y="435"/>
                    </a:lnTo>
                    <a:lnTo>
                      <a:pt x="253" y="443"/>
                    </a:lnTo>
                    <a:lnTo>
                      <a:pt x="234" y="447"/>
                    </a:lnTo>
                    <a:lnTo>
                      <a:pt x="214" y="451"/>
                    </a:lnTo>
                    <a:lnTo>
                      <a:pt x="194" y="451"/>
                    </a:lnTo>
                    <a:lnTo>
                      <a:pt x="175" y="451"/>
                    </a:lnTo>
                    <a:lnTo>
                      <a:pt x="155" y="447"/>
                    </a:lnTo>
                    <a:lnTo>
                      <a:pt x="136" y="443"/>
                    </a:lnTo>
                    <a:lnTo>
                      <a:pt x="118" y="435"/>
                    </a:lnTo>
                    <a:lnTo>
                      <a:pt x="101" y="425"/>
                    </a:lnTo>
                    <a:lnTo>
                      <a:pt x="86" y="414"/>
                    </a:lnTo>
                    <a:lnTo>
                      <a:pt x="71" y="401"/>
                    </a:lnTo>
                    <a:lnTo>
                      <a:pt x="56" y="386"/>
                    </a:lnTo>
                    <a:lnTo>
                      <a:pt x="44" y="370"/>
                    </a:lnTo>
                    <a:lnTo>
                      <a:pt x="33" y="353"/>
                    </a:lnTo>
                    <a:lnTo>
                      <a:pt x="23" y="334"/>
                    </a:lnTo>
                    <a:lnTo>
                      <a:pt x="15" y="315"/>
                    </a:lnTo>
                    <a:lnTo>
                      <a:pt x="8" y="294"/>
                    </a:lnTo>
                    <a:lnTo>
                      <a:pt x="4" y="271"/>
                    </a:lnTo>
                    <a:lnTo>
                      <a:pt x="0" y="249"/>
                    </a:lnTo>
                    <a:lnTo>
                      <a:pt x="0" y="227"/>
                    </a:lnTo>
                    <a:lnTo>
                      <a:pt x="0" y="203"/>
                    </a:lnTo>
                    <a:lnTo>
                      <a:pt x="4" y="181"/>
                    </a:lnTo>
                    <a:lnTo>
                      <a:pt x="8" y="158"/>
                    </a:lnTo>
                    <a:lnTo>
                      <a:pt x="15" y="139"/>
                    </a:lnTo>
                    <a:lnTo>
                      <a:pt x="23" y="118"/>
                    </a:lnTo>
                    <a:lnTo>
                      <a:pt x="33" y="100"/>
                    </a:lnTo>
                    <a:lnTo>
                      <a:pt x="44" y="82"/>
                    </a:lnTo>
                    <a:lnTo>
                      <a:pt x="56" y="66"/>
                    </a:lnTo>
                    <a:lnTo>
                      <a:pt x="71" y="51"/>
                    </a:lnTo>
                    <a:lnTo>
                      <a:pt x="86" y="39"/>
                    </a:lnTo>
                    <a:lnTo>
                      <a:pt x="101" y="27"/>
                    </a:lnTo>
                    <a:lnTo>
                      <a:pt x="118" y="18"/>
                    </a:lnTo>
                    <a:lnTo>
                      <a:pt x="136" y="11"/>
                    </a:lnTo>
                    <a:lnTo>
                      <a:pt x="155" y="5"/>
                    </a:lnTo>
                    <a:lnTo>
                      <a:pt x="175" y="2"/>
                    </a:lnTo>
                    <a:lnTo>
                      <a:pt x="194" y="0"/>
                    </a:lnTo>
                    <a:lnTo>
                      <a:pt x="194" y="17"/>
                    </a:lnTo>
                    <a:lnTo>
                      <a:pt x="176" y="18"/>
                    </a:lnTo>
                    <a:lnTo>
                      <a:pt x="158" y="21"/>
                    </a:lnTo>
                    <a:lnTo>
                      <a:pt x="141" y="27"/>
                    </a:lnTo>
                    <a:lnTo>
                      <a:pt x="124" y="33"/>
                    </a:lnTo>
                    <a:lnTo>
                      <a:pt x="108" y="42"/>
                    </a:lnTo>
                    <a:lnTo>
                      <a:pt x="94" y="53"/>
                    </a:lnTo>
                    <a:lnTo>
                      <a:pt x="80" y="64"/>
                    </a:lnTo>
                    <a:lnTo>
                      <a:pt x="67" y="78"/>
                    </a:lnTo>
                    <a:lnTo>
                      <a:pt x="55" y="93"/>
                    </a:lnTo>
                    <a:lnTo>
                      <a:pt x="45" y="109"/>
                    </a:lnTo>
                    <a:lnTo>
                      <a:pt x="36" y="127"/>
                    </a:lnTo>
                    <a:lnTo>
                      <a:pt x="28" y="145"/>
                    </a:lnTo>
                    <a:lnTo>
                      <a:pt x="22" y="164"/>
                    </a:lnTo>
                    <a:lnTo>
                      <a:pt x="18" y="184"/>
                    </a:lnTo>
                    <a:lnTo>
                      <a:pt x="15" y="204"/>
                    </a:lnTo>
                    <a:lnTo>
                      <a:pt x="14" y="227"/>
                    </a:lnTo>
                    <a:lnTo>
                      <a:pt x="15" y="248"/>
                    </a:lnTo>
                    <a:lnTo>
                      <a:pt x="18" y="268"/>
                    </a:lnTo>
                    <a:lnTo>
                      <a:pt x="22" y="288"/>
                    </a:lnTo>
                    <a:lnTo>
                      <a:pt x="28" y="307"/>
                    </a:lnTo>
                    <a:lnTo>
                      <a:pt x="36" y="326"/>
                    </a:lnTo>
                    <a:lnTo>
                      <a:pt x="45" y="343"/>
                    </a:lnTo>
                    <a:lnTo>
                      <a:pt x="55" y="359"/>
                    </a:lnTo>
                    <a:lnTo>
                      <a:pt x="67" y="374"/>
                    </a:lnTo>
                    <a:lnTo>
                      <a:pt x="80" y="387"/>
                    </a:lnTo>
                    <a:lnTo>
                      <a:pt x="94" y="399"/>
                    </a:lnTo>
                    <a:lnTo>
                      <a:pt x="108" y="410"/>
                    </a:lnTo>
                    <a:lnTo>
                      <a:pt x="124" y="419"/>
                    </a:lnTo>
                    <a:lnTo>
                      <a:pt x="141" y="426"/>
                    </a:lnTo>
                    <a:lnTo>
                      <a:pt x="158" y="431"/>
                    </a:lnTo>
                    <a:lnTo>
                      <a:pt x="176" y="434"/>
                    </a:lnTo>
                    <a:lnTo>
                      <a:pt x="194" y="435"/>
                    </a:lnTo>
                    <a:lnTo>
                      <a:pt x="213" y="434"/>
                    </a:lnTo>
                    <a:lnTo>
                      <a:pt x="231" y="431"/>
                    </a:lnTo>
                    <a:lnTo>
                      <a:pt x="248" y="426"/>
                    </a:lnTo>
                    <a:lnTo>
                      <a:pt x="264" y="419"/>
                    </a:lnTo>
                    <a:lnTo>
                      <a:pt x="280" y="410"/>
                    </a:lnTo>
                    <a:lnTo>
                      <a:pt x="295" y="399"/>
                    </a:lnTo>
                    <a:lnTo>
                      <a:pt x="309" y="387"/>
                    </a:lnTo>
                    <a:lnTo>
                      <a:pt x="322" y="374"/>
                    </a:lnTo>
                    <a:lnTo>
                      <a:pt x="334" y="359"/>
                    </a:lnTo>
                    <a:lnTo>
                      <a:pt x="344" y="343"/>
                    </a:lnTo>
                    <a:lnTo>
                      <a:pt x="353" y="326"/>
                    </a:lnTo>
                    <a:lnTo>
                      <a:pt x="361" y="307"/>
                    </a:lnTo>
                    <a:lnTo>
                      <a:pt x="366" y="288"/>
                    </a:lnTo>
                    <a:lnTo>
                      <a:pt x="371" y="268"/>
                    </a:lnTo>
                    <a:lnTo>
                      <a:pt x="373" y="248"/>
                    </a:lnTo>
                    <a:lnTo>
                      <a:pt x="375" y="227"/>
                    </a:lnTo>
                    <a:lnTo>
                      <a:pt x="373" y="204"/>
                    </a:lnTo>
                    <a:lnTo>
                      <a:pt x="371" y="184"/>
                    </a:lnTo>
                    <a:lnTo>
                      <a:pt x="366" y="164"/>
                    </a:lnTo>
                    <a:lnTo>
                      <a:pt x="361" y="145"/>
                    </a:lnTo>
                    <a:lnTo>
                      <a:pt x="353" y="127"/>
                    </a:lnTo>
                    <a:lnTo>
                      <a:pt x="344" y="109"/>
                    </a:lnTo>
                    <a:lnTo>
                      <a:pt x="334" y="93"/>
                    </a:lnTo>
                    <a:lnTo>
                      <a:pt x="322" y="78"/>
                    </a:lnTo>
                    <a:lnTo>
                      <a:pt x="309" y="64"/>
                    </a:lnTo>
                    <a:lnTo>
                      <a:pt x="295" y="53"/>
                    </a:lnTo>
                    <a:lnTo>
                      <a:pt x="280" y="42"/>
                    </a:lnTo>
                    <a:lnTo>
                      <a:pt x="264" y="33"/>
                    </a:lnTo>
                    <a:lnTo>
                      <a:pt x="248" y="27"/>
                    </a:lnTo>
                    <a:lnTo>
                      <a:pt x="231" y="21"/>
                    </a:lnTo>
                    <a:lnTo>
                      <a:pt x="213" y="18"/>
                    </a:lnTo>
                    <a:lnTo>
                      <a:pt x="194" y="17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87878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6" name="AutoShape 22"/>
              <p:cNvSpPr>
                <a:spLocks noChangeArrowheads="1"/>
              </p:cNvSpPr>
              <p:nvPr/>
            </p:nvSpPr>
            <p:spPr bwMode="auto">
              <a:xfrm>
                <a:off x="5090" y="496"/>
                <a:ext cx="100" cy="137"/>
              </a:xfrm>
              <a:custGeom>
                <a:avLst/>
                <a:gdLst>
                  <a:gd name="T0" fmla="*/ 363 w 389"/>
                  <a:gd name="T1" fmla="*/ 18 h 646"/>
                  <a:gd name="T2" fmla="*/ 313 w 389"/>
                  <a:gd name="T3" fmla="*/ 58 h 646"/>
                  <a:gd name="T4" fmla="*/ 244 w 389"/>
                  <a:gd name="T5" fmla="*/ 125 h 646"/>
                  <a:gd name="T6" fmla="*/ 181 w 389"/>
                  <a:gd name="T7" fmla="*/ 195 h 646"/>
                  <a:gd name="T8" fmla="*/ 144 w 389"/>
                  <a:gd name="T9" fmla="*/ 244 h 646"/>
                  <a:gd name="T10" fmla="*/ 110 w 389"/>
                  <a:gd name="T11" fmla="*/ 295 h 646"/>
                  <a:gd name="T12" fmla="*/ 82 w 389"/>
                  <a:gd name="T13" fmla="*/ 342 h 646"/>
                  <a:gd name="T14" fmla="*/ 57 w 389"/>
                  <a:gd name="T15" fmla="*/ 391 h 646"/>
                  <a:gd name="T16" fmla="*/ 36 w 389"/>
                  <a:gd name="T17" fmla="*/ 438 h 646"/>
                  <a:gd name="T18" fmla="*/ 19 w 389"/>
                  <a:gd name="T19" fmla="*/ 481 h 646"/>
                  <a:gd name="T20" fmla="*/ 8 w 389"/>
                  <a:gd name="T21" fmla="*/ 521 h 646"/>
                  <a:gd name="T22" fmla="*/ 1 w 389"/>
                  <a:gd name="T23" fmla="*/ 557 h 646"/>
                  <a:gd name="T24" fmla="*/ 0 w 389"/>
                  <a:gd name="T25" fmla="*/ 588 h 646"/>
                  <a:gd name="T26" fmla="*/ 5 w 389"/>
                  <a:gd name="T27" fmla="*/ 613 h 646"/>
                  <a:gd name="T28" fmla="*/ 14 w 389"/>
                  <a:gd name="T29" fmla="*/ 633 h 646"/>
                  <a:gd name="T30" fmla="*/ 28 w 389"/>
                  <a:gd name="T31" fmla="*/ 643 h 646"/>
                  <a:gd name="T32" fmla="*/ 45 w 389"/>
                  <a:gd name="T33" fmla="*/ 646 h 646"/>
                  <a:gd name="T34" fmla="*/ 64 w 389"/>
                  <a:gd name="T35" fmla="*/ 643 h 646"/>
                  <a:gd name="T36" fmla="*/ 86 w 389"/>
                  <a:gd name="T37" fmla="*/ 634 h 646"/>
                  <a:gd name="T38" fmla="*/ 108 w 389"/>
                  <a:gd name="T39" fmla="*/ 621 h 646"/>
                  <a:gd name="T40" fmla="*/ 130 w 389"/>
                  <a:gd name="T41" fmla="*/ 601 h 646"/>
                  <a:gd name="T42" fmla="*/ 161 w 389"/>
                  <a:gd name="T43" fmla="*/ 566 h 646"/>
                  <a:gd name="T44" fmla="*/ 178 w 389"/>
                  <a:gd name="T45" fmla="*/ 537 h 646"/>
                  <a:gd name="T46" fmla="*/ 172 w 389"/>
                  <a:gd name="T47" fmla="*/ 543 h 646"/>
                  <a:gd name="T48" fmla="*/ 162 w 389"/>
                  <a:gd name="T49" fmla="*/ 554 h 646"/>
                  <a:gd name="T50" fmla="*/ 148 w 389"/>
                  <a:gd name="T51" fmla="*/ 566 h 646"/>
                  <a:gd name="T52" fmla="*/ 130 w 389"/>
                  <a:gd name="T53" fmla="*/ 578 h 646"/>
                  <a:gd name="T54" fmla="*/ 112 w 389"/>
                  <a:gd name="T55" fmla="*/ 588 h 646"/>
                  <a:gd name="T56" fmla="*/ 94 w 389"/>
                  <a:gd name="T57" fmla="*/ 595 h 646"/>
                  <a:gd name="T58" fmla="*/ 77 w 389"/>
                  <a:gd name="T59" fmla="*/ 595 h 646"/>
                  <a:gd name="T60" fmla="*/ 63 w 389"/>
                  <a:gd name="T61" fmla="*/ 589 h 646"/>
                  <a:gd name="T62" fmla="*/ 55 w 389"/>
                  <a:gd name="T63" fmla="*/ 578 h 646"/>
                  <a:gd name="T64" fmla="*/ 51 w 389"/>
                  <a:gd name="T65" fmla="*/ 560 h 646"/>
                  <a:gd name="T66" fmla="*/ 51 w 389"/>
                  <a:gd name="T67" fmla="*/ 536 h 646"/>
                  <a:gd name="T68" fmla="*/ 57 w 389"/>
                  <a:gd name="T69" fmla="*/ 506 h 646"/>
                  <a:gd name="T70" fmla="*/ 67 w 389"/>
                  <a:gd name="T71" fmla="*/ 473 h 646"/>
                  <a:gd name="T72" fmla="*/ 81 w 389"/>
                  <a:gd name="T73" fmla="*/ 438 h 646"/>
                  <a:gd name="T74" fmla="*/ 99 w 389"/>
                  <a:gd name="T75" fmla="*/ 397 h 646"/>
                  <a:gd name="T76" fmla="*/ 132 w 389"/>
                  <a:gd name="T77" fmla="*/ 332 h 646"/>
                  <a:gd name="T78" fmla="*/ 190 w 389"/>
                  <a:gd name="T79" fmla="*/ 238 h 646"/>
                  <a:gd name="T80" fmla="*/ 261 w 389"/>
                  <a:gd name="T81" fmla="*/ 141 h 646"/>
                  <a:gd name="T82" fmla="*/ 344 w 389"/>
                  <a:gd name="T83" fmla="*/ 46 h 646"/>
                  <a:gd name="T84" fmla="*/ 0 w 389"/>
                  <a:gd name="T85" fmla="*/ 0 h 646"/>
                  <a:gd name="T86" fmla="*/ 389 w 389"/>
                  <a:gd name="T87" fmla="*/ 646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T84" t="T85" r="T86" b="T87"/>
                <a:pathLst>
                  <a:path w="389" h="646">
                    <a:moveTo>
                      <a:pt x="389" y="0"/>
                    </a:moveTo>
                    <a:lnTo>
                      <a:pt x="363" y="18"/>
                    </a:lnTo>
                    <a:lnTo>
                      <a:pt x="338" y="37"/>
                    </a:lnTo>
                    <a:lnTo>
                      <a:pt x="313" y="58"/>
                    </a:lnTo>
                    <a:lnTo>
                      <a:pt x="289" y="79"/>
                    </a:lnTo>
                    <a:lnTo>
                      <a:pt x="244" y="125"/>
                    </a:lnTo>
                    <a:lnTo>
                      <a:pt x="202" y="171"/>
                    </a:lnTo>
                    <a:lnTo>
                      <a:pt x="181" y="195"/>
                    </a:lnTo>
                    <a:lnTo>
                      <a:pt x="162" y="220"/>
                    </a:lnTo>
                    <a:lnTo>
                      <a:pt x="144" y="244"/>
                    </a:lnTo>
                    <a:lnTo>
                      <a:pt x="127" y="269"/>
                    </a:lnTo>
                    <a:lnTo>
                      <a:pt x="110" y="295"/>
                    </a:lnTo>
                    <a:lnTo>
                      <a:pt x="96" y="319"/>
                    </a:lnTo>
                    <a:lnTo>
                      <a:pt x="82" y="342"/>
                    </a:lnTo>
                    <a:lnTo>
                      <a:pt x="68" y="368"/>
                    </a:lnTo>
                    <a:lnTo>
                      <a:pt x="57" y="391"/>
                    </a:lnTo>
                    <a:lnTo>
                      <a:pt x="45" y="414"/>
                    </a:lnTo>
                    <a:lnTo>
                      <a:pt x="36" y="438"/>
                    </a:lnTo>
                    <a:lnTo>
                      <a:pt x="27" y="458"/>
                    </a:lnTo>
                    <a:lnTo>
                      <a:pt x="19" y="481"/>
                    </a:lnTo>
                    <a:lnTo>
                      <a:pt x="13" y="500"/>
                    </a:lnTo>
                    <a:lnTo>
                      <a:pt x="8" y="521"/>
                    </a:lnTo>
                    <a:lnTo>
                      <a:pt x="4" y="539"/>
                    </a:lnTo>
                    <a:lnTo>
                      <a:pt x="1" y="557"/>
                    </a:lnTo>
                    <a:lnTo>
                      <a:pt x="0" y="573"/>
                    </a:lnTo>
                    <a:lnTo>
                      <a:pt x="0" y="588"/>
                    </a:lnTo>
                    <a:lnTo>
                      <a:pt x="3" y="601"/>
                    </a:lnTo>
                    <a:lnTo>
                      <a:pt x="5" y="613"/>
                    </a:lnTo>
                    <a:lnTo>
                      <a:pt x="9" y="624"/>
                    </a:lnTo>
                    <a:lnTo>
                      <a:pt x="14" y="633"/>
                    </a:lnTo>
                    <a:lnTo>
                      <a:pt x="22" y="639"/>
                    </a:lnTo>
                    <a:lnTo>
                      <a:pt x="28" y="643"/>
                    </a:lnTo>
                    <a:lnTo>
                      <a:pt x="37" y="646"/>
                    </a:lnTo>
                    <a:lnTo>
                      <a:pt x="45" y="646"/>
                    </a:lnTo>
                    <a:lnTo>
                      <a:pt x="55" y="646"/>
                    </a:lnTo>
                    <a:lnTo>
                      <a:pt x="64" y="643"/>
                    </a:lnTo>
                    <a:lnTo>
                      <a:pt x="75" y="640"/>
                    </a:lnTo>
                    <a:lnTo>
                      <a:pt x="86" y="634"/>
                    </a:lnTo>
                    <a:lnTo>
                      <a:pt x="96" y="628"/>
                    </a:lnTo>
                    <a:lnTo>
                      <a:pt x="108" y="621"/>
                    </a:lnTo>
                    <a:lnTo>
                      <a:pt x="118" y="612"/>
                    </a:lnTo>
                    <a:lnTo>
                      <a:pt x="130" y="601"/>
                    </a:lnTo>
                    <a:lnTo>
                      <a:pt x="140" y="589"/>
                    </a:lnTo>
                    <a:lnTo>
                      <a:pt x="161" y="566"/>
                    </a:lnTo>
                    <a:lnTo>
                      <a:pt x="180" y="536"/>
                    </a:lnTo>
                    <a:lnTo>
                      <a:pt x="178" y="537"/>
                    </a:lnTo>
                    <a:lnTo>
                      <a:pt x="176" y="539"/>
                    </a:lnTo>
                    <a:lnTo>
                      <a:pt x="172" y="543"/>
                    </a:lnTo>
                    <a:lnTo>
                      <a:pt x="168" y="548"/>
                    </a:lnTo>
                    <a:lnTo>
                      <a:pt x="162" y="554"/>
                    </a:lnTo>
                    <a:lnTo>
                      <a:pt x="155" y="560"/>
                    </a:lnTo>
                    <a:lnTo>
                      <a:pt x="148" y="566"/>
                    </a:lnTo>
                    <a:lnTo>
                      <a:pt x="139" y="572"/>
                    </a:lnTo>
                    <a:lnTo>
                      <a:pt x="130" y="578"/>
                    </a:lnTo>
                    <a:lnTo>
                      <a:pt x="121" y="583"/>
                    </a:lnTo>
                    <a:lnTo>
                      <a:pt x="112" y="588"/>
                    </a:lnTo>
                    <a:lnTo>
                      <a:pt x="103" y="592"/>
                    </a:lnTo>
                    <a:lnTo>
                      <a:pt x="94" y="595"/>
                    </a:lnTo>
                    <a:lnTo>
                      <a:pt x="85" y="595"/>
                    </a:lnTo>
                    <a:lnTo>
                      <a:pt x="77" y="595"/>
                    </a:lnTo>
                    <a:lnTo>
                      <a:pt x="69" y="594"/>
                    </a:lnTo>
                    <a:lnTo>
                      <a:pt x="63" y="589"/>
                    </a:lnTo>
                    <a:lnTo>
                      <a:pt x="58" y="585"/>
                    </a:lnTo>
                    <a:lnTo>
                      <a:pt x="55" y="578"/>
                    </a:lnTo>
                    <a:lnTo>
                      <a:pt x="53" y="569"/>
                    </a:lnTo>
                    <a:lnTo>
                      <a:pt x="51" y="560"/>
                    </a:lnTo>
                    <a:lnTo>
                      <a:pt x="50" y="548"/>
                    </a:lnTo>
                    <a:lnTo>
                      <a:pt x="51" y="536"/>
                    </a:lnTo>
                    <a:lnTo>
                      <a:pt x="54" y="521"/>
                    </a:lnTo>
                    <a:lnTo>
                      <a:pt x="57" y="506"/>
                    </a:lnTo>
                    <a:lnTo>
                      <a:pt x="62" y="491"/>
                    </a:lnTo>
                    <a:lnTo>
                      <a:pt x="67" y="473"/>
                    </a:lnTo>
                    <a:lnTo>
                      <a:pt x="73" y="455"/>
                    </a:lnTo>
                    <a:lnTo>
                      <a:pt x="81" y="438"/>
                    </a:lnTo>
                    <a:lnTo>
                      <a:pt x="89" y="417"/>
                    </a:lnTo>
                    <a:lnTo>
                      <a:pt x="99" y="397"/>
                    </a:lnTo>
                    <a:lnTo>
                      <a:pt x="109" y="377"/>
                    </a:lnTo>
                    <a:lnTo>
                      <a:pt x="132" y="332"/>
                    </a:lnTo>
                    <a:lnTo>
                      <a:pt x="159" y="286"/>
                    </a:lnTo>
                    <a:lnTo>
                      <a:pt x="190" y="238"/>
                    </a:lnTo>
                    <a:lnTo>
                      <a:pt x="225" y="191"/>
                    </a:lnTo>
                    <a:lnTo>
                      <a:pt x="261" y="141"/>
                    </a:lnTo>
                    <a:lnTo>
                      <a:pt x="300" y="94"/>
                    </a:lnTo>
                    <a:lnTo>
                      <a:pt x="344" y="46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rgbClr val="87878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7" name="AutoShape 23"/>
              <p:cNvSpPr>
                <a:spLocks noChangeArrowheads="1"/>
              </p:cNvSpPr>
              <p:nvPr/>
            </p:nvSpPr>
            <p:spPr bwMode="auto">
              <a:xfrm>
                <a:off x="5156" y="564"/>
                <a:ext cx="105" cy="33"/>
              </a:xfrm>
              <a:custGeom>
                <a:avLst/>
                <a:gdLst>
                  <a:gd name="T0" fmla="*/ 69 w 408"/>
                  <a:gd name="T1" fmla="*/ 153 h 153"/>
                  <a:gd name="T2" fmla="*/ 78 w 408"/>
                  <a:gd name="T3" fmla="*/ 152 h 153"/>
                  <a:gd name="T4" fmla="*/ 87 w 408"/>
                  <a:gd name="T5" fmla="*/ 152 h 153"/>
                  <a:gd name="T6" fmla="*/ 98 w 408"/>
                  <a:gd name="T7" fmla="*/ 150 h 153"/>
                  <a:gd name="T8" fmla="*/ 109 w 408"/>
                  <a:gd name="T9" fmla="*/ 150 h 153"/>
                  <a:gd name="T10" fmla="*/ 132 w 408"/>
                  <a:gd name="T11" fmla="*/ 149 h 153"/>
                  <a:gd name="T12" fmla="*/ 159 w 408"/>
                  <a:gd name="T13" fmla="*/ 147 h 153"/>
                  <a:gd name="T14" fmla="*/ 186 w 408"/>
                  <a:gd name="T15" fmla="*/ 146 h 153"/>
                  <a:gd name="T16" fmla="*/ 214 w 408"/>
                  <a:gd name="T17" fmla="*/ 144 h 153"/>
                  <a:gd name="T18" fmla="*/ 243 w 408"/>
                  <a:gd name="T19" fmla="*/ 143 h 153"/>
                  <a:gd name="T20" fmla="*/ 271 w 408"/>
                  <a:gd name="T21" fmla="*/ 141 h 153"/>
                  <a:gd name="T22" fmla="*/ 298 w 408"/>
                  <a:gd name="T23" fmla="*/ 141 h 153"/>
                  <a:gd name="T24" fmla="*/ 324 w 408"/>
                  <a:gd name="T25" fmla="*/ 140 h 153"/>
                  <a:gd name="T26" fmla="*/ 347 w 408"/>
                  <a:gd name="T27" fmla="*/ 140 h 153"/>
                  <a:gd name="T28" fmla="*/ 367 w 408"/>
                  <a:gd name="T29" fmla="*/ 138 h 153"/>
                  <a:gd name="T30" fmla="*/ 376 w 408"/>
                  <a:gd name="T31" fmla="*/ 138 h 153"/>
                  <a:gd name="T32" fmla="*/ 385 w 408"/>
                  <a:gd name="T33" fmla="*/ 138 h 153"/>
                  <a:gd name="T34" fmla="*/ 392 w 408"/>
                  <a:gd name="T35" fmla="*/ 138 h 153"/>
                  <a:gd name="T36" fmla="*/ 398 w 408"/>
                  <a:gd name="T37" fmla="*/ 137 h 153"/>
                  <a:gd name="T38" fmla="*/ 402 w 408"/>
                  <a:gd name="T39" fmla="*/ 137 h 153"/>
                  <a:gd name="T40" fmla="*/ 406 w 408"/>
                  <a:gd name="T41" fmla="*/ 137 h 153"/>
                  <a:gd name="T42" fmla="*/ 408 w 408"/>
                  <a:gd name="T43" fmla="*/ 137 h 153"/>
                  <a:gd name="T44" fmla="*/ 408 w 408"/>
                  <a:gd name="T45" fmla="*/ 135 h 153"/>
                  <a:gd name="T46" fmla="*/ 406 w 408"/>
                  <a:gd name="T47" fmla="*/ 134 h 153"/>
                  <a:gd name="T48" fmla="*/ 402 w 408"/>
                  <a:gd name="T49" fmla="*/ 132 h 153"/>
                  <a:gd name="T50" fmla="*/ 397 w 408"/>
                  <a:gd name="T51" fmla="*/ 132 h 153"/>
                  <a:gd name="T52" fmla="*/ 390 w 408"/>
                  <a:gd name="T53" fmla="*/ 131 h 153"/>
                  <a:gd name="T54" fmla="*/ 383 w 408"/>
                  <a:gd name="T55" fmla="*/ 131 h 153"/>
                  <a:gd name="T56" fmla="*/ 374 w 408"/>
                  <a:gd name="T57" fmla="*/ 130 h 153"/>
                  <a:gd name="T58" fmla="*/ 363 w 408"/>
                  <a:gd name="T59" fmla="*/ 128 h 153"/>
                  <a:gd name="T60" fmla="*/ 353 w 408"/>
                  <a:gd name="T61" fmla="*/ 128 h 153"/>
                  <a:gd name="T62" fmla="*/ 342 w 408"/>
                  <a:gd name="T63" fmla="*/ 127 h 153"/>
                  <a:gd name="T64" fmla="*/ 329 w 408"/>
                  <a:gd name="T65" fmla="*/ 125 h 153"/>
                  <a:gd name="T66" fmla="*/ 315 w 408"/>
                  <a:gd name="T67" fmla="*/ 124 h 153"/>
                  <a:gd name="T68" fmla="*/ 286 w 408"/>
                  <a:gd name="T69" fmla="*/ 121 h 153"/>
                  <a:gd name="T70" fmla="*/ 256 w 408"/>
                  <a:gd name="T71" fmla="*/ 116 h 153"/>
                  <a:gd name="T72" fmla="*/ 222 w 408"/>
                  <a:gd name="T73" fmla="*/ 110 h 153"/>
                  <a:gd name="T74" fmla="*/ 189 w 408"/>
                  <a:gd name="T75" fmla="*/ 103 h 153"/>
                  <a:gd name="T76" fmla="*/ 154 w 408"/>
                  <a:gd name="T77" fmla="*/ 92 h 153"/>
                  <a:gd name="T78" fmla="*/ 121 w 408"/>
                  <a:gd name="T79" fmla="*/ 80 h 153"/>
                  <a:gd name="T80" fmla="*/ 87 w 408"/>
                  <a:gd name="T81" fmla="*/ 66 h 153"/>
                  <a:gd name="T82" fmla="*/ 57 w 408"/>
                  <a:gd name="T83" fmla="*/ 48 h 153"/>
                  <a:gd name="T84" fmla="*/ 27 w 408"/>
                  <a:gd name="T85" fmla="*/ 25 h 153"/>
                  <a:gd name="T86" fmla="*/ 0 w 408"/>
                  <a:gd name="T87" fmla="*/ 0 h 153"/>
                  <a:gd name="T88" fmla="*/ 69 w 408"/>
                  <a:gd name="T89" fmla="*/ 153 h 153"/>
                  <a:gd name="T90" fmla="*/ 0 w 408"/>
                  <a:gd name="T91" fmla="*/ 0 h 153"/>
                  <a:gd name="T92" fmla="*/ 408 w 408"/>
                  <a:gd name="T93" fmla="*/ 153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T90" t="T91" r="T92" b="T93"/>
                <a:pathLst>
                  <a:path w="408" h="153">
                    <a:moveTo>
                      <a:pt x="69" y="153"/>
                    </a:moveTo>
                    <a:lnTo>
                      <a:pt x="78" y="152"/>
                    </a:lnTo>
                    <a:lnTo>
                      <a:pt x="87" y="152"/>
                    </a:lnTo>
                    <a:lnTo>
                      <a:pt x="98" y="150"/>
                    </a:lnTo>
                    <a:lnTo>
                      <a:pt x="109" y="150"/>
                    </a:lnTo>
                    <a:lnTo>
                      <a:pt x="132" y="149"/>
                    </a:lnTo>
                    <a:lnTo>
                      <a:pt x="159" y="147"/>
                    </a:lnTo>
                    <a:lnTo>
                      <a:pt x="186" y="146"/>
                    </a:lnTo>
                    <a:lnTo>
                      <a:pt x="214" y="144"/>
                    </a:lnTo>
                    <a:lnTo>
                      <a:pt x="243" y="143"/>
                    </a:lnTo>
                    <a:lnTo>
                      <a:pt x="271" y="141"/>
                    </a:lnTo>
                    <a:lnTo>
                      <a:pt x="298" y="141"/>
                    </a:lnTo>
                    <a:lnTo>
                      <a:pt x="324" y="140"/>
                    </a:lnTo>
                    <a:lnTo>
                      <a:pt x="347" y="140"/>
                    </a:lnTo>
                    <a:lnTo>
                      <a:pt x="367" y="138"/>
                    </a:lnTo>
                    <a:lnTo>
                      <a:pt x="376" y="138"/>
                    </a:lnTo>
                    <a:lnTo>
                      <a:pt x="385" y="138"/>
                    </a:lnTo>
                    <a:lnTo>
                      <a:pt x="392" y="138"/>
                    </a:lnTo>
                    <a:lnTo>
                      <a:pt x="398" y="137"/>
                    </a:lnTo>
                    <a:lnTo>
                      <a:pt x="402" y="137"/>
                    </a:lnTo>
                    <a:lnTo>
                      <a:pt x="406" y="137"/>
                    </a:lnTo>
                    <a:lnTo>
                      <a:pt x="408" y="137"/>
                    </a:lnTo>
                    <a:lnTo>
                      <a:pt x="408" y="135"/>
                    </a:lnTo>
                    <a:lnTo>
                      <a:pt x="406" y="134"/>
                    </a:lnTo>
                    <a:lnTo>
                      <a:pt x="402" y="132"/>
                    </a:lnTo>
                    <a:lnTo>
                      <a:pt x="397" y="132"/>
                    </a:lnTo>
                    <a:lnTo>
                      <a:pt x="390" y="131"/>
                    </a:lnTo>
                    <a:lnTo>
                      <a:pt x="383" y="131"/>
                    </a:lnTo>
                    <a:lnTo>
                      <a:pt x="374" y="130"/>
                    </a:lnTo>
                    <a:lnTo>
                      <a:pt x="363" y="128"/>
                    </a:lnTo>
                    <a:lnTo>
                      <a:pt x="353" y="128"/>
                    </a:lnTo>
                    <a:lnTo>
                      <a:pt x="342" y="127"/>
                    </a:lnTo>
                    <a:lnTo>
                      <a:pt x="329" y="125"/>
                    </a:lnTo>
                    <a:lnTo>
                      <a:pt x="315" y="124"/>
                    </a:lnTo>
                    <a:lnTo>
                      <a:pt x="286" y="121"/>
                    </a:lnTo>
                    <a:lnTo>
                      <a:pt x="256" y="116"/>
                    </a:lnTo>
                    <a:lnTo>
                      <a:pt x="222" y="110"/>
                    </a:lnTo>
                    <a:lnTo>
                      <a:pt x="189" y="103"/>
                    </a:lnTo>
                    <a:lnTo>
                      <a:pt x="154" y="92"/>
                    </a:lnTo>
                    <a:lnTo>
                      <a:pt x="121" y="80"/>
                    </a:lnTo>
                    <a:lnTo>
                      <a:pt x="87" y="66"/>
                    </a:lnTo>
                    <a:lnTo>
                      <a:pt x="57" y="48"/>
                    </a:lnTo>
                    <a:lnTo>
                      <a:pt x="27" y="25"/>
                    </a:lnTo>
                    <a:lnTo>
                      <a:pt x="0" y="0"/>
                    </a:lnTo>
                    <a:lnTo>
                      <a:pt x="69" y="153"/>
                    </a:lnTo>
                    <a:close/>
                  </a:path>
                </a:pathLst>
              </a:custGeom>
              <a:solidFill>
                <a:srgbClr val="87878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48" name="Group 24"/>
            <p:cNvGrpSpPr>
              <a:grpSpLocks/>
            </p:cNvGrpSpPr>
            <p:nvPr/>
          </p:nvGrpSpPr>
          <p:grpSpPr bwMode="auto">
            <a:xfrm>
              <a:off x="5235" y="526"/>
              <a:ext cx="103" cy="49"/>
              <a:chOff x="5235" y="526"/>
              <a:chExt cx="103" cy="49"/>
            </a:xfrm>
          </p:grpSpPr>
          <p:sp>
            <p:nvSpPr>
              <p:cNvPr id="1049" name="AutoShape 25"/>
              <p:cNvSpPr>
                <a:spLocks noChangeArrowheads="1"/>
              </p:cNvSpPr>
              <p:nvPr/>
            </p:nvSpPr>
            <p:spPr bwMode="auto">
              <a:xfrm>
                <a:off x="5235" y="526"/>
                <a:ext cx="68" cy="50"/>
              </a:xfrm>
              <a:custGeom>
                <a:avLst/>
                <a:gdLst>
                  <a:gd name="T0" fmla="*/ 0 w 262"/>
                  <a:gd name="T1" fmla="*/ 234 h 234"/>
                  <a:gd name="T2" fmla="*/ 151 w 262"/>
                  <a:gd name="T3" fmla="*/ 0 h 234"/>
                  <a:gd name="T4" fmla="*/ 262 w 262"/>
                  <a:gd name="T5" fmla="*/ 0 h 234"/>
                  <a:gd name="T6" fmla="*/ 110 w 262"/>
                  <a:gd name="T7" fmla="*/ 234 h 234"/>
                  <a:gd name="T8" fmla="*/ 0 w 262"/>
                  <a:gd name="T9" fmla="*/ 234 h 234"/>
                  <a:gd name="T10" fmla="*/ 0 w 262"/>
                  <a:gd name="T11" fmla="*/ 0 h 234"/>
                  <a:gd name="T12" fmla="*/ 262 w 262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T10" t="T11" r="T12" b="T13"/>
                <a:pathLst>
                  <a:path w="262" h="234">
                    <a:moveTo>
                      <a:pt x="0" y="234"/>
                    </a:moveTo>
                    <a:lnTo>
                      <a:pt x="151" y="0"/>
                    </a:lnTo>
                    <a:lnTo>
                      <a:pt x="262" y="0"/>
                    </a:lnTo>
                    <a:lnTo>
                      <a:pt x="110" y="234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50" name="AutoShape 26"/>
              <p:cNvSpPr>
                <a:spLocks noChangeArrowheads="1"/>
              </p:cNvSpPr>
              <p:nvPr/>
            </p:nvSpPr>
            <p:spPr bwMode="auto">
              <a:xfrm>
                <a:off x="5247" y="526"/>
                <a:ext cx="91" cy="50"/>
              </a:xfrm>
              <a:custGeom>
                <a:avLst/>
                <a:gdLst>
                  <a:gd name="T0" fmla="*/ 0 w 352"/>
                  <a:gd name="T1" fmla="*/ 234 h 234"/>
                  <a:gd name="T2" fmla="*/ 181 w 352"/>
                  <a:gd name="T3" fmla="*/ 234 h 234"/>
                  <a:gd name="T4" fmla="*/ 192 w 352"/>
                  <a:gd name="T5" fmla="*/ 232 h 234"/>
                  <a:gd name="T6" fmla="*/ 203 w 352"/>
                  <a:gd name="T7" fmla="*/ 231 h 234"/>
                  <a:gd name="T8" fmla="*/ 213 w 352"/>
                  <a:gd name="T9" fmla="*/ 226 h 234"/>
                  <a:gd name="T10" fmla="*/ 223 w 352"/>
                  <a:gd name="T11" fmla="*/ 222 h 234"/>
                  <a:gd name="T12" fmla="*/ 232 w 352"/>
                  <a:gd name="T13" fmla="*/ 216 h 234"/>
                  <a:gd name="T14" fmla="*/ 240 w 352"/>
                  <a:gd name="T15" fmla="*/ 208 h 234"/>
                  <a:gd name="T16" fmla="*/ 248 w 352"/>
                  <a:gd name="T17" fmla="*/ 199 h 234"/>
                  <a:gd name="T18" fmla="*/ 255 w 352"/>
                  <a:gd name="T19" fmla="*/ 190 h 234"/>
                  <a:gd name="T20" fmla="*/ 276 w 352"/>
                  <a:gd name="T21" fmla="*/ 158 h 234"/>
                  <a:gd name="T22" fmla="*/ 280 w 352"/>
                  <a:gd name="T23" fmla="*/ 150 h 234"/>
                  <a:gd name="T24" fmla="*/ 281 w 352"/>
                  <a:gd name="T25" fmla="*/ 143 h 234"/>
                  <a:gd name="T26" fmla="*/ 280 w 352"/>
                  <a:gd name="T27" fmla="*/ 137 h 234"/>
                  <a:gd name="T28" fmla="*/ 278 w 352"/>
                  <a:gd name="T29" fmla="*/ 131 h 234"/>
                  <a:gd name="T30" fmla="*/ 276 w 352"/>
                  <a:gd name="T31" fmla="*/ 126 h 234"/>
                  <a:gd name="T32" fmla="*/ 272 w 352"/>
                  <a:gd name="T33" fmla="*/ 122 h 234"/>
                  <a:gd name="T34" fmla="*/ 287 w 352"/>
                  <a:gd name="T35" fmla="*/ 116 h 234"/>
                  <a:gd name="T36" fmla="*/ 301 w 352"/>
                  <a:gd name="T37" fmla="*/ 107 h 234"/>
                  <a:gd name="T38" fmla="*/ 314 w 352"/>
                  <a:gd name="T39" fmla="*/ 97 h 234"/>
                  <a:gd name="T40" fmla="*/ 326 w 352"/>
                  <a:gd name="T41" fmla="*/ 82 h 234"/>
                  <a:gd name="T42" fmla="*/ 346 w 352"/>
                  <a:gd name="T43" fmla="*/ 51 h 234"/>
                  <a:gd name="T44" fmla="*/ 350 w 352"/>
                  <a:gd name="T45" fmla="*/ 42 h 234"/>
                  <a:gd name="T46" fmla="*/ 352 w 352"/>
                  <a:gd name="T47" fmla="*/ 31 h 234"/>
                  <a:gd name="T48" fmla="*/ 352 w 352"/>
                  <a:gd name="T49" fmla="*/ 25 h 234"/>
                  <a:gd name="T50" fmla="*/ 350 w 352"/>
                  <a:gd name="T51" fmla="*/ 19 h 234"/>
                  <a:gd name="T52" fmla="*/ 348 w 352"/>
                  <a:gd name="T53" fmla="*/ 13 h 234"/>
                  <a:gd name="T54" fmla="*/ 344 w 352"/>
                  <a:gd name="T55" fmla="*/ 9 h 234"/>
                  <a:gd name="T56" fmla="*/ 340 w 352"/>
                  <a:gd name="T57" fmla="*/ 6 h 234"/>
                  <a:gd name="T58" fmla="*/ 335 w 352"/>
                  <a:gd name="T59" fmla="*/ 3 h 234"/>
                  <a:gd name="T60" fmla="*/ 330 w 352"/>
                  <a:gd name="T61" fmla="*/ 0 h 234"/>
                  <a:gd name="T62" fmla="*/ 325 w 352"/>
                  <a:gd name="T63" fmla="*/ 0 h 234"/>
                  <a:gd name="T64" fmla="*/ 151 w 352"/>
                  <a:gd name="T65" fmla="*/ 0 h 234"/>
                  <a:gd name="T66" fmla="*/ 121 w 352"/>
                  <a:gd name="T67" fmla="*/ 49 h 234"/>
                  <a:gd name="T68" fmla="*/ 223 w 352"/>
                  <a:gd name="T69" fmla="*/ 49 h 234"/>
                  <a:gd name="T70" fmla="*/ 226 w 352"/>
                  <a:gd name="T71" fmla="*/ 49 h 234"/>
                  <a:gd name="T72" fmla="*/ 228 w 352"/>
                  <a:gd name="T73" fmla="*/ 51 h 234"/>
                  <a:gd name="T74" fmla="*/ 230 w 352"/>
                  <a:gd name="T75" fmla="*/ 54 h 234"/>
                  <a:gd name="T76" fmla="*/ 230 w 352"/>
                  <a:gd name="T77" fmla="*/ 57 h 234"/>
                  <a:gd name="T78" fmla="*/ 230 w 352"/>
                  <a:gd name="T79" fmla="*/ 59 h 234"/>
                  <a:gd name="T80" fmla="*/ 228 w 352"/>
                  <a:gd name="T81" fmla="*/ 62 h 234"/>
                  <a:gd name="T82" fmla="*/ 217 w 352"/>
                  <a:gd name="T83" fmla="*/ 79 h 234"/>
                  <a:gd name="T84" fmla="*/ 213 w 352"/>
                  <a:gd name="T85" fmla="*/ 85 h 234"/>
                  <a:gd name="T86" fmla="*/ 209 w 352"/>
                  <a:gd name="T87" fmla="*/ 88 h 234"/>
                  <a:gd name="T88" fmla="*/ 204 w 352"/>
                  <a:gd name="T89" fmla="*/ 89 h 234"/>
                  <a:gd name="T90" fmla="*/ 198 w 352"/>
                  <a:gd name="T91" fmla="*/ 91 h 234"/>
                  <a:gd name="T92" fmla="*/ 92 w 352"/>
                  <a:gd name="T93" fmla="*/ 91 h 234"/>
                  <a:gd name="T94" fmla="*/ 62 w 352"/>
                  <a:gd name="T95" fmla="*/ 140 h 234"/>
                  <a:gd name="T96" fmla="*/ 164 w 352"/>
                  <a:gd name="T97" fmla="*/ 140 h 234"/>
                  <a:gd name="T98" fmla="*/ 167 w 352"/>
                  <a:gd name="T99" fmla="*/ 140 h 234"/>
                  <a:gd name="T100" fmla="*/ 169 w 352"/>
                  <a:gd name="T101" fmla="*/ 141 h 234"/>
                  <a:gd name="T102" fmla="*/ 171 w 352"/>
                  <a:gd name="T103" fmla="*/ 144 h 234"/>
                  <a:gd name="T104" fmla="*/ 171 w 352"/>
                  <a:gd name="T105" fmla="*/ 147 h 234"/>
                  <a:gd name="T106" fmla="*/ 171 w 352"/>
                  <a:gd name="T107" fmla="*/ 150 h 234"/>
                  <a:gd name="T108" fmla="*/ 169 w 352"/>
                  <a:gd name="T109" fmla="*/ 153 h 234"/>
                  <a:gd name="T110" fmla="*/ 156 w 352"/>
                  <a:gd name="T111" fmla="*/ 174 h 234"/>
                  <a:gd name="T112" fmla="*/ 153 w 352"/>
                  <a:gd name="T113" fmla="*/ 179 h 234"/>
                  <a:gd name="T114" fmla="*/ 148 w 352"/>
                  <a:gd name="T115" fmla="*/ 182 h 234"/>
                  <a:gd name="T116" fmla="*/ 142 w 352"/>
                  <a:gd name="T117" fmla="*/ 185 h 234"/>
                  <a:gd name="T118" fmla="*/ 137 w 352"/>
                  <a:gd name="T119" fmla="*/ 185 h 234"/>
                  <a:gd name="T120" fmla="*/ 32 w 352"/>
                  <a:gd name="T121" fmla="*/ 185 h 234"/>
                  <a:gd name="T122" fmla="*/ 0 w 352"/>
                  <a:gd name="T123" fmla="*/ 234 h 234"/>
                  <a:gd name="T124" fmla="*/ 0 w 352"/>
                  <a:gd name="T125" fmla="*/ 0 h 234"/>
                  <a:gd name="T126" fmla="*/ 352 w 352"/>
                  <a:gd name="T1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T124" t="T125" r="T126" b="T127"/>
                <a:pathLst>
                  <a:path w="352" h="234">
                    <a:moveTo>
                      <a:pt x="0" y="234"/>
                    </a:moveTo>
                    <a:lnTo>
                      <a:pt x="181" y="234"/>
                    </a:lnTo>
                    <a:lnTo>
                      <a:pt x="192" y="232"/>
                    </a:lnTo>
                    <a:lnTo>
                      <a:pt x="203" y="231"/>
                    </a:lnTo>
                    <a:lnTo>
                      <a:pt x="213" y="226"/>
                    </a:lnTo>
                    <a:lnTo>
                      <a:pt x="223" y="222"/>
                    </a:lnTo>
                    <a:lnTo>
                      <a:pt x="232" y="216"/>
                    </a:lnTo>
                    <a:lnTo>
                      <a:pt x="240" y="208"/>
                    </a:lnTo>
                    <a:lnTo>
                      <a:pt x="248" y="199"/>
                    </a:lnTo>
                    <a:lnTo>
                      <a:pt x="255" y="190"/>
                    </a:lnTo>
                    <a:lnTo>
                      <a:pt x="276" y="158"/>
                    </a:lnTo>
                    <a:lnTo>
                      <a:pt x="280" y="150"/>
                    </a:lnTo>
                    <a:lnTo>
                      <a:pt x="281" y="143"/>
                    </a:lnTo>
                    <a:lnTo>
                      <a:pt x="280" y="137"/>
                    </a:lnTo>
                    <a:lnTo>
                      <a:pt x="278" y="131"/>
                    </a:lnTo>
                    <a:lnTo>
                      <a:pt x="276" y="126"/>
                    </a:lnTo>
                    <a:lnTo>
                      <a:pt x="272" y="122"/>
                    </a:lnTo>
                    <a:lnTo>
                      <a:pt x="287" y="116"/>
                    </a:lnTo>
                    <a:lnTo>
                      <a:pt x="301" y="107"/>
                    </a:lnTo>
                    <a:lnTo>
                      <a:pt x="314" y="97"/>
                    </a:lnTo>
                    <a:lnTo>
                      <a:pt x="326" y="82"/>
                    </a:lnTo>
                    <a:lnTo>
                      <a:pt x="346" y="51"/>
                    </a:lnTo>
                    <a:lnTo>
                      <a:pt x="350" y="42"/>
                    </a:lnTo>
                    <a:lnTo>
                      <a:pt x="352" y="31"/>
                    </a:lnTo>
                    <a:lnTo>
                      <a:pt x="352" y="25"/>
                    </a:lnTo>
                    <a:lnTo>
                      <a:pt x="350" y="19"/>
                    </a:lnTo>
                    <a:lnTo>
                      <a:pt x="348" y="13"/>
                    </a:lnTo>
                    <a:lnTo>
                      <a:pt x="344" y="9"/>
                    </a:lnTo>
                    <a:lnTo>
                      <a:pt x="340" y="6"/>
                    </a:lnTo>
                    <a:lnTo>
                      <a:pt x="335" y="3"/>
                    </a:lnTo>
                    <a:lnTo>
                      <a:pt x="330" y="0"/>
                    </a:lnTo>
                    <a:lnTo>
                      <a:pt x="325" y="0"/>
                    </a:lnTo>
                    <a:lnTo>
                      <a:pt x="151" y="0"/>
                    </a:lnTo>
                    <a:lnTo>
                      <a:pt x="121" y="49"/>
                    </a:lnTo>
                    <a:lnTo>
                      <a:pt x="223" y="49"/>
                    </a:lnTo>
                    <a:lnTo>
                      <a:pt x="226" y="49"/>
                    </a:lnTo>
                    <a:lnTo>
                      <a:pt x="228" y="51"/>
                    </a:lnTo>
                    <a:lnTo>
                      <a:pt x="230" y="54"/>
                    </a:lnTo>
                    <a:lnTo>
                      <a:pt x="230" y="57"/>
                    </a:lnTo>
                    <a:lnTo>
                      <a:pt x="230" y="59"/>
                    </a:lnTo>
                    <a:lnTo>
                      <a:pt x="228" y="62"/>
                    </a:lnTo>
                    <a:lnTo>
                      <a:pt x="217" y="79"/>
                    </a:lnTo>
                    <a:lnTo>
                      <a:pt x="213" y="85"/>
                    </a:lnTo>
                    <a:lnTo>
                      <a:pt x="209" y="88"/>
                    </a:lnTo>
                    <a:lnTo>
                      <a:pt x="204" y="89"/>
                    </a:lnTo>
                    <a:lnTo>
                      <a:pt x="198" y="91"/>
                    </a:lnTo>
                    <a:lnTo>
                      <a:pt x="92" y="91"/>
                    </a:lnTo>
                    <a:lnTo>
                      <a:pt x="62" y="140"/>
                    </a:lnTo>
                    <a:lnTo>
                      <a:pt x="164" y="140"/>
                    </a:lnTo>
                    <a:lnTo>
                      <a:pt x="167" y="140"/>
                    </a:lnTo>
                    <a:lnTo>
                      <a:pt x="169" y="141"/>
                    </a:lnTo>
                    <a:lnTo>
                      <a:pt x="171" y="144"/>
                    </a:lnTo>
                    <a:lnTo>
                      <a:pt x="171" y="147"/>
                    </a:lnTo>
                    <a:lnTo>
                      <a:pt x="171" y="150"/>
                    </a:lnTo>
                    <a:lnTo>
                      <a:pt x="169" y="153"/>
                    </a:lnTo>
                    <a:lnTo>
                      <a:pt x="156" y="174"/>
                    </a:lnTo>
                    <a:lnTo>
                      <a:pt x="153" y="179"/>
                    </a:lnTo>
                    <a:lnTo>
                      <a:pt x="148" y="182"/>
                    </a:lnTo>
                    <a:lnTo>
                      <a:pt x="142" y="185"/>
                    </a:lnTo>
                    <a:lnTo>
                      <a:pt x="137" y="185"/>
                    </a:lnTo>
                    <a:lnTo>
                      <a:pt x="32" y="185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2pPr>
      <a:lvl3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3pPr>
      <a:lvl4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4pPr>
      <a:lvl5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5pPr>
      <a:lvl6pPr marL="4572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6pPr>
      <a:lvl7pPr marL="9144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7pPr>
      <a:lvl8pPr marL="13716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8pPr>
      <a:lvl9pPr marL="18288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9pPr>
    </p:titleStyle>
    <p:bodyStyle>
      <a:lvl1pPr marL="268288" indent="-268288" algn="l" defTabSz="457200" rtl="0" eaLnBrk="1" fontAlgn="base" hangingPunct="1">
        <a:lnSpc>
          <a:spcPct val="90000"/>
        </a:lnSpc>
        <a:spcBef>
          <a:spcPts val="825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642938" indent="-215900" algn="l" defTabSz="457200" rtl="0" eaLnBrk="1" fontAlgn="base" hangingPunct="1">
        <a:lnSpc>
          <a:spcPct val="90000"/>
        </a:lnSpc>
        <a:spcBef>
          <a:spcPts val="675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b="1">
          <a:solidFill>
            <a:srgbClr val="000000"/>
          </a:solidFill>
          <a:latin typeface="+mn-lt"/>
          <a:cs typeface="+mn-cs"/>
        </a:defRPr>
      </a:lvl2pPr>
      <a:lvl3pPr marL="1074738" indent="-215900" algn="l" defTabSz="457200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1600" b="1">
          <a:solidFill>
            <a:srgbClr val="000000"/>
          </a:solidFill>
          <a:latin typeface="+mn-lt"/>
          <a:cs typeface="+mn-cs"/>
        </a:defRPr>
      </a:lvl3pPr>
      <a:lvl4pPr marL="1449388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4pPr>
      <a:lvl5pPr marL="18796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5pPr>
      <a:lvl6pPr marL="23368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6pPr>
      <a:lvl7pPr marL="27940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7pPr>
      <a:lvl8pPr marL="32512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8pPr>
      <a:lvl9pPr marL="37084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ES Templ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Lucida Sans Unicode"/>
      </a:majorFont>
      <a:minorFont>
        <a:latin typeface="Arial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Lucida Sans Unicod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Lucida Sans Unicode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b="1" dirty="0" err="1" smtClean="0">
            <a:solidFill>
              <a:schemeClr val="tx1"/>
            </a:solidFill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CES Template</Template>
  <TotalTime>14792</TotalTime>
  <Words>2744</Words>
  <Application>Microsoft Office PowerPoint</Application>
  <PresentationFormat>On-screen Show (4:3)</PresentationFormat>
  <Paragraphs>311</Paragraphs>
  <Slides>26</Slides>
  <Notes>25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CES Template</vt:lpstr>
      <vt:lpstr>Equation</vt:lpstr>
      <vt:lpstr>Cable Effects Study Program Review and Cable Modelling Approach</vt:lpstr>
      <vt:lpstr>The Cable Effects Study Missions</vt:lpstr>
      <vt:lpstr>The Why of the Cable Effects Study</vt:lpstr>
      <vt:lpstr>The Significance of Cable Modelling</vt:lpstr>
      <vt:lpstr>The What of the Cable Effects Study / Focus Restrictions</vt:lpstr>
      <vt:lpstr>The How of the Cable Effects Study</vt:lpstr>
      <vt:lpstr>Research Topics not Included in the Cable Effects Study</vt:lpstr>
      <vt:lpstr>Cable Construction and Effects on Dynamics</vt:lpstr>
      <vt:lpstr>Attachment to Host Structure: Cable-Structure Interaction</vt:lpstr>
      <vt:lpstr>Cable Modeling Approach Overview</vt:lpstr>
      <vt:lpstr>The Cable Parameter Extraction Mission and Approach</vt:lpstr>
      <vt:lpstr>Cable Natural Frequency Progression: The Beam Model Indicator</vt:lpstr>
      <vt:lpstr>Bare Cable Lateral Test:  Parameter Estimation Approach</vt:lpstr>
      <vt:lpstr>Parameter Estimation: Tie down stiffness</vt:lpstr>
      <vt:lpstr>Slide 15</vt:lpstr>
      <vt:lpstr>Cable-on-Beam Results</vt:lpstr>
      <vt:lpstr>Model Validation Effort – A Panel Structure</vt:lpstr>
      <vt:lpstr>Measured Driving Point FRFs</vt:lpstr>
      <vt:lpstr>Panel Model Validation</vt:lpstr>
      <vt:lpstr>Shear Modulus Choice</vt:lpstr>
      <vt:lpstr>Major Findings</vt:lpstr>
      <vt:lpstr>Summary</vt:lpstr>
      <vt:lpstr>Open Research Topics</vt:lpstr>
      <vt:lpstr>Questions </vt:lpstr>
      <vt:lpstr>Acknowledgments</vt:lpstr>
      <vt:lpstr>Cable Tie Down Details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Effects Study: Tangents, Rat Holes, Dead Ends and Valuable Results</dc:title>
  <dc:creator>Jim Goodding</dc:creator>
  <cp:lastModifiedBy>Douglas M. Coombs</cp:lastModifiedBy>
  <cp:revision>1243</cp:revision>
  <dcterms:created xsi:type="dcterms:W3CDTF">2010-04-28T21:03:33Z</dcterms:created>
  <dcterms:modified xsi:type="dcterms:W3CDTF">2011-05-01T13:32:06Z</dcterms:modified>
</cp:coreProperties>
</file>