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jpg"/><Relationship Id="rId16" Type="http://schemas.openxmlformats.org/officeDocument/2006/relationships/image" Target="../media/image20.png"/><Relationship Id="rId17" Type="http://schemas.openxmlformats.org/officeDocument/2006/relationships/image" Target="../media/image21.jpg"/><Relationship Id="rId18" Type="http://schemas.openxmlformats.org/officeDocument/2006/relationships/image" Target="../media/image22.png"/><Relationship Id="rId19" Type="http://schemas.openxmlformats.org/officeDocument/2006/relationships/image" Target="../media/image23.jpg"/><Relationship Id="rId20" Type="http://schemas.openxmlformats.org/officeDocument/2006/relationships/image" Target="../media/image24.jpg"/><Relationship Id="rId21" Type="http://schemas.openxmlformats.org/officeDocument/2006/relationships/image" Target="../media/image25.jpg"/><Relationship Id="rId22" Type="http://schemas.openxmlformats.org/officeDocument/2006/relationships/image" Target="../media/image26.jpg"/><Relationship Id="rId23" Type="http://schemas.openxmlformats.org/officeDocument/2006/relationships/image" Target="../media/image27.png"/><Relationship Id="rId24" Type="http://schemas.openxmlformats.org/officeDocument/2006/relationships/image" Target="../media/image28.png"/><Relationship Id="rId25"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image" Target="../media/image38.jpg"/><Relationship Id="rId9" Type="http://schemas.openxmlformats.org/officeDocument/2006/relationships/image" Target="../media/image39.jpg"/><Relationship Id="rId10" Type="http://schemas.openxmlformats.org/officeDocument/2006/relationships/image" Target="../media/image40.jpg"/><Relationship Id="rId11" Type="http://schemas.openxmlformats.org/officeDocument/2006/relationships/image" Target="../media/image41.jpg"/><Relationship Id="rId12" Type="http://schemas.openxmlformats.org/officeDocument/2006/relationships/image" Target="../media/image42.jpg"/><Relationship Id="rId13" Type="http://schemas.openxmlformats.org/officeDocument/2006/relationships/image" Target="../media/image43.jpg"/><Relationship Id="rId14" Type="http://schemas.openxmlformats.org/officeDocument/2006/relationships/image" Target="../media/image44.jpg"/><Relationship Id="rId15" Type="http://schemas.openxmlformats.org/officeDocument/2006/relationships/image" Target="../media/image45.jpg"/><Relationship Id="rId16" Type="http://schemas.openxmlformats.org/officeDocument/2006/relationships/image" Target="../media/image4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image" Target="../media/image48.jpg"/><Relationship Id="rId4" Type="http://schemas.openxmlformats.org/officeDocument/2006/relationships/image" Target="../media/image49.jpg"/><Relationship Id="rId5" Type="http://schemas.openxmlformats.org/officeDocument/2006/relationships/image" Target="../media/image50.jpg"/><Relationship Id="rId6" Type="http://schemas.openxmlformats.org/officeDocument/2006/relationships/image" Target="../media/image51.jpg"/><Relationship Id="rId7" Type="http://schemas.openxmlformats.org/officeDocument/2006/relationships/image" Target="../media/image52.jpg"/><Relationship Id="rId8" Type="http://schemas.openxmlformats.org/officeDocument/2006/relationships/image" Target="../media/image53.jpg"/><Relationship Id="rId9" Type="http://schemas.openxmlformats.org/officeDocument/2006/relationships/image" Target="../media/image54.jpg"/><Relationship Id="rId10" Type="http://schemas.openxmlformats.org/officeDocument/2006/relationships/image" Target="../media/image55.jpg"/><Relationship Id="rId11" Type="http://schemas.openxmlformats.org/officeDocument/2006/relationships/image" Target="../media/image5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58.jpg"/><Relationship Id="rId4" Type="http://schemas.openxmlformats.org/officeDocument/2006/relationships/image" Target="../media/image59.jpg"/><Relationship Id="rId5" Type="http://schemas.openxmlformats.org/officeDocument/2006/relationships/image" Target="../media/image60.jpg"/><Relationship Id="rId6" Type="http://schemas.openxmlformats.org/officeDocument/2006/relationships/image" Target="../media/image61.jpg"/><Relationship Id="rId7" Type="http://schemas.openxmlformats.org/officeDocument/2006/relationships/image" Target="../media/image62.jpg"/><Relationship Id="rId8" Type="http://schemas.openxmlformats.org/officeDocument/2006/relationships/image" Target="../media/image63.jpg"/><Relationship Id="rId9" Type="http://schemas.openxmlformats.org/officeDocument/2006/relationships/image" Target="../media/image64.jpg"/><Relationship Id="rId10" Type="http://schemas.openxmlformats.org/officeDocument/2006/relationships/image" Target="../media/image65.jpg"/><Relationship Id="rId11" Type="http://schemas.openxmlformats.org/officeDocument/2006/relationships/image" Target="../media/image66.jpg"/><Relationship Id="rId12" Type="http://schemas.openxmlformats.org/officeDocument/2006/relationships/image" Target="../media/image67.jpg"/><Relationship Id="rId13" Type="http://schemas.openxmlformats.org/officeDocument/2006/relationships/image" Target="../media/image68.jpg"/><Relationship Id="rId14" Type="http://schemas.openxmlformats.org/officeDocument/2006/relationships/image" Target="../media/image6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8153400" y="489810"/>
            <a:ext cx="990600" cy="169863"/>
          </a:xfrm>
          <a:prstGeom prst="rect">
            <a:avLst/>
          </a:prstGeom>
        </p:spPr>
      </p:pic>
      <p:pic>
        <p:nvPicPr>
          <p:cNvPr id="3" name="Picture 2" descr="image2.png"/>
          <p:cNvPicPr>
            <a:picLocks noChangeAspect="1"/>
          </p:cNvPicPr>
          <p:nvPr/>
        </p:nvPicPr>
        <p:blipFill>
          <a:blip r:embed="rId3"/>
          <a:stretch>
            <a:fillRect/>
          </a:stretch>
        </p:blipFill>
        <p:spPr>
          <a:xfrm>
            <a:off x="8151813" y="226277"/>
            <a:ext cx="976267" cy="230923"/>
          </a:xfrm>
          <a:prstGeom prst="rect">
            <a:avLst/>
          </a:prstGeom>
        </p:spPr>
      </p:pic>
      <p:pic>
        <p:nvPicPr>
          <p:cNvPr id="4" name="Picture 3" descr="image3.png"/>
          <p:cNvPicPr>
            <a:picLocks noChangeAspect="1"/>
          </p:cNvPicPr>
          <p:nvPr/>
        </p:nvPicPr>
        <p:blipFill>
          <a:blip r:embed="rId4"/>
          <a:stretch>
            <a:fillRect/>
          </a:stretch>
        </p:blipFill>
        <p:spPr>
          <a:xfrm>
            <a:off x="8189153" y="702855"/>
            <a:ext cx="801654" cy="320662"/>
          </a:xfrm>
          <a:prstGeom prst="rect">
            <a:avLst/>
          </a:prstGeom>
        </p:spPr>
      </p:pic>
      <p:pic>
        <p:nvPicPr>
          <p:cNvPr id="5" name="Picture 4" descr="image4.png"/>
          <p:cNvPicPr>
            <a:picLocks noChangeAspect="1"/>
          </p:cNvPicPr>
          <p:nvPr/>
        </p:nvPicPr>
        <p:blipFill>
          <a:blip r:embed="rId5"/>
          <a:stretch>
            <a:fillRect/>
          </a:stretch>
        </p:blipFill>
        <p:spPr>
          <a:xfrm>
            <a:off x="-3765" y="533400"/>
            <a:ext cx="992778" cy="430788"/>
          </a:xfrm>
          <a:prstGeom prst="rect">
            <a:avLst/>
          </a:prstGeom>
        </p:spPr>
      </p:pic>
      <p:pic>
        <p:nvPicPr>
          <p:cNvPr id="6" name="Picture 5" descr="image5.png"/>
          <p:cNvPicPr>
            <a:picLocks noChangeAspect="1"/>
          </p:cNvPicPr>
          <p:nvPr/>
        </p:nvPicPr>
        <p:blipFill>
          <a:blip r:embed="rId6"/>
          <a:stretch>
            <a:fillRect/>
          </a:stretch>
        </p:blipFill>
        <p:spPr>
          <a:xfrm>
            <a:off x="35099" y="152400"/>
            <a:ext cx="953914" cy="294846"/>
          </a:xfrm>
          <a:prstGeom prst="rect">
            <a:avLst/>
          </a:prstGeom>
        </p:spPr>
      </p:pic>
      <p:sp>
        <p:nvSpPr>
          <p:cNvPr id="7" name="Rectangle 6"/>
          <p:cNvSpPr/>
          <p:nvPr/>
        </p:nvSpPr>
        <p:spPr>
          <a:xfrm>
            <a:off x="190500" y="1219200"/>
            <a:ext cx="8763000" cy="2362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 y="1635760"/>
            <a:ext cx="8610600" cy="16408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Mechanical EngineeringCareer Overview</a:t>
            </a:r>
          </a:p>
        </p:txBody>
      </p:sp>
      <p:sp>
        <p:nvSpPr>
          <p:cNvPr id="9" name="Rectangle 8"/>
          <p:cNvSpPr/>
          <p:nvPr/>
        </p:nvSpPr>
        <p:spPr>
          <a:xfrm>
            <a:off x="1981200" y="3505200"/>
            <a:ext cx="5486400" cy="1295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Douglas CoombsApril 8, 2021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0"/>
            <a:ext cx="7161213" cy="10842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Overview</a:t>
            </a:r>
          </a:p>
        </p:txBody>
      </p:sp>
      <p:sp>
        <p:nvSpPr>
          <p:cNvPr id="3" name="Rectangle 2"/>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Personal IntroTypes of EngineeringEducational RequirementsCareer OverviewSucceed in Any CareerQ &amp; ADisclaimer: These are the presenter’s opinions and do not necessarily reflect those of his employers, past and present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0"/>
            <a:ext cx="7161213" cy="10842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Brief Personal Intro</a:t>
            </a:r>
          </a:p>
        </p:txBody>
      </p:sp>
      <p:sp>
        <p:nvSpPr>
          <p:cNvPr id="3" name="Rectangle 2"/>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Name: Douglas CoombsEmployer: Sandia National LaboratoriesTitle: Principal Member of the Technical StaffJob Roles: Audit scientific and engineering work to ensure national securityPerform system analyses to ensure safetyManage software projects to help engineers work more productively Contribute to R&amp;D efforts to advance product linesDid that make any sense?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6.jpg"/>
          <p:cNvPicPr>
            <a:picLocks noChangeAspect="1"/>
          </p:cNvPicPr>
          <p:nvPr/>
        </p:nvPicPr>
        <p:blipFill>
          <a:blip r:embed="rId2"/>
          <a:stretch>
            <a:fillRect/>
          </a:stretch>
        </p:blipFill>
        <p:spPr>
          <a:xfrm>
            <a:off x="5105400" y="3048000"/>
            <a:ext cx="3913259" cy="3133725"/>
          </a:xfrm>
          <a:prstGeom prst="rect">
            <a:avLst/>
          </a:prstGeom>
        </p:spPr>
      </p:pic>
      <p:pic>
        <p:nvPicPr>
          <p:cNvPr id="3" name="Picture 2" descr="image7.jpg"/>
          <p:cNvPicPr>
            <a:picLocks noChangeAspect="1"/>
          </p:cNvPicPr>
          <p:nvPr/>
        </p:nvPicPr>
        <p:blipFill>
          <a:blip r:embed="rId3"/>
          <a:stretch>
            <a:fillRect/>
          </a:stretch>
        </p:blipFill>
        <p:spPr>
          <a:xfrm>
            <a:off x="438555" y="3238499"/>
            <a:ext cx="4422881" cy="2943226"/>
          </a:xfrm>
          <a:prstGeom prst="rect">
            <a:avLst/>
          </a:prstGeom>
        </p:spPr>
      </p:pic>
      <p:cxnSp>
        <p:nvCxnSpPr>
          <p:cNvPr id="4" name="Connector 3"/>
          <p:cNvCxnSpPr/>
          <p:nvPr/>
        </p:nvCxnSpPr>
        <p:spPr>
          <a:xfrm>
            <a:off x="438555" y="3238499"/>
            <a:ext cx="4422881" cy="2943226"/>
          </a:xfrm>
          <a:prstGeom prst="line">
            <a:avLst/>
          </a:prstGeom>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814985" y="3429000"/>
            <a:ext cx="910827" cy="120032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t>
            </a:r>
          </a:p>
        </p:txBody>
      </p:sp>
      <p:cxnSp>
        <p:nvCxnSpPr>
          <p:cNvPr id="6" name="Connector 5"/>
          <p:cNvCxnSpPr/>
          <p:nvPr/>
        </p:nvCxnSpPr>
        <p:spPr>
          <a:xfrm flipV="1">
            <a:off x="438555" y="3238499"/>
            <a:ext cx="4422881" cy="2943226"/>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990600" y="0"/>
            <a:ext cx="7161213" cy="10842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Types of Engineering</a:t>
            </a:r>
          </a:p>
        </p:txBody>
      </p:sp>
      <p:sp>
        <p:nvSpPr>
          <p:cNvPr id="8" name="Rectangle 7"/>
          <p:cNvSpPr/>
          <p:nvPr/>
        </p:nvSpPr>
        <p:spPr>
          <a:xfrm>
            <a:off x="838200" y="365125"/>
            <a:ext cx="10515600" cy="13255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What do engineers do? We solve scientific and technical problems to create the infrastructure and products that enable modern lifeTrain engineers vs. technical engineers Types of EngineersCivil, Mechanical, and Electrical (most engineers) Niche fieldsChemical, Bio-Medical, Materials, Industrial, Aerospace, Mining, Petroleum, Nuclear, Marine, Agricultural, EnvironmentalWide range of pay depending on industry, difficulty and educational level attained ($50k-$250k, median ~85k)Commodities vs cutting edge technologiesScalability of productGood bread and butter job to support a family withMost people can do it if they work hard enough – not like sports or acting where only the top .01% succeed and make enough money to support a family</a:t>
            </a:r>
          </a:p>
        </p:txBody>
      </p:sp>
      <p:pic>
        <p:nvPicPr>
          <p:cNvPr id="9" name="Picture 8" descr="image8.jpg"/>
          <p:cNvPicPr>
            <a:picLocks noChangeAspect="1"/>
          </p:cNvPicPr>
          <p:nvPr/>
        </p:nvPicPr>
        <p:blipFill>
          <a:blip r:embed="rId4"/>
          <a:stretch>
            <a:fillRect/>
          </a:stretch>
        </p:blipFill>
        <p:spPr>
          <a:xfrm>
            <a:off x="304800" y="4704242"/>
            <a:ext cx="3549200" cy="1994200"/>
          </a:xfrm>
          <a:prstGeom prst="rect">
            <a:avLst/>
          </a:prstGeom>
        </p:spPr>
      </p:pic>
      <p:pic>
        <p:nvPicPr>
          <p:cNvPr id="10" name="Picture 9" descr="image9.png"/>
          <p:cNvPicPr>
            <a:picLocks noChangeAspect="1"/>
          </p:cNvPicPr>
          <p:nvPr/>
        </p:nvPicPr>
        <p:blipFill>
          <a:blip r:embed="rId5"/>
          <a:stretch>
            <a:fillRect/>
          </a:stretch>
        </p:blipFill>
        <p:spPr>
          <a:xfrm>
            <a:off x="3949925" y="4770408"/>
            <a:ext cx="2908075" cy="1935192"/>
          </a:xfrm>
          <a:prstGeom prst="rect">
            <a:avLst/>
          </a:prstGeom>
        </p:spPr>
      </p:pic>
      <p:pic>
        <p:nvPicPr>
          <p:cNvPr id="11" name="Picture 10" descr="image10.png"/>
          <p:cNvPicPr>
            <a:picLocks noChangeAspect="1"/>
          </p:cNvPicPr>
          <p:nvPr/>
        </p:nvPicPr>
        <p:blipFill>
          <a:blip r:embed="rId6"/>
          <a:stretch>
            <a:fillRect/>
          </a:stretch>
        </p:blipFill>
        <p:spPr>
          <a:xfrm>
            <a:off x="304800" y="2743200"/>
            <a:ext cx="3429000" cy="1920240"/>
          </a:xfrm>
          <a:prstGeom prst="rect">
            <a:avLst/>
          </a:prstGeom>
        </p:spPr>
      </p:pic>
      <p:pic>
        <p:nvPicPr>
          <p:cNvPr id="12" name="Picture 11" descr="image11.png"/>
          <p:cNvPicPr>
            <a:picLocks noChangeAspect="1"/>
          </p:cNvPicPr>
          <p:nvPr/>
        </p:nvPicPr>
        <p:blipFill>
          <a:blip r:embed="rId7"/>
          <a:stretch>
            <a:fillRect/>
          </a:stretch>
        </p:blipFill>
        <p:spPr>
          <a:xfrm>
            <a:off x="3783408" y="2780742"/>
            <a:ext cx="3253588" cy="1845156"/>
          </a:xfrm>
          <a:prstGeom prst="rect">
            <a:avLst/>
          </a:prstGeom>
        </p:spPr>
      </p:pic>
      <p:sp>
        <p:nvSpPr>
          <p:cNvPr id="13" name="Rectangle 12"/>
          <p:cNvSpPr/>
          <p:nvPr/>
        </p:nvSpPr>
        <p:spPr>
          <a:xfrm>
            <a:off x="522926" y="3510110"/>
            <a:ext cx="1823258" cy="29980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Civil Engineering Bridges, Roads,  Dams, Skyscrapers, Sewage Treatment</a:t>
            </a:r>
          </a:p>
        </p:txBody>
      </p:sp>
      <p:pic>
        <p:nvPicPr>
          <p:cNvPr id="14" name="Picture 13" descr="image12.png"/>
          <p:cNvPicPr>
            <a:picLocks noChangeAspect="1"/>
          </p:cNvPicPr>
          <p:nvPr/>
        </p:nvPicPr>
        <p:blipFill>
          <a:blip r:embed="rId8"/>
          <a:stretch>
            <a:fillRect/>
          </a:stretch>
        </p:blipFill>
        <p:spPr>
          <a:xfrm>
            <a:off x="2314456" y="5109989"/>
            <a:ext cx="1990754" cy="1491144"/>
          </a:xfrm>
          <a:prstGeom prst="rect">
            <a:avLst/>
          </a:prstGeom>
        </p:spPr>
      </p:pic>
      <p:pic>
        <p:nvPicPr>
          <p:cNvPr id="15" name="Picture 14" descr="image13.png"/>
          <p:cNvPicPr>
            <a:picLocks noChangeAspect="1"/>
          </p:cNvPicPr>
          <p:nvPr/>
        </p:nvPicPr>
        <p:blipFill>
          <a:blip r:embed="rId9"/>
          <a:stretch>
            <a:fillRect/>
          </a:stretch>
        </p:blipFill>
        <p:spPr>
          <a:xfrm>
            <a:off x="4473946" y="5230477"/>
            <a:ext cx="2006193" cy="1335030"/>
          </a:xfrm>
          <a:prstGeom prst="rect">
            <a:avLst/>
          </a:prstGeom>
        </p:spPr>
      </p:pic>
      <p:pic>
        <p:nvPicPr>
          <p:cNvPr id="16" name="Picture 15" descr="image14.png"/>
          <p:cNvPicPr>
            <a:picLocks noChangeAspect="1"/>
          </p:cNvPicPr>
          <p:nvPr/>
        </p:nvPicPr>
        <p:blipFill>
          <a:blip r:embed="rId10"/>
          <a:stretch>
            <a:fillRect/>
          </a:stretch>
        </p:blipFill>
        <p:spPr>
          <a:xfrm>
            <a:off x="6575878" y="5203544"/>
            <a:ext cx="2376034" cy="1335029"/>
          </a:xfrm>
          <a:prstGeom prst="rect">
            <a:avLst/>
          </a:prstGeom>
        </p:spPr>
      </p:pic>
      <p:pic>
        <p:nvPicPr>
          <p:cNvPr id="17" name="Picture 16" descr="image15.png"/>
          <p:cNvPicPr>
            <a:picLocks noChangeAspect="1"/>
          </p:cNvPicPr>
          <p:nvPr/>
        </p:nvPicPr>
        <p:blipFill>
          <a:blip r:embed="rId11"/>
          <a:stretch>
            <a:fillRect/>
          </a:stretch>
        </p:blipFill>
        <p:spPr>
          <a:xfrm>
            <a:off x="2287454" y="3714393"/>
            <a:ext cx="2044757" cy="1302532"/>
          </a:xfrm>
          <a:prstGeom prst="rect">
            <a:avLst/>
          </a:prstGeom>
        </p:spPr>
      </p:pic>
      <p:pic>
        <p:nvPicPr>
          <p:cNvPr id="18" name="Picture 17" descr="image16.png"/>
          <p:cNvPicPr>
            <a:picLocks noChangeAspect="1"/>
          </p:cNvPicPr>
          <p:nvPr/>
        </p:nvPicPr>
        <p:blipFill>
          <a:blip r:embed="rId12"/>
          <a:stretch>
            <a:fillRect/>
          </a:stretch>
        </p:blipFill>
        <p:spPr>
          <a:xfrm>
            <a:off x="4415662" y="3739275"/>
            <a:ext cx="2176462" cy="1277650"/>
          </a:xfrm>
          <a:prstGeom prst="rect">
            <a:avLst/>
          </a:prstGeom>
        </p:spPr>
      </p:pic>
      <p:pic>
        <p:nvPicPr>
          <p:cNvPr id="19" name="Picture 18" descr="image17.png"/>
          <p:cNvPicPr>
            <a:picLocks noChangeAspect="1"/>
          </p:cNvPicPr>
          <p:nvPr/>
        </p:nvPicPr>
        <p:blipFill>
          <a:blip r:embed="rId13"/>
          <a:stretch>
            <a:fillRect/>
          </a:stretch>
        </p:blipFill>
        <p:spPr>
          <a:xfrm>
            <a:off x="6563326" y="3646211"/>
            <a:ext cx="1327324" cy="1463778"/>
          </a:xfrm>
          <a:prstGeom prst="rect">
            <a:avLst/>
          </a:prstGeom>
        </p:spPr>
      </p:pic>
      <p:pic>
        <p:nvPicPr>
          <p:cNvPr id="20" name="Picture 19" descr="image18.png"/>
          <p:cNvPicPr>
            <a:picLocks noChangeAspect="1"/>
          </p:cNvPicPr>
          <p:nvPr/>
        </p:nvPicPr>
        <p:blipFill>
          <a:blip r:embed="rId14"/>
          <a:stretch>
            <a:fillRect/>
          </a:stretch>
        </p:blipFill>
        <p:spPr>
          <a:xfrm>
            <a:off x="7657128" y="3733800"/>
            <a:ext cx="1376189" cy="1376189"/>
          </a:xfrm>
          <a:prstGeom prst="rect">
            <a:avLst/>
          </a:prstGeom>
        </p:spPr>
      </p:pic>
      <p:sp>
        <p:nvSpPr>
          <p:cNvPr id="21" name="Rectangle 20"/>
          <p:cNvSpPr/>
          <p:nvPr/>
        </p:nvSpPr>
        <p:spPr>
          <a:xfrm>
            <a:off x="185331" y="3695590"/>
            <a:ext cx="2044757" cy="317009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Mechanical Engineering Rockets, Trucks, Cars, Household Appliances, Airplanes, Machines in General</a:t>
            </a:r>
          </a:p>
        </p:txBody>
      </p:sp>
      <p:sp>
        <p:nvSpPr>
          <p:cNvPr id="22" name="Rectangle 21"/>
          <p:cNvSpPr/>
          <p:nvPr/>
        </p:nvSpPr>
        <p:spPr>
          <a:xfrm>
            <a:off x="310712" y="3457699"/>
            <a:ext cx="2176869" cy="286232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Electrical Engineering Computers, Phones, Communication Infrastructure, General Electronics</a:t>
            </a:r>
          </a:p>
        </p:txBody>
      </p:sp>
      <p:pic>
        <p:nvPicPr>
          <p:cNvPr id="23" name="Picture 22" descr="image19.jpg"/>
          <p:cNvPicPr>
            <a:picLocks noChangeAspect="1"/>
          </p:cNvPicPr>
          <p:nvPr/>
        </p:nvPicPr>
        <p:blipFill>
          <a:blip r:embed="rId15"/>
          <a:stretch>
            <a:fillRect/>
          </a:stretch>
        </p:blipFill>
        <p:spPr>
          <a:xfrm>
            <a:off x="6504380" y="4974083"/>
            <a:ext cx="2443760" cy="1531652"/>
          </a:xfrm>
          <a:prstGeom prst="rect">
            <a:avLst/>
          </a:prstGeom>
        </p:spPr>
      </p:pic>
      <p:pic>
        <p:nvPicPr>
          <p:cNvPr id="24" name="Picture 23" descr="image20.png"/>
          <p:cNvPicPr>
            <a:picLocks noChangeAspect="1"/>
          </p:cNvPicPr>
          <p:nvPr/>
        </p:nvPicPr>
        <p:blipFill>
          <a:blip r:embed="rId16"/>
          <a:stretch>
            <a:fillRect/>
          </a:stretch>
        </p:blipFill>
        <p:spPr>
          <a:xfrm>
            <a:off x="6369731" y="3231008"/>
            <a:ext cx="2619375" cy="1743075"/>
          </a:xfrm>
          <a:prstGeom prst="rect">
            <a:avLst/>
          </a:prstGeom>
        </p:spPr>
      </p:pic>
      <p:pic>
        <p:nvPicPr>
          <p:cNvPr id="25" name="Picture 24" descr="image21.jpg"/>
          <p:cNvPicPr>
            <a:picLocks noChangeAspect="1"/>
          </p:cNvPicPr>
          <p:nvPr/>
        </p:nvPicPr>
        <p:blipFill>
          <a:blip r:embed="rId17"/>
          <a:stretch>
            <a:fillRect/>
          </a:stretch>
        </p:blipFill>
        <p:spPr>
          <a:xfrm>
            <a:off x="2537815" y="5096683"/>
            <a:ext cx="1283907" cy="1398032"/>
          </a:xfrm>
          <a:prstGeom prst="rect">
            <a:avLst/>
          </a:prstGeom>
        </p:spPr>
      </p:pic>
      <p:pic>
        <p:nvPicPr>
          <p:cNvPr id="26" name="Picture 25" descr="image22.png"/>
          <p:cNvPicPr>
            <a:picLocks noChangeAspect="1"/>
          </p:cNvPicPr>
          <p:nvPr/>
        </p:nvPicPr>
        <p:blipFill>
          <a:blip r:embed="rId18"/>
          <a:stretch>
            <a:fillRect/>
          </a:stretch>
        </p:blipFill>
        <p:spPr>
          <a:xfrm>
            <a:off x="2890684" y="3263665"/>
            <a:ext cx="3252941" cy="1710418"/>
          </a:xfrm>
          <a:prstGeom prst="rect">
            <a:avLst/>
          </a:prstGeom>
        </p:spPr>
      </p:pic>
      <p:pic>
        <p:nvPicPr>
          <p:cNvPr id="27" name="Picture 26" descr="image23.jpg"/>
          <p:cNvPicPr>
            <a:picLocks noChangeAspect="1"/>
          </p:cNvPicPr>
          <p:nvPr/>
        </p:nvPicPr>
        <p:blipFill>
          <a:blip r:embed="rId19"/>
          <a:stretch>
            <a:fillRect/>
          </a:stretch>
        </p:blipFill>
        <p:spPr>
          <a:xfrm>
            <a:off x="3863757" y="5096683"/>
            <a:ext cx="2590389" cy="1491442"/>
          </a:xfrm>
          <a:prstGeom prst="rect">
            <a:avLst/>
          </a:prstGeom>
        </p:spPr>
      </p:pic>
      <p:pic>
        <p:nvPicPr>
          <p:cNvPr id="28" name="Picture 27" descr="image24.jpg"/>
          <p:cNvPicPr>
            <a:picLocks noChangeAspect="1"/>
          </p:cNvPicPr>
          <p:nvPr/>
        </p:nvPicPr>
        <p:blipFill>
          <a:blip r:embed="rId20"/>
          <a:stretch>
            <a:fillRect/>
          </a:stretch>
        </p:blipFill>
        <p:spPr>
          <a:xfrm>
            <a:off x="6881338" y="5105400"/>
            <a:ext cx="1943100" cy="1600200"/>
          </a:xfrm>
          <a:prstGeom prst="rect">
            <a:avLst/>
          </a:prstGeom>
        </p:spPr>
      </p:pic>
      <p:pic>
        <p:nvPicPr>
          <p:cNvPr id="29" name="Picture 28" descr="image25.jpg"/>
          <p:cNvPicPr>
            <a:picLocks noChangeAspect="1"/>
          </p:cNvPicPr>
          <p:nvPr/>
        </p:nvPicPr>
        <p:blipFill>
          <a:blip r:embed="rId21"/>
          <a:stretch>
            <a:fillRect/>
          </a:stretch>
        </p:blipFill>
        <p:spPr>
          <a:xfrm>
            <a:off x="6492400" y="3402339"/>
            <a:ext cx="2619375" cy="1743075"/>
          </a:xfrm>
          <a:prstGeom prst="rect">
            <a:avLst/>
          </a:prstGeom>
        </p:spPr>
      </p:pic>
      <p:pic>
        <p:nvPicPr>
          <p:cNvPr id="30" name="Picture 29" descr="image26.jpg"/>
          <p:cNvPicPr>
            <a:picLocks noChangeAspect="1"/>
          </p:cNvPicPr>
          <p:nvPr/>
        </p:nvPicPr>
        <p:blipFill>
          <a:blip r:embed="rId22"/>
          <a:stretch>
            <a:fillRect/>
          </a:stretch>
        </p:blipFill>
        <p:spPr>
          <a:xfrm>
            <a:off x="2895600" y="3414214"/>
            <a:ext cx="3596800" cy="1479826"/>
          </a:xfrm>
          <a:prstGeom prst="rect">
            <a:avLst/>
          </a:prstGeom>
        </p:spPr>
      </p:pic>
      <p:pic>
        <p:nvPicPr>
          <p:cNvPr id="31" name="Picture 30" descr="image27.png"/>
          <p:cNvPicPr>
            <a:picLocks noChangeAspect="1"/>
          </p:cNvPicPr>
          <p:nvPr/>
        </p:nvPicPr>
        <p:blipFill>
          <a:blip r:embed="rId23"/>
          <a:stretch>
            <a:fillRect/>
          </a:stretch>
        </p:blipFill>
        <p:spPr>
          <a:xfrm>
            <a:off x="3261518" y="4962525"/>
            <a:ext cx="2619375" cy="1743075"/>
          </a:xfrm>
          <a:prstGeom prst="rect">
            <a:avLst/>
          </a:prstGeom>
        </p:spPr>
      </p:pic>
      <p:pic>
        <p:nvPicPr>
          <p:cNvPr id="32" name="Picture 31" descr="image28.png"/>
          <p:cNvPicPr>
            <a:picLocks noChangeAspect="1"/>
          </p:cNvPicPr>
          <p:nvPr/>
        </p:nvPicPr>
        <p:blipFill>
          <a:blip r:embed="rId24"/>
          <a:stretch>
            <a:fillRect/>
          </a:stretch>
        </p:blipFill>
        <p:spPr>
          <a:xfrm>
            <a:off x="276225" y="4905915"/>
            <a:ext cx="2619375" cy="1743075"/>
          </a:xfrm>
          <a:prstGeom prst="rect">
            <a:avLst/>
          </a:prstGeom>
        </p:spPr>
      </p:pic>
      <p:pic>
        <p:nvPicPr>
          <p:cNvPr id="33" name="Picture 32" descr="image29.png"/>
          <p:cNvPicPr>
            <a:picLocks noChangeAspect="1"/>
          </p:cNvPicPr>
          <p:nvPr/>
        </p:nvPicPr>
        <p:blipFill>
          <a:blip r:embed="rId25"/>
          <a:stretch>
            <a:fillRect/>
          </a:stretch>
        </p:blipFill>
        <p:spPr>
          <a:xfrm>
            <a:off x="352424" y="3429000"/>
            <a:ext cx="2466975" cy="172136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0"/>
            <a:ext cx="7161213" cy="10842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Educational Requirements</a:t>
            </a:r>
          </a:p>
        </p:txBody>
      </p:sp>
      <p:sp>
        <p:nvSpPr>
          <p:cNvPr id="3" name="Rectangle 2"/>
          <p:cNvSpPr/>
          <p:nvPr/>
        </p:nvSpPr>
        <p:spPr>
          <a:xfrm>
            <a:off x="76200" y="1143001"/>
            <a:ext cx="9067800" cy="4343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 bachelors degree in engineering  entry level jobsA master’s (minimum) is required for more advanced projects Most flexible degree.  Takes an extra two years after getting a bachelor’s degreeMore advanced engineering pays better – Excellent investment of timeA PhD is required for very high level projects Can narrow opportunities.  Increases pay in many fields but can take a long time to attain (typically 2-8 years, average of 3-4).Sometimes the monetary pay-off isn’t there – Succeed or fail quickly is a good strategyEngineers get paid to go to graduate school.  They only take out loans for undergrad.</a:t>
            </a:r>
          </a:p>
        </p:txBody>
      </p:sp>
      <p:pic>
        <p:nvPicPr>
          <p:cNvPr id="4" name="Picture 3" descr="image30.png"/>
          <p:cNvPicPr>
            <a:picLocks noChangeAspect="1"/>
          </p:cNvPicPr>
          <p:nvPr/>
        </p:nvPicPr>
        <p:blipFill>
          <a:blip r:embed="rId2"/>
          <a:stretch>
            <a:fillRect/>
          </a:stretch>
        </p:blipFill>
        <p:spPr>
          <a:xfrm>
            <a:off x="2438401" y="4497352"/>
            <a:ext cx="4876800" cy="2371533"/>
          </a:xfrm>
          <a:prstGeom prst="rect">
            <a:avLst/>
          </a:prstGeom>
        </p:spPr>
      </p:pic>
      <p:cxnSp>
        <p:nvCxnSpPr>
          <p:cNvPr id="5" name="Connector 4"/>
          <p:cNvCxnSpPr/>
          <p:nvPr/>
        </p:nvCxnSpPr>
        <p:spPr>
          <a:xfrm>
            <a:off x="5029200" y="4876800"/>
            <a:ext cx="2133600" cy="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032169" y="4557204"/>
            <a:ext cx="2209801" cy="30777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Get paid to go to school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084264"/>
            <a:ext cx="8991600" cy="533876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High School and College JobsPicked produce at local farmsYard work for elderlyCampus workstudy: mailroom and computer labBuilt homes for local construction companyBachelor’s degree @ University of PortlandInternship @ Boeing: Maintained manufacturing equipment for Boeing 747 and 737 Master’s degree @ University of CincinnatiTaught classes and worked on suspension modeling of pickup trucksYork InternationalDesigned and produced air handlers to keep things comfortable and quiet in schools, concert halls, and hospitalsMoog-CSA Engineering Projects: Space Launch System (rocket to go to the moon), ESPA (mount lots of small satellites on big rockets), NICER (looking at the sun’s energy from the International Space Station to feed environmental models for global warming calculations), XSS-11, DSX, Giant Magellan Telescope (six 27’ mirrors to make an 80 ft visible spectrum telescope, resolution 10 times better than Hubble), Recon Optical telescopes for pods on F-15 jets.Sandia National Laboratories Evaluate the engineering work of others to ensure that it meets technical rigor in order to keep our country safe</a:t>
            </a:r>
          </a:p>
        </p:txBody>
      </p:sp>
      <p:sp>
        <p:nvSpPr>
          <p:cNvPr id="3" name="Rectangle 2"/>
          <p:cNvSpPr/>
          <p:nvPr/>
        </p:nvSpPr>
        <p:spPr>
          <a:xfrm>
            <a:off x="990600" y="0"/>
            <a:ext cx="7161213" cy="10842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Career Overview</a:t>
            </a:r>
          </a:p>
        </p:txBody>
      </p:sp>
      <p:sp>
        <p:nvSpPr>
          <p:cNvPr id="4" name="Rectangle 3"/>
          <p:cNvSpPr/>
          <p:nvPr/>
        </p:nvSpPr>
        <p:spPr>
          <a:xfrm>
            <a:off x="6935417" y="1463073"/>
            <a:ext cx="1524000" cy="10156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Step 1:Learn to work hard</a:t>
            </a:r>
          </a:p>
        </p:txBody>
      </p:sp>
      <p:sp>
        <p:nvSpPr>
          <p:cNvPr id="5" name="Rectangle 4"/>
          <p:cNvSpPr/>
          <p:nvPr/>
        </p:nvSpPr>
        <p:spPr>
          <a:xfrm>
            <a:off x="6970823" y="2577247"/>
            <a:ext cx="2013857" cy="10156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Step 2:Learn a Valuable Skill</a:t>
            </a:r>
          </a:p>
        </p:txBody>
      </p:sp>
      <p:sp>
        <p:nvSpPr>
          <p:cNvPr id="6" name="Rectangle 5"/>
          <p:cNvSpPr/>
          <p:nvPr/>
        </p:nvSpPr>
        <p:spPr>
          <a:xfrm>
            <a:off x="6553097" y="3642111"/>
            <a:ext cx="2608716" cy="120032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Step 3:Get Paid to Work Hard at Job Using Your  Valuable Skill</a:t>
            </a:r>
          </a:p>
        </p:txBody>
      </p:sp>
      <p:pic>
        <p:nvPicPr>
          <p:cNvPr id="7" name="Picture 6" descr="image31.jpg"/>
          <p:cNvPicPr>
            <a:picLocks noChangeAspect="1"/>
          </p:cNvPicPr>
          <p:nvPr/>
        </p:nvPicPr>
        <p:blipFill>
          <a:blip r:embed="rId2"/>
          <a:stretch>
            <a:fillRect/>
          </a:stretch>
        </p:blipFill>
        <p:spPr>
          <a:xfrm>
            <a:off x="9383038" y="5230371"/>
            <a:ext cx="2628900" cy="174307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9510"/>
            <a:ext cx="7161213" cy="10747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Step 1: Learn to Work Hard</a:t>
            </a:r>
          </a:p>
        </p:txBody>
      </p:sp>
      <p:sp>
        <p:nvSpPr>
          <p:cNvPr id="3" name="Rectangle 2"/>
          <p:cNvSpPr/>
          <p:nvPr/>
        </p:nvSpPr>
        <p:spPr>
          <a:xfrm>
            <a:off x="79610" y="1205418"/>
            <a:ext cx="8566150" cy="5183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High School and College JobsPicked produce at local farmsYard work for elderlyCampus workstudy: mailroom and computer labBuilt homes for local construction company</a:t>
            </a:r>
          </a:p>
        </p:txBody>
      </p:sp>
      <p:pic>
        <p:nvPicPr>
          <p:cNvPr id="4" name="Picture 3" descr="image32.jpeg"/>
          <p:cNvPicPr>
            <a:picLocks noChangeAspect="1"/>
          </p:cNvPicPr>
          <p:nvPr/>
        </p:nvPicPr>
        <p:blipFill>
          <a:blip r:embed="rId2"/>
          <a:stretch>
            <a:fillRect/>
          </a:stretch>
        </p:blipFill>
        <p:spPr>
          <a:xfrm>
            <a:off x="534411" y="2470587"/>
            <a:ext cx="3349972" cy="2205740"/>
          </a:xfrm>
          <a:prstGeom prst="rect">
            <a:avLst/>
          </a:prstGeom>
        </p:spPr>
      </p:pic>
      <p:pic>
        <p:nvPicPr>
          <p:cNvPr id="5" name="Picture 4" descr="image33.jpg"/>
          <p:cNvPicPr>
            <a:picLocks noChangeAspect="1"/>
          </p:cNvPicPr>
          <p:nvPr/>
        </p:nvPicPr>
        <p:blipFill>
          <a:blip r:embed="rId3"/>
          <a:stretch>
            <a:fillRect/>
          </a:stretch>
        </p:blipFill>
        <p:spPr>
          <a:xfrm>
            <a:off x="3856997" y="4473480"/>
            <a:ext cx="4144004" cy="2231599"/>
          </a:xfrm>
          <a:prstGeom prst="rect">
            <a:avLst/>
          </a:prstGeom>
        </p:spPr>
      </p:pic>
      <p:pic>
        <p:nvPicPr>
          <p:cNvPr id="6" name="Picture 5" descr="image34.jpg"/>
          <p:cNvPicPr>
            <a:picLocks noChangeAspect="1"/>
          </p:cNvPicPr>
          <p:nvPr/>
        </p:nvPicPr>
        <p:blipFill>
          <a:blip r:embed="rId4"/>
          <a:stretch>
            <a:fillRect/>
          </a:stretch>
        </p:blipFill>
        <p:spPr>
          <a:xfrm>
            <a:off x="3851058" y="2168967"/>
            <a:ext cx="4149943" cy="2323968"/>
          </a:xfrm>
          <a:prstGeom prst="rect">
            <a:avLst/>
          </a:prstGeom>
        </p:spPr>
      </p:pic>
      <p:pic>
        <p:nvPicPr>
          <p:cNvPr id="7" name="Picture 6" descr="image35.jpg"/>
          <p:cNvPicPr>
            <a:picLocks noChangeAspect="1"/>
          </p:cNvPicPr>
          <p:nvPr/>
        </p:nvPicPr>
        <p:blipFill>
          <a:blip r:embed="rId5"/>
          <a:stretch>
            <a:fillRect/>
          </a:stretch>
        </p:blipFill>
        <p:spPr>
          <a:xfrm>
            <a:off x="534411" y="4676328"/>
            <a:ext cx="3338745" cy="2028751"/>
          </a:xfrm>
          <a:prstGeom prst="rect">
            <a:avLst/>
          </a:prstGeom>
        </p:spPr>
      </p:pic>
      <p:pic>
        <p:nvPicPr>
          <p:cNvPr id="8" name="Picture 7" descr="image36.jpg"/>
          <p:cNvPicPr>
            <a:picLocks noChangeAspect="1"/>
          </p:cNvPicPr>
          <p:nvPr/>
        </p:nvPicPr>
        <p:blipFill>
          <a:blip r:embed="rId6"/>
          <a:stretch>
            <a:fillRect/>
          </a:stretch>
        </p:blipFill>
        <p:spPr>
          <a:xfrm>
            <a:off x="113077" y="2799760"/>
            <a:ext cx="5393779" cy="3820085"/>
          </a:xfrm>
          <a:prstGeom prst="rect">
            <a:avLst/>
          </a:prstGeom>
        </p:spPr>
      </p:pic>
      <p:pic>
        <p:nvPicPr>
          <p:cNvPr id="9" name="Picture 8" descr="image37.jpg"/>
          <p:cNvPicPr>
            <a:picLocks noChangeAspect="1"/>
          </p:cNvPicPr>
          <p:nvPr/>
        </p:nvPicPr>
        <p:blipFill>
          <a:blip r:embed="rId7"/>
          <a:stretch>
            <a:fillRect/>
          </a:stretch>
        </p:blipFill>
        <p:spPr>
          <a:xfrm>
            <a:off x="5490880" y="4492935"/>
            <a:ext cx="3106720" cy="2067381"/>
          </a:xfrm>
          <a:prstGeom prst="rect">
            <a:avLst/>
          </a:prstGeom>
        </p:spPr>
      </p:pic>
      <p:pic>
        <p:nvPicPr>
          <p:cNvPr id="10" name="Picture 9" descr="image38.jpg"/>
          <p:cNvPicPr>
            <a:picLocks noChangeAspect="1"/>
          </p:cNvPicPr>
          <p:nvPr/>
        </p:nvPicPr>
        <p:blipFill>
          <a:blip r:embed="rId8"/>
          <a:stretch>
            <a:fillRect/>
          </a:stretch>
        </p:blipFill>
        <p:spPr>
          <a:xfrm>
            <a:off x="5490880" y="1359983"/>
            <a:ext cx="3132952" cy="3132952"/>
          </a:xfrm>
          <a:prstGeom prst="rect">
            <a:avLst/>
          </a:prstGeom>
        </p:spPr>
      </p:pic>
      <p:pic>
        <p:nvPicPr>
          <p:cNvPr id="11" name="Picture 10" descr="image39.jpg"/>
          <p:cNvPicPr>
            <a:picLocks noChangeAspect="1"/>
          </p:cNvPicPr>
          <p:nvPr/>
        </p:nvPicPr>
        <p:blipFill>
          <a:blip r:embed="rId9"/>
          <a:stretch>
            <a:fillRect/>
          </a:stretch>
        </p:blipFill>
        <p:spPr>
          <a:xfrm>
            <a:off x="4541955" y="3642110"/>
            <a:ext cx="4437878" cy="2991097"/>
          </a:xfrm>
          <a:prstGeom prst="rect">
            <a:avLst/>
          </a:prstGeom>
        </p:spPr>
      </p:pic>
      <p:pic>
        <p:nvPicPr>
          <p:cNvPr id="12" name="Picture 11" descr="image40.jpg"/>
          <p:cNvPicPr>
            <a:picLocks noChangeAspect="1"/>
          </p:cNvPicPr>
          <p:nvPr/>
        </p:nvPicPr>
        <p:blipFill>
          <a:blip r:embed="rId10"/>
          <a:stretch>
            <a:fillRect/>
          </a:stretch>
        </p:blipFill>
        <p:spPr>
          <a:xfrm>
            <a:off x="105215" y="3647875"/>
            <a:ext cx="4444832" cy="2957834"/>
          </a:xfrm>
          <a:prstGeom prst="rect">
            <a:avLst/>
          </a:prstGeom>
        </p:spPr>
      </p:pic>
      <p:pic>
        <p:nvPicPr>
          <p:cNvPr id="13" name="Picture 12" descr="image41.jpg"/>
          <p:cNvPicPr>
            <a:picLocks noChangeAspect="1"/>
          </p:cNvPicPr>
          <p:nvPr/>
        </p:nvPicPr>
        <p:blipFill>
          <a:blip r:embed="rId11"/>
          <a:stretch>
            <a:fillRect/>
          </a:stretch>
        </p:blipFill>
        <p:spPr>
          <a:xfrm>
            <a:off x="3122621" y="5110357"/>
            <a:ext cx="2857500" cy="1600200"/>
          </a:xfrm>
          <a:prstGeom prst="rect">
            <a:avLst/>
          </a:prstGeom>
        </p:spPr>
      </p:pic>
      <p:pic>
        <p:nvPicPr>
          <p:cNvPr id="14" name="Picture 13" descr="image42.jpg"/>
          <p:cNvPicPr>
            <a:picLocks noChangeAspect="1"/>
          </p:cNvPicPr>
          <p:nvPr/>
        </p:nvPicPr>
        <p:blipFill>
          <a:blip r:embed="rId12"/>
          <a:stretch>
            <a:fillRect/>
          </a:stretch>
        </p:blipFill>
        <p:spPr>
          <a:xfrm>
            <a:off x="6264983" y="3009320"/>
            <a:ext cx="2143125" cy="2143125"/>
          </a:xfrm>
          <a:prstGeom prst="rect">
            <a:avLst/>
          </a:prstGeom>
        </p:spPr>
      </p:pic>
      <p:pic>
        <p:nvPicPr>
          <p:cNvPr id="15" name="Picture 14" descr="image43.jpg"/>
          <p:cNvPicPr>
            <a:picLocks noChangeAspect="1"/>
          </p:cNvPicPr>
          <p:nvPr/>
        </p:nvPicPr>
        <p:blipFill>
          <a:blip r:embed="rId13"/>
          <a:stretch>
            <a:fillRect/>
          </a:stretch>
        </p:blipFill>
        <p:spPr>
          <a:xfrm>
            <a:off x="267965" y="5110357"/>
            <a:ext cx="2857500" cy="1600200"/>
          </a:xfrm>
          <a:prstGeom prst="rect">
            <a:avLst/>
          </a:prstGeom>
        </p:spPr>
      </p:pic>
      <p:pic>
        <p:nvPicPr>
          <p:cNvPr id="16" name="Picture 15" descr="image44.jpg"/>
          <p:cNvPicPr>
            <a:picLocks noChangeAspect="1"/>
          </p:cNvPicPr>
          <p:nvPr/>
        </p:nvPicPr>
        <p:blipFill>
          <a:blip r:embed="rId14"/>
          <a:stretch>
            <a:fillRect/>
          </a:stretch>
        </p:blipFill>
        <p:spPr>
          <a:xfrm>
            <a:off x="5941276" y="5110356"/>
            <a:ext cx="2400189" cy="1597217"/>
          </a:xfrm>
          <a:prstGeom prst="rect">
            <a:avLst/>
          </a:prstGeom>
        </p:spPr>
      </p:pic>
      <p:pic>
        <p:nvPicPr>
          <p:cNvPr id="17" name="Picture 16" descr="image45.jpg"/>
          <p:cNvPicPr>
            <a:picLocks noChangeAspect="1"/>
          </p:cNvPicPr>
          <p:nvPr/>
        </p:nvPicPr>
        <p:blipFill>
          <a:blip r:embed="rId15"/>
          <a:stretch>
            <a:fillRect/>
          </a:stretch>
        </p:blipFill>
        <p:spPr>
          <a:xfrm>
            <a:off x="3099672" y="3510157"/>
            <a:ext cx="3190334" cy="1600199"/>
          </a:xfrm>
          <a:prstGeom prst="rect">
            <a:avLst/>
          </a:prstGeom>
        </p:spPr>
      </p:pic>
      <p:pic>
        <p:nvPicPr>
          <p:cNvPr id="18" name="Picture 17" descr="image46.jpg"/>
          <p:cNvPicPr>
            <a:picLocks noChangeAspect="1"/>
          </p:cNvPicPr>
          <p:nvPr/>
        </p:nvPicPr>
        <p:blipFill>
          <a:blip r:embed="rId16"/>
          <a:stretch>
            <a:fillRect/>
          </a:stretch>
        </p:blipFill>
        <p:spPr>
          <a:xfrm>
            <a:off x="263573" y="3510157"/>
            <a:ext cx="2847975" cy="1600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7.jpg"/>
          <p:cNvPicPr>
            <a:picLocks noChangeAspect="1"/>
          </p:cNvPicPr>
          <p:nvPr/>
        </p:nvPicPr>
        <p:blipFill>
          <a:blip r:embed="rId2"/>
          <a:stretch>
            <a:fillRect/>
          </a:stretch>
        </p:blipFill>
        <p:spPr>
          <a:xfrm>
            <a:off x="332664" y="3630171"/>
            <a:ext cx="3793089" cy="3057620"/>
          </a:xfrm>
          <a:prstGeom prst="rect">
            <a:avLst/>
          </a:prstGeom>
        </p:spPr>
      </p:pic>
      <p:pic>
        <p:nvPicPr>
          <p:cNvPr id="3" name="Picture 2" descr="image48.jpg"/>
          <p:cNvPicPr>
            <a:picLocks noChangeAspect="1"/>
          </p:cNvPicPr>
          <p:nvPr/>
        </p:nvPicPr>
        <p:blipFill>
          <a:blip r:embed="rId3"/>
          <a:stretch>
            <a:fillRect/>
          </a:stretch>
        </p:blipFill>
        <p:spPr>
          <a:xfrm>
            <a:off x="4069534" y="3651161"/>
            <a:ext cx="5139609" cy="3036629"/>
          </a:xfrm>
          <a:prstGeom prst="rect">
            <a:avLst/>
          </a:prstGeom>
        </p:spPr>
      </p:pic>
      <p:pic>
        <p:nvPicPr>
          <p:cNvPr id="4" name="Picture 3" descr="image49.jpg"/>
          <p:cNvPicPr>
            <a:picLocks noChangeAspect="1"/>
          </p:cNvPicPr>
          <p:nvPr/>
        </p:nvPicPr>
        <p:blipFill>
          <a:blip r:embed="rId4"/>
          <a:stretch>
            <a:fillRect/>
          </a:stretch>
        </p:blipFill>
        <p:spPr>
          <a:xfrm>
            <a:off x="5943600" y="5703611"/>
            <a:ext cx="2821981" cy="1009072"/>
          </a:xfrm>
          <a:prstGeom prst="rect">
            <a:avLst/>
          </a:prstGeom>
        </p:spPr>
      </p:pic>
      <p:pic>
        <p:nvPicPr>
          <p:cNvPr id="5" name="Picture 4" descr="image50.jpg"/>
          <p:cNvPicPr>
            <a:picLocks noChangeAspect="1"/>
          </p:cNvPicPr>
          <p:nvPr/>
        </p:nvPicPr>
        <p:blipFill>
          <a:blip r:embed="rId5"/>
          <a:stretch>
            <a:fillRect/>
          </a:stretch>
        </p:blipFill>
        <p:spPr>
          <a:xfrm>
            <a:off x="3031679" y="5705850"/>
            <a:ext cx="2750327" cy="1009073"/>
          </a:xfrm>
          <a:prstGeom prst="rect">
            <a:avLst/>
          </a:prstGeom>
        </p:spPr>
      </p:pic>
      <p:pic>
        <p:nvPicPr>
          <p:cNvPr id="6" name="Picture 5" descr="image51.jpg"/>
          <p:cNvPicPr>
            <a:picLocks noChangeAspect="1"/>
          </p:cNvPicPr>
          <p:nvPr/>
        </p:nvPicPr>
        <p:blipFill>
          <a:blip r:embed="rId6"/>
          <a:stretch>
            <a:fillRect/>
          </a:stretch>
        </p:blipFill>
        <p:spPr>
          <a:xfrm>
            <a:off x="191759" y="5703612"/>
            <a:ext cx="2678327" cy="1011312"/>
          </a:xfrm>
          <a:prstGeom prst="rect">
            <a:avLst/>
          </a:prstGeom>
        </p:spPr>
      </p:pic>
      <p:sp>
        <p:nvSpPr>
          <p:cNvPr id="7" name="Rectangle 6"/>
          <p:cNvSpPr/>
          <p:nvPr/>
        </p:nvSpPr>
        <p:spPr>
          <a:xfrm>
            <a:off x="990600" y="0"/>
            <a:ext cx="7161213" cy="10842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Step 2: Learn a Valuable Skill</a:t>
            </a:r>
          </a:p>
        </p:txBody>
      </p:sp>
      <p:sp>
        <p:nvSpPr>
          <p:cNvPr id="8" name="Rectangle 7"/>
          <p:cNvSpPr/>
          <p:nvPr/>
        </p:nvSpPr>
        <p:spPr>
          <a:xfrm>
            <a:off x="169095" y="1133172"/>
            <a:ext cx="8625655" cy="52898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Bachelor’s degree @ University of PortlandInternship @ Boeing: Maintained manufacturing equipment for Boeing 747 and 737 Master’s degree @ University of CincinnatiTaught classes and worked on suspension modeling of pickup trucks</a:t>
            </a:r>
          </a:p>
        </p:txBody>
      </p:sp>
      <p:pic>
        <p:nvPicPr>
          <p:cNvPr id="9" name="Picture 8" descr="image52.jpg"/>
          <p:cNvPicPr>
            <a:picLocks noChangeAspect="1"/>
          </p:cNvPicPr>
          <p:nvPr/>
        </p:nvPicPr>
        <p:blipFill>
          <a:blip r:embed="rId7"/>
          <a:stretch>
            <a:fillRect/>
          </a:stretch>
        </p:blipFill>
        <p:spPr>
          <a:xfrm>
            <a:off x="2443544" y="4310554"/>
            <a:ext cx="3238897" cy="2395046"/>
          </a:xfrm>
          <a:prstGeom prst="rect">
            <a:avLst/>
          </a:prstGeom>
        </p:spPr>
      </p:pic>
      <p:pic>
        <p:nvPicPr>
          <p:cNvPr id="10" name="Picture 9" descr="image53.jpg"/>
          <p:cNvPicPr>
            <a:picLocks noChangeAspect="1"/>
          </p:cNvPicPr>
          <p:nvPr/>
        </p:nvPicPr>
        <p:blipFill>
          <a:blip r:embed="rId8"/>
          <a:stretch>
            <a:fillRect/>
          </a:stretch>
        </p:blipFill>
        <p:spPr>
          <a:xfrm>
            <a:off x="5654162" y="4279554"/>
            <a:ext cx="3238897" cy="2426046"/>
          </a:xfrm>
          <a:prstGeom prst="rect">
            <a:avLst/>
          </a:prstGeom>
        </p:spPr>
      </p:pic>
      <p:pic>
        <p:nvPicPr>
          <p:cNvPr id="11" name="Picture 10" descr="image54.jpg"/>
          <p:cNvPicPr>
            <a:picLocks noChangeAspect="1"/>
          </p:cNvPicPr>
          <p:nvPr/>
        </p:nvPicPr>
        <p:blipFill>
          <a:blip r:embed="rId9"/>
          <a:stretch>
            <a:fillRect/>
          </a:stretch>
        </p:blipFill>
        <p:spPr>
          <a:xfrm>
            <a:off x="5654161" y="2165000"/>
            <a:ext cx="3238897" cy="2155339"/>
          </a:xfrm>
          <a:prstGeom prst="rect">
            <a:avLst/>
          </a:prstGeom>
        </p:spPr>
      </p:pic>
      <p:pic>
        <p:nvPicPr>
          <p:cNvPr id="12" name="Picture 11" descr="image55.jpg"/>
          <p:cNvPicPr>
            <a:picLocks noChangeAspect="1"/>
          </p:cNvPicPr>
          <p:nvPr/>
        </p:nvPicPr>
        <p:blipFill>
          <a:blip r:embed="rId10"/>
          <a:stretch>
            <a:fillRect/>
          </a:stretch>
        </p:blipFill>
        <p:spPr>
          <a:xfrm>
            <a:off x="2559821" y="2852637"/>
            <a:ext cx="3114675" cy="1466850"/>
          </a:xfrm>
          <a:prstGeom prst="rect">
            <a:avLst/>
          </a:prstGeom>
        </p:spPr>
      </p:pic>
      <p:pic>
        <p:nvPicPr>
          <p:cNvPr id="13" name="Picture 12" descr="image56.jpg"/>
          <p:cNvPicPr>
            <a:picLocks noChangeAspect="1"/>
          </p:cNvPicPr>
          <p:nvPr/>
        </p:nvPicPr>
        <p:blipFill>
          <a:blip r:embed="rId11"/>
          <a:stretch>
            <a:fillRect/>
          </a:stretch>
        </p:blipFill>
        <p:spPr>
          <a:xfrm>
            <a:off x="217954" y="4261645"/>
            <a:ext cx="2362200" cy="240397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57.jpg"/>
          <p:cNvPicPr>
            <a:picLocks noChangeAspect="1"/>
          </p:cNvPicPr>
          <p:nvPr/>
        </p:nvPicPr>
        <p:blipFill>
          <a:blip r:embed="rId2"/>
          <a:stretch>
            <a:fillRect/>
          </a:stretch>
        </p:blipFill>
        <p:spPr>
          <a:xfrm>
            <a:off x="304799" y="4344218"/>
            <a:ext cx="3214995" cy="2319187"/>
          </a:xfrm>
          <a:prstGeom prst="rect">
            <a:avLst/>
          </a:prstGeom>
        </p:spPr>
      </p:pic>
      <p:pic>
        <p:nvPicPr>
          <p:cNvPr id="3" name="Picture 2" descr="image58.jpg"/>
          <p:cNvPicPr>
            <a:picLocks noChangeAspect="1"/>
          </p:cNvPicPr>
          <p:nvPr/>
        </p:nvPicPr>
        <p:blipFill>
          <a:blip r:embed="rId3"/>
          <a:stretch>
            <a:fillRect/>
          </a:stretch>
        </p:blipFill>
        <p:spPr>
          <a:xfrm>
            <a:off x="3276600" y="4344219"/>
            <a:ext cx="5861487" cy="2351218"/>
          </a:xfrm>
          <a:prstGeom prst="rect">
            <a:avLst/>
          </a:prstGeom>
        </p:spPr>
      </p:pic>
      <p:pic>
        <p:nvPicPr>
          <p:cNvPr id="4" name="Picture 3" descr="image59.jpg"/>
          <p:cNvPicPr>
            <a:picLocks noChangeAspect="1"/>
          </p:cNvPicPr>
          <p:nvPr/>
        </p:nvPicPr>
        <p:blipFill>
          <a:blip r:embed="rId4"/>
          <a:stretch>
            <a:fillRect/>
          </a:stretch>
        </p:blipFill>
        <p:spPr>
          <a:xfrm>
            <a:off x="101148" y="4452770"/>
            <a:ext cx="3274230" cy="2178851"/>
          </a:xfrm>
          <a:prstGeom prst="rect">
            <a:avLst/>
          </a:prstGeom>
        </p:spPr>
      </p:pic>
      <p:pic>
        <p:nvPicPr>
          <p:cNvPr id="5" name="Picture 4" descr="image60.jpg"/>
          <p:cNvPicPr>
            <a:picLocks noChangeAspect="1"/>
          </p:cNvPicPr>
          <p:nvPr/>
        </p:nvPicPr>
        <p:blipFill>
          <a:blip r:embed="rId5"/>
          <a:stretch>
            <a:fillRect/>
          </a:stretch>
        </p:blipFill>
        <p:spPr>
          <a:xfrm>
            <a:off x="7847647" y="4900665"/>
            <a:ext cx="1169136" cy="1716173"/>
          </a:xfrm>
          <a:prstGeom prst="rect">
            <a:avLst/>
          </a:prstGeom>
        </p:spPr>
      </p:pic>
      <p:pic>
        <p:nvPicPr>
          <p:cNvPr id="6" name="Picture 5" descr="image61.jpg"/>
          <p:cNvPicPr>
            <a:picLocks noChangeAspect="1"/>
          </p:cNvPicPr>
          <p:nvPr/>
        </p:nvPicPr>
        <p:blipFill>
          <a:blip r:embed="rId6"/>
          <a:stretch>
            <a:fillRect/>
          </a:stretch>
        </p:blipFill>
        <p:spPr>
          <a:xfrm>
            <a:off x="3263335" y="2606479"/>
            <a:ext cx="3189322" cy="4054766"/>
          </a:xfrm>
          <a:prstGeom prst="rect">
            <a:avLst/>
          </a:prstGeom>
        </p:spPr>
      </p:pic>
      <p:pic>
        <p:nvPicPr>
          <p:cNvPr id="7" name="Picture 6" descr="image62.jpg"/>
          <p:cNvPicPr>
            <a:picLocks noChangeAspect="1"/>
          </p:cNvPicPr>
          <p:nvPr/>
        </p:nvPicPr>
        <p:blipFill>
          <a:blip r:embed="rId7"/>
          <a:stretch>
            <a:fillRect/>
          </a:stretch>
        </p:blipFill>
        <p:spPr>
          <a:xfrm>
            <a:off x="6327161" y="3424567"/>
            <a:ext cx="2689332" cy="1511062"/>
          </a:xfrm>
          <a:prstGeom prst="rect">
            <a:avLst/>
          </a:prstGeom>
        </p:spPr>
      </p:pic>
      <p:pic>
        <p:nvPicPr>
          <p:cNvPr id="8" name="Picture 7" descr="image63.jpg"/>
          <p:cNvPicPr>
            <a:picLocks noChangeAspect="1"/>
          </p:cNvPicPr>
          <p:nvPr/>
        </p:nvPicPr>
        <p:blipFill>
          <a:blip r:embed="rId8"/>
          <a:stretch>
            <a:fillRect/>
          </a:stretch>
        </p:blipFill>
        <p:spPr>
          <a:xfrm>
            <a:off x="151067" y="2310570"/>
            <a:ext cx="2962323" cy="2123930"/>
          </a:xfrm>
          <a:prstGeom prst="rect">
            <a:avLst/>
          </a:prstGeom>
        </p:spPr>
      </p:pic>
      <p:pic>
        <p:nvPicPr>
          <p:cNvPr id="9" name="Picture 8" descr="image64.jpg"/>
          <p:cNvPicPr>
            <a:picLocks noChangeAspect="1"/>
          </p:cNvPicPr>
          <p:nvPr/>
        </p:nvPicPr>
        <p:blipFill>
          <a:blip r:embed="rId9"/>
          <a:stretch>
            <a:fillRect/>
          </a:stretch>
        </p:blipFill>
        <p:spPr>
          <a:xfrm>
            <a:off x="6327161" y="2291407"/>
            <a:ext cx="2009652" cy="1125405"/>
          </a:xfrm>
          <a:prstGeom prst="rect">
            <a:avLst/>
          </a:prstGeom>
        </p:spPr>
      </p:pic>
      <p:pic>
        <p:nvPicPr>
          <p:cNvPr id="10" name="Picture 9" descr="image65.jpg"/>
          <p:cNvPicPr>
            <a:picLocks noChangeAspect="1"/>
          </p:cNvPicPr>
          <p:nvPr/>
        </p:nvPicPr>
        <p:blipFill>
          <a:blip r:embed="rId10"/>
          <a:stretch>
            <a:fillRect/>
          </a:stretch>
        </p:blipFill>
        <p:spPr>
          <a:xfrm>
            <a:off x="6354294" y="5005647"/>
            <a:ext cx="1412566" cy="1673454"/>
          </a:xfrm>
          <a:prstGeom prst="rect">
            <a:avLst/>
          </a:prstGeom>
        </p:spPr>
      </p:pic>
      <p:sp>
        <p:nvSpPr>
          <p:cNvPr id="11" name="Rectangle 10"/>
          <p:cNvSpPr/>
          <p:nvPr/>
        </p:nvSpPr>
        <p:spPr>
          <a:xfrm>
            <a:off x="990600" y="17969"/>
            <a:ext cx="7161213" cy="106629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Step 3: Work Hard at Job Using Valuable Skill</a:t>
            </a:r>
          </a:p>
        </p:txBody>
      </p:sp>
      <p:sp>
        <p:nvSpPr>
          <p:cNvPr id="12" name="Rectangle 11"/>
          <p:cNvSpPr/>
          <p:nvPr/>
        </p:nvSpPr>
        <p:spPr>
          <a:xfrm>
            <a:off x="-8906" y="1147775"/>
            <a:ext cx="8704696"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York InternationalDesigned and produced air handlers to keep things comfortable and quiet in schools, concert halls, and hospitals</a:t>
            </a:r>
          </a:p>
        </p:txBody>
      </p:sp>
      <p:sp>
        <p:nvSpPr>
          <p:cNvPr id="13" name="Rectangle 12"/>
          <p:cNvSpPr/>
          <p:nvPr/>
        </p:nvSpPr>
        <p:spPr>
          <a:xfrm>
            <a:off x="-235" y="1143000"/>
            <a:ext cx="8642350" cy="139541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Moog-CSA Engineering Projects: Space Launch System (rocket to go to the moon), ESPA (mount lots of small satellites on big rockets), NICER (looking at the sun’s energy from the International Space Station to feed environmental models for global warming calculations), XSS-11, DSX, Giant Magellan Telescope (six 27’ mirrors to make an 80 ft visible spectrum telescope, resolution 10 times better than Hubble), Recon Optical telescopes for pods on F-15 jets.</a:t>
            </a:r>
          </a:p>
        </p:txBody>
      </p:sp>
      <p:sp>
        <p:nvSpPr>
          <p:cNvPr id="14" name="Rectangle 13"/>
          <p:cNvSpPr/>
          <p:nvPr/>
        </p:nvSpPr>
        <p:spPr>
          <a:xfrm>
            <a:off x="0" y="1143000"/>
            <a:ext cx="8642350" cy="8143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Sandia National Laboratories Evaluate the engineering work of others to ensure that it meets technical rigor in order to keep our country safe</a:t>
            </a:r>
          </a:p>
        </p:txBody>
      </p:sp>
      <p:pic>
        <p:nvPicPr>
          <p:cNvPr id="15" name="Picture 14" descr="image66.jpg"/>
          <p:cNvPicPr>
            <a:picLocks noChangeAspect="1"/>
          </p:cNvPicPr>
          <p:nvPr/>
        </p:nvPicPr>
        <p:blipFill>
          <a:blip r:embed="rId11"/>
          <a:stretch>
            <a:fillRect/>
          </a:stretch>
        </p:blipFill>
        <p:spPr>
          <a:xfrm>
            <a:off x="2233057" y="4773859"/>
            <a:ext cx="3178373" cy="1889548"/>
          </a:xfrm>
          <a:prstGeom prst="rect">
            <a:avLst/>
          </a:prstGeom>
        </p:spPr>
      </p:pic>
      <p:pic>
        <p:nvPicPr>
          <p:cNvPr id="16" name="Picture 15" descr="image67.jpg"/>
          <p:cNvPicPr>
            <a:picLocks noChangeAspect="1"/>
          </p:cNvPicPr>
          <p:nvPr/>
        </p:nvPicPr>
        <p:blipFill>
          <a:blip r:embed="rId12"/>
          <a:stretch>
            <a:fillRect/>
          </a:stretch>
        </p:blipFill>
        <p:spPr>
          <a:xfrm>
            <a:off x="5426952" y="4313236"/>
            <a:ext cx="3478094" cy="2314513"/>
          </a:xfrm>
          <a:prstGeom prst="rect">
            <a:avLst/>
          </a:prstGeom>
        </p:spPr>
      </p:pic>
      <p:pic>
        <p:nvPicPr>
          <p:cNvPr id="17" name="Picture 16" descr="image68.jpg"/>
          <p:cNvPicPr>
            <a:picLocks noChangeAspect="1"/>
          </p:cNvPicPr>
          <p:nvPr/>
        </p:nvPicPr>
        <p:blipFill>
          <a:blip r:embed="rId13"/>
          <a:stretch>
            <a:fillRect/>
          </a:stretch>
        </p:blipFill>
        <p:spPr>
          <a:xfrm>
            <a:off x="2259956" y="2592392"/>
            <a:ext cx="3178373" cy="2181466"/>
          </a:xfrm>
          <a:prstGeom prst="rect">
            <a:avLst/>
          </a:prstGeom>
        </p:spPr>
      </p:pic>
      <p:pic>
        <p:nvPicPr>
          <p:cNvPr id="18" name="Picture 17" descr="image69.jpg"/>
          <p:cNvPicPr>
            <a:picLocks noChangeAspect="1"/>
          </p:cNvPicPr>
          <p:nvPr/>
        </p:nvPicPr>
        <p:blipFill>
          <a:blip r:embed="rId14"/>
          <a:stretch>
            <a:fillRect/>
          </a:stretch>
        </p:blipFill>
        <p:spPr>
          <a:xfrm>
            <a:off x="5433839" y="2961473"/>
            <a:ext cx="3467653" cy="138706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90600" y="0"/>
            <a:ext cx="7161213" cy="10842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Succeed in Any Career</a:t>
            </a:r>
          </a:p>
        </p:txBody>
      </p:sp>
      <p:sp>
        <p:nvSpPr>
          <p:cNvPr id="3" name="Rectangle 2"/>
          <p:cNvSpPr/>
          <p:nvPr/>
        </p:nvSpPr>
        <p:spPr>
          <a:xfrm>
            <a:off x="76200" y="1219200"/>
            <a:ext cx="8991600" cy="518318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What are the most important ingredients to a successful career?Hard workLearn as much as possible about the fieldFormal educationInternshipsApprenticeshipsVery difficult and very dangerous jobs pay better than easy jobsExamples: doctors and underwater weldersJobs that can replicate at scale pay better than jobs that require individual attentionSoftware development vs. early childhood educationPay isn’t the only factor in deciding on a careerThe pay is terrible for artists, priests and stay-at-home moms, but the spiritual and emotional rewards are great – money isn’t the most important thing in life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85800" y="3426031"/>
            <a:ext cx="7772400" cy="136207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