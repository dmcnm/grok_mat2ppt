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Makes a Great Scientist?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obj" idx="1"/>
          </p:nvPr>
        </p:nvSpPr>
        <p:spPr/>
        <p:txBody>
          <a:bodyPr/>
          <a:lstStyle/>
          <a:p>
            <a:pPr lvl="0"/>
            <a:r>
              <a:t>Knowing science and math facts</a:t>
            </a:r>
          </a:p>
          <a:p>
            <a:pPr lvl="0"/>
            <a:r>
              <a:t>Being able to solve known scientific problems</a:t>
            </a:r>
          </a:p>
          <a:p>
            <a:pPr lvl="0"/>
            <a:r>
              <a:t>Being able to acquire new data and assemble new theories to expand knowledge and answer specific questions about the universe</a:t>
            </a:r>
          </a:p>
          <a:p>
            <a:pPr lvl="0"/>
            <a:r>
              <a:t>Is there something that many of our greatest scientists have in common?</a:t>
            </a:r>
          </a:p>
          <a:p>
            <a:pPr lvl="0"/>
            <a:r>
              <a:t>Pictures of Newton, Einstein, and Feynman</a:t>
            </a:r>
          </a:p>
          <a:p>
            <a:pPr lvl="0"/>
            <a:r>
              <a:t>Overlays of the Bible, Violin, and Congo drums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24230" y="6356360"/>
            <a:ext cx="2895630" cy="3651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Lesson 18 Biology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53230" y="6356360"/>
            <a:ext cx="2133569" cy="3651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Science: Left-Brain or Right-Brain Thinking?</a:t>
            </a:r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/>
              <a:t>Left-Brain Characteristics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type="obj" idx="2" sz="half"/>
          </p:nvPr>
        </p:nvSpPr>
        <p:spPr/>
        <p:txBody>
          <a:bodyPr/>
          <a:lstStyle/>
          <a:p>
            <a:pPr lvl="0"/>
            <a:r>
              <a:rPr sz="900"/>
              <a:t>Helps us manipulate the world</a:t>
            </a:r>
          </a:p>
          <a:p>
            <a:pPr lvl="0"/>
            <a:r>
              <a:rPr sz="900"/>
              <a:t>Clinical attention</a:t>
            </a:r>
          </a:p>
          <a:p>
            <a:pPr lvl="0"/>
            <a:r>
              <a:rPr sz="900"/>
              <a:t>Left hemisphere sees isolated details that are</a:t>
            </a:r>
          </a:p>
          <a:p>
            <a:pPr lvl="1"/>
            <a:r>
              <a:rPr sz="900"/>
              <a:t>Familiar</a:t>
            </a:r>
          </a:p>
          <a:p>
            <a:pPr lvl="1"/>
            <a:r>
              <a:rPr sz="900"/>
              <a:t>Known</a:t>
            </a:r>
          </a:p>
          <a:p>
            <a:pPr lvl="1"/>
            <a:r>
              <a:rPr sz="900"/>
              <a:t>Fixed</a:t>
            </a:r>
          </a:p>
          <a:p>
            <a:pPr lvl="1"/>
            <a:r>
              <a:rPr sz="900"/>
              <a:t>Graspable</a:t>
            </a:r>
          </a:p>
          <a:p>
            <a:pPr lvl="1"/>
            <a:r>
              <a:rPr sz="900"/>
              <a:t>Abstracted</a:t>
            </a:r>
          </a:p>
          <a:p>
            <a:pPr lvl="1"/>
            <a:r>
              <a:rPr sz="900"/>
              <a:t>Taken out of context</a:t>
            </a:r>
          </a:p>
          <a:p>
            <a:pPr lvl="1"/>
            <a:r>
              <a:rPr sz="900"/>
              <a:t>Categorizable</a:t>
            </a:r>
          </a:p>
          <a:p>
            <a:pPr lvl="1"/>
            <a:r>
              <a:rPr sz="900"/>
              <a:t>General in nature</a:t>
            </a:r>
          </a:p>
          <a:p>
            <a:pPr lvl="1"/>
            <a:r>
              <a:rPr sz="900"/>
              <a:t>Generally inanimate, because the process has completely isolated them from everything else and deanimated them</a:t>
            </a:r>
          </a:p>
          <a:p>
            <a:pPr lvl="0"/>
            <a:r>
              <a:rPr sz="900"/>
              <a:t>Grasping a tiny detail</a:t>
            </a:r>
          </a:p>
          <a:p>
            <a:pPr lvl="0"/>
            <a:r>
              <a:rPr sz="900"/>
              <a:t>Narrowly, focused, targeted attention to something it already knows about</a:t>
            </a:r>
          </a:p>
        </p:txBody>
      </p:sp>
      <p:sp>
        <p:nvSpPr>
          <p:cNvPr id="5" name="Notes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400"/>
              <a:t>Right-Brain Characteristics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type="obj" idx="4" sz="quarter"/>
          </p:nvPr>
        </p:nvSpPr>
        <p:spPr/>
        <p:txBody>
          <a:bodyPr/>
          <a:lstStyle/>
          <a:p>
            <a:pPr lvl="0"/>
            <a:r>
              <a:rPr sz="900"/>
              <a:t>Helps us understand the world</a:t>
            </a:r>
          </a:p>
          <a:p>
            <a:pPr lvl="0"/>
            <a:r>
              <a:rPr sz="900"/>
              <a:t>Rapt attention</a:t>
            </a:r>
          </a:p>
          <a:p>
            <a:pPr lvl="0"/>
            <a:r>
              <a:rPr sz="900"/>
              <a:t>Right hemisphere’s vision sees things that are</a:t>
            </a:r>
          </a:p>
          <a:p>
            <a:pPr lvl="1"/>
            <a:r>
              <a:rPr sz="900"/>
              <a:t>only partly known</a:t>
            </a:r>
          </a:p>
          <a:p>
            <a:pPr lvl="1"/>
            <a:r>
              <a:rPr sz="900"/>
              <a:t>only partly certain of what we are looking at</a:t>
            </a:r>
          </a:p>
          <a:p>
            <a:pPr lvl="1"/>
            <a:r>
              <a:rPr sz="900"/>
              <a:t>Fresh</a:t>
            </a:r>
          </a:p>
          <a:p>
            <a:pPr lvl="1"/>
            <a:r>
              <a:rPr sz="900"/>
              <a:t>Interconnected, and situated where they are in context</a:t>
            </a:r>
          </a:p>
          <a:p>
            <a:pPr lvl="2"/>
            <a:r>
              <a:rPr sz="900"/>
              <a:t>When we take them out of context, they change their nature</a:t>
            </a:r>
          </a:p>
          <a:p>
            <a:pPr lvl="1"/>
            <a:r>
              <a:rPr sz="900"/>
              <a:t>Flowing and changing, not fixed and graspable in a simple way</a:t>
            </a:r>
          </a:p>
          <a:p>
            <a:pPr lvl="1"/>
            <a:r>
              <a:rPr sz="900"/>
              <a:t>Unique rather than exemplars of a common theme</a:t>
            </a:r>
          </a:p>
          <a:p>
            <a:pPr lvl="1"/>
            <a:r>
              <a:rPr sz="900"/>
              <a:t>Embodied rather than abstracted and disembodied</a:t>
            </a:r>
          </a:p>
          <a:p>
            <a:pPr lvl="1"/>
            <a:r>
              <a:rPr sz="900"/>
              <a:t>Animate, rather than inanimate</a:t>
            </a:r>
          </a:p>
          <a:p>
            <a:pPr lvl="1"/>
            <a:r>
              <a:rPr sz="900"/>
              <a:t>Has the ability to look out for something we might be missing -- more skeptical</a:t>
            </a:r>
          </a:p>
          <a:p>
            <a:pPr lvl="0"/>
            <a:r>
              <a:rPr sz="900"/>
              <a:t>Assembles facts for application in an embodied world.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Our perceptions of the world come from paying a certain kind of attention to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5806440"/>
            <a:ext cx="8778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Reason is this ability to bring together the faculties of logic with the faculties of an intuitive, implicit, embodied understanding of what it means to be alive” –Iain McGilchrist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Lesson 18 Biology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4465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Developing the Right-Brain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obj" idx="1"/>
          </p:nvPr>
        </p:nvSpPr>
        <p:spPr/>
        <p:txBody>
          <a:bodyPr/>
          <a:lstStyle/>
          <a:p>
            <a:pPr lvl="0"/>
            <a:r>
              <a:t>If we want to educate students to be world-class scientists, we need to develop and not dismiss right-brain thinking</a:t>
            </a:r>
          </a:p>
          <a:p>
            <a:pPr lvl="1"/>
            <a:r>
              <a:t>Both left and right-brain thinking are critical for breakthrough science</a:t>
            </a:r>
          </a:p>
          <a:p>
            <a:pPr lvl="0"/>
            <a:r>
              <a:t>Teach an understanding of and appreciation for Music, Art, and the Sacred</a:t>
            </a:r>
          </a:p>
          <a:p>
            <a:pPr lvl="1"/>
            <a:r>
              <a:t>For example: band, drawing, family, and the pledge of allegiance/reveille</a:t>
            </a:r>
          </a:p>
          <a:p>
            <a:pPr lvl="0"/>
            <a:r>
              <a:t>The Saint Luke Guild was founded to bring high quality, physical reproductions of the greatest works of art to students of average means</a:t>
            </a:r>
          </a:p>
          <a:p>
            <a:pPr lvl="1"/>
            <a:r>
              <a:t>Enabled by two technological developments from the last 20 years</a:t>
            </a:r>
          </a:p>
          <a:p>
            <a:pPr lvl="2"/>
            <a:r>
              <a:t>The explosion of high-resolution, digital imagery of the greatest works of art, previously reserved to museum visitors</a:t>
            </a:r>
          </a:p>
          <a:p>
            <a:pPr lvl="2"/>
            <a:r>
              <a:t>The dramatic improvements in low-cost, museum quality photographic printing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24230" y="6356360"/>
            <a:ext cx="2895630" cy="3651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Lesson 18 Biology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53230" y="6356360"/>
            <a:ext cx="2133569" cy="3651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obj" idx="1"/>
          </p:nvPr>
        </p:nvSpPr>
        <p:spPr/>
        <p:txBody>
          <a:bodyPr/>
          <a:lstStyle/>
          <a:p>
            <a:pPr lvl="0"/>
            <a:r>
              <a:t>Bring around 50 paintings showing both a timeline of art and world history to Holy Child Catholic School</a:t>
            </a:r>
          </a:p>
          <a:p>
            <a:pPr lvl="1"/>
            <a:r>
              <a:t>$30k in artwork installed in the last 1.5 years</a:t>
            </a:r>
          </a:p>
          <a:p>
            <a:pPr lvl="1"/>
            <a:r>
              <a:t>$30k in funding promised by donors to complete the hallway</a:t>
            </a:r>
          </a:p>
          <a:p>
            <a:pPr lvl="0"/>
            <a:r>
              <a:t>Over 20 years projects of a similar scale could be done in every school throughout the country for ~.05% of their budget</a:t>
            </a:r>
          </a:p>
          <a:p>
            <a:pPr lvl="1"/>
            <a:r>
              <a:t>Compare with Zuckerberg’s $300,000,000 donation to one school district – Zero improvement in student achievement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24230" y="6356360"/>
            <a:ext cx="2895630" cy="3651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Lesson 18 Biology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53230" y="6356360"/>
            <a:ext cx="2133569" cy="3651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Paintings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obj" idx="1"/>
          </p:nvPr>
        </p:nvSpPr>
        <p:spPr/>
        <p:txBody>
          <a:bodyPr/>
          <a:lstStyle/>
          <a:p>
            <a:r>
              <a:t>Science brings us facts about the world</a:t>
            </a:r>
          </a:p>
        </p:txBody>
      </p:sp>
      <p:pic>
        <p:nvPicPr>
          <p:cNvPr id="4" name="Picture 3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6215" y="2087118"/>
            <a:ext cx="5334792" cy="4110868"/>
          </a:xfrm>
          <a:prstGeom prst="rect">
            <a:avLst/>
          </a:prstGeom>
        </p:spPr>
      </p:pic>
      <p:pic>
        <p:nvPicPr>
          <p:cNvPr id="5" name="Picture 4" descr="image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3258" y="1827794"/>
            <a:ext cx="3839474" cy="478606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124230" y="6356360"/>
            <a:ext cx="2895630" cy="3651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Lesson 18 Biology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53230" y="6356360"/>
            <a:ext cx="2133569" cy="3651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obj" idx="1"/>
          </p:nvPr>
        </p:nvSpPr>
        <p:spPr/>
        <p:txBody>
          <a:bodyPr/>
          <a:lstStyle/>
          <a:p>
            <a:pPr lvl="0"/>
            <a:r>
              <a:t>Science brings us disembodied, decontextualized facts about the world</a:t>
            </a:r>
          </a:p>
          <a:p>
            <a:pPr lvl="0"/>
            <a:r>
              <a:t>Art and myth are focused on how embodied humans should act in the real world, which is particular and uncertain</a:t>
            </a:r>
          </a:p>
          <a:p>
            <a:pPr lvl="0"/>
            <a:r>
              <a:t>Both left and right-brained thinking is necessary for a world-class scientific enterprise</a:t>
            </a:r>
          </a:p>
          <a:p>
            <a:pPr lvl="0"/>
            <a:r>
              <a:t>The scientist is servant to the humanities major</a:t>
            </a:r>
          </a:p>
          <a:p>
            <a:pPr lvl="1"/>
            <a:r>
              <a:t>They control how our inventions are used</a:t>
            </a:r>
          </a:p>
          <a:p>
            <a:pPr lvl="0"/>
            <a:r>
              <a:t>The Saint Luke Guild helps develop right-brain thinking by bringing high quality reproductions of the greatest works of art in the Western Canon to average students</a:t>
            </a:r>
          </a:p>
          <a:p>
            <a:pPr lvl="1"/>
            <a:r>
              <a:t>Developing an appreciation for rapt attention alongside clinical attention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24230" y="6356360"/>
            <a:ext cx="2895630" cy="3651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Lesson 18 Biology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53230" y="6356360"/>
            <a:ext cx="2133569" cy="3651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