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7" r:id="rId5"/>
  </p:sldIdLst>
  <p:sldSz cx="36576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115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C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>
      <p:cViewPr varScale="1">
        <p:scale>
          <a:sx n="53" d="100"/>
          <a:sy n="53" d="100"/>
        </p:scale>
        <p:origin x="228" y="1254"/>
      </p:cViewPr>
      <p:guideLst>
        <p:guide orient="horz" pos="4320"/>
        <p:guide pos="115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14300" cy="1143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2244726"/>
            <a:ext cx="27432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7204076"/>
            <a:ext cx="27432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987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820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0" y="3419477"/>
            <a:ext cx="315468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0" y="9178927"/>
            <a:ext cx="315468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500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3651250"/>
            <a:ext cx="155448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3651250"/>
            <a:ext cx="155448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19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730251"/>
            <a:ext cx="315468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6" y="3362326"/>
            <a:ext cx="15473361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6" y="5010150"/>
            <a:ext cx="15473361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0" y="3362326"/>
            <a:ext cx="1554956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0" y="5010150"/>
            <a:ext cx="1554956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385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93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350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6" y="914400"/>
            <a:ext cx="11796711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1974851"/>
            <a:ext cx="185166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6" y="4114800"/>
            <a:ext cx="11796711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37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6" y="914400"/>
            <a:ext cx="11796711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1974851"/>
            <a:ext cx="185166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6" y="4114800"/>
            <a:ext cx="11796711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4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40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0" y="730250"/>
            <a:ext cx="78867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0" y="730250"/>
            <a:ext cx="232029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98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730251"/>
            <a:ext cx="315468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3651250"/>
            <a:ext cx="315468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12712701"/>
            <a:ext cx="12344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86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5897CE99-1A15-5B34-BE69-5A60BBBDED3B}"/>
              </a:ext>
            </a:extLst>
          </p:cNvPr>
          <p:cNvSpPr/>
          <p:nvPr/>
        </p:nvSpPr>
        <p:spPr>
          <a:xfrm>
            <a:off x="13373099" y="1371600"/>
            <a:ext cx="4000498" cy="11087100"/>
          </a:xfrm>
          <a:prstGeom prst="roundRect">
            <a:avLst/>
          </a:prstGeom>
          <a:solidFill>
            <a:schemeClr val="accent2">
              <a:lumMod val="75000"/>
              <a:alpha val="20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i="0" u="none" strike="noStrike" dirty="0"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algn="ctr"/>
            <a:endParaRPr lang="en-US" sz="3200" b="1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sz="3200" b="1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Semester in Rome</a:t>
            </a:r>
            <a:endParaRPr lang="en-US" sz="3200" b="1" dirty="0">
              <a:solidFill>
                <a:schemeClr val="tx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C65C99-313F-B345-530E-0A8D850E2138}"/>
              </a:ext>
            </a:extLst>
          </p:cNvPr>
          <p:cNvCxnSpPr>
            <a:cxnSpLocks/>
          </p:cNvCxnSpPr>
          <p:nvPr/>
        </p:nvCxnSpPr>
        <p:spPr>
          <a:xfrm>
            <a:off x="18288000" y="0"/>
            <a:ext cx="0" cy="13716000"/>
          </a:xfrm>
          <a:prstGeom prst="line">
            <a:avLst/>
          </a:prstGeom>
          <a:ln w="508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09438C2-967B-3898-F978-9D17ECF476B4}"/>
              </a:ext>
            </a:extLst>
          </p:cNvPr>
          <p:cNvCxnSpPr>
            <a:cxnSpLocks/>
          </p:cNvCxnSpPr>
          <p:nvPr/>
        </p:nvCxnSpPr>
        <p:spPr>
          <a:xfrm>
            <a:off x="8229600" y="0"/>
            <a:ext cx="0" cy="13716000"/>
          </a:xfrm>
          <a:prstGeom prst="line">
            <a:avLst/>
          </a:prstGeom>
          <a:ln w="508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895310-F058-D20F-ADB0-AC9FF4C785C0}"/>
              </a:ext>
            </a:extLst>
          </p:cNvPr>
          <p:cNvCxnSpPr>
            <a:cxnSpLocks/>
          </p:cNvCxnSpPr>
          <p:nvPr/>
        </p:nvCxnSpPr>
        <p:spPr>
          <a:xfrm>
            <a:off x="27432000" y="0"/>
            <a:ext cx="0" cy="13716000"/>
          </a:xfrm>
          <a:prstGeom prst="line">
            <a:avLst/>
          </a:prstGeom>
          <a:ln w="508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5FB4C76-0B03-A46C-CF87-D2FFECCF64F1}"/>
              </a:ext>
            </a:extLst>
          </p:cNvPr>
          <p:cNvSpPr/>
          <p:nvPr/>
        </p:nvSpPr>
        <p:spPr>
          <a:xfrm>
            <a:off x="914400" y="3341246"/>
            <a:ext cx="2387595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FYE 122L - President’s Seminar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(0, F)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359A3DB-2F72-3177-D3CE-A4EF8806B6ED}"/>
              </a:ext>
            </a:extLst>
          </p:cNvPr>
          <p:cNvSpPr/>
          <p:nvPr/>
        </p:nvSpPr>
        <p:spPr>
          <a:xfrm>
            <a:off x="914400" y="4853692"/>
            <a:ext cx="2387595" cy="9144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ART 127 - Introduction to Drawing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790D582-5833-E71D-F680-50663F25588C}"/>
              </a:ext>
            </a:extLst>
          </p:cNvPr>
          <p:cNvSpPr/>
          <p:nvPr/>
        </p:nvSpPr>
        <p:spPr>
          <a:xfrm>
            <a:off x="9167021" y="5474144"/>
            <a:ext cx="2286000" cy="91440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PHI 310 - Philosophy of the Human Person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7611228-AFFD-B719-9774-E85AA42CD215}"/>
              </a:ext>
            </a:extLst>
          </p:cNvPr>
          <p:cNvSpPr/>
          <p:nvPr/>
        </p:nvSpPr>
        <p:spPr>
          <a:xfrm>
            <a:off x="14173200" y="3653943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234 - Benedict: Yesterday and Today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B, Rome)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53807FD-C46A-CA5B-0460-0A62AC1CB45B}"/>
              </a:ext>
            </a:extLst>
          </p:cNvPr>
          <p:cNvSpPr/>
          <p:nvPr/>
        </p:nvSpPr>
        <p:spPr>
          <a:xfrm>
            <a:off x="914400" y="7878582"/>
            <a:ext cx="2286000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LAT 101 - Beginning Latin I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F)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1757822-8171-A240-E04D-5F2884310E6F}"/>
              </a:ext>
            </a:extLst>
          </p:cNvPr>
          <p:cNvSpPr/>
          <p:nvPr/>
        </p:nvSpPr>
        <p:spPr>
          <a:xfrm>
            <a:off x="914400" y="6366137"/>
            <a:ext cx="2387589" cy="91440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ENG 121 - Composition II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B)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9CECCCB-EBAF-01C9-90F1-AAE29226C6B5}"/>
              </a:ext>
            </a:extLst>
          </p:cNvPr>
          <p:cNvSpPr/>
          <p:nvPr/>
        </p:nvSpPr>
        <p:spPr>
          <a:xfrm>
            <a:off x="5029200" y="3658366"/>
            <a:ext cx="2286000" cy="91440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MAT 215 - Elements of Mathematics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B)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9321D86-70FF-140F-72B5-CD76691D981E}"/>
              </a:ext>
            </a:extLst>
          </p:cNvPr>
          <p:cNvSpPr/>
          <p:nvPr/>
        </p:nvSpPr>
        <p:spPr>
          <a:xfrm>
            <a:off x="9186648" y="1847089"/>
            <a:ext cx="2286000" cy="91440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SCI 209 - Science &amp; Quantitative Thinking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(3/1, S)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5460CC8-37DA-FD1C-E3B3-660A6D04DFFC}"/>
              </a:ext>
            </a:extLst>
          </p:cNvPr>
          <p:cNvSpPr/>
          <p:nvPr/>
        </p:nvSpPr>
        <p:spPr>
          <a:xfrm>
            <a:off x="914400" y="9391027"/>
            <a:ext cx="2374892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120 - Search for God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B)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AB01BC4-452A-46D3-8468-BD7337B6F330}"/>
              </a:ext>
            </a:extLst>
          </p:cNvPr>
          <p:cNvSpPr/>
          <p:nvPr/>
        </p:nvSpPr>
        <p:spPr>
          <a:xfrm>
            <a:off x="5029200" y="10903473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250 - Sacred Tradition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F33F907-84A4-3F6A-5674-C3DC84F7684A}"/>
              </a:ext>
            </a:extLst>
          </p:cNvPr>
          <p:cNvSpPr/>
          <p:nvPr/>
        </p:nvSpPr>
        <p:spPr>
          <a:xfrm>
            <a:off x="914400" y="10903473"/>
            <a:ext cx="2285995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260 - Sacred Scripture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F)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2E21105-6F59-9965-314E-F88E7A0BD672}"/>
              </a:ext>
            </a:extLst>
          </p:cNvPr>
          <p:cNvSpPr/>
          <p:nvPr/>
        </p:nvSpPr>
        <p:spPr>
          <a:xfrm>
            <a:off x="19609308" y="7389378"/>
            <a:ext cx="2286000" cy="91440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HIS 103 - Western Civ in World History I</a:t>
            </a:r>
            <a:r>
              <a:rPr lang="en-US" dirty="0"/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A8FBF11-B576-7FF0-A237-90ECD585EBBA}"/>
              </a:ext>
            </a:extLst>
          </p:cNvPr>
          <p:cNvSpPr/>
          <p:nvPr/>
        </p:nvSpPr>
        <p:spPr>
          <a:xfrm>
            <a:off x="5029200" y="9092197"/>
            <a:ext cx="2286000" cy="91440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PHI 108 - Search for Truth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B)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43B1C3A9-54BD-1ADC-A961-8F95BD4067FE}"/>
              </a:ext>
            </a:extLst>
          </p:cNvPr>
          <p:cNvSpPr/>
          <p:nvPr/>
        </p:nvSpPr>
        <p:spPr>
          <a:xfrm>
            <a:off x="914400" y="1828800"/>
            <a:ext cx="2387593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FYE 122 - First-Year Experience (1,B)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F49EBD97-54A0-3289-2BA4-E56BA3CDDB99}"/>
              </a:ext>
            </a:extLst>
          </p:cNvPr>
          <p:cNvSpPr/>
          <p:nvPr/>
        </p:nvSpPr>
        <p:spPr>
          <a:xfrm>
            <a:off x="14147792" y="5451790"/>
            <a:ext cx="2311407" cy="106331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PHI 210 – Search for Happiness: Faith and Reason in Life</a:t>
            </a:r>
            <a:r>
              <a:rPr lang="en-US" dirty="0"/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(3, S, Rome)</a:t>
            </a: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9DF1D9B0-A6D2-AC3D-74D4-777F513F9483}"/>
              </a:ext>
            </a:extLst>
          </p:cNvPr>
          <p:cNvSpPr/>
          <p:nvPr/>
        </p:nvSpPr>
        <p:spPr>
          <a:xfrm>
            <a:off x="5029200" y="1847089"/>
            <a:ext cx="2286000" cy="91440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MAT 200 - Computing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09467532-9DEE-3540-83AA-5DBE57BD0B5A}"/>
              </a:ext>
            </a:extLst>
          </p:cNvPr>
          <p:cNvSpPr/>
          <p:nvPr/>
        </p:nvSpPr>
        <p:spPr>
          <a:xfrm>
            <a:off x="9167021" y="9085833"/>
            <a:ext cx="2286000" cy="914400"/>
          </a:xfrm>
          <a:prstGeom prst="roundRect">
            <a:avLst/>
          </a:prstGeom>
          <a:solidFill>
            <a:srgbClr val="9DC3E6"/>
          </a:soli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ART 235 - Art Practicum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(2, B)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1F0F2A-C615-3BFF-FA8E-1871CDB4B089}"/>
              </a:ext>
            </a:extLst>
          </p:cNvPr>
          <p:cNvSpPr/>
          <p:nvPr/>
        </p:nvSpPr>
        <p:spPr>
          <a:xfrm>
            <a:off x="699512" y="244094"/>
            <a:ext cx="6844285" cy="9144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Freshman (2025-26)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         Fall – 16                                 Spring - 18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1F6A711-26AF-037E-B958-5BA3CD7E09A4}"/>
              </a:ext>
            </a:extLst>
          </p:cNvPr>
          <p:cNvSpPr/>
          <p:nvPr/>
        </p:nvSpPr>
        <p:spPr>
          <a:xfrm>
            <a:off x="10041875" y="228600"/>
            <a:ext cx="6400800" cy="9144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Sophomore (2026-27)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Fall – 17                                        Spring - 15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E9B7B2C-27FE-A3A1-A272-8CEA8A92D228}"/>
              </a:ext>
            </a:extLst>
          </p:cNvPr>
          <p:cNvSpPr/>
          <p:nvPr/>
        </p:nvSpPr>
        <p:spPr>
          <a:xfrm>
            <a:off x="19659600" y="228600"/>
            <a:ext cx="6400800" cy="9144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Junior (2027-28)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Fall – 17                                        Spring - 16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207F83-F6E3-ED7C-B000-F1043A47B063}"/>
              </a:ext>
            </a:extLst>
          </p:cNvPr>
          <p:cNvSpPr/>
          <p:nvPr/>
        </p:nvSpPr>
        <p:spPr>
          <a:xfrm>
            <a:off x="28809946" y="228600"/>
            <a:ext cx="6400800" cy="9144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Senior (2028-29)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Fall – 16                                        Spring - 13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4F82E9F-A75E-F0F0-7C79-A3CAF908BDCE}"/>
              </a:ext>
            </a:extLst>
          </p:cNvPr>
          <p:cNvSpPr/>
          <p:nvPr/>
        </p:nvSpPr>
        <p:spPr>
          <a:xfrm>
            <a:off x="9167021" y="10903473"/>
            <a:ext cx="2286000" cy="914400"/>
          </a:xfrm>
          <a:prstGeom prst="roundRect">
            <a:avLst/>
          </a:prstGeom>
          <a:solidFill>
            <a:srgbClr val="9DC3E6"/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ART 310 - Art History I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F)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D7C1DB0-E985-0DAE-5EB1-BA6E390AAB03}"/>
              </a:ext>
            </a:extLst>
          </p:cNvPr>
          <p:cNvSpPr/>
          <p:nvPr/>
        </p:nvSpPr>
        <p:spPr>
          <a:xfrm>
            <a:off x="7658100" y="-1477736"/>
            <a:ext cx="2057399" cy="914400"/>
          </a:xfrm>
          <a:prstGeom prst="round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THEO-3420: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Hist of Cath Ch I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1E9AB1E-7FA2-35B9-6B70-81B714679190}"/>
              </a:ext>
            </a:extLst>
          </p:cNvPr>
          <p:cNvSpPr/>
          <p:nvPr/>
        </p:nvSpPr>
        <p:spPr>
          <a:xfrm>
            <a:off x="14198607" y="1847089"/>
            <a:ext cx="2235186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CLA 311 - Grandeur of Rome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(3, B, Rome)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1A70B0A-8A88-987D-C358-CC1F8D10AFE4}"/>
              </a:ext>
            </a:extLst>
          </p:cNvPr>
          <p:cNvSpPr/>
          <p:nvPr/>
        </p:nvSpPr>
        <p:spPr>
          <a:xfrm>
            <a:off x="9167021" y="3676976"/>
            <a:ext cx="2286000" cy="91440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HIS 104 - Western Civ in World History II</a:t>
            </a:r>
            <a:r>
              <a:rPr lang="en-US" dirty="0"/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ED834DE-F188-9B44-2F10-26B3B5F041F2}"/>
              </a:ext>
            </a:extLst>
          </p:cNvPr>
          <p:cNvSpPr/>
          <p:nvPr/>
        </p:nvSpPr>
        <p:spPr>
          <a:xfrm>
            <a:off x="17310116" y="12609576"/>
            <a:ext cx="2286000" cy="914400"/>
          </a:xfrm>
          <a:prstGeom prst="roundRect">
            <a:avLst/>
          </a:prstGeom>
          <a:solidFill>
            <a:srgbClr val="9DC3E6"/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ART 410 - Art History II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S)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D2EFF3D-5D71-02BF-5582-07BC835216D3}"/>
              </a:ext>
            </a:extLst>
          </p:cNvPr>
          <p:cNvSpPr/>
          <p:nvPr/>
        </p:nvSpPr>
        <p:spPr>
          <a:xfrm>
            <a:off x="5029200" y="7280920"/>
            <a:ext cx="2235186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LAT 102 - Beginning Latin II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S)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2B6B82A-6E78-DC8C-7906-AF34F53C6D11}"/>
              </a:ext>
            </a:extLst>
          </p:cNvPr>
          <p:cNvSpPr/>
          <p:nvPr/>
        </p:nvSpPr>
        <p:spPr>
          <a:xfrm>
            <a:off x="14147792" y="9806696"/>
            <a:ext cx="2286000" cy="914400"/>
          </a:xfrm>
          <a:prstGeom prst="roundRect">
            <a:avLst/>
          </a:prstGeom>
          <a:solidFill>
            <a:srgbClr val="9DC3E6"/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ART 121 - The Art of Italy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S, Rome)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A003F54-B4B7-5F9F-4738-FF6BEB55A34C}"/>
              </a:ext>
            </a:extLst>
          </p:cNvPr>
          <p:cNvSpPr/>
          <p:nvPr/>
        </p:nvSpPr>
        <p:spPr>
          <a:xfrm>
            <a:off x="19659600" y="1828800"/>
            <a:ext cx="2286000" cy="91440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ENG 330 - Survey of World Literature I</a:t>
            </a:r>
            <a:r>
              <a:rPr lang="en-US" dirty="0"/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(3, F)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4317FE1-DF65-6022-A1C3-00693E8198CD}"/>
              </a:ext>
            </a:extLst>
          </p:cNvPr>
          <p:cNvSpPr/>
          <p:nvPr/>
        </p:nvSpPr>
        <p:spPr>
          <a:xfrm>
            <a:off x="19659600" y="10972800"/>
            <a:ext cx="2286000" cy="914400"/>
          </a:xfrm>
          <a:prstGeom prst="roundRect">
            <a:avLst/>
          </a:prstGeom>
          <a:solidFill>
            <a:srgbClr val="9DC3E6"/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ART 335 - Art Practicum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B)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5FA0D04-AE70-8B57-DE21-6E73C3DF6D85}"/>
              </a:ext>
            </a:extLst>
          </p:cNvPr>
          <p:cNvSpPr/>
          <p:nvPr/>
        </p:nvSpPr>
        <p:spPr>
          <a:xfrm>
            <a:off x="19659600" y="3657600"/>
            <a:ext cx="2235186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LAT 201 - Second Year Latin I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F)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F5962DF-43AA-DC46-A4E6-2EF46403A071}"/>
              </a:ext>
            </a:extLst>
          </p:cNvPr>
          <p:cNvSpPr/>
          <p:nvPr/>
        </p:nvSpPr>
        <p:spPr>
          <a:xfrm>
            <a:off x="5029200" y="5469643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341 - Theology of the Human Person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1C498E7-C7E0-5C27-2C5A-DAC61E77CB2F}"/>
              </a:ext>
            </a:extLst>
          </p:cNvPr>
          <p:cNvSpPr/>
          <p:nvPr/>
        </p:nvSpPr>
        <p:spPr>
          <a:xfrm>
            <a:off x="19659600" y="9144000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270 - Moral Theology</a:t>
            </a:r>
            <a:r>
              <a:rPr lang="en-US" dirty="0"/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86EBDC08-7F44-CC21-C88C-A4CCFC602C2D}"/>
              </a:ext>
            </a:extLst>
          </p:cNvPr>
          <p:cNvSpPr/>
          <p:nvPr/>
        </p:nvSpPr>
        <p:spPr>
          <a:xfrm>
            <a:off x="9167021" y="7199883"/>
            <a:ext cx="2235186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CLA 201 - Classical Etymology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(2, ?)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B8084045-EEC4-841A-8930-2A40F6BF96E0}"/>
              </a:ext>
            </a:extLst>
          </p:cNvPr>
          <p:cNvSpPr/>
          <p:nvPr/>
        </p:nvSpPr>
        <p:spPr>
          <a:xfrm>
            <a:off x="23774400" y="1828800"/>
            <a:ext cx="2286000" cy="91440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ENG 331 - Survey of World Literature II</a:t>
            </a:r>
            <a:r>
              <a:rPr lang="en-US" dirty="0"/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(3, S)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1A5EFE98-11F9-23A4-857C-1492C4222965}"/>
              </a:ext>
            </a:extLst>
          </p:cNvPr>
          <p:cNvSpPr/>
          <p:nvPr/>
        </p:nvSpPr>
        <p:spPr>
          <a:xfrm>
            <a:off x="23774400" y="3657600"/>
            <a:ext cx="2235186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LAT 201 - Second Year Latin I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F)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ED1311B4-FCEA-9673-8583-3660A59A248E}"/>
              </a:ext>
            </a:extLst>
          </p:cNvPr>
          <p:cNvSpPr/>
          <p:nvPr/>
        </p:nvSpPr>
        <p:spPr>
          <a:xfrm>
            <a:off x="23774400" y="5486400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321 - Sacramental Theology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7624EF92-1BD0-47E0-1248-9F74F7D8BDC5}"/>
              </a:ext>
            </a:extLst>
          </p:cNvPr>
          <p:cNvSpPr/>
          <p:nvPr/>
        </p:nvSpPr>
        <p:spPr>
          <a:xfrm>
            <a:off x="23774400" y="7315200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315 - Virtue and Character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1C584E02-25C6-9A94-059A-D1F6238F83C4}"/>
              </a:ext>
            </a:extLst>
          </p:cNvPr>
          <p:cNvSpPr/>
          <p:nvPr/>
        </p:nvSpPr>
        <p:spPr>
          <a:xfrm>
            <a:off x="23768055" y="9144000"/>
            <a:ext cx="2286000" cy="914400"/>
          </a:xfrm>
          <a:prstGeom prst="roundRect">
            <a:avLst/>
          </a:prstGeom>
          <a:solidFill>
            <a:srgbClr val="9DC3E6"/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 300 - Visual Communication</a:t>
            </a:r>
            <a:r>
              <a:rPr lang="en-US" dirty="0"/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904AA749-A144-9F5A-19FE-46D63C77FBAB}"/>
              </a:ext>
            </a:extLst>
          </p:cNvPr>
          <p:cNvSpPr/>
          <p:nvPr/>
        </p:nvSpPr>
        <p:spPr>
          <a:xfrm>
            <a:off x="32924745" y="1828800"/>
            <a:ext cx="2286000" cy="91440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HUM 499 - Senior Competency Testing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(0, B)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13ED1FE6-3F52-BB22-011E-4105973E7B47}"/>
              </a:ext>
            </a:extLst>
          </p:cNvPr>
          <p:cNvSpPr/>
          <p:nvPr/>
        </p:nvSpPr>
        <p:spPr>
          <a:xfrm>
            <a:off x="7543799" y="14744700"/>
            <a:ext cx="2286000" cy="914400"/>
          </a:xfrm>
          <a:prstGeom prst="roundRect">
            <a:avLst/>
          </a:prstGeom>
          <a:solidFill>
            <a:srgbClr val="9DC3E6"/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MUS 212 - Concert Choir </a:t>
            </a:r>
            <a:r>
              <a:rPr lang="en-US" dirty="0">
                <a:solidFill>
                  <a:schemeClr val="tx1"/>
                </a:solidFill>
              </a:rPr>
              <a:t>(1, B)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76C4D70F-B1CC-FC0C-8AD3-01DF24C8CE2F}"/>
              </a:ext>
            </a:extLst>
          </p:cNvPr>
          <p:cNvSpPr/>
          <p:nvPr/>
        </p:nvSpPr>
        <p:spPr>
          <a:xfrm>
            <a:off x="32924745" y="3657600"/>
            <a:ext cx="2235186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PHI 422 - Aquinas &amp; the Natural Law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F)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DA713A9F-DBDA-27CC-09C9-C2F8AE76ECF5}"/>
              </a:ext>
            </a:extLst>
          </p:cNvPr>
          <p:cNvSpPr/>
          <p:nvPr/>
        </p:nvSpPr>
        <p:spPr>
          <a:xfrm>
            <a:off x="32924745" y="5486400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303 - Church History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91BDE83A-001E-085E-EECD-A291AEB4013E}"/>
              </a:ext>
            </a:extLst>
          </p:cNvPr>
          <p:cNvSpPr/>
          <p:nvPr/>
        </p:nvSpPr>
        <p:spPr>
          <a:xfrm>
            <a:off x="32924745" y="7315200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429 - Seminar in Theology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CB521DFF-79F0-A877-ED97-08B21EF577EC}"/>
              </a:ext>
            </a:extLst>
          </p:cNvPr>
          <p:cNvSpPr/>
          <p:nvPr/>
        </p:nvSpPr>
        <p:spPr>
          <a:xfrm>
            <a:off x="28803600" y="1828800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PHI 327 - Metaphysics</a:t>
            </a:r>
            <a:r>
              <a:rPr lang="en-US" dirty="0"/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(3, F)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69CFB3A4-3A27-F317-F715-724D6211C2FF}"/>
              </a:ext>
            </a:extLst>
          </p:cNvPr>
          <p:cNvSpPr/>
          <p:nvPr/>
        </p:nvSpPr>
        <p:spPr>
          <a:xfrm>
            <a:off x="28803600" y="10972800"/>
            <a:ext cx="2286000" cy="914400"/>
          </a:xfrm>
          <a:prstGeom prst="roundRect">
            <a:avLst/>
          </a:prstGeom>
          <a:solidFill>
            <a:srgbClr val="9DC3E6"/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ART 135 - Art Practicum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(1, B)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957AEA9D-F5A6-A1F4-7D08-21A7A7D1FC3E}"/>
              </a:ext>
            </a:extLst>
          </p:cNvPr>
          <p:cNvSpPr/>
          <p:nvPr/>
        </p:nvSpPr>
        <p:spPr>
          <a:xfrm>
            <a:off x="28803600" y="3657600"/>
            <a:ext cx="2235186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302 - Suffering and Christian Healing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F)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E9C3B94B-30BC-9407-9074-29DBA18C50F0}"/>
              </a:ext>
            </a:extLst>
          </p:cNvPr>
          <p:cNvSpPr/>
          <p:nvPr/>
        </p:nvSpPr>
        <p:spPr>
          <a:xfrm>
            <a:off x="28803600" y="7315200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PHI 415 - Philosophical Theology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E2E69C85-7956-D64A-DAC9-4819C1121CE9}"/>
              </a:ext>
            </a:extLst>
          </p:cNvPr>
          <p:cNvSpPr/>
          <p:nvPr/>
        </p:nvSpPr>
        <p:spPr>
          <a:xfrm>
            <a:off x="28803600" y="9144000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440 - The Theology and Legacy of St. Augustine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63241E1F-544C-3B61-6B17-B7301842CBCB}"/>
              </a:ext>
            </a:extLst>
          </p:cNvPr>
          <p:cNvSpPr/>
          <p:nvPr/>
        </p:nvSpPr>
        <p:spPr>
          <a:xfrm>
            <a:off x="28803600" y="5486400"/>
            <a:ext cx="2235186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326 - Christian Marriage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84EACA4A-BEA9-89C8-1329-15FA00CF9875}"/>
              </a:ext>
            </a:extLst>
          </p:cNvPr>
          <p:cNvSpPr/>
          <p:nvPr/>
        </p:nvSpPr>
        <p:spPr>
          <a:xfrm>
            <a:off x="32924745" y="9144000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490 - St. Thomas Aquinas, the Angelic Doctor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C420EC-D2FB-D491-2A90-A4E08E7C0E70}"/>
              </a:ext>
            </a:extLst>
          </p:cNvPr>
          <p:cNvSpPr txBox="1"/>
          <p:nvPr/>
        </p:nvSpPr>
        <p:spPr>
          <a:xfrm>
            <a:off x="13373099" y="13830300"/>
            <a:ext cx="54864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solidFill>
                  <a:srgbClr val="12325C"/>
                </a:solidFill>
                <a:effectLst/>
                <a:highlight>
                  <a:srgbClr val="FFFFFF"/>
                </a:highlight>
                <a:latin typeface="PT Serif" panose="020F0502020204030204" pitchFamily="18" charset="0"/>
              </a:rPr>
              <a:t>Fall and Spring Semester</a:t>
            </a:r>
            <a:endParaRPr lang="en-US" b="0" i="0" dirty="0">
              <a:solidFill>
                <a:srgbClr val="12325C"/>
              </a:solidFill>
              <a:effectLst/>
              <a:highlight>
                <a:srgbClr val="FFFFFF"/>
              </a:highlight>
              <a:latin typeface="PT Serif" panose="020F05020202040302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2325C"/>
                </a:solidFill>
                <a:effectLst/>
                <a:highlight>
                  <a:srgbClr val="FFFFFF"/>
                </a:highlight>
                <a:latin typeface="PT Serif" panose="020F0502020204030204" pitchFamily="18" charset="0"/>
              </a:rPr>
              <a:t>100-level Italian Language and Culture course (3 credits, liberal arts core elective)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2325C"/>
                </a:solidFill>
                <a:effectLst/>
                <a:highlight>
                  <a:srgbClr val="FFFFFF"/>
                </a:highlight>
                <a:latin typeface="PT Serif" panose="020F0502020204030204" pitchFamily="18" charset="0"/>
              </a:rPr>
              <a:t>ART 121 Art of Italy (3 credits, Art core)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2325C"/>
                </a:solidFill>
                <a:effectLst/>
                <a:highlight>
                  <a:srgbClr val="FFFFFF"/>
                </a:highlight>
                <a:latin typeface="PT Serif" panose="020F0502020204030204" pitchFamily="18" charset="0"/>
              </a:rPr>
              <a:t>CTH/PHI 210 Search for Happiness (3 credits, Ethics core)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2325C"/>
                </a:solidFill>
                <a:effectLst/>
                <a:highlight>
                  <a:srgbClr val="FFFFFF"/>
                </a:highlight>
                <a:latin typeface="PT Serif" panose="020F0502020204030204" pitchFamily="18" charset="0"/>
              </a:rPr>
              <a:t>THE/CTH 234 Benedict: Yesterday and Today (3 credits, Theology core or “THE 200-level or above” core elective)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2325C"/>
                </a:solidFill>
                <a:effectLst/>
                <a:highlight>
                  <a:srgbClr val="FFFFFF"/>
                </a:highlight>
                <a:latin typeface="PT Serif" panose="020F0502020204030204" pitchFamily="18" charset="0"/>
              </a:rPr>
              <a:t> HIS/CLA 311 Grandeur of Rome (3 credits, liberal arts core elective) </a:t>
            </a:r>
          </a:p>
          <a:p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C120374-92C9-1084-113B-4A657D308FAF}"/>
              </a:ext>
            </a:extLst>
          </p:cNvPr>
          <p:cNvSpPr/>
          <p:nvPr/>
        </p:nvSpPr>
        <p:spPr>
          <a:xfrm>
            <a:off x="14147792" y="8069092"/>
            <a:ext cx="2286000" cy="91440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ITA 101 – Beginning Italian</a:t>
            </a:r>
            <a:r>
              <a:rPr lang="en-US" dirty="0"/>
              <a:t>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(3, B, Rome)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4BA4321-E61B-1617-0F97-F10D4B288935}"/>
              </a:ext>
            </a:extLst>
          </p:cNvPr>
          <p:cNvSpPr/>
          <p:nvPr/>
        </p:nvSpPr>
        <p:spPr>
          <a:xfrm>
            <a:off x="10401300" y="-1470440"/>
            <a:ext cx="2286000" cy="91440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Core BA Class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CE503DB-EBF9-1E9C-CF2A-6E2AA433A4F6}"/>
              </a:ext>
            </a:extLst>
          </p:cNvPr>
          <p:cNvSpPr/>
          <p:nvPr/>
        </p:nvSpPr>
        <p:spPr>
          <a:xfrm>
            <a:off x="13601700" y="-1444507"/>
            <a:ext cx="2235186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Classics Minor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EC4E04F-A0E8-6297-9083-4A21ED36F87F}"/>
              </a:ext>
            </a:extLst>
          </p:cNvPr>
          <p:cNvSpPr/>
          <p:nvPr/>
        </p:nvSpPr>
        <p:spPr>
          <a:xfrm>
            <a:off x="16669992" y="-1425741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Theology Minor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00E1B32-0008-4FC1-EECD-2FE31B16DD85}"/>
              </a:ext>
            </a:extLst>
          </p:cNvPr>
          <p:cNvSpPr/>
          <p:nvPr/>
        </p:nvSpPr>
        <p:spPr>
          <a:xfrm>
            <a:off x="19596116" y="-1371600"/>
            <a:ext cx="2286000" cy="914400"/>
          </a:xfrm>
          <a:prstGeom prst="roundRect">
            <a:avLst/>
          </a:prstGeom>
          <a:solidFill>
            <a:srgbClr val="9DC3E6"/>
          </a:solidFill>
          <a:ln w="635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Art Minor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561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070C09BA24F846A2EA0A8EA8B74FC8" ma:contentTypeVersion="3" ma:contentTypeDescription="Create a new document." ma:contentTypeScope="" ma:versionID="c988c23bd978d6ab90aa146454a2abeb">
  <xsd:schema xmlns:xsd="http://www.w3.org/2001/XMLSchema" xmlns:xs="http://www.w3.org/2001/XMLSchema" xmlns:p="http://schemas.microsoft.com/office/2006/metadata/properties" xmlns:ns3="bd69b7f8-2218-4e80-ad9a-ba0a55255f3a" targetNamespace="http://schemas.microsoft.com/office/2006/metadata/properties" ma:root="true" ma:fieldsID="a13a084ebeee06b151190fb243a2064a" ns3:_="">
    <xsd:import namespace="bd69b7f8-2218-4e80-ad9a-ba0a55255f3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69b7f8-2218-4e80-ad9a-ba0a55255f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61A5C6-A7E7-42EF-82BD-2686532FF9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69b7f8-2218-4e80-ad9a-ba0a55255f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DE0F86-8228-41EE-9521-736EDFF5F0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FC5748-CF0F-4F14-9FDA-B14E01C19131}">
  <ds:schemaRefs>
    <ds:schemaRef ds:uri="http://schemas.microsoft.com/office/2006/metadata/properties"/>
    <ds:schemaRef ds:uri="bd69b7f8-2218-4e80-ad9a-ba0a55255f3a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8082</TotalTime>
  <Words>675</Words>
  <Application>Microsoft Office PowerPoint</Application>
  <PresentationFormat>Custom</PresentationFormat>
  <Paragraphs>79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PT Serif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Douglas Coombs</dc:creator>
  <cp:lastModifiedBy>zFamily Coombs</cp:lastModifiedBy>
  <cp:revision>20</cp:revision>
  <cp:lastPrinted>2024-01-14T10:12:25Z</cp:lastPrinted>
  <dcterms:created xsi:type="dcterms:W3CDTF">2022-11-15T06:04:26Z</dcterms:created>
  <dcterms:modified xsi:type="dcterms:W3CDTF">2025-02-22T05:35:32Z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0x010100CC070C09BA24F846A2EA0A8EA8B74FC8</vt:lpwstr>
  </property>
</Properties>
</file>