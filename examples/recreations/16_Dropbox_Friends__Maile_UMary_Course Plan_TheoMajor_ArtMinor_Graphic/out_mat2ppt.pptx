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sldIdLst>
    <p:sldId id="256" r:id="rId10"/>
  </p:sldIdLst>
  <p:sldSz cx="3657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115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C3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>
      <p:cViewPr varScale="1">
        <p:scale>
          <a:sx n="53" d="100"/>
          <a:sy n="53" d="100"/>
        </p:scale>
        <p:origin x="228" y="1254"/>
      </p:cViewPr>
      <p:guideLst>
        <p:guide orient="horz" pos="4320"/>
        <p:guide pos="115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14300" cy="1143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0" y="2244726"/>
            <a:ext cx="274320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0" y="7204076"/>
            <a:ext cx="27432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9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20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550" y="3419477"/>
            <a:ext cx="315468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5550" y="9178927"/>
            <a:ext cx="315468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50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4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516600" y="3651250"/>
            <a:ext cx="155448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119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4" y="730251"/>
            <a:ext cx="315468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9366" y="3362326"/>
            <a:ext cx="15473361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9366" y="5010150"/>
            <a:ext cx="15473361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516600" y="3362326"/>
            <a:ext cx="15549564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516600" y="5010150"/>
            <a:ext cx="15549564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385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893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5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49564" y="1974851"/>
            <a:ext cx="185166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9366" y="914400"/>
            <a:ext cx="11796711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549564" y="1974851"/>
            <a:ext cx="185166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19366" y="4114800"/>
            <a:ext cx="11796711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49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14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174700" y="730250"/>
            <a:ext cx="788670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14600" y="730250"/>
            <a:ext cx="2320290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99811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4600" y="730251"/>
            <a:ext cx="315468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4600" y="3651250"/>
            <a:ext cx="315468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46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715E-CA6B-4887-B16B-0A7042E6797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15800" y="12712701"/>
            <a:ext cx="12344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8318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F7D57-DA94-451F-89F9-BF1116E6AB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78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373100" y="1371600"/>
            <a:ext cx="4000500" cy="110871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3200" b="1">
                <a:solidFill>
                  <a:schemeClr val="tx1"/>
                </a:solidFill>
                <a:latin typeface="Calibri"/>
              </a:rPr>
              <a:t>Semester in Rome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341217"/>
            <a:ext cx="238758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FYE 122L - President’s Seminar</a:t>
            </a:r>
            <a:r>
              <a:t> </a:t>
            </a:r>
            <a:r>
              <a:rPr>
                <a:solidFill>
                  <a:schemeClr val="tx1"/>
                </a:solidFill>
              </a:rPr>
              <a:t>(0, F)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853726"/>
            <a:ext cx="2387589" cy="9144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127 - Introduction to Drawing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67042" y="5474147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310 - Philosophy of the Human Person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0" y="3653942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234 - Benedict: Yesterday and Today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7878561"/>
            <a:ext cx="2286000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LAT 101 - Beginning Latin 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366144"/>
            <a:ext cx="2387589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ENG 121 - Composition II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658331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MAT 215 - Elements of Mathematics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86611" y="1847088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SCI 209 - Science &amp; Quantitative Thinking</a:t>
            </a:r>
            <a:r>
              <a:t> </a:t>
            </a:r>
            <a:r>
              <a:rPr>
                <a:solidFill>
                  <a:schemeClr val="tx1"/>
                </a:solidFill>
              </a:rPr>
              <a:t>(3/1, 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9391070"/>
            <a:ext cx="2374879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120 - Search for God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0903488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250 - Sacred Tradition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10903488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260 - Sacred Scripture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09308" y="7389357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HIS 103 - Western Civ in World History I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9092153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108 - Search for Truth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828800"/>
            <a:ext cx="238758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FYE 122 - First-Year Experience (1,B)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47779" y="5451835"/>
            <a:ext cx="2311420" cy="10632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210 – Search for Happiness: Faith and Reason in Life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S, Rome)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847088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MAT 200 - Computing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67042" y="9085844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235 - Art Practicum</a:t>
            </a:r>
            <a:r>
              <a:t> </a:t>
            </a:r>
            <a:r>
              <a:rPr>
                <a:solidFill>
                  <a:schemeClr val="tx1"/>
                </a:solidFill>
              </a:rPr>
              <a:t>(2, B)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" y="244053"/>
            <a:ext cx="6844284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2800" b="1">
                <a:solidFill>
                  <a:schemeClr val="tx1"/>
                </a:solidFill>
              </a:rPr>
              <a:t>Freshman (2025-26)</a:t>
            </a:r>
          </a:p>
          <a:p>
            <a:pPr lvl="0">
              <a:buNone/>
            </a:pPr>
            <a:r>
              <a:rPr sz="2800" b="1">
                <a:solidFill>
                  <a:schemeClr val="tx1"/>
                </a:solidFill>
              </a:rPr>
              <a:t>         Fall – 16                                 Spring - 18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41849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2800" b="1">
                <a:solidFill>
                  <a:schemeClr val="tx1"/>
                </a:solidFill>
              </a:rPr>
              <a:t>Sophomore (2026-27)</a:t>
            </a:r>
          </a:p>
          <a:p>
            <a:pPr lvl="0">
              <a:buNone/>
            </a:pPr>
            <a:r>
              <a:rPr sz="2800" b="1">
                <a:solidFill>
                  <a:schemeClr val="tx1"/>
                </a:solidFill>
              </a:rPr>
              <a:t>Fall – 17                                        Spring - 15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9659600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2800" b="1">
                <a:solidFill>
                  <a:schemeClr val="tx1"/>
                </a:solidFill>
              </a:rPr>
              <a:t>Junior (2027-28)</a:t>
            </a:r>
          </a:p>
          <a:p>
            <a:pPr lvl="0">
              <a:buNone/>
            </a:pPr>
            <a:r>
              <a:rPr sz="2800" b="1">
                <a:solidFill>
                  <a:schemeClr val="tx1"/>
                </a:solidFill>
              </a:rPr>
              <a:t>Fall – 17                                        Spring - 16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809909" y="228600"/>
            <a:ext cx="6400800" cy="91440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2800" b="1">
                <a:solidFill>
                  <a:schemeClr val="tx1"/>
                </a:solidFill>
              </a:rPr>
              <a:t>Senior (2028-29)</a:t>
            </a:r>
          </a:p>
          <a:p>
            <a:pPr lvl="0">
              <a:buNone/>
            </a:pPr>
            <a:r>
              <a:rPr sz="2800" b="1">
                <a:solidFill>
                  <a:schemeClr val="tx1"/>
                </a:solidFill>
              </a:rPr>
              <a:t>Fall – 16                                        Spring - 13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67042" y="10903488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310 - Art History 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58100" y="-1477761"/>
            <a:ext cx="2057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THEO-3420: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Hist of Cath Ch 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98620" y="1847088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CLA 311 - Grandeur of Rome</a:t>
            </a:r>
            <a:br/>
            <a:r>
              <a:t> </a:t>
            </a:r>
            <a:br/>
            <a:r>
              <a:rPr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67042" y="3676985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HIS 104 - Western Civ in World History II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7310140" y="12609576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410 - Art History II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7280910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LAT 102 - Beginning Latin II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7779" y="9806665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121 - The Art of Italy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S, Rome)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9659600" y="1828800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ENG 330 - Survey of World Literature I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659600" y="10972800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335 - Art Practicum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B)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659600" y="3657600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LAT 201 - Second Year Latin 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5469666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341 - Theology of the Human Person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0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270 - Moral Theology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67042" y="7199894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CLA 201 - Classical Etymology</a:t>
            </a:r>
            <a:r>
              <a:t> </a:t>
            </a:r>
            <a:r>
              <a:rPr>
                <a:solidFill>
                  <a:schemeClr val="tx1"/>
                </a:solidFill>
              </a:rPr>
              <a:t>(2, ?)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3774400" y="1828800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ENG 331 - Survey of World Literature II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774400" y="3657600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LAT 201 - Second Year Latin I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774400" y="54864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321 - Sacramental Theology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774400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315 - Virtue and Character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768090" y="9144000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COM 300 - Visual Communication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24709" y="1828800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HUM 499 - Senior Competency Testing</a:t>
            </a:r>
            <a:r>
              <a:t> </a:t>
            </a:r>
            <a:r>
              <a:rPr>
                <a:solidFill>
                  <a:schemeClr val="tx1"/>
                </a:solidFill>
              </a:rPr>
              <a:t>(0, B)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14744700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MUS 212 - Concert Choir </a:t>
            </a:r>
            <a:r>
              <a:rPr>
                <a:solidFill>
                  <a:schemeClr val="tx1"/>
                </a:solidFill>
              </a:rPr>
              <a:t>(1, B)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24709" y="3657600"/>
            <a:ext cx="2235159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422 - Aquinas &amp; the Natural Law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24709" y="54864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303 - Church History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924709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429 - Seminar in Theology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803600" y="18288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327 - Metaphysics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8803600" y="10972800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135 - Art Practicum</a:t>
            </a:r>
            <a:r>
              <a:t> </a:t>
            </a:r>
            <a:r>
              <a:rPr>
                <a:solidFill>
                  <a:schemeClr val="tx1"/>
                </a:solidFill>
              </a:rPr>
              <a:t>(1, B)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0" y="3657600"/>
            <a:ext cx="2235159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302 - Suffering and Christian Healing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F)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8803600" y="73152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PHI 415 - Philosophical Theology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803600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440 - The Theology and Legacy of St. Augustine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803600" y="5486400"/>
            <a:ext cx="2235159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326 - Christian Marriage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924709" y="9144000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 490 - St. Thomas Aquinas, the Angelic Doctor</a:t>
            </a:r>
            <a:r>
              <a:t> </a:t>
            </a:r>
            <a:r>
              <a:rPr>
                <a:solidFill>
                  <a:schemeClr val="tx1"/>
                </a:solidFill>
              </a:rPr>
              <a:t>(3, ?)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373100" y="13830300"/>
            <a:ext cx="5486400" cy="313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buNone/>
            </a:pPr>
            <a:r>
              <a:rPr b="1">
                <a:solidFill>
                  <a:srgbClr val="12325C"/>
                </a:solidFill>
                <a:latin typeface="PT Serif"/>
              </a:rPr>
              <a:t>Fall and Spring Semester</a:t>
            </a:r>
          </a:p>
          <a:p>
            <a:pPr lvl="0" algn="l">
              <a:buNone/>
            </a:pPr>
            <a:r>
              <a:rPr>
                <a:solidFill>
                  <a:srgbClr val="12325C"/>
                </a:solidFill>
                <a:latin typeface="PT Serif"/>
              </a:rPr>
              <a:t>100-level Italian Language and Culture course (3 credits, liberal arts core elective)</a:t>
            </a:r>
          </a:p>
          <a:p>
            <a:pPr lvl="0" algn="l">
              <a:buNone/>
            </a:pPr>
            <a:r>
              <a:rPr>
                <a:solidFill>
                  <a:srgbClr val="12325C"/>
                </a:solidFill>
                <a:latin typeface="PT Serif"/>
              </a:rPr>
              <a:t>ART 121 Art of Italy (3 credits, Art core)</a:t>
            </a:r>
          </a:p>
          <a:p>
            <a:pPr lvl="0" algn="l">
              <a:buNone/>
            </a:pPr>
            <a:r>
              <a:rPr>
                <a:solidFill>
                  <a:srgbClr val="12325C"/>
                </a:solidFill>
                <a:latin typeface="PT Serif"/>
              </a:rPr>
              <a:t>CTH/PHI 210 Search for Happiness (3 credits, Ethics core)</a:t>
            </a:r>
          </a:p>
          <a:p>
            <a:pPr lvl="0" algn="l">
              <a:buNone/>
            </a:pPr>
            <a:r>
              <a:rPr>
                <a:solidFill>
                  <a:srgbClr val="12325C"/>
                </a:solidFill>
                <a:latin typeface="PT Serif"/>
              </a:rPr>
              <a:t>THE/CTH 234 Benedict: Yesterday and Today (3 credits, Theology core or “THE 200-level or above” core elective)</a:t>
            </a:r>
          </a:p>
          <a:p>
            <a:pPr lvl="0" algn="l">
              <a:buNone/>
            </a:pPr>
            <a:r>
              <a:rPr>
                <a:solidFill>
                  <a:srgbClr val="12325C"/>
                </a:solidFill>
                <a:latin typeface="PT Serif"/>
              </a:rPr>
              <a:t> HIS/CLA 311 Grandeur of Rome (3 credits, liberal arts core elective) 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4147779" y="8069122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lvl="0"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ITA 101 – Beginning Italian</a:t>
            </a:r>
            <a:r>
              <a:t> </a:t>
            </a:r>
          </a:p>
          <a:p>
            <a:pPr lvl="0" algn="ctr">
              <a:buNone/>
            </a:pPr>
            <a:r>
              <a:rPr>
                <a:solidFill>
                  <a:schemeClr val="tx1"/>
                </a:solidFill>
              </a:rPr>
              <a:t>(3, B, Rome)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01300" y="-1470446"/>
            <a:ext cx="2286000" cy="914400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Core BA Class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3601700" y="-1444477"/>
            <a:ext cx="2235159" cy="91440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Classics Minor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6669969" y="-1425732"/>
            <a:ext cx="2286000" cy="9144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Theology Minor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9596140" y="-1371600"/>
            <a:ext cx="2286000" cy="914400"/>
          </a:xfrm>
          <a:prstGeom prst="roundRect">
            <a:avLst/>
          </a:prstGeom>
          <a:solidFill>
            <a:srgbClr val="9DC3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buNone/>
            </a:pPr>
            <a:r>
              <a:rPr sz="1800">
                <a:solidFill>
                  <a:srgbClr val="000000"/>
                </a:solidFill>
                <a:latin typeface="Calibri"/>
              </a:rPr>
              <a:t>Art Minor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8288000" y="0"/>
            <a:ext cx="0" cy="13716000"/>
          </a:xfrm>
          <a:prstGeom prst="line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229600" y="0"/>
            <a:ext cx="0" cy="13716000"/>
          </a:xfrm>
          <a:prstGeom prst="line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27432000" y="0"/>
            <a:ext cx="0" cy="13716000"/>
          </a:xfrm>
          <a:prstGeom prst="line">
            <a:avLst/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070C09BA24F846A2EA0A8EA8B74FC8" ma:contentTypeVersion="3" ma:contentTypeDescription="Create a new document." ma:contentTypeScope="" ma:versionID="c988c23bd978d6ab90aa146454a2abeb">
  <xsd:schema xmlns:xsd="http://www.w3.org/2001/XMLSchema" xmlns:xs="http://www.w3.org/2001/XMLSchema" xmlns:p="http://schemas.microsoft.com/office/2006/metadata/properties" xmlns:ns3="bd69b7f8-2218-4e80-ad9a-ba0a55255f3a" targetNamespace="http://schemas.microsoft.com/office/2006/metadata/properties" ma:root="true" ma:fieldsID="a13a084ebeee06b151190fb243a2064a" ns3:_="">
    <xsd:import namespace="bd69b7f8-2218-4e80-ad9a-ba0a55255f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69b7f8-2218-4e80-ad9a-ba0a55255f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61A5C6-A7E7-42EF-82BD-2686532FF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69b7f8-2218-4e80-ad9a-ba0a55255f3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2DE0F86-8228-41EE-9521-736EDFF5F0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1FC5748-CF0F-4F14-9FDA-B14E01C19131}">
  <ds:schemaRefs>
    <ds:schemaRef ds:uri="http://schemas.microsoft.com/office/2006/metadata/properties"/>
    <ds:schemaRef ds:uri="bd69b7f8-2218-4e80-ad9a-ba0a55255f3a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8082</TotalTime>
  <Words>675</Words>
  <Application>Microsoft Office PowerPoint</Application>
  <PresentationFormat>Custom</PresentationFormat>
  <Paragraphs>79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PT Serif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Douglas Coombs</dc:creator>
  <cp:lastModifiedBy>zFamily Coombs</cp:lastModifiedBy>
  <cp:revision>20</cp:revision>
  <cp:lastPrinted>2024-01-14T10:12:25Z</cp:lastPrinted>
  <dcterms:created xsi:type="dcterms:W3CDTF">2022-11-15T06:04:26Z</dcterms:created>
  <dcterms:modified xsi:type="dcterms:W3CDTF">2025-02-22T05:35:32Z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0x010100CC070C09BA24F846A2EA0A8EA8B74FC8</vt:lpwstr>
  </property>
</Properties>
</file>