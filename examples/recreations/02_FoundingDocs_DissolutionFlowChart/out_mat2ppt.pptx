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lowChartDecision 1"/>
          <p:cNvSpPr/>
          <p:nvPr/>
        </p:nvSpPr>
        <p:spPr>
          <a:xfrm>
            <a:off x="5728260" y="132588"/>
            <a:ext cx="1855089" cy="987552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Are the Assets Artistic?</a:t>
            </a:r>
          </a:p>
        </p:txBody>
      </p:sp>
      <p:sp>
        <p:nvSpPr>
          <p:cNvPr id="3" name="flowChartDecision 2"/>
          <p:cNvSpPr/>
          <p:nvPr/>
        </p:nvSpPr>
        <p:spPr>
          <a:xfrm>
            <a:off x="3700272" y="911352"/>
            <a:ext cx="2395728" cy="1014984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Assets Reside at a School or Nonprofit?</a:t>
            </a:r>
          </a:p>
        </p:txBody>
      </p:sp>
      <p:sp>
        <p:nvSpPr>
          <p:cNvPr id="4" name="flowChartDecision 3"/>
          <p:cNvSpPr/>
          <p:nvPr/>
        </p:nvSpPr>
        <p:spPr>
          <a:xfrm>
            <a:off x="1455384" y="1796796"/>
            <a:ext cx="2606040" cy="1133856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School or Nonprofit will Accept Gift of  Artistic Assets?</a:t>
            </a:r>
          </a:p>
        </p:txBody>
      </p:sp>
      <p:sp>
        <p:nvSpPr>
          <p:cNvPr id="5" name="flowChartProcess 4"/>
          <p:cNvSpPr/>
          <p:nvPr/>
        </p:nvSpPr>
        <p:spPr>
          <a:xfrm>
            <a:off x="150876" y="5690616"/>
            <a:ext cx="1508760" cy="972312"/>
          </a:xfrm>
          <a:prstGeom prst="flowChartProces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A) Artistic Assets gifted to school or non-profit where they reside</a:t>
            </a:r>
          </a:p>
        </p:txBody>
      </p:sp>
      <p:sp>
        <p:nvSpPr>
          <p:cNvPr id="6" name="flowChartProcess 5"/>
          <p:cNvSpPr/>
          <p:nvPr/>
        </p:nvSpPr>
        <p:spPr>
          <a:xfrm>
            <a:off x="3443538" y="4507992"/>
            <a:ext cx="2370812" cy="2154936"/>
          </a:xfrm>
          <a:prstGeom prst="flowChartProces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C) Artistic assets distributed equally among other affiliate schools where assets reside (or their specified non-profits).  Receiving schools must pay for associated packaging and transportation costs beyond what the St. Luke Guild monetary assets will cover.</a:t>
            </a:r>
          </a:p>
        </p:txBody>
      </p:sp>
      <p:sp>
        <p:nvSpPr>
          <p:cNvPr id="7" name="flowChartProcess 6"/>
          <p:cNvSpPr/>
          <p:nvPr/>
        </p:nvSpPr>
        <p:spPr>
          <a:xfrm>
            <a:off x="7729012" y="5675376"/>
            <a:ext cx="1975104" cy="987552"/>
          </a:xfrm>
          <a:prstGeom prst="flowChartProces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D) Monetary gifts tied to specific programs returned to original donors</a:t>
            </a:r>
          </a:p>
        </p:txBody>
      </p:sp>
      <p:sp>
        <p:nvSpPr>
          <p:cNvPr id="8" name="flowChartProcess 7"/>
          <p:cNvSpPr/>
          <p:nvPr/>
        </p:nvSpPr>
        <p:spPr>
          <a:xfrm>
            <a:off x="9841687" y="5340096"/>
            <a:ext cx="2255824" cy="1322832"/>
          </a:xfrm>
          <a:prstGeom prst="flowChartProces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F) Remaining monetary assets not used for distributing artistic assets distributed equally among schools where artistic assets reside</a:t>
            </a:r>
          </a:p>
        </p:txBody>
      </p:sp>
      <p:sp>
        <p:nvSpPr>
          <p:cNvPr id="9" name="flowChartProcess 8"/>
          <p:cNvSpPr/>
          <p:nvPr/>
        </p:nvSpPr>
        <p:spPr>
          <a:xfrm>
            <a:off x="5951921" y="5675376"/>
            <a:ext cx="1639520" cy="987552"/>
          </a:xfrm>
          <a:prstGeom prst="flowChartProces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E) Non-monetary assets sold and proceeds enter general fund</a:t>
            </a:r>
          </a:p>
        </p:txBody>
      </p:sp>
      <p:sp>
        <p:nvSpPr>
          <p:cNvPr id="10" name="flowChartProcess 9"/>
          <p:cNvSpPr/>
          <p:nvPr/>
        </p:nvSpPr>
        <p:spPr>
          <a:xfrm>
            <a:off x="1797207" y="5340096"/>
            <a:ext cx="1508760" cy="1322832"/>
          </a:xfrm>
          <a:prstGeom prst="flowChartProces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B) Artistic Assets gifted to non-profit specified by school or non-profit where the asset resides.</a:t>
            </a:r>
          </a:p>
        </p:txBody>
      </p:sp>
      <p:sp>
        <p:nvSpPr>
          <p:cNvPr id="11" name="flowChartDecision 10"/>
          <p:cNvSpPr/>
          <p:nvPr/>
        </p:nvSpPr>
        <p:spPr>
          <a:xfrm>
            <a:off x="7235877" y="1063752"/>
            <a:ext cx="2395728" cy="1014984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Are Assets Monetary?</a:t>
            </a:r>
          </a:p>
        </p:txBody>
      </p:sp>
      <p:sp>
        <p:nvSpPr>
          <p:cNvPr id="12" name="flowChartDecision 11"/>
          <p:cNvSpPr/>
          <p:nvPr/>
        </p:nvSpPr>
        <p:spPr>
          <a:xfrm>
            <a:off x="9037245" y="1876044"/>
            <a:ext cx="2395728" cy="1133856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Was money donated for a specific program?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31605" y="1571244"/>
            <a:ext cx="603504" cy="304800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771681" y="1571244"/>
            <a:ext cx="464196" cy="410413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716565" y="2442972"/>
            <a:ext cx="320681" cy="3232404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0969599" y="2442972"/>
            <a:ext cx="463374" cy="2897124"/>
          </a:xfrm>
          <a:prstGeom prst="bentConnector4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83349" y="626364"/>
            <a:ext cx="850392" cy="437388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898136" y="626364"/>
            <a:ext cx="830124" cy="284988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05256" y="2363724"/>
            <a:ext cx="550128" cy="332689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lowChartDecision 19"/>
          <p:cNvSpPr/>
          <p:nvPr/>
        </p:nvSpPr>
        <p:spPr>
          <a:xfrm>
            <a:off x="2880360" y="2662047"/>
            <a:ext cx="3215640" cy="1471422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/>
              <a:t>School or non-profit specifies alternate non-profit to receive artistic assets?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551588" y="3397758"/>
            <a:ext cx="328773" cy="1942338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628944" y="3397758"/>
            <a:ext cx="1467056" cy="1110234"/>
          </a:xfrm>
          <a:prstGeom prst="bentConnector4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061424" y="2363724"/>
            <a:ext cx="426756" cy="298323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758404" y="1418844"/>
            <a:ext cx="941868" cy="37795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6000" y="1418844"/>
            <a:ext cx="240832" cy="249612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660617" y="321171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72672" y="1278427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92896" y="2165973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80555" y="2155692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No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67829" y="3093720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7885" y="1165362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No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48002" y="347847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58675" y="1123397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Yes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3535" y="2099126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12588" y="3116562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Yes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