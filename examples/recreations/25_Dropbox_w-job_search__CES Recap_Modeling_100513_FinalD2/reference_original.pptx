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8"/>
  </p:notesMasterIdLst>
  <p:handoutMasterIdLst>
    <p:handoutMasterId r:id="rId29"/>
  </p:handoutMasterIdLst>
  <p:sldIdLst>
    <p:sldId id="595" r:id="rId2"/>
    <p:sldId id="594" r:id="rId3"/>
    <p:sldId id="582" r:id="rId4"/>
    <p:sldId id="587" r:id="rId5"/>
    <p:sldId id="588" r:id="rId6"/>
    <p:sldId id="583" r:id="rId7"/>
    <p:sldId id="584" r:id="rId8"/>
    <p:sldId id="564" r:id="rId9"/>
    <p:sldId id="567" r:id="rId10"/>
    <p:sldId id="596" r:id="rId11"/>
    <p:sldId id="552" r:id="rId12"/>
    <p:sldId id="580" r:id="rId13"/>
    <p:sldId id="559" r:id="rId14"/>
    <p:sldId id="570" r:id="rId15"/>
    <p:sldId id="597" r:id="rId16"/>
    <p:sldId id="571" r:id="rId17"/>
    <p:sldId id="572" r:id="rId18"/>
    <p:sldId id="591" r:id="rId19"/>
    <p:sldId id="592" r:id="rId20"/>
    <p:sldId id="593" r:id="rId21"/>
    <p:sldId id="585" r:id="rId22"/>
    <p:sldId id="576" r:id="rId23"/>
    <p:sldId id="586" r:id="rId24"/>
    <p:sldId id="581" r:id="rId25"/>
    <p:sldId id="598" r:id="rId26"/>
    <p:sldId id="590" r:id="rId27"/>
  </p:sldIdLst>
  <p:sldSz cx="9144000" cy="6858000" type="screen4x3"/>
  <p:notesSz cx="7023100" cy="9309100"/>
  <p:defaultTextStyle>
    <a:defPPr>
      <a:defRPr lang="en-GB"/>
    </a:defPPr>
    <a:lvl1pPr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1pPr>
    <a:lvl2pPr marL="4572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2pPr>
    <a:lvl3pPr marL="9144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3pPr>
    <a:lvl4pPr marL="13716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4pPr>
    <a:lvl5pPr marL="1828800" algn="l" defTabSz="457200" rtl="0" fontAlgn="base">
      <a:spcBef>
        <a:spcPct val="0"/>
      </a:spcBef>
      <a:spcAft>
        <a:spcPct val="0"/>
      </a:spcAft>
      <a:buClr>
        <a:srgbClr val="000000"/>
      </a:buClr>
      <a:buSzPct val="100000"/>
      <a:buFont typeface="Arial" charset="0"/>
      <a:defRPr sz="2000" kern="1200">
        <a:solidFill>
          <a:schemeClr val="bg1"/>
        </a:solidFill>
        <a:latin typeface="Arial" charset="0"/>
        <a:ea typeface="+mn-ea"/>
        <a:cs typeface="Lucida Sans Unicode" charset="0"/>
      </a:defRPr>
    </a:lvl5pPr>
    <a:lvl6pPr marL="2286000" algn="l" defTabSz="914400" rtl="0" eaLnBrk="1" latinLnBrk="0" hangingPunct="1">
      <a:defRPr sz="2000" kern="1200">
        <a:solidFill>
          <a:schemeClr val="bg1"/>
        </a:solidFill>
        <a:latin typeface="Arial" charset="0"/>
        <a:ea typeface="+mn-ea"/>
        <a:cs typeface="Lucida Sans Unicode" charset="0"/>
      </a:defRPr>
    </a:lvl6pPr>
    <a:lvl7pPr marL="2743200" algn="l" defTabSz="914400" rtl="0" eaLnBrk="1" latinLnBrk="0" hangingPunct="1">
      <a:defRPr sz="2000" kern="1200">
        <a:solidFill>
          <a:schemeClr val="bg1"/>
        </a:solidFill>
        <a:latin typeface="Arial" charset="0"/>
        <a:ea typeface="+mn-ea"/>
        <a:cs typeface="Lucida Sans Unicode" charset="0"/>
      </a:defRPr>
    </a:lvl7pPr>
    <a:lvl8pPr marL="3200400" algn="l" defTabSz="914400" rtl="0" eaLnBrk="1" latinLnBrk="0" hangingPunct="1">
      <a:defRPr sz="2000" kern="1200">
        <a:solidFill>
          <a:schemeClr val="bg1"/>
        </a:solidFill>
        <a:latin typeface="Arial" charset="0"/>
        <a:ea typeface="+mn-ea"/>
        <a:cs typeface="Lucida Sans Unicode" charset="0"/>
      </a:defRPr>
    </a:lvl8pPr>
    <a:lvl9pPr marL="3657600" algn="l" defTabSz="914400" rtl="0" eaLnBrk="1" latinLnBrk="0" hangingPunct="1">
      <a:defRPr sz="2000" kern="1200">
        <a:solidFill>
          <a:schemeClr val="bg1"/>
        </a:solidFill>
        <a:latin typeface="Arial" charset="0"/>
        <a:ea typeface="+mn-ea"/>
        <a:cs typeface="Lucida Sans Unicode"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FFFF79"/>
    <a:srgbClr val="F7FECE"/>
    <a:srgbClr val="FCFC68"/>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56" autoAdjust="0"/>
    <p:restoredTop sz="74281" autoAdjust="0"/>
  </p:normalViewPr>
  <p:slideViewPr>
    <p:cSldViewPr>
      <p:cViewPr varScale="1">
        <p:scale>
          <a:sx n="93" d="100"/>
          <a:sy n="93" d="100"/>
        </p:scale>
        <p:origin x="-2154" y="-108"/>
      </p:cViewPr>
      <p:guideLst>
        <p:guide orient="horz" pos="2160"/>
        <p:guide pos="2880"/>
      </p:guideLst>
    </p:cSldViewPr>
  </p:slideViewPr>
  <p:outlineViewPr>
    <p:cViewPr varScale="1">
      <p:scale>
        <a:sx n="170" d="200"/>
        <a:sy n="170" d="200"/>
      </p:scale>
      <p:origin x="0" y="2257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9" d="100"/>
          <a:sy n="49" d="100"/>
        </p:scale>
        <p:origin x="-2294" y="-82"/>
      </p:cViewPr>
      <p:guideLst>
        <p:guide orient="horz" pos="2792"/>
        <p:guide pos="207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026" cy="465297"/>
          </a:xfrm>
          <a:prstGeom prst="rect">
            <a:avLst/>
          </a:prstGeom>
        </p:spPr>
        <p:txBody>
          <a:bodyPr vert="horz" lIns="91467" tIns="45734" rIns="91467" bIns="45734" rtlCol="0"/>
          <a:lstStyle>
            <a:lvl1pPr algn="l">
              <a:defRPr sz="1200"/>
            </a:lvl1pPr>
          </a:lstStyle>
          <a:p>
            <a:endParaRPr lang="en-US"/>
          </a:p>
        </p:txBody>
      </p:sp>
      <p:sp>
        <p:nvSpPr>
          <p:cNvPr id="3" name="Date Placeholder 2"/>
          <p:cNvSpPr>
            <a:spLocks noGrp="1"/>
          </p:cNvSpPr>
          <p:nvPr>
            <p:ph type="dt" sz="quarter" idx="1"/>
          </p:nvPr>
        </p:nvSpPr>
        <p:spPr>
          <a:xfrm>
            <a:off x="3978486" y="0"/>
            <a:ext cx="3043026" cy="465297"/>
          </a:xfrm>
          <a:prstGeom prst="rect">
            <a:avLst/>
          </a:prstGeom>
        </p:spPr>
        <p:txBody>
          <a:bodyPr vert="horz" lIns="91467" tIns="45734" rIns="91467" bIns="45734" rtlCol="0"/>
          <a:lstStyle>
            <a:lvl1pPr algn="r">
              <a:defRPr sz="1200"/>
            </a:lvl1pPr>
          </a:lstStyle>
          <a:p>
            <a:fld id="{EE2650E8-05E4-4E7E-B5AC-F81B47EC6D99}" type="datetimeFigureOut">
              <a:rPr lang="en-US" smtClean="0"/>
              <a:pPr/>
              <a:t>5/1/2011</a:t>
            </a:fld>
            <a:endParaRPr lang="en-US"/>
          </a:p>
        </p:txBody>
      </p:sp>
      <p:sp>
        <p:nvSpPr>
          <p:cNvPr id="4" name="Footer Placeholder 3"/>
          <p:cNvSpPr>
            <a:spLocks noGrp="1"/>
          </p:cNvSpPr>
          <p:nvPr>
            <p:ph type="ftr" sz="quarter" idx="2"/>
          </p:nvPr>
        </p:nvSpPr>
        <p:spPr>
          <a:xfrm>
            <a:off x="0" y="8842216"/>
            <a:ext cx="3043026" cy="465297"/>
          </a:xfrm>
          <a:prstGeom prst="rect">
            <a:avLst/>
          </a:prstGeom>
        </p:spPr>
        <p:txBody>
          <a:bodyPr vert="horz" lIns="91467" tIns="45734" rIns="91467" bIns="45734" rtlCol="0" anchor="b"/>
          <a:lstStyle>
            <a:lvl1pPr algn="l">
              <a:defRPr sz="1200"/>
            </a:lvl1pPr>
          </a:lstStyle>
          <a:p>
            <a:endParaRPr lang="en-US"/>
          </a:p>
        </p:txBody>
      </p:sp>
      <p:sp>
        <p:nvSpPr>
          <p:cNvPr id="5" name="Slide Number Placeholder 4"/>
          <p:cNvSpPr>
            <a:spLocks noGrp="1"/>
          </p:cNvSpPr>
          <p:nvPr>
            <p:ph type="sldNum" sz="quarter" idx="3"/>
          </p:nvPr>
        </p:nvSpPr>
        <p:spPr>
          <a:xfrm>
            <a:off x="3978486" y="8842216"/>
            <a:ext cx="3043026" cy="465297"/>
          </a:xfrm>
          <a:prstGeom prst="rect">
            <a:avLst/>
          </a:prstGeom>
        </p:spPr>
        <p:txBody>
          <a:bodyPr vert="horz" lIns="91467" tIns="45734" rIns="91467" bIns="45734" rtlCol="0" anchor="b"/>
          <a:lstStyle>
            <a:lvl1pPr algn="r">
              <a:defRPr sz="1200"/>
            </a:lvl1pPr>
          </a:lstStyle>
          <a:p>
            <a:fld id="{B246B444-12A1-4CB2-B64B-548BBBC8663E}"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1" y="1"/>
            <a:ext cx="7023100" cy="9309100"/>
          </a:xfrm>
          <a:prstGeom prst="roundRect">
            <a:avLst>
              <a:gd name="adj" fmla="val 19"/>
            </a:avLst>
          </a:prstGeom>
          <a:solidFill>
            <a:srgbClr val="FFFFFF"/>
          </a:solidFill>
          <a:ln w="9525">
            <a:noFill/>
            <a:round/>
            <a:headEnd/>
            <a:tailEnd/>
          </a:ln>
          <a:effectLst/>
        </p:spPr>
        <p:txBody>
          <a:bodyPr wrap="none" lIns="88266" tIns="44133" rIns="88266" bIns="44133" anchor="ctr"/>
          <a:lstStyle/>
          <a:p>
            <a:endParaRPr lang="en-US" dirty="0"/>
          </a:p>
        </p:txBody>
      </p:sp>
      <p:sp>
        <p:nvSpPr>
          <p:cNvPr id="2050" name="Text Box 2"/>
          <p:cNvSpPr txBox="1">
            <a:spLocks noChangeArrowheads="1"/>
          </p:cNvSpPr>
          <p:nvPr/>
        </p:nvSpPr>
        <p:spPr bwMode="auto">
          <a:xfrm>
            <a:off x="0" y="0"/>
            <a:ext cx="3043649" cy="464840"/>
          </a:xfrm>
          <a:prstGeom prst="rect">
            <a:avLst/>
          </a:prstGeom>
          <a:noFill/>
          <a:ln w="9525">
            <a:noFill/>
            <a:round/>
            <a:headEnd/>
            <a:tailEnd/>
          </a:ln>
          <a:effectLst/>
        </p:spPr>
        <p:txBody>
          <a:bodyPr wrap="none" lIns="88266" tIns="44133" rIns="88266" bIns="44133" anchor="ctr"/>
          <a:lstStyle/>
          <a:p>
            <a:endParaRPr lang="en-US" dirty="0"/>
          </a:p>
        </p:txBody>
      </p:sp>
      <p:sp>
        <p:nvSpPr>
          <p:cNvPr id="2051" name="Text Box 3"/>
          <p:cNvSpPr txBox="1">
            <a:spLocks noChangeArrowheads="1"/>
          </p:cNvSpPr>
          <p:nvPr/>
        </p:nvSpPr>
        <p:spPr bwMode="auto">
          <a:xfrm>
            <a:off x="3977928" y="0"/>
            <a:ext cx="3043649" cy="464840"/>
          </a:xfrm>
          <a:prstGeom prst="rect">
            <a:avLst/>
          </a:prstGeom>
          <a:noFill/>
          <a:ln w="9525">
            <a:noFill/>
            <a:round/>
            <a:headEnd/>
            <a:tailEnd/>
          </a:ln>
          <a:effectLst/>
        </p:spPr>
        <p:txBody>
          <a:bodyPr wrap="none" lIns="88266" tIns="44133" rIns="88266" bIns="44133" anchor="ctr"/>
          <a:lstStyle/>
          <a:p>
            <a:endParaRPr lang="en-US" dirty="0"/>
          </a:p>
        </p:txBody>
      </p:sp>
      <p:sp>
        <p:nvSpPr>
          <p:cNvPr id="2052" name="Rectangle 4"/>
          <p:cNvSpPr>
            <a:spLocks noGrp="1" noRot="1" noChangeAspect="1" noChangeArrowheads="1"/>
          </p:cNvSpPr>
          <p:nvPr>
            <p:ph type="sldImg"/>
          </p:nvPr>
        </p:nvSpPr>
        <p:spPr bwMode="auto">
          <a:xfrm>
            <a:off x="1184275" y="698500"/>
            <a:ext cx="4652963" cy="3489325"/>
          </a:xfrm>
          <a:prstGeom prst="rect">
            <a:avLst/>
          </a:prstGeom>
          <a:noFill/>
          <a:ln w="9360">
            <a:solidFill>
              <a:srgbClr val="000000"/>
            </a:solidFill>
            <a:miter lim="800000"/>
            <a:headEnd/>
            <a:tailEnd/>
          </a:ln>
          <a:effectLst/>
        </p:spPr>
      </p:sp>
      <p:sp>
        <p:nvSpPr>
          <p:cNvPr id="2053" name="Rectangle 5"/>
          <p:cNvSpPr>
            <a:spLocks noGrp="1" noChangeArrowheads="1"/>
          </p:cNvSpPr>
          <p:nvPr>
            <p:ph type="body"/>
          </p:nvPr>
        </p:nvSpPr>
        <p:spPr bwMode="auto">
          <a:xfrm>
            <a:off x="702616" y="4422131"/>
            <a:ext cx="5616346" cy="4186632"/>
          </a:xfrm>
          <a:prstGeom prst="rect">
            <a:avLst/>
          </a:prstGeom>
          <a:noFill/>
          <a:ln w="9525">
            <a:noFill/>
            <a:round/>
            <a:headEnd/>
            <a:tailEnd/>
          </a:ln>
          <a:effectLst/>
        </p:spPr>
        <p:txBody>
          <a:bodyPr vert="horz" wrap="square" lIns="93479" tIns="46566" rIns="93479" bIns="46566" numCol="1" anchor="t" anchorCtr="0" compatLnSpc="1">
            <a:prstTxWarp prst="textNoShape">
              <a:avLst/>
            </a:prstTxWarp>
          </a:bodyPr>
          <a:lstStyle/>
          <a:p>
            <a:pPr lvl="0"/>
            <a:endParaRPr lang="en-US" smtClean="0"/>
          </a:p>
        </p:txBody>
      </p:sp>
      <p:sp>
        <p:nvSpPr>
          <p:cNvPr id="2054" name="Text Box 6"/>
          <p:cNvSpPr txBox="1">
            <a:spLocks noChangeArrowheads="1"/>
          </p:cNvSpPr>
          <p:nvPr/>
        </p:nvSpPr>
        <p:spPr bwMode="auto">
          <a:xfrm>
            <a:off x="0" y="8842722"/>
            <a:ext cx="3043649" cy="464840"/>
          </a:xfrm>
          <a:prstGeom prst="rect">
            <a:avLst/>
          </a:prstGeom>
          <a:noFill/>
          <a:ln w="9525">
            <a:noFill/>
            <a:round/>
            <a:headEnd/>
            <a:tailEnd/>
          </a:ln>
          <a:effectLst/>
        </p:spPr>
        <p:txBody>
          <a:bodyPr wrap="none" lIns="88266" tIns="44133" rIns="88266" bIns="44133" anchor="ctr"/>
          <a:lstStyle/>
          <a:p>
            <a:endParaRPr lang="en-US" dirty="0"/>
          </a:p>
        </p:txBody>
      </p:sp>
      <p:sp>
        <p:nvSpPr>
          <p:cNvPr id="2055" name="Rectangle 7"/>
          <p:cNvSpPr>
            <a:spLocks noGrp="1" noChangeArrowheads="1"/>
          </p:cNvSpPr>
          <p:nvPr>
            <p:ph type="sldNum"/>
          </p:nvPr>
        </p:nvSpPr>
        <p:spPr bwMode="auto">
          <a:xfrm>
            <a:off x="3977928" y="8842722"/>
            <a:ext cx="3042124" cy="463300"/>
          </a:xfrm>
          <a:prstGeom prst="rect">
            <a:avLst/>
          </a:prstGeom>
          <a:noFill/>
          <a:ln w="9525">
            <a:noFill/>
            <a:round/>
            <a:headEnd/>
            <a:tailEnd/>
          </a:ln>
          <a:effectLst/>
        </p:spPr>
        <p:txBody>
          <a:bodyPr vert="horz" wrap="square" lIns="93479" tIns="46566" rIns="93479" bIns="46566" numCol="1" anchor="b" anchorCtr="0" compatLnSpc="1">
            <a:prstTxWarp prst="textNoShape">
              <a:avLst/>
            </a:prstTxWarp>
          </a:bodyPr>
          <a:lstStyle>
            <a:lvl1pPr algn="r">
              <a:tabLst>
                <a:tab pos="0" algn="l"/>
                <a:tab pos="882661" algn="l"/>
                <a:tab pos="1765321" algn="l"/>
                <a:tab pos="2647982" algn="l"/>
                <a:tab pos="3530643" algn="l"/>
                <a:tab pos="4413304" algn="l"/>
                <a:tab pos="5295964" algn="l"/>
                <a:tab pos="6178625" algn="l"/>
                <a:tab pos="7061286" algn="l"/>
                <a:tab pos="7943946" algn="l"/>
                <a:tab pos="8826607" algn="l"/>
                <a:tab pos="9709268" algn="l"/>
              </a:tabLst>
              <a:defRPr sz="1300">
                <a:solidFill>
                  <a:srgbClr val="000000"/>
                </a:solidFill>
              </a:defRPr>
            </a:lvl1pPr>
          </a:lstStyle>
          <a:p>
            <a:fld id="{90E86409-8C02-4D3A-B09D-8A8663F6C49E}" type="slidenum">
              <a:rPr lang="en-US"/>
              <a:pPr/>
              <a:t>‹#›</a:t>
            </a:fld>
            <a:endParaRPr lang="en-US" dirty="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964ADDD6-BCC2-4521-A1FB-782C53F16B8D}" type="slidenum">
              <a:rPr lang="en-US"/>
              <a:pPr/>
              <a:t>1</a:t>
            </a:fld>
            <a:endParaRPr lang="en-US" dirty="0"/>
          </a:p>
        </p:txBody>
      </p:sp>
      <p:sp>
        <p:nvSpPr>
          <p:cNvPr id="301057" name="Text Box 1"/>
          <p:cNvSpPr txBox="1">
            <a:spLocks noChangeArrowheads="1"/>
          </p:cNvSpPr>
          <p:nvPr/>
        </p:nvSpPr>
        <p:spPr bwMode="auto">
          <a:xfrm>
            <a:off x="3977928" y="8842722"/>
            <a:ext cx="3043649" cy="464840"/>
          </a:xfrm>
          <a:prstGeom prst="rect">
            <a:avLst/>
          </a:prstGeom>
          <a:noFill/>
          <a:ln w="9525">
            <a:noFill/>
            <a:round/>
            <a:headEnd/>
            <a:tailEnd/>
          </a:ln>
          <a:effectLst/>
        </p:spPr>
        <p:txBody>
          <a:bodyPr lIns="93479" tIns="46566" rIns="93479" bIns="46566" anchor="b"/>
          <a:lstStyle/>
          <a:p>
            <a:pPr algn="r">
              <a:tabLst>
                <a:tab pos="0" algn="l"/>
                <a:tab pos="882661" algn="l"/>
                <a:tab pos="1765321" algn="l"/>
                <a:tab pos="2647982" algn="l"/>
                <a:tab pos="3530643" algn="l"/>
                <a:tab pos="4413304" algn="l"/>
                <a:tab pos="5295964" algn="l"/>
                <a:tab pos="6178625" algn="l"/>
                <a:tab pos="7061286" algn="l"/>
                <a:tab pos="7943946" algn="l"/>
                <a:tab pos="8826607" algn="l"/>
                <a:tab pos="9709268" algn="l"/>
              </a:tabLst>
            </a:pPr>
            <a:fld id="{BA99D572-4DD2-4211-8916-078883D17FDB}" type="slidenum">
              <a:rPr lang="en-US" sz="1300">
                <a:solidFill>
                  <a:srgbClr val="000000"/>
                </a:solidFill>
                <a:ea typeface="Lucida Sans Unicode" charset="0"/>
              </a:rPr>
              <a:pPr algn="r">
                <a:tabLst>
                  <a:tab pos="0" algn="l"/>
                  <a:tab pos="882661" algn="l"/>
                  <a:tab pos="1765321" algn="l"/>
                  <a:tab pos="2647982" algn="l"/>
                  <a:tab pos="3530643" algn="l"/>
                  <a:tab pos="4413304" algn="l"/>
                  <a:tab pos="5295964" algn="l"/>
                  <a:tab pos="6178625" algn="l"/>
                  <a:tab pos="7061286" algn="l"/>
                  <a:tab pos="7943946" algn="l"/>
                  <a:tab pos="8826607" algn="l"/>
                  <a:tab pos="9709268" algn="l"/>
                </a:tabLst>
              </a:pPr>
              <a:t>1</a:t>
            </a:fld>
            <a:endParaRPr lang="en-US" sz="1300" dirty="0">
              <a:solidFill>
                <a:srgbClr val="000000"/>
              </a:solidFill>
              <a:ea typeface="Lucida Sans Unicode" charset="0"/>
            </a:endParaRPr>
          </a:p>
        </p:txBody>
      </p:sp>
      <p:sp>
        <p:nvSpPr>
          <p:cNvPr id="301058" name="Text Box 2"/>
          <p:cNvSpPr txBox="1">
            <a:spLocks noChangeArrowheads="1"/>
          </p:cNvSpPr>
          <p:nvPr/>
        </p:nvSpPr>
        <p:spPr bwMode="auto">
          <a:xfrm>
            <a:off x="1208619" y="698798"/>
            <a:ext cx="4608910" cy="3490913"/>
          </a:xfrm>
          <a:prstGeom prst="rect">
            <a:avLst/>
          </a:prstGeom>
          <a:solidFill>
            <a:srgbClr val="FFFFFF"/>
          </a:solidFill>
          <a:ln w="9360">
            <a:solidFill>
              <a:srgbClr val="000000"/>
            </a:solidFill>
            <a:miter lim="800000"/>
            <a:headEnd/>
            <a:tailEnd/>
          </a:ln>
          <a:effectLst/>
        </p:spPr>
        <p:txBody>
          <a:bodyPr wrap="none" lIns="88266" tIns="44133" rIns="88266" bIns="44133" anchor="ctr"/>
          <a:lstStyle/>
          <a:p>
            <a:endParaRPr lang="en-US" dirty="0"/>
          </a:p>
        </p:txBody>
      </p:sp>
      <p:sp>
        <p:nvSpPr>
          <p:cNvPr id="301059" name="Text Box 3"/>
          <p:cNvSpPr txBox="1">
            <a:spLocks noGrp="1" noChangeArrowheads="1"/>
          </p:cNvSpPr>
          <p:nvPr>
            <p:ph type="body"/>
          </p:nvPr>
        </p:nvSpPr>
        <p:spPr bwMode="auto">
          <a:xfrm>
            <a:off x="702616" y="4422132"/>
            <a:ext cx="5617871" cy="4188171"/>
          </a:xfrm>
          <a:prstGeom prst="rect">
            <a:avLst/>
          </a:prstGeom>
          <a:noFill/>
          <a:ln>
            <a:round/>
            <a:headEnd/>
            <a:tailEnd/>
          </a:ln>
        </p:spPr>
        <p:txBody>
          <a:bodyPr lIns="93479" tIns="46566" rIns="93479" bIns="46566"/>
          <a:lstStyle/>
          <a:p>
            <a:pPr eaLnBrk="1" hangingPunct="1">
              <a:lnSpc>
                <a:spcPct val="75000"/>
              </a:lnSpc>
              <a:spcBef>
                <a:spcPts val="290"/>
              </a:spcBef>
              <a:tabLst>
                <a:tab pos="0" algn="l"/>
                <a:tab pos="882661" algn="l"/>
                <a:tab pos="1765321" algn="l"/>
                <a:tab pos="2647982" algn="l"/>
                <a:tab pos="3530643" algn="l"/>
                <a:tab pos="4413304" algn="l"/>
                <a:tab pos="5295964" algn="l"/>
                <a:tab pos="6178625" algn="l"/>
                <a:tab pos="7061286" algn="l"/>
                <a:tab pos="7943946" algn="l"/>
                <a:tab pos="8826607" algn="l"/>
                <a:tab pos="9709268" algn="l"/>
                <a:tab pos="10150598" algn="l"/>
              </a:tabLst>
            </a:pPr>
            <a:r>
              <a:rPr lang="en-GB" sz="800" dirty="0">
                <a:latin typeface="Arial" charset="0"/>
                <a:ea typeface="Lucida Sans Unicode" charset="0"/>
                <a:cs typeface="Lucida Sans Unicode" charset="0"/>
              </a:rPr>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1"/>
          <p:cNvSpPr>
            <a:spLocks noGrp="1" noChangeArrowheads="1"/>
          </p:cNvSpPr>
          <p:nvPr>
            <p:ph type="sldNum"/>
          </p:nvPr>
        </p:nvSpPr>
        <p:spPr>
          <a:ln/>
        </p:spPr>
        <p:txBody>
          <a:bodyPr/>
          <a:lstStyle/>
          <a:p>
            <a:fld id="{B506E6B8-C8E0-4E52-AE4A-8C48A482969B}" type="slidenum">
              <a:rPr lang="en-GB"/>
              <a:pPr/>
              <a:t>2</a:t>
            </a:fld>
            <a:endParaRPr lang="en-GB" dirty="0"/>
          </a:p>
        </p:txBody>
      </p:sp>
      <p:sp>
        <p:nvSpPr>
          <p:cNvPr id="21505" name="Text Box 1"/>
          <p:cNvSpPr txBox="1">
            <a:spLocks noChangeArrowheads="1"/>
          </p:cNvSpPr>
          <p:nvPr/>
        </p:nvSpPr>
        <p:spPr bwMode="auto">
          <a:xfrm>
            <a:off x="1170517" y="698182"/>
            <a:ext cx="4682067" cy="3490913"/>
          </a:xfrm>
          <a:prstGeom prst="rect">
            <a:avLst/>
          </a:prstGeom>
          <a:solidFill>
            <a:srgbClr val="FFFFFF"/>
          </a:solidFill>
          <a:ln w="9360">
            <a:solidFill>
              <a:srgbClr val="000000"/>
            </a:solidFill>
            <a:miter lim="800000"/>
            <a:headEnd/>
            <a:tailEnd/>
          </a:ln>
          <a:effectLst/>
        </p:spPr>
        <p:txBody>
          <a:bodyPr wrap="none" lIns="93296" tIns="46648" rIns="93296" bIns="46648" anchor="ctr"/>
          <a:lstStyle/>
          <a:p>
            <a:endParaRPr lang="en-US" dirty="0"/>
          </a:p>
        </p:txBody>
      </p:sp>
      <p:sp>
        <p:nvSpPr>
          <p:cNvPr id="21506" name="Rectangle 2"/>
          <p:cNvSpPr txBox="1">
            <a:spLocks noGrp="1" noChangeArrowheads="1"/>
          </p:cNvSpPr>
          <p:nvPr>
            <p:ph type="body"/>
          </p:nvPr>
        </p:nvSpPr>
        <p:spPr bwMode="auto">
          <a:xfrm>
            <a:off x="702311" y="4421823"/>
            <a:ext cx="5611977" cy="4182631"/>
          </a:xfrm>
          <a:prstGeom prst="rect">
            <a:avLst/>
          </a:prstGeom>
          <a:noFill/>
          <a:ln>
            <a:round/>
            <a:headEnd/>
            <a:tailEnd/>
          </a:ln>
        </p:spPr>
        <p:txBody>
          <a:bodyPr wrap="none" anchor="ctr"/>
          <a:lstStyle/>
          <a:p>
            <a:r>
              <a:rPr lang="en-US" dirty="0" smtClean="0"/>
              <a:t>Answer question:</a:t>
            </a:r>
            <a:r>
              <a:rPr lang="en-US" baseline="0" dirty="0" smtClean="0"/>
              <a:t> Do electrical cables significantly affect structural dynamics of precision spacecraft?</a:t>
            </a:r>
          </a:p>
          <a:p>
            <a:r>
              <a:rPr lang="en-US" baseline="0" dirty="0" smtClean="0"/>
              <a:t>Status Quo: cable harnesses dynamics unknown and not included in models</a:t>
            </a:r>
          </a:p>
          <a:p>
            <a:r>
              <a:rPr lang="en-US" baseline="0" dirty="0" smtClean="0"/>
              <a:t>Results of this: 1) models overly conservative, 2) isolation system requirements too stringent, 3) control systems have errors and are overly designed.</a:t>
            </a:r>
          </a:p>
          <a:p>
            <a:r>
              <a:rPr lang="en-US" baseline="0" dirty="0" smtClean="0"/>
              <a:t>Motivation: Develop techniques and methodologies to incorporate cable dynamics into models in order to reduce conservatism and program risk.</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Why:</a:t>
            </a:r>
          </a:p>
          <a:p>
            <a:r>
              <a:rPr lang="en-US" dirty="0" smtClean="0"/>
              <a:t>Cables a large part of spacecraft</a:t>
            </a:r>
            <a:r>
              <a:rPr lang="en-US" baseline="0" dirty="0" smtClean="0"/>
              <a:t> mass: up to 25%</a:t>
            </a:r>
          </a:p>
          <a:p>
            <a:r>
              <a:rPr lang="en-US" baseline="0" dirty="0" smtClean="0"/>
              <a:t>Cables not modeled in detail because the need is an emergent one: on-orbit performance of lightweight, precision spacecraft where they play a significant role in the dynamics – a “mid frequency” range problem</a:t>
            </a:r>
          </a:p>
          <a:p>
            <a:r>
              <a:rPr lang="en-US" baseline="0" dirty="0" smtClean="0"/>
              <a:t>Program was directed to finding a solution to a perceived need, not to develop and understanding of the fundamental mechanics of cable behavior.</a:t>
            </a:r>
          </a:p>
          <a:p>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Significance:</a:t>
            </a:r>
          </a:p>
          <a:p>
            <a:r>
              <a:rPr lang="en-US" dirty="0" smtClean="0"/>
              <a:t>Cables can significantly</a:t>
            </a:r>
            <a:r>
              <a:rPr lang="en-US" baseline="0" dirty="0" smtClean="0"/>
              <a:t> </a:t>
            </a:r>
            <a:r>
              <a:rPr lang="en-US" baseline="0" dirty="0" err="1" smtClean="0"/>
              <a:t>influece</a:t>
            </a:r>
            <a:r>
              <a:rPr lang="en-US" baseline="0" dirty="0" smtClean="0"/>
              <a:t> structural dynamics of a system</a:t>
            </a:r>
          </a:p>
          <a:p>
            <a:r>
              <a:rPr lang="en-US" baseline="0" dirty="0" smtClean="0"/>
              <a:t>Model errors currently determined late in the program (after the structure is built).  Worst time to figure this out.  Time and money may have been spent fighting a non-existent problem (mode is now damped).  Controller may need to be re-tuned when on station.</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Focus</a:t>
            </a:r>
            <a:r>
              <a:rPr lang="en-US" baseline="0" dirty="0" smtClean="0"/>
              <a:t> limited to</a:t>
            </a:r>
          </a:p>
          <a:p>
            <a:r>
              <a:rPr lang="en-US" baseline="0" dirty="0" smtClean="0"/>
              <a:t>-small to moderate count twisted pair cable bundles</a:t>
            </a:r>
          </a:p>
          <a:p>
            <a:r>
              <a:rPr lang="en-US" baseline="0" dirty="0" smtClean="0"/>
              <a:t>   -no bends or connectors </a:t>
            </a:r>
          </a:p>
          <a:p>
            <a:r>
              <a:rPr lang="en-US" baseline="0" dirty="0" smtClean="0"/>
              <a:t>-low level vibration problem (on-orbit excitation), not launch conditions</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Cable models implemented with standard FE tools (NASTRAN in particular used for program)</a:t>
            </a:r>
          </a:p>
          <a:p>
            <a:pPr>
              <a:buFontTx/>
              <a:buChar char="-"/>
            </a:pPr>
            <a:r>
              <a:rPr lang="en-US" dirty="0" smtClean="0"/>
              <a:t>Linear</a:t>
            </a:r>
            <a:r>
              <a:rPr lang="en-US" baseline="0" dirty="0" smtClean="0"/>
              <a:t> beam elements used with generalized formulation and independent beam properties</a:t>
            </a:r>
          </a:p>
          <a:p>
            <a:pPr>
              <a:buFontTx/>
              <a:buChar char="-"/>
            </a:pPr>
            <a:r>
              <a:rPr lang="en-US" baseline="0" dirty="0" smtClean="0"/>
              <a:t>Simple rigid and linear spring elements used for cable-to-structure attachment</a:t>
            </a:r>
          </a:p>
          <a:p>
            <a:pPr>
              <a:buFontTx/>
              <a:buChar char="-"/>
            </a:pPr>
            <a:r>
              <a:rPr lang="en-US" baseline="0" dirty="0" smtClean="0"/>
              <a:t>Validation experiments used to verify experimentally determined parameters.</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did not study</a:t>
            </a:r>
          </a:p>
          <a:p>
            <a:pPr marL="228600" indent="-228600">
              <a:buAutoNum type="arabicParenR"/>
            </a:pPr>
            <a:r>
              <a:rPr lang="en-US" dirty="0" smtClean="0"/>
              <a:t>Large cables</a:t>
            </a:r>
          </a:p>
          <a:p>
            <a:pPr marL="228600" indent="-228600">
              <a:buAutoNum type="arabicParenR"/>
            </a:pPr>
            <a:r>
              <a:rPr lang="en-US" dirty="0" smtClean="0"/>
              <a:t>Nonlinear cable models</a:t>
            </a:r>
          </a:p>
          <a:p>
            <a:pPr marL="228600" indent="-228600">
              <a:buAutoNum type="arabicParenR"/>
            </a:pPr>
            <a:r>
              <a:rPr lang="en-US" dirty="0" smtClean="0"/>
              <a:t>Detailed cable mechanics (a bit of a holy</a:t>
            </a:r>
            <a:r>
              <a:rPr lang="en-US" baseline="0" dirty="0" smtClean="0"/>
              <a:t> grail to avoid the testing phase for cable property derivation)</a:t>
            </a:r>
          </a:p>
          <a:p>
            <a:pPr marL="228600" indent="-228600">
              <a:buAutoNum type="arabicParenR"/>
            </a:pPr>
            <a:r>
              <a:rPr lang="en-US" baseline="0" dirty="0" smtClean="0"/>
              <a:t>Localized cable tie-down behavior.</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Cables</a:t>
            </a:r>
            <a:r>
              <a:rPr lang="en-US" baseline="0" dirty="0" smtClean="0"/>
              <a:t> constructed of </a:t>
            </a:r>
          </a:p>
          <a:p>
            <a:pPr marL="228600" indent="-228600">
              <a:buAutoNum type="arabicParenR"/>
            </a:pPr>
            <a:r>
              <a:rPr lang="en-US" baseline="0" dirty="0" smtClean="0"/>
              <a:t>Silver coated copper wires with </a:t>
            </a:r>
            <a:r>
              <a:rPr lang="en-US" baseline="0" dirty="0" err="1" smtClean="0"/>
              <a:t>teflon</a:t>
            </a:r>
            <a:r>
              <a:rPr lang="en-US" baseline="0" dirty="0" smtClean="0"/>
              <a:t> insulation</a:t>
            </a:r>
          </a:p>
          <a:p>
            <a:pPr marL="228600" indent="-228600">
              <a:buAutoNum type="arabicParenR"/>
            </a:pPr>
            <a:r>
              <a:rPr lang="en-US" baseline="0" dirty="0" err="1" smtClean="0"/>
              <a:t>Twised</a:t>
            </a:r>
            <a:r>
              <a:rPr lang="en-US" baseline="0" dirty="0" smtClean="0"/>
              <a:t> in pairs</a:t>
            </a:r>
          </a:p>
          <a:p>
            <a:pPr marL="228600" indent="-228600">
              <a:buAutoNum type="arabicParenR"/>
            </a:pPr>
            <a:r>
              <a:rPr lang="en-US" baseline="0" dirty="0" smtClean="0"/>
              <a:t>Loosely stitched together to hold them while</a:t>
            </a:r>
          </a:p>
          <a:p>
            <a:pPr marL="228600" indent="-228600">
              <a:buAutoNum type="arabicParenR"/>
            </a:pPr>
            <a:r>
              <a:rPr lang="en-US" baseline="0" dirty="0" smtClean="0"/>
              <a:t>Wrapping in </a:t>
            </a:r>
            <a:r>
              <a:rPr lang="en-US" baseline="0" dirty="0" err="1" smtClean="0"/>
              <a:t>Kapton</a:t>
            </a:r>
            <a:r>
              <a:rPr lang="en-US" baseline="0" dirty="0" smtClean="0"/>
              <a:t> tape</a:t>
            </a:r>
          </a:p>
          <a:p>
            <a:pPr marL="228600" indent="-228600">
              <a:buNone/>
            </a:pPr>
            <a:r>
              <a:rPr lang="en-US" baseline="0" dirty="0" smtClean="0"/>
              <a:t>Commonly used cable type from industry survey.</a:t>
            </a:r>
          </a:p>
          <a:p>
            <a:pPr marL="228600" indent="-228600">
              <a:buNone/>
            </a:pPr>
            <a:r>
              <a:rPr lang="en-US" baseline="0" dirty="0" smtClean="0"/>
              <a:t>Overview of results</a:t>
            </a:r>
          </a:p>
          <a:p>
            <a:pPr marL="228600" indent="-228600">
              <a:buNone/>
            </a:pPr>
            <a:r>
              <a:rPr lang="en-US" baseline="0" dirty="0" smtClean="0"/>
              <a:t>Cables can influence structural dynamics</a:t>
            </a:r>
          </a:p>
          <a:p>
            <a:pPr marL="228600" indent="-228600">
              <a:buNone/>
            </a:pPr>
            <a:r>
              <a:rPr lang="en-US" baseline="0" dirty="0" smtClean="0"/>
              <a:t>Below resonance, no dynamic effects, just slight shifting due to mass and static stiffness</a:t>
            </a:r>
          </a:p>
          <a:p>
            <a:pPr marL="228600" indent="-228600">
              <a:buNone/>
            </a:pPr>
            <a:r>
              <a:rPr lang="en-US" baseline="0" dirty="0" smtClean="0"/>
              <a:t>Above cable resonance, significant damping added to modes.  TMD effect may be seen depending on “tuning” of cable mode to structural modes.</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Cable attached with a mounting</a:t>
            </a:r>
            <a:r>
              <a:rPr lang="en-US" baseline="0" dirty="0" smtClean="0"/>
              <a:t> pad (e.g., </a:t>
            </a:r>
            <a:r>
              <a:rPr lang="en-US" baseline="0" dirty="0" err="1" smtClean="0"/>
              <a:t>Clickbond</a:t>
            </a:r>
            <a:r>
              <a:rPr lang="en-US" baseline="0" dirty="0" smtClean="0"/>
              <a:t> or TC105) and lacing cord or zip tie</a:t>
            </a:r>
            <a:endParaRPr lang="en-US" dirty="0" smtClean="0"/>
          </a:p>
          <a:p>
            <a:r>
              <a:rPr lang="en-US" dirty="0" smtClean="0"/>
              <a:t>Need to know both E and G</a:t>
            </a:r>
          </a:p>
          <a:p>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How to go from cable</a:t>
            </a:r>
            <a:r>
              <a:rPr lang="en-US" baseline="0" dirty="0" smtClean="0"/>
              <a:t> structure to FE model</a:t>
            </a:r>
          </a:p>
          <a:p>
            <a:r>
              <a:rPr lang="en-US" baseline="0" dirty="0" smtClean="0"/>
              <a:t>Cable modeled as Shear beam elements (Timoshenko beam neglecting rotational inertia)</a:t>
            </a:r>
          </a:p>
          <a:p>
            <a:r>
              <a:rPr lang="en-US" baseline="0" dirty="0" smtClean="0"/>
              <a:t>Get basic info like cable mass and copper area from wire handbook and direct measurement</a:t>
            </a:r>
          </a:p>
          <a:p>
            <a:r>
              <a:rPr lang="en-US" baseline="0" dirty="0" smtClean="0"/>
              <a:t>That feeds into axial tests from which extensional modulus is determined</a:t>
            </a:r>
            <a:endParaRPr lang="en-US" baseline="0" dirty="0"/>
          </a:p>
          <a:p>
            <a:r>
              <a:rPr lang="en-US" baseline="0" dirty="0" smtClean="0"/>
              <a:t>All that feeds into lateral tests from which damping, effective moment of inertia and shear modulus are determined</a:t>
            </a:r>
          </a:p>
          <a:p>
            <a:pPr marL="0" marR="0" indent="0" algn="l" defTabSz="457200"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lang="en-US" baseline="0" dirty="0" smtClean="0"/>
              <a:t>Mounting pad and zip tie modeled as rigid element and coincident node spring element</a:t>
            </a:r>
          </a:p>
          <a:p>
            <a:r>
              <a:rPr lang="en-US" baseline="0" dirty="0" err="1" smtClean="0"/>
              <a:t>Stiffnesses</a:t>
            </a:r>
            <a:r>
              <a:rPr lang="en-US" baseline="0" dirty="0" smtClean="0"/>
              <a:t> determined from direct measurement dynamic experiments or rod-on-beam tests</a:t>
            </a:r>
          </a:p>
          <a:p>
            <a:endParaRPr lang="en-US" baseline="0" dirty="0" smtClean="0"/>
          </a:p>
          <a:p>
            <a:r>
              <a:rPr lang="en-US" baseline="0" dirty="0" smtClean="0"/>
              <a:t>Alternate Slide Description</a:t>
            </a:r>
          </a:p>
          <a:p>
            <a:r>
              <a:rPr lang="en-US" baseline="0" dirty="0" smtClean="0"/>
              <a:t>Cables modeled as linear shear beam elements</a:t>
            </a:r>
          </a:p>
          <a:p>
            <a:r>
              <a:rPr lang="en-US" baseline="0" dirty="0" smtClean="0"/>
              <a:t>Properties determined from a combination of handbook and experiments</a:t>
            </a:r>
          </a:p>
          <a:p>
            <a:r>
              <a:rPr lang="en-US" baseline="0" dirty="0" smtClean="0"/>
              <a:t>Tie-down and zip ties modeled with a rigid element and coincident spring elements</a:t>
            </a:r>
          </a:p>
          <a:p>
            <a:r>
              <a:rPr lang="en-US" baseline="0" dirty="0" smtClean="0"/>
              <a:t>Properties determined from 1 of 2 dynamic experiments</a:t>
            </a:r>
          </a:p>
          <a:p>
            <a:endParaRPr lang="en-US" baseline="0" dirty="0" smtClean="0"/>
          </a:p>
        </p:txBody>
      </p:sp>
      <p:sp>
        <p:nvSpPr>
          <p:cNvPr id="4" name="Slide Number Placeholder 3"/>
          <p:cNvSpPr>
            <a:spLocks noGrp="1"/>
          </p:cNvSpPr>
          <p:nvPr>
            <p:ph type="sldNum" idx="10"/>
          </p:nvPr>
        </p:nvSpPr>
        <p:spPr/>
        <p:txBody>
          <a:bodyPr/>
          <a:lstStyle/>
          <a:p>
            <a:fld id="{90E86409-8C02-4D3A-B09D-8A8663F6C49E}"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1"/>
          <p:cNvSpPr>
            <a:spLocks noGrp="1" noChangeArrowheads="1"/>
          </p:cNvSpPr>
          <p:nvPr>
            <p:ph type="sldNum"/>
          </p:nvPr>
        </p:nvSpPr>
        <p:spPr>
          <a:ln/>
        </p:spPr>
        <p:txBody>
          <a:bodyPr/>
          <a:lstStyle/>
          <a:p>
            <a:fld id="{4EE7CE94-B0D9-446E-B8D2-075D106CFBA0}" type="slidenum">
              <a:rPr lang="en-GB"/>
              <a:pPr/>
              <a:t>11</a:t>
            </a:fld>
            <a:endParaRPr lang="en-GB"/>
          </a:p>
        </p:txBody>
      </p:sp>
      <p:sp>
        <p:nvSpPr>
          <p:cNvPr id="23553" name="Text Box 1"/>
          <p:cNvSpPr txBox="1">
            <a:spLocks noChangeArrowheads="1"/>
          </p:cNvSpPr>
          <p:nvPr/>
        </p:nvSpPr>
        <p:spPr bwMode="auto">
          <a:xfrm>
            <a:off x="1170519" y="698183"/>
            <a:ext cx="4680441" cy="3489297"/>
          </a:xfrm>
          <a:prstGeom prst="rect">
            <a:avLst/>
          </a:prstGeom>
          <a:solidFill>
            <a:srgbClr val="FFFFFF"/>
          </a:solidFill>
          <a:ln w="9360">
            <a:solidFill>
              <a:srgbClr val="000000"/>
            </a:solidFill>
            <a:miter lim="800000"/>
            <a:headEnd/>
            <a:tailEnd/>
          </a:ln>
          <a:effectLst/>
        </p:spPr>
        <p:txBody>
          <a:bodyPr wrap="none" lIns="93306" tIns="46653" rIns="93306" bIns="46653" anchor="ctr"/>
          <a:lstStyle/>
          <a:p>
            <a:endParaRPr lang="en-US"/>
          </a:p>
        </p:txBody>
      </p:sp>
      <p:sp>
        <p:nvSpPr>
          <p:cNvPr id="23554" name="Rectangle 2"/>
          <p:cNvSpPr txBox="1">
            <a:spLocks noGrp="1" noChangeArrowheads="1"/>
          </p:cNvSpPr>
          <p:nvPr>
            <p:ph type="body"/>
          </p:nvPr>
        </p:nvSpPr>
        <p:spPr bwMode="auto">
          <a:xfrm>
            <a:off x="702311" y="4421823"/>
            <a:ext cx="5611977" cy="4182631"/>
          </a:xfrm>
          <a:prstGeom prst="rect">
            <a:avLst/>
          </a:prstGeom>
          <a:noFill/>
          <a:ln>
            <a:round/>
            <a:headEnd/>
            <a:tailEnd/>
          </a:ln>
        </p:spPr>
        <p:txBody>
          <a:bodyPr wrap="none" anchor="ctr"/>
          <a:lstStyle/>
          <a:p>
            <a:r>
              <a:rPr lang="en-US" dirty="0" smtClean="0"/>
              <a:t>How were the cable properties</a:t>
            </a:r>
            <a:r>
              <a:rPr lang="en-US" baseline="0" dirty="0" smtClean="0"/>
              <a:t> extracted?</a:t>
            </a:r>
          </a:p>
          <a:p>
            <a:pPr marL="228600" indent="-228600">
              <a:buAutoNum type="arabicParenR"/>
            </a:pPr>
            <a:r>
              <a:rPr lang="en-US" baseline="0" dirty="0" smtClean="0"/>
              <a:t>Need to determine the appropriate model (BE, Timoshenko, Rayleigh, Shear beam)</a:t>
            </a:r>
          </a:p>
          <a:p>
            <a:pPr marL="228600" indent="-228600">
              <a:buAutoNum type="arabicParenR"/>
            </a:pPr>
            <a:r>
              <a:rPr lang="en-US" baseline="0" dirty="0" smtClean="0"/>
              <a:t>Extensional modulus derived through static tension test</a:t>
            </a:r>
          </a:p>
          <a:p>
            <a:pPr marL="228600" indent="-228600">
              <a:buAutoNum type="arabicParenR"/>
            </a:pPr>
            <a:r>
              <a:rPr lang="en-US" baseline="0" dirty="0" smtClean="0"/>
              <a:t>Shear modulus, damping, moment of inertia through lateral dynamic test using driving point FRFs</a:t>
            </a:r>
          </a:p>
          <a:p>
            <a:pPr marL="228600" indent="-228600">
              <a:buNone/>
            </a:pPr>
            <a:r>
              <a:rPr lang="en-US" baseline="0" dirty="0" smtClean="0"/>
              <a:t>           Easy type dynamic test, if testing a noodle is ever easy.</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r>
              <a:rPr lang="en-US" dirty="0" smtClean="0"/>
              <a:t>Both shear and BE modal</a:t>
            </a:r>
            <a:r>
              <a:rPr lang="en-US" baseline="0" dirty="0" smtClean="0"/>
              <a:t> progression is </a:t>
            </a:r>
            <a:r>
              <a:rPr lang="en-US" dirty="0" smtClean="0"/>
              <a:t>quadratic, but the BE coefficient is incorrect.</a:t>
            </a:r>
          </a:p>
          <a:p>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11"/>
          <p:cNvSpPr>
            <a:spLocks noGrp="1" noChangeArrowheads="1"/>
          </p:cNvSpPr>
          <p:nvPr>
            <p:ph type="sldNum"/>
          </p:nvPr>
        </p:nvSpPr>
        <p:spPr>
          <a:ln/>
        </p:spPr>
        <p:txBody>
          <a:bodyPr/>
          <a:lstStyle/>
          <a:p>
            <a:fld id="{BCAA2A10-38DB-474C-AE53-F01ECCC4F6F8}" type="slidenum">
              <a:rPr lang="en-GB"/>
              <a:pPr/>
              <a:t>13</a:t>
            </a:fld>
            <a:endParaRPr lang="en-GB"/>
          </a:p>
        </p:txBody>
      </p:sp>
      <p:sp>
        <p:nvSpPr>
          <p:cNvPr id="30721" name="Text Box 1"/>
          <p:cNvSpPr txBox="1">
            <a:spLocks noChangeArrowheads="1"/>
          </p:cNvSpPr>
          <p:nvPr/>
        </p:nvSpPr>
        <p:spPr bwMode="auto">
          <a:xfrm>
            <a:off x="1170518" y="698184"/>
            <a:ext cx="4678815" cy="3487680"/>
          </a:xfrm>
          <a:prstGeom prst="rect">
            <a:avLst/>
          </a:prstGeom>
          <a:solidFill>
            <a:srgbClr val="FFFFFF"/>
          </a:solidFill>
          <a:ln w="9360">
            <a:solidFill>
              <a:srgbClr val="000000"/>
            </a:solidFill>
            <a:miter lim="800000"/>
            <a:headEnd/>
            <a:tailEnd/>
          </a:ln>
          <a:effectLst/>
        </p:spPr>
        <p:txBody>
          <a:bodyPr wrap="none" lIns="93306" tIns="46653" rIns="93306" bIns="46653" anchor="ctr"/>
          <a:lstStyle/>
          <a:p>
            <a:endParaRPr lang="en-US"/>
          </a:p>
        </p:txBody>
      </p:sp>
      <p:sp>
        <p:nvSpPr>
          <p:cNvPr id="30722" name="Rectangle 2"/>
          <p:cNvSpPr txBox="1">
            <a:spLocks noGrp="1" noChangeArrowheads="1"/>
          </p:cNvSpPr>
          <p:nvPr>
            <p:ph type="body"/>
          </p:nvPr>
        </p:nvSpPr>
        <p:spPr bwMode="auto">
          <a:xfrm>
            <a:off x="702311" y="4421823"/>
            <a:ext cx="5611977" cy="4182631"/>
          </a:xfrm>
          <a:prstGeom prst="rect">
            <a:avLst/>
          </a:prstGeom>
          <a:noFill/>
          <a:ln>
            <a:round/>
            <a:headEnd/>
            <a:tailEnd/>
          </a:ln>
        </p:spPr>
        <p:txBody>
          <a:bodyPr wrap="none" anchor="ctr"/>
          <a:lstStyle/>
          <a:p>
            <a:r>
              <a:rPr lang="en-US" dirty="0" smtClean="0"/>
              <a:t>Taking</a:t>
            </a:r>
            <a:r>
              <a:rPr lang="en-US" baseline="0" dirty="0" smtClean="0"/>
              <a:t> lateral test data from the previous slide…</a:t>
            </a:r>
          </a:p>
          <a:p>
            <a:r>
              <a:rPr lang="en-US" baseline="0" dirty="0" smtClean="0"/>
              <a:t>Modal parameters </a:t>
            </a:r>
            <a:r>
              <a:rPr lang="en-US" baseline="0" dirty="0" err="1" smtClean="0"/>
              <a:t>Ieff</a:t>
            </a:r>
            <a:r>
              <a:rPr lang="en-US" baseline="0" dirty="0" smtClean="0"/>
              <a:t>, </a:t>
            </a:r>
            <a:r>
              <a:rPr lang="en-US" baseline="0" dirty="0" err="1" smtClean="0"/>
              <a:t>kG</a:t>
            </a:r>
            <a:r>
              <a:rPr lang="en-US" baseline="0" dirty="0" smtClean="0"/>
              <a:t> and damping are extracted</a:t>
            </a:r>
          </a:p>
          <a:p>
            <a:r>
              <a:rPr lang="en-US" baseline="0" dirty="0" smtClean="0"/>
              <a:t>Numerous cables of a given size tested to compile statistically significant family for averaging</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Estimating tie down stiffness</a:t>
            </a:r>
          </a:p>
          <a:p>
            <a:r>
              <a:rPr lang="en-US" dirty="0" smtClean="0"/>
              <a:t>Two</a:t>
            </a:r>
            <a:r>
              <a:rPr lang="en-US" baseline="0" dirty="0" smtClean="0"/>
              <a:t> test methods developed.</a:t>
            </a:r>
          </a:p>
          <a:p>
            <a:r>
              <a:rPr lang="en-US" baseline="0" dirty="0" smtClean="0"/>
              <a:t>Rod-on-beam eliminates cable property uncertainty</a:t>
            </a:r>
          </a:p>
          <a:p>
            <a:r>
              <a:rPr lang="en-US" baseline="0" dirty="0" smtClean="0"/>
              <a:t>Direct </a:t>
            </a:r>
            <a:r>
              <a:rPr lang="en-US" baseline="0" dirty="0" err="1" smtClean="0"/>
              <a:t>emasurement</a:t>
            </a:r>
            <a:r>
              <a:rPr lang="en-US" baseline="0" dirty="0" smtClean="0"/>
              <a:t> of stubby (stiff) cable in-situ on rigid base</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69DFB922-50B9-47EE-9817-D8B54ACDD6E4}" type="slidenum">
              <a:rPr lang="en-US"/>
              <a:pPr/>
              <a:t>15</a:t>
            </a:fld>
            <a:endParaRPr lang="en-US"/>
          </a:p>
        </p:txBody>
      </p:sp>
      <p:sp>
        <p:nvSpPr>
          <p:cNvPr id="444417" name="Rectangle 1"/>
          <p:cNvSpPr txBox="1">
            <a:spLocks noGrp="1" noRot="1" noChangeAspect="1" noChangeArrowheads="1"/>
          </p:cNvSpPr>
          <p:nvPr>
            <p:ph type="sldImg"/>
          </p:nvPr>
        </p:nvSpPr>
        <p:spPr bwMode="auto">
          <a:xfrm>
            <a:off x="1184275" y="698500"/>
            <a:ext cx="4654550" cy="3490913"/>
          </a:xfrm>
          <a:prstGeom prst="rect">
            <a:avLst/>
          </a:prstGeom>
          <a:solidFill>
            <a:srgbClr val="FFFFFF"/>
          </a:solidFill>
          <a:ln>
            <a:solidFill>
              <a:srgbClr val="000000"/>
            </a:solidFill>
            <a:miter lim="800000"/>
            <a:headEnd/>
            <a:tailEnd/>
          </a:ln>
        </p:spPr>
      </p:sp>
      <p:sp>
        <p:nvSpPr>
          <p:cNvPr id="444418" name="Rectangle 2"/>
          <p:cNvSpPr txBox="1">
            <a:spLocks noGrp="1" noChangeArrowheads="1"/>
          </p:cNvSpPr>
          <p:nvPr>
            <p:ph type="body" idx="1"/>
          </p:nvPr>
        </p:nvSpPr>
        <p:spPr bwMode="auto">
          <a:xfrm>
            <a:off x="702616" y="4422132"/>
            <a:ext cx="5617871" cy="4188171"/>
          </a:xfrm>
          <a:prstGeom prst="rect">
            <a:avLst/>
          </a:prstGeom>
          <a:noFill/>
          <a:ln>
            <a:round/>
            <a:headEnd/>
            <a:tailEnd/>
          </a:ln>
        </p:spPr>
        <p:txBody>
          <a:bodyPr wrap="none" anchor="ctr"/>
          <a:lstStyle/>
          <a:p>
            <a:r>
              <a:rPr lang="en-US" dirty="0" smtClean="0"/>
              <a:t>Found that</a:t>
            </a:r>
          </a:p>
          <a:p>
            <a:pPr marL="228600" indent="-228600">
              <a:buAutoNum type="arabicParenR"/>
            </a:pPr>
            <a:r>
              <a:rPr lang="en-US" dirty="0" smtClean="0"/>
              <a:t>tie-down parameters do play important role in cable/structure</a:t>
            </a:r>
            <a:r>
              <a:rPr lang="en-US" baseline="0" dirty="0" smtClean="0"/>
              <a:t> interaction</a:t>
            </a:r>
          </a:p>
          <a:p>
            <a:pPr marL="228600" indent="-228600">
              <a:buAutoNum type="arabicParenR"/>
            </a:pPr>
            <a:r>
              <a:rPr lang="en-US" baseline="0" dirty="0" smtClean="0"/>
              <a:t>Offset was more important for stiff cables than </a:t>
            </a:r>
            <a:r>
              <a:rPr lang="en-US" baseline="0" dirty="0" err="1" smtClean="0"/>
              <a:t>complian</a:t>
            </a:r>
            <a:r>
              <a:rPr lang="en-US" baseline="0" dirty="0" smtClean="0"/>
              <a:t> ones</a:t>
            </a:r>
          </a:p>
          <a:p>
            <a:pPr marL="228600" indent="-228600">
              <a:buAutoNum type="arabicParenR"/>
            </a:pPr>
            <a:r>
              <a:rPr lang="en-US" baseline="0" dirty="0" smtClean="0"/>
              <a:t>Rod-on-beam based stiffness values worked better in cable on structure models</a:t>
            </a:r>
          </a:p>
          <a:p>
            <a:pPr marL="228600" indent="-228600">
              <a:buAutoNum type="arabicParenR"/>
            </a:pPr>
            <a:r>
              <a:rPr lang="en-US" baseline="0" dirty="0" smtClean="0"/>
              <a:t>Both performed better than simple pinned-pinned connection.</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Two</a:t>
            </a:r>
            <a:r>
              <a:rPr lang="en-US" baseline="0" dirty="0" smtClean="0"/>
              <a:t> different types of cable effects</a:t>
            </a:r>
          </a:p>
          <a:p>
            <a:r>
              <a:rPr lang="en-US" baseline="0" dirty="0" smtClean="0"/>
              <a:t>Low frequency, before the cables become resonant = small mass and stiffness effects, nearly negligible</a:t>
            </a:r>
          </a:p>
          <a:p>
            <a:r>
              <a:rPr lang="en-US" baseline="0" dirty="0" smtClean="0"/>
              <a:t>After cables become resonant, they begin interacting with structure</a:t>
            </a:r>
          </a:p>
          <a:p>
            <a:endParaRPr lang="en-US" baseline="0" dirty="0" smtClean="0"/>
          </a:p>
          <a:p>
            <a:r>
              <a:rPr lang="en-US" baseline="0" dirty="0" smtClean="0"/>
              <a:t>Two FRFs from cable models shown on plot.  The magenta = very close agreement, properties derived from cable that was tested</a:t>
            </a:r>
          </a:p>
          <a:p>
            <a:r>
              <a:rPr lang="en-US" baseline="0" dirty="0" smtClean="0"/>
              <a:t>black dashed line, properties derived by average cables of the same size.  It captures overall effect, but has considerable error compared to cable specific model.</a:t>
            </a:r>
          </a:p>
          <a:p>
            <a:endParaRPr lang="en-US" baseline="0" dirty="0" smtClean="0"/>
          </a:p>
        </p:txBody>
      </p:sp>
      <p:sp>
        <p:nvSpPr>
          <p:cNvPr id="4" name="Slide Number Placeholder 3"/>
          <p:cNvSpPr>
            <a:spLocks noGrp="1"/>
          </p:cNvSpPr>
          <p:nvPr>
            <p:ph type="sldNum" idx="10"/>
          </p:nvPr>
        </p:nvSpPr>
        <p:spPr/>
        <p:txBody>
          <a:bodyPr/>
          <a:lstStyle/>
          <a:p>
            <a:fld id="{90E86409-8C02-4D3A-B09D-8A8663F6C49E}"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Cabled</a:t>
            </a:r>
            <a:r>
              <a:rPr lang="en-US" baseline="0" dirty="0" smtClean="0"/>
              <a:t> Panel testing extended the 1-D beam testing to a 2-D structure</a:t>
            </a:r>
            <a:endParaRPr lang="en-US" baseline="0" dirty="0"/>
          </a:p>
          <a:p>
            <a:r>
              <a:rPr lang="en-US" baseline="0" dirty="0" smtClean="0"/>
              <a:t>Electronics boxes were attached to make it more like a spacecraft panel</a:t>
            </a:r>
          </a:p>
          <a:p>
            <a:r>
              <a:rPr lang="en-US" baseline="0" dirty="0" smtClean="0"/>
              <a:t>This was a validation test, and results were not used to refine cable or attachment parameters</a:t>
            </a:r>
          </a:p>
          <a:p>
            <a:r>
              <a:rPr lang="en-US" baseline="0" dirty="0" smtClean="0"/>
              <a:t>Of note, cable mass ratios tested were between 3 and 6%, very much on the low end of what one would expect on an actual spacecraft panel.</a:t>
            </a:r>
          </a:p>
        </p:txBody>
      </p:sp>
      <p:sp>
        <p:nvSpPr>
          <p:cNvPr id="4" name="Slide Number Placeholder 3"/>
          <p:cNvSpPr>
            <a:spLocks noGrp="1"/>
          </p:cNvSpPr>
          <p:nvPr>
            <p:ph type="sldNum" idx="10"/>
          </p:nvPr>
        </p:nvSpPr>
        <p:spPr/>
        <p:txBody>
          <a:bodyPr/>
          <a:lstStyle/>
          <a:p>
            <a:fld id="{90E86409-8C02-4D3A-B09D-8A8663F6C49E}"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Here</a:t>
            </a:r>
            <a:r>
              <a:rPr lang="en-US" baseline="0" dirty="0" smtClean="0"/>
              <a:t> are FRFs </a:t>
            </a:r>
            <a:r>
              <a:rPr lang="en-US" dirty="0" smtClean="0"/>
              <a:t>from the 3 types of cables tested on the panel.</a:t>
            </a:r>
          </a:p>
          <a:p>
            <a:r>
              <a:rPr lang="en-US" dirty="0" smtClean="0"/>
              <a:t>Various</a:t>
            </a:r>
            <a:r>
              <a:rPr lang="en-US" baseline="0" dirty="0" smtClean="0"/>
              <a:t> cable spans become resonant over this frequency range (75-175 Hz)</a:t>
            </a:r>
          </a:p>
          <a:p>
            <a:r>
              <a:rPr lang="en-US" baseline="0" dirty="0" smtClean="0"/>
              <a:t>Below 75-100 Hz, no damping seed from cables.  Lumped mass models are sufficient.</a:t>
            </a:r>
          </a:p>
          <a:p>
            <a:r>
              <a:rPr lang="en-US" baseline="0" dirty="0" smtClean="0"/>
              <a:t>From 75-175 Hz, the cable interaction and added damping become more evident.</a:t>
            </a:r>
          </a:p>
          <a:p>
            <a:r>
              <a:rPr lang="en-US" baseline="0" dirty="0" smtClean="0"/>
              <a:t>Above 175 Hz, cabled panel FRFs are very distinct from the </a:t>
            </a:r>
            <a:r>
              <a:rPr lang="en-US" baseline="0" dirty="0" err="1" smtClean="0"/>
              <a:t>uncabled</a:t>
            </a:r>
            <a:r>
              <a:rPr lang="en-US" baseline="0" dirty="0" smtClean="0"/>
              <a:t> panel FRF</a:t>
            </a:r>
          </a:p>
          <a:p>
            <a:r>
              <a:rPr lang="en-US" baseline="0" dirty="0" smtClean="0"/>
              <a:t>The greatest damping is evident in the 20-20 cable, which was about twice the size of the other cables.</a:t>
            </a:r>
          </a:p>
          <a:p>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Looking</a:t>
            </a:r>
            <a:r>
              <a:rPr lang="en-US" baseline="0" dirty="0" smtClean="0"/>
              <a:t> at the 26 gauge, 30 twisted pair (3% mass fraction) cabled panel</a:t>
            </a:r>
          </a:p>
          <a:p>
            <a:r>
              <a:rPr lang="en-US" baseline="0" dirty="0" smtClean="0"/>
              <a:t>* Cable dynamic models capture the onset of cable effects (130 Hz) very nicely</a:t>
            </a:r>
          </a:p>
          <a:p>
            <a:r>
              <a:rPr lang="en-US" baseline="0" dirty="0" smtClean="0"/>
              <a:t>* They capture the increased damping (over an order of magnitude FRF peak decrease) much where the lumped mass model fails to do this.</a:t>
            </a:r>
          </a:p>
          <a:p>
            <a:r>
              <a:rPr lang="en-US" dirty="0" smtClean="0"/>
              <a:t>The running RMS error shows this increased ability of the model to capture the system energy.</a:t>
            </a:r>
          </a:p>
          <a:p>
            <a:r>
              <a:rPr lang="en-US" dirty="0" smtClean="0"/>
              <a:t>*RMS error zeroed</a:t>
            </a:r>
            <a:r>
              <a:rPr lang="en-US" baseline="0" dirty="0" smtClean="0"/>
              <a:t> at 90 and 200 Hz so that large magnitude low frequency modes don’t drown out the lower magnitude modes (also, running RMS calculation is non-linear and minimizes higher frequency results relative to low frequency results).</a:t>
            </a:r>
          </a:p>
          <a:p>
            <a:r>
              <a:rPr lang="en-US" baseline="0" dirty="0" smtClean="0"/>
              <a:t>*Purpose of second FRF is simply to show limitations of cable modeling benefits (112 Hz large magnitude pole with little cable effect, 175 Hz lower magnitude pole with significant damping due to cables)</a:t>
            </a:r>
          </a:p>
          <a:p>
            <a:r>
              <a:rPr lang="en-US" baseline="0" dirty="0" smtClean="0"/>
              <a:t>*least benefit from dynamic cable models with low mass ratio and/or large magnitude non-interacting modes in frequency range of interest.</a:t>
            </a:r>
          </a:p>
          <a:p>
            <a:r>
              <a:rPr lang="en-US" baseline="0" dirty="0" smtClean="0"/>
              <a:t> </a:t>
            </a:r>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90E86409-8C02-4D3A-B09D-8A8663F6C49E}"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idx="10"/>
          </p:nvPr>
        </p:nvSpPr>
        <p:spPr/>
        <p:txBody>
          <a:bodyPr/>
          <a:lstStyle/>
          <a:p>
            <a:fld id="{90E86409-8C02-4D3A-B09D-8A8663F6C49E}"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90E86409-8C02-4D3A-B09D-8A8663F6C49E}"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90E86409-8C02-4D3A-B09D-8A8663F6C49E}"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idx="10"/>
          </p:nvPr>
        </p:nvSpPr>
        <p:spPr/>
        <p:txBody>
          <a:bodyPr/>
          <a:lstStyle/>
          <a:p>
            <a:fld id="{90E86409-8C02-4D3A-B09D-8A8663F6C49E}" type="slidenum">
              <a:rPr lang="en-US" smtClean="0"/>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9750" y="1239838"/>
            <a:ext cx="4051300" cy="51831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43450" y="1239838"/>
            <a:ext cx="4051300" cy="51831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1000" y="269875"/>
            <a:ext cx="2063750" cy="61531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9750" y="269875"/>
            <a:ext cx="6038850" cy="61531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269875"/>
            <a:ext cx="7154863" cy="80803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9750" y="1239838"/>
            <a:ext cx="4048125" cy="5176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40275" y="1239838"/>
            <a:ext cx="4048125" cy="5176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50000">
              <a:srgbClr val="FFFFFF"/>
            </a:gs>
            <a:gs pos="100000">
              <a:srgbClr val="FFFFFF"/>
            </a:gs>
          </a:gsLst>
          <a:lin ang="18900000" scaled="1"/>
        </a:gra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body" idx="1"/>
          </p:nvPr>
        </p:nvSpPr>
        <p:spPr bwMode="auto">
          <a:xfrm>
            <a:off x="539750" y="1239838"/>
            <a:ext cx="8255000" cy="5183187"/>
          </a:xfrm>
          <a:prstGeom prst="rect">
            <a:avLst/>
          </a:prstGeom>
          <a:noFill/>
          <a:ln w="9525">
            <a:noFill/>
            <a:round/>
            <a:headEnd/>
            <a:tailEnd/>
          </a:ln>
          <a:effectLst/>
        </p:spPr>
        <p:txBody>
          <a:bodyPr vert="horz" wrap="square" lIns="87480" tIns="42840" rIns="87480" bIns="4284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
        <p:nvSpPr>
          <p:cNvPr id="1026" name="Rectangle 2"/>
          <p:cNvSpPr>
            <a:spLocks noChangeArrowheads="1"/>
          </p:cNvSpPr>
          <p:nvPr/>
        </p:nvSpPr>
        <p:spPr bwMode="auto">
          <a:xfrm>
            <a:off x="7869238" y="6635750"/>
            <a:ext cx="1085572" cy="225016"/>
          </a:xfrm>
          <a:prstGeom prst="rect">
            <a:avLst/>
          </a:prstGeom>
          <a:noFill/>
          <a:ln w="9525">
            <a:noFill/>
            <a:round/>
            <a:headEnd/>
            <a:tailEnd/>
          </a:ln>
          <a:effectLst/>
        </p:spPr>
        <p:txBody>
          <a:bodyPr wrap="none" lIns="87480" tIns="42840" rIns="87480" bIns="4284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 b="1" dirty="0">
                <a:solidFill>
                  <a:srgbClr val="000000"/>
                </a:solidFill>
              </a:rPr>
              <a:t>CES </a:t>
            </a:r>
            <a:r>
              <a:rPr lang="en-US" sz="400" b="1" dirty="0" smtClean="0">
                <a:solidFill>
                  <a:srgbClr val="000000"/>
                </a:solidFill>
              </a:rPr>
              <a:t>AFOSR Workshop 100527 </a:t>
            </a:r>
            <a:fld id="{90D26167-8F8E-4910-8E9D-33323C4B4EF6}" type="slidenum">
              <a:rPr lang="en-US" sz="900" b="1">
                <a:solidFill>
                  <a:srgbClr val="000000"/>
                </a:solidFill>
              </a:rPr>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a:t>
            </a:fld>
            <a:endParaRPr lang="en-US" sz="900" b="1" dirty="0">
              <a:solidFill>
                <a:srgbClr val="000000"/>
              </a:solidFill>
            </a:endParaRPr>
          </a:p>
        </p:txBody>
      </p:sp>
      <p:sp>
        <p:nvSpPr>
          <p:cNvPr id="1027" name="Text Box 3"/>
          <p:cNvSpPr txBox="1">
            <a:spLocks noChangeArrowheads="1"/>
          </p:cNvSpPr>
          <p:nvPr/>
        </p:nvSpPr>
        <p:spPr bwMode="auto">
          <a:xfrm>
            <a:off x="3627438" y="0"/>
            <a:ext cx="1361568" cy="279180"/>
          </a:xfrm>
          <a:prstGeom prst="rect">
            <a:avLst/>
          </a:prstGeom>
          <a:noFill/>
          <a:ln w="9525">
            <a:noFill/>
            <a:round/>
            <a:headEnd/>
            <a:tailEnd/>
          </a:ln>
          <a:effectLst/>
        </p:spPr>
        <p:txBody>
          <a:bodyPr wrap="none" lIns="90000" tIns="46800" rIns="90000" bIns="4680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dirty="0" smtClean="0">
                <a:solidFill>
                  <a:srgbClr val="000000"/>
                </a:solidFill>
              </a:rPr>
              <a:t>UNCLASSIFIED</a:t>
            </a:r>
            <a:endParaRPr lang="en-US" sz="1200" b="1" dirty="0">
              <a:solidFill>
                <a:srgbClr val="000000"/>
              </a:solidFill>
            </a:endParaRPr>
          </a:p>
        </p:txBody>
      </p:sp>
      <p:sp>
        <p:nvSpPr>
          <p:cNvPr id="1028" name="Rectangle 4"/>
          <p:cNvSpPr>
            <a:spLocks noGrp="1" noChangeArrowheads="1"/>
          </p:cNvSpPr>
          <p:nvPr>
            <p:ph type="title"/>
          </p:nvPr>
        </p:nvSpPr>
        <p:spPr bwMode="auto">
          <a:xfrm>
            <a:off x="990600" y="269875"/>
            <a:ext cx="7161213" cy="814388"/>
          </a:xfrm>
          <a:prstGeom prst="rect">
            <a:avLst/>
          </a:prstGeom>
          <a:noFill/>
          <a:ln w="9525">
            <a:noFill/>
            <a:round/>
            <a:headEnd/>
            <a:tailEnd/>
          </a:ln>
          <a:effectLst/>
        </p:spPr>
        <p:txBody>
          <a:bodyPr vert="horz" wrap="square" lIns="45720" tIns="47520" rIns="90000" bIns="47520" numCol="1" anchor="ctr" anchorCtr="0" compatLnSpc="1">
            <a:prstTxWarp prst="textNoShape">
              <a:avLst/>
            </a:prstTxWarp>
          </a:bodyPr>
          <a:lstStyle/>
          <a:p>
            <a:pPr lvl="0"/>
            <a:r>
              <a:rPr lang="en-GB" smtClean="0"/>
              <a:t>Click to edit the title text format</a:t>
            </a:r>
          </a:p>
        </p:txBody>
      </p:sp>
      <p:sp>
        <p:nvSpPr>
          <p:cNvPr id="1029" name="Rectangle 5"/>
          <p:cNvSpPr>
            <a:spLocks noChangeArrowheads="1"/>
          </p:cNvSpPr>
          <p:nvPr/>
        </p:nvSpPr>
        <p:spPr bwMode="auto">
          <a:xfrm>
            <a:off x="0" y="1028700"/>
            <a:ext cx="9144000" cy="92075"/>
          </a:xfrm>
          <a:prstGeom prst="rect">
            <a:avLst/>
          </a:prstGeom>
          <a:gradFill rotWithShape="0">
            <a:gsLst>
              <a:gs pos="0">
                <a:srgbClr val="FED910"/>
              </a:gs>
              <a:gs pos="100000">
                <a:srgbClr val="0D2B88"/>
              </a:gs>
            </a:gsLst>
            <a:path path="rect">
              <a:fillToRect l="100000" b="100000"/>
            </a:path>
          </a:gradFill>
          <a:ln w="9525">
            <a:noFill/>
            <a:round/>
            <a:headEnd/>
            <a:tailEnd/>
          </a:ln>
          <a:effectLst/>
        </p:spPr>
        <p:txBody>
          <a:bodyPr wrap="none" anchor="ctr"/>
          <a:lstStyle/>
          <a:p>
            <a:endParaRPr lang="en-US" dirty="0"/>
          </a:p>
        </p:txBody>
      </p:sp>
      <p:pic>
        <p:nvPicPr>
          <p:cNvPr id="1030" name="Picture 6"/>
          <p:cNvPicPr>
            <a:picLocks noChangeAspect="1" noChangeArrowheads="1"/>
          </p:cNvPicPr>
          <p:nvPr/>
        </p:nvPicPr>
        <p:blipFill>
          <a:blip r:embed="rId14" cstate="print"/>
          <a:srcRect l="16376" t="2377" r="12497" b="21284"/>
          <a:stretch>
            <a:fillRect/>
          </a:stretch>
        </p:blipFill>
        <p:spPr bwMode="auto">
          <a:xfrm>
            <a:off x="14288" y="52388"/>
            <a:ext cx="1189037" cy="969962"/>
          </a:xfrm>
          <a:prstGeom prst="rect">
            <a:avLst/>
          </a:prstGeom>
          <a:noFill/>
          <a:ln w="9525">
            <a:noFill/>
            <a:round/>
            <a:headEnd/>
            <a:tailEnd/>
          </a:ln>
          <a:effectLst/>
        </p:spPr>
      </p:pic>
      <p:pic>
        <p:nvPicPr>
          <p:cNvPr id="1032" name="Picture 8"/>
          <p:cNvPicPr>
            <a:picLocks noChangeAspect="1" noChangeArrowheads="1"/>
          </p:cNvPicPr>
          <p:nvPr/>
        </p:nvPicPr>
        <p:blipFill>
          <a:blip r:embed="rId15" cstate="print"/>
          <a:srcRect/>
          <a:stretch>
            <a:fillRect/>
          </a:stretch>
        </p:blipFill>
        <p:spPr bwMode="auto">
          <a:xfrm>
            <a:off x="8153400" y="609600"/>
            <a:ext cx="990600" cy="169863"/>
          </a:xfrm>
          <a:prstGeom prst="rect">
            <a:avLst/>
          </a:prstGeom>
          <a:noFill/>
          <a:ln w="9525">
            <a:noFill/>
            <a:round/>
            <a:headEnd/>
            <a:tailEnd/>
          </a:ln>
          <a:effectLst/>
        </p:spPr>
      </p:pic>
      <p:pic>
        <p:nvPicPr>
          <p:cNvPr id="1033" name="Picture 9"/>
          <p:cNvPicPr>
            <a:picLocks noChangeAspect="1" noChangeArrowheads="1"/>
          </p:cNvPicPr>
          <p:nvPr/>
        </p:nvPicPr>
        <p:blipFill>
          <a:blip r:embed="rId16" cstate="print"/>
          <a:srcRect/>
          <a:stretch>
            <a:fillRect/>
          </a:stretch>
        </p:blipFill>
        <p:spPr bwMode="auto">
          <a:xfrm>
            <a:off x="8077200" y="152400"/>
            <a:ext cx="471488" cy="450850"/>
          </a:xfrm>
          <a:prstGeom prst="rect">
            <a:avLst/>
          </a:prstGeom>
          <a:noFill/>
          <a:ln w="9525">
            <a:noFill/>
            <a:round/>
            <a:headEnd/>
            <a:tailEnd/>
          </a:ln>
          <a:effectLst/>
        </p:spPr>
      </p:pic>
      <p:pic>
        <p:nvPicPr>
          <p:cNvPr id="1034" name="Picture 10"/>
          <p:cNvPicPr>
            <a:picLocks noChangeAspect="1" noChangeArrowheads="1"/>
          </p:cNvPicPr>
          <p:nvPr/>
        </p:nvPicPr>
        <p:blipFill>
          <a:blip r:embed="rId17" cstate="print"/>
          <a:srcRect/>
          <a:stretch>
            <a:fillRect/>
          </a:stretch>
        </p:blipFill>
        <p:spPr bwMode="auto">
          <a:xfrm>
            <a:off x="8624888" y="152400"/>
            <a:ext cx="519112" cy="493713"/>
          </a:xfrm>
          <a:prstGeom prst="rect">
            <a:avLst/>
          </a:prstGeom>
          <a:noFill/>
          <a:ln w="9525">
            <a:noFill/>
            <a:round/>
            <a:headEnd/>
            <a:tailEnd/>
          </a:ln>
          <a:effectLst/>
        </p:spPr>
      </p:pic>
      <p:pic>
        <p:nvPicPr>
          <p:cNvPr id="1035" name="Picture 11"/>
          <p:cNvPicPr>
            <a:picLocks noChangeAspect="1" noChangeArrowheads="1"/>
          </p:cNvPicPr>
          <p:nvPr/>
        </p:nvPicPr>
        <p:blipFill>
          <a:blip r:embed="rId18" cstate="print"/>
          <a:srcRect/>
          <a:stretch>
            <a:fillRect/>
          </a:stretch>
        </p:blipFill>
        <p:spPr bwMode="auto">
          <a:xfrm>
            <a:off x="8153400" y="0"/>
            <a:ext cx="819150" cy="120650"/>
          </a:xfrm>
          <a:prstGeom prst="rect">
            <a:avLst/>
          </a:prstGeom>
          <a:noFill/>
          <a:ln w="9525">
            <a:noFill/>
            <a:round/>
            <a:headEnd/>
            <a:tailEnd/>
          </a:ln>
          <a:effectLst/>
        </p:spPr>
      </p:pic>
      <p:grpSp>
        <p:nvGrpSpPr>
          <p:cNvPr id="1036" name="Group 12"/>
          <p:cNvGrpSpPr>
            <a:grpSpLocks/>
          </p:cNvGrpSpPr>
          <p:nvPr/>
        </p:nvGrpSpPr>
        <p:grpSpPr bwMode="auto">
          <a:xfrm>
            <a:off x="8074025" y="787400"/>
            <a:ext cx="1068388" cy="277813"/>
            <a:chOff x="5086" y="496"/>
            <a:chExt cx="673" cy="175"/>
          </a:xfrm>
        </p:grpSpPr>
        <p:sp>
          <p:nvSpPr>
            <p:cNvPr id="1037" name="AutoShape 13"/>
            <p:cNvSpPr>
              <a:spLocks noChangeArrowheads="1"/>
            </p:cNvSpPr>
            <p:nvPr/>
          </p:nvSpPr>
          <p:spPr bwMode="auto">
            <a:xfrm>
              <a:off x="5086" y="496"/>
              <a:ext cx="674" cy="176"/>
            </a:xfrm>
            <a:prstGeom prst="roundRect">
              <a:avLst>
                <a:gd name="adj" fmla="val 565"/>
              </a:avLst>
            </a:prstGeom>
            <a:noFill/>
            <a:ln w="9525">
              <a:noFill/>
              <a:round/>
              <a:headEnd/>
              <a:tailEnd/>
            </a:ln>
            <a:effectLst/>
          </p:spPr>
          <p:txBody>
            <a:bodyPr wrap="none" anchor="ctr"/>
            <a:lstStyle/>
            <a:p>
              <a:endParaRPr lang="en-US" dirty="0"/>
            </a:p>
          </p:txBody>
        </p:sp>
        <p:grpSp>
          <p:nvGrpSpPr>
            <p:cNvPr id="1038" name="Group 14"/>
            <p:cNvGrpSpPr>
              <a:grpSpLocks/>
            </p:cNvGrpSpPr>
            <p:nvPr/>
          </p:nvGrpSpPr>
          <p:grpSpPr bwMode="auto">
            <a:xfrm>
              <a:off x="5330" y="526"/>
              <a:ext cx="389" cy="49"/>
              <a:chOff x="5330" y="526"/>
              <a:chExt cx="389" cy="49"/>
            </a:xfrm>
          </p:grpSpPr>
          <p:sp>
            <p:nvSpPr>
              <p:cNvPr id="1039" name="AutoShape 15"/>
              <p:cNvSpPr>
                <a:spLocks noChangeArrowheads="1"/>
              </p:cNvSpPr>
              <p:nvPr/>
            </p:nvSpPr>
            <p:spPr bwMode="auto">
              <a:xfrm>
                <a:off x="5410" y="526"/>
                <a:ext cx="97" cy="50"/>
              </a:xfrm>
              <a:custGeom>
                <a:avLst/>
                <a:gdLst>
                  <a:gd name="T0" fmla="*/ 152 w 373"/>
                  <a:gd name="T1" fmla="*/ 0 h 234"/>
                  <a:gd name="T2" fmla="*/ 373 w 373"/>
                  <a:gd name="T3" fmla="*/ 0 h 234"/>
                  <a:gd name="T4" fmla="*/ 340 w 373"/>
                  <a:gd name="T5" fmla="*/ 49 h 234"/>
                  <a:gd name="T6" fmla="*/ 230 w 373"/>
                  <a:gd name="T7" fmla="*/ 49 h 234"/>
                  <a:gd name="T8" fmla="*/ 203 w 373"/>
                  <a:gd name="T9" fmla="*/ 91 h 234"/>
                  <a:gd name="T10" fmla="*/ 314 w 373"/>
                  <a:gd name="T11" fmla="*/ 91 h 234"/>
                  <a:gd name="T12" fmla="*/ 281 w 373"/>
                  <a:gd name="T13" fmla="*/ 140 h 234"/>
                  <a:gd name="T14" fmla="*/ 171 w 373"/>
                  <a:gd name="T15" fmla="*/ 140 h 234"/>
                  <a:gd name="T16" fmla="*/ 142 w 373"/>
                  <a:gd name="T17" fmla="*/ 185 h 234"/>
                  <a:gd name="T18" fmla="*/ 252 w 373"/>
                  <a:gd name="T19" fmla="*/ 185 h 234"/>
                  <a:gd name="T20" fmla="*/ 221 w 373"/>
                  <a:gd name="T21" fmla="*/ 234 h 234"/>
                  <a:gd name="T22" fmla="*/ 0 w 373"/>
                  <a:gd name="T23" fmla="*/ 234 h 234"/>
                  <a:gd name="T24" fmla="*/ 152 w 373"/>
                  <a:gd name="T25" fmla="*/ 0 h 234"/>
                  <a:gd name="T26" fmla="*/ 0 w 373"/>
                  <a:gd name="T27" fmla="*/ 0 h 234"/>
                  <a:gd name="T28" fmla="*/ 373 w 373"/>
                  <a:gd name="T2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T26" t="T27" r="T28" b="T29"/>
                <a:pathLst>
                  <a:path w="373" h="234">
                    <a:moveTo>
                      <a:pt x="152" y="0"/>
                    </a:moveTo>
                    <a:lnTo>
                      <a:pt x="373" y="0"/>
                    </a:lnTo>
                    <a:lnTo>
                      <a:pt x="340" y="49"/>
                    </a:lnTo>
                    <a:lnTo>
                      <a:pt x="230" y="49"/>
                    </a:lnTo>
                    <a:lnTo>
                      <a:pt x="203" y="91"/>
                    </a:lnTo>
                    <a:lnTo>
                      <a:pt x="314" y="91"/>
                    </a:lnTo>
                    <a:lnTo>
                      <a:pt x="281" y="140"/>
                    </a:lnTo>
                    <a:lnTo>
                      <a:pt x="171" y="140"/>
                    </a:lnTo>
                    <a:lnTo>
                      <a:pt x="142" y="185"/>
                    </a:lnTo>
                    <a:lnTo>
                      <a:pt x="252" y="185"/>
                    </a:lnTo>
                    <a:lnTo>
                      <a:pt x="221" y="234"/>
                    </a:lnTo>
                    <a:lnTo>
                      <a:pt x="0" y="234"/>
                    </a:lnTo>
                    <a:lnTo>
                      <a:pt x="152" y="0"/>
                    </a:lnTo>
                    <a:close/>
                  </a:path>
                </a:pathLst>
              </a:custGeom>
              <a:solidFill>
                <a:srgbClr val="0400BA"/>
              </a:solidFill>
              <a:ln w="9525">
                <a:noFill/>
                <a:round/>
                <a:headEnd/>
                <a:tailEnd/>
              </a:ln>
              <a:effectLst/>
            </p:spPr>
            <p:txBody>
              <a:bodyPr wrap="none" anchor="ctr"/>
              <a:lstStyle/>
              <a:p>
                <a:endParaRPr lang="en-US" dirty="0"/>
              </a:p>
            </p:txBody>
          </p:sp>
          <p:sp>
            <p:nvSpPr>
              <p:cNvPr id="1040" name="AutoShape 16"/>
              <p:cNvSpPr>
                <a:spLocks noChangeArrowheads="1"/>
              </p:cNvSpPr>
              <p:nvPr/>
            </p:nvSpPr>
            <p:spPr bwMode="auto">
              <a:xfrm>
                <a:off x="5483" y="526"/>
                <a:ext cx="68" cy="50"/>
              </a:xfrm>
              <a:custGeom>
                <a:avLst/>
                <a:gdLst>
                  <a:gd name="T0" fmla="*/ 0 w 263"/>
                  <a:gd name="T1" fmla="*/ 234 h 234"/>
                  <a:gd name="T2" fmla="*/ 152 w 263"/>
                  <a:gd name="T3" fmla="*/ 0 h 234"/>
                  <a:gd name="T4" fmla="*/ 263 w 263"/>
                  <a:gd name="T5" fmla="*/ 0 h 234"/>
                  <a:gd name="T6" fmla="*/ 110 w 263"/>
                  <a:gd name="T7" fmla="*/ 234 h 234"/>
                  <a:gd name="T8" fmla="*/ 0 w 263"/>
                  <a:gd name="T9" fmla="*/ 234 h 234"/>
                  <a:gd name="T10" fmla="*/ 0 w 263"/>
                  <a:gd name="T11" fmla="*/ 0 h 234"/>
                  <a:gd name="T12" fmla="*/ 263 w 263"/>
                  <a:gd name="T13" fmla="*/ 234 h 234"/>
                </a:gdLst>
                <a:ahLst/>
                <a:cxnLst>
                  <a:cxn ang="0">
                    <a:pos x="T0" y="T1"/>
                  </a:cxn>
                  <a:cxn ang="0">
                    <a:pos x="T2" y="T3"/>
                  </a:cxn>
                  <a:cxn ang="0">
                    <a:pos x="T4" y="T5"/>
                  </a:cxn>
                  <a:cxn ang="0">
                    <a:pos x="T6" y="T7"/>
                  </a:cxn>
                  <a:cxn ang="0">
                    <a:pos x="T8" y="T9"/>
                  </a:cxn>
                </a:cxnLst>
                <a:rect l="T10" t="T11" r="T12" b="T13"/>
                <a:pathLst>
                  <a:path w="263" h="234">
                    <a:moveTo>
                      <a:pt x="0" y="234"/>
                    </a:moveTo>
                    <a:lnTo>
                      <a:pt x="152" y="0"/>
                    </a:lnTo>
                    <a:lnTo>
                      <a:pt x="263" y="0"/>
                    </a:lnTo>
                    <a:lnTo>
                      <a:pt x="110" y="234"/>
                    </a:lnTo>
                    <a:lnTo>
                      <a:pt x="0" y="234"/>
                    </a:lnTo>
                    <a:close/>
                  </a:path>
                </a:pathLst>
              </a:custGeom>
              <a:solidFill>
                <a:srgbClr val="0400BA"/>
              </a:solidFill>
              <a:ln w="9525">
                <a:noFill/>
                <a:round/>
                <a:headEnd/>
                <a:tailEnd/>
              </a:ln>
              <a:effectLst/>
            </p:spPr>
            <p:txBody>
              <a:bodyPr wrap="none" anchor="ctr"/>
              <a:lstStyle/>
              <a:p>
                <a:endParaRPr lang="en-US" dirty="0"/>
              </a:p>
            </p:txBody>
          </p:sp>
          <p:sp>
            <p:nvSpPr>
              <p:cNvPr id="1041" name="AutoShape 17"/>
              <p:cNvSpPr>
                <a:spLocks noChangeArrowheads="1"/>
              </p:cNvSpPr>
              <p:nvPr/>
            </p:nvSpPr>
            <p:spPr bwMode="auto">
              <a:xfrm>
                <a:off x="5531" y="526"/>
                <a:ext cx="107" cy="50"/>
              </a:xfrm>
              <a:custGeom>
                <a:avLst/>
                <a:gdLst>
                  <a:gd name="T0" fmla="*/ 261 w 412"/>
                  <a:gd name="T1" fmla="*/ 119 h 234"/>
                  <a:gd name="T2" fmla="*/ 237 w 412"/>
                  <a:gd name="T3" fmla="*/ 0 h 234"/>
                  <a:gd name="T4" fmla="*/ 151 w 412"/>
                  <a:gd name="T5" fmla="*/ 0 h 234"/>
                  <a:gd name="T6" fmla="*/ 0 w 412"/>
                  <a:gd name="T7" fmla="*/ 234 h 234"/>
                  <a:gd name="T8" fmla="*/ 73 w 412"/>
                  <a:gd name="T9" fmla="*/ 234 h 234"/>
                  <a:gd name="T10" fmla="*/ 149 w 412"/>
                  <a:gd name="T11" fmla="*/ 116 h 234"/>
                  <a:gd name="T12" fmla="*/ 172 w 412"/>
                  <a:gd name="T13" fmla="*/ 234 h 234"/>
                  <a:gd name="T14" fmla="*/ 259 w 412"/>
                  <a:gd name="T15" fmla="*/ 234 h 234"/>
                  <a:gd name="T16" fmla="*/ 412 w 412"/>
                  <a:gd name="T17" fmla="*/ 0 h 234"/>
                  <a:gd name="T18" fmla="*/ 338 w 412"/>
                  <a:gd name="T19" fmla="*/ 0 h 234"/>
                  <a:gd name="T20" fmla="*/ 261 w 412"/>
                  <a:gd name="T21" fmla="*/ 119 h 234"/>
                  <a:gd name="T22" fmla="*/ 0 w 412"/>
                  <a:gd name="T23" fmla="*/ 0 h 234"/>
                  <a:gd name="T24" fmla="*/ 412 w 412"/>
                  <a:gd name="T25"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T22" t="T23" r="T24" b="T25"/>
                <a:pathLst>
                  <a:path w="412" h="234">
                    <a:moveTo>
                      <a:pt x="261" y="119"/>
                    </a:moveTo>
                    <a:lnTo>
                      <a:pt x="237" y="0"/>
                    </a:lnTo>
                    <a:lnTo>
                      <a:pt x="151" y="0"/>
                    </a:lnTo>
                    <a:lnTo>
                      <a:pt x="0" y="234"/>
                    </a:lnTo>
                    <a:lnTo>
                      <a:pt x="73" y="234"/>
                    </a:lnTo>
                    <a:lnTo>
                      <a:pt x="149" y="116"/>
                    </a:lnTo>
                    <a:lnTo>
                      <a:pt x="172" y="234"/>
                    </a:lnTo>
                    <a:lnTo>
                      <a:pt x="259" y="234"/>
                    </a:lnTo>
                    <a:lnTo>
                      <a:pt x="412" y="0"/>
                    </a:lnTo>
                    <a:lnTo>
                      <a:pt x="338" y="0"/>
                    </a:lnTo>
                    <a:lnTo>
                      <a:pt x="261" y="119"/>
                    </a:lnTo>
                    <a:close/>
                  </a:path>
                </a:pathLst>
              </a:custGeom>
              <a:solidFill>
                <a:srgbClr val="0400BA"/>
              </a:solidFill>
              <a:ln w="9525">
                <a:noFill/>
                <a:round/>
                <a:headEnd/>
                <a:tailEnd/>
              </a:ln>
              <a:effectLst/>
            </p:spPr>
            <p:txBody>
              <a:bodyPr wrap="none" anchor="ctr"/>
              <a:lstStyle/>
              <a:p>
                <a:endParaRPr lang="en-US" dirty="0"/>
              </a:p>
            </p:txBody>
          </p:sp>
          <p:sp>
            <p:nvSpPr>
              <p:cNvPr id="1042" name="AutoShape 18"/>
              <p:cNvSpPr>
                <a:spLocks noChangeArrowheads="1"/>
              </p:cNvSpPr>
              <p:nvPr/>
            </p:nvSpPr>
            <p:spPr bwMode="auto">
              <a:xfrm>
                <a:off x="5622" y="526"/>
                <a:ext cx="98" cy="50"/>
              </a:xfrm>
              <a:custGeom>
                <a:avLst/>
                <a:gdLst>
                  <a:gd name="T0" fmla="*/ 222 w 376"/>
                  <a:gd name="T1" fmla="*/ 107 h 234"/>
                  <a:gd name="T2" fmla="*/ 176 w 376"/>
                  <a:gd name="T3" fmla="*/ 179 h 234"/>
                  <a:gd name="T4" fmla="*/ 166 w 376"/>
                  <a:gd name="T5" fmla="*/ 185 h 234"/>
                  <a:gd name="T6" fmla="*/ 130 w 376"/>
                  <a:gd name="T7" fmla="*/ 185 h 234"/>
                  <a:gd name="T8" fmla="*/ 124 w 376"/>
                  <a:gd name="T9" fmla="*/ 183 h 234"/>
                  <a:gd name="T10" fmla="*/ 122 w 376"/>
                  <a:gd name="T11" fmla="*/ 177 h 234"/>
                  <a:gd name="T12" fmla="*/ 123 w 376"/>
                  <a:gd name="T13" fmla="*/ 171 h 234"/>
                  <a:gd name="T14" fmla="*/ 200 w 376"/>
                  <a:gd name="T15" fmla="*/ 55 h 234"/>
                  <a:gd name="T16" fmla="*/ 209 w 376"/>
                  <a:gd name="T17" fmla="*/ 49 h 234"/>
                  <a:gd name="T18" fmla="*/ 246 w 376"/>
                  <a:gd name="T19" fmla="*/ 49 h 234"/>
                  <a:gd name="T20" fmla="*/ 252 w 376"/>
                  <a:gd name="T21" fmla="*/ 51 h 234"/>
                  <a:gd name="T22" fmla="*/ 254 w 376"/>
                  <a:gd name="T23" fmla="*/ 57 h 234"/>
                  <a:gd name="T24" fmla="*/ 253 w 376"/>
                  <a:gd name="T25" fmla="*/ 62 h 234"/>
                  <a:gd name="T26" fmla="*/ 350 w 376"/>
                  <a:gd name="T27" fmla="*/ 80 h 234"/>
                  <a:gd name="T28" fmla="*/ 373 w 376"/>
                  <a:gd name="T29" fmla="*/ 42 h 234"/>
                  <a:gd name="T30" fmla="*/ 375 w 376"/>
                  <a:gd name="T31" fmla="*/ 25 h 234"/>
                  <a:gd name="T32" fmla="*/ 371 w 376"/>
                  <a:gd name="T33" fmla="*/ 13 h 234"/>
                  <a:gd name="T34" fmla="*/ 363 w 376"/>
                  <a:gd name="T35" fmla="*/ 6 h 234"/>
                  <a:gd name="T36" fmla="*/ 354 w 376"/>
                  <a:gd name="T37" fmla="*/ 0 h 234"/>
                  <a:gd name="T38" fmla="*/ 172 w 376"/>
                  <a:gd name="T39" fmla="*/ 0 h 234"/>
                  <a:gd name="T40" fmla="*/ 149 w 376"/>
                  <a:gd name="T41" fmla="*/ 3 h 234"/>
                  <a:gd name="T42" fmla="*/ 130 w 376"/>
                  <a:gd name="T43" fmla="*/ 12 h 234"/>
                  <a:gd name="T44" fmla="*/ 112 w 376"/>
                  <a:gd name="T45" fmla="*/ 25 h 234"/>
                  <a:gd name="T46" fmla="*/ 98 w 376"/>
                  <a:gd name="T47" fmla="*/ 43 h 234"/>
                  <a:gd name="T48" fmla="*/ 1 w 376"/>
                  <a:gd name="T49" fmla="*/ 192 h 234"/>
                  <a:gd name="T50" fmla="*/ 1 w 376"/>
                  <a:gd name="T51" fmla="*/ 208 h 234"/>
                  <a:gd name="T52" fmla="*/ 5 w 376"/>
                  <a:gd name="T53" fmla="*/ 220 h 234"/>
                  <a:gd name="T54" fmla="*/ 13 w 376"/>
                  <a:gd name="T55" fmla="*/ 228 h 234"/>
                  <a:gd name="T56" fmla="*/ 22 w 376"/>
                  <a:gd name="T57" fmla="*/ 234 h 234"/>
                  <a:gd name="T58" fmla="*/ 204 w 376"/>
                  <a:gd name="T59" fmla="*/ 234 h 234"/>
                  <a:gd name="T60" fmla="*/ 226 w 376"/>
                  <a:gd name="T61" fmla="*/ 231 h 234"/>
                  <a:gd name="T62" fmla="*/ 246 w 376"/>
                  <a:gd name="T63" fmla="*/ 222 h 234"/>
                  <a:gd name="T64" fmla="*/ 264 w 376"/>
                  <a:gd name="T65" fmla="*/ 208 h 234"/>
                  <a:gd name="T66" fmla="*/ 278 w 376"/>
                  <a:gd name="T67" fmla="*/ 190 h 234"/>
                  <a:gd name="T68" fmla="*/ 326 w 376"/>
                  <a:gd name="T69" fmla="*/ 156 h 234"/>
                  <a:gd name="T70" fmla="*/ 0 w 376"/>
                  <a:gd name="T71" fmla="*/ 0 h 234"/>
                  <a:gd name="T72" fmla="*/ 376 w 376"/>
                  <a:gd name="T73"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T70" t="T71" r="T72" b="T73"/>
                <a:pathLst>
                  <a:path w="376" h="234">
                    <a:moveTo>
                      <a:pt x="358" y="107"/>
                    </a:moveTo>
                    <a:lnTo>
                      <a:pt x="222" y="107"/>
                    </a:lnTo>
                    <a:lnTo>
                      <a:pt x="180" y="174"/>
                    </a:lnTo>
                    <a:lnTo>
                      <a:pt x="176" y="179"/>
                    </a:lnTo>
                    <a:lnTo>
                      <a:pt x="172" y="182"/>
                    </a:lnTo>
                    <a:lnTo>
                      <a:pt x="166" y="185"/>
                    </a:lnTo>
                    <a:lnTo>
                      <a:pt x="160" y="185"/>
                    </a:lnTo>
                    <a:lnTo>
                      <a:pt x="130" y="185"/>
                    </a:lnTo>
                    <a:lnTo>
                      <a:pt x="127" y="185"/>
                    </a:lnTo>
                    <a:lnTo>
                      <a:pt x="124" y="183"/>
                    </a:lnTo>
                    <a:lnTo>
                      <a:pt x="123" y="180"/>
                    </a:lnTo>
                    <a:lnTo>
                      <a:pt x="122" y="177"/>
                    </a:lnTo>
                    <a:lnTo>
                      <a:pt x="123" y="174"/>
                    </a:lnTo>
                    <a:lnTo>
                      <a:pt x="123" y="171"/>
                    </a:lnTo>
                    <a:lnTo>
                      <a:pt x="196" y="59"/>
                    </a:lnTo>
                    <a:lnTo>
                      <a:pt x="200" y="55"/>
                    </a:lnTo>
                    <a:lnTo>
                      <a:pt x="204" y="52"/>
                    </a:lnTo>
                    <a:lnTo>
                      <a:pt x="209" y="49"/>
                    </a:lnTo>
                    <a:lnTo>
                      <a:pt x="216" y="49"/>
                    </a:lnTo>
                    <a:lnTo>
                      <a:pt x="246" y="49"/>
                    </a:lnTo>
                    <a:lnTo>
                      <a:pt x="249" y="49"/>
                    </a:lnTo>
                    <a:lnTo>
                      <a:pt x="252" y="51"/>
                    </a:lnTo>
                    <a:lnTo>
                      <a:pt x="253" y="54"/>
                    </a:lnTo>
                    <a:lnTo>
                      <a:pt x="254" y="57"/>
                    </a:lnTo>
                    <a:lnTo>
                      <a:pt x="253" y="59"/>
                    </a:lnTo>
                    <a:lnTo>
                      <a:pt x="253" y="62"/>
                    </a:lnTo>
                    <a:lnTo>
                      <a:pt x="240" y="80"/>
                    </a:lnTo>
                    <a:lnTo>
                      <a:pt x="350" y="80"/>
                    </a:lnTo>
                    <a:lnTo>
                      <a:pt x="370" y="51"/>
                    </a:lnTo>
                    <a:lnTo>
                      <a:pt x="373" y="42"/>
                    </a:lnTo>
                    <a:lnTo>
                      <a:pt x="376" y="31"/>
                    </a:lnTo>
                    <a:lnTo>
                      <a:pt x="375" y="25"/>
                    </a:lnTo>
                    <a:lnTo>
                      <a:pt x="373" y="19"/>
                    </a:lnTo>
                    <a:lnTo>
                      <a:pt x="371" y="13"/>
                    </a:lnTo>
                    <a:lnTo>
                      <a:pt x="367" y="9"/>
                    </a:lnTo>
                    <a:lnTo>
                      <a:pt x="363" y="6"/>
                    </a:lnTo>
                    <a:lnTo>
                      <a:pt x="359" y="3"/>
                    </a:lnTo>
                    <a:lnTo>
                      <a:pt x="354" y="0"/>
                    </a:lnTo>
                    <a:lnTo>
                      <a:pt x="349" y="0"/>
                    </a:lnTo>
                    <a:lnTo>
                      <a:pt x="172" y="0"/>
                    </a:lnTo>
                    <a:lnTo>
                      <a:pt x="160" y="0"/>
                    </a:lnTo>
                    <a:lnTo>
                      <a:pt x="149" y="3"/>
                    </a:lnTo>
                    <a:lnTo>
                      <a:pt x="139" y="6"/>
                    </a:lnTo>
                    <a:lnTo>
                      <a:pt x="130" y="12"/>
                    </a:lnTo>
                    <a:lnTo>
                      <a:pt x="121" y="18"/>
                    </a:lnTo>
                    <a:lnTo>
                      <a:pt x="112" y="25"/>
                    </a:lnTo>
                    <a:lnTo>
                      <a:pt x="104" y="33"/>
                    </a:lnTo>
                    <a:lnTo>
                      <a:pt x="98" y="43"/>
                    </a:lnTo>
                    <a:lnTo>
                      <a:pt x="5" y="183"/>
                    </a:lnTo>
                    <a:lnTo>
                      <a:pt x="1" y="192"/>
                    </a:lnTo>
                    <a:lnTo>
                      <a:pt x="0" y="202"/>
                    </a:lnTo>
                    <a:lnTo>
                      <a:pt x="1" y="208"/>
                    </a:lnTo>
                    <a:lnTo>
                      <a:pt x="3" y="214"/>
                    </a:lnTo>
                    <a:lnTo>
                      <a:pt x="5" y="220"/>
                    </a:lnTo>
                    <a:lnTo>
                      <a:pt x="8" y="225"/>
                    </a:lnTo>
                    <a:lnTo>
                      <a:pt x="13" y="228"/>
                    </a:lnTo>
                    <a:lnTo>
                      <a:pt x="17" y="231"/>
                    </a:lnTo>
                    <a:lnTo>
                      <a:pt x="22" y="234"/>
                    </a:lnTo>
                    <a:lnTo>
                      <a:pt x="27" y="234"/>
                    </a:lnTo>
                    <a:lnTo>
                      <a:pt x="204" y="234"/>
                    </a:lnTo>
                    <a:lnTo>
                      <a:pt x="216" y="232"/>
                    </a:lnTo>
                    <a:lnTo>
                      <a:pt x="226" y="231"/>
                    </a:lnTo>
                    <a:lnTo>
                      <a:pt x="236" y="226"/>
                    </a:lnTo>
                    <a:lnTo>
                      <a:pt x="246" y="222"/>
                    </a:lnTo>
                    <a:lnTo>
                      <a:pt x="255" y="216"/>
                    </a:lnTo>
                    <a:lnTo>
                      <a:pt x="264" y="208"/>
                    </a:lnTo>
                    <a:lnTo>
                      <a:pt x="272" y="199"/>
                    </a:lnTo>
                    <a:lnTo>
                      <a:pt x="278" y="190"/>
                    </a:lnTo>
                    <a:lnTo>
                      <a:pt x="300" y="156"/>
                    </a:lnTo>
                    <a:lnTo>
                      <a:pt x="326" y="156"/>
                    </a:lnTo>
                    <a:lnTo>
                      <a:pt x="358" y="107"/>
                    </a:lnTo>
                    <a:close/>
                  </a:path>
                </a:pathLst>
              </a:custGeom>
              <a:solidFill>
                <a:srgbClr val="0400BA"/>
              </a:solidFill>
              <a:ln w="9525">
                <a:noFill/>
                <a:round/>
                <a:headEnd/>
                <a:tailEnd/>
              </a:ln>
              <a:effectLst/>
            </p:spPr>
            <p:txBody>
              <a:bodyPr wrap="none" anchor="ctr"/>
              <a:lstStyle/>
              <a:p>
                <a:endParaRPr lang="en-US" dirty="0"/>
              </a:p>
            </p:txBody>
          </p:sp>
          <p:sp>
            <p:nvSpPr>
              <p:cNvPr id="1043" name="AutoShape 19"/>
              <p:cNvSpPr>
                <a:spLocks noChangeArrowheads="1"/>
              </p:cNvSpPr>
              <p:nvPr/>
            </p:nvSpPr>
            <p:spPr bwMode="auto">
              <a:xfrm>
                <a:off x="5330" y="526"/>
                <a:ext cx="97" cy="50"/>
              </a:xfrm>
              <a:custGeom>
                <a:avLst/>
                <a:gdLst>
                  <a:gd name="T0" fmla="*/ 354 w 375"/>
                  <a:gd name="T1" fmla="*/ 0 h 234"/>
                  <a:gd name="T2" fmla="*/ 363 w 375"/>
                  <a:gd name="T3" fmla="*/ 6 h 234"/>
                  <a:gd name="T4" fmla="*/ 371 w 375"/>
                  <a:gd name="T5" fmla="*/ 13 h 234"/>
                  <a:gd name="T6" fmla="*/ 375 w 375"/>
                  <a:gd name="T7" fmla="*/ 25 h 234"/>
                  <a:gd name="T8" fmla="*/ 373 w 375"/>
                  <a:gd name="T9" fmla="*/ 42 h 234"/>
                  <a:gd name="T10" fmla="*/ 253 w 375"/>
                  <a:gd name="T11" fmla="*/ 62 h 234"/>
                  <a:gd name="T12" fmla="*/ 254 w 375"/>
                  <a:gd name="T13" fmla="*/ 57 h 234"/>
                  <a:gd name="T14" fmla="*/ 252 w 375"/>
                  <a:gd name="T15" fmla="*/ 51 h 234"/>
                  <a:gd name="T16" fmla="*/ 246 w 375"/>
                  <a:gd name="T17" fmla="*/ 49 h 234"/>
                  <a:gd name="T18" fmla="*/ 209 w 375"/>
                  <a:gd name="T19" fmla="*/ 49 h 234"/>
                  <a:gd name="T20" fmla="*/ 200 w 375"/>
                  <a:gd name="T21" fmla="*/ 55 h 234"/>
                  <a:gd name="T22" fmla="*/ 123 w 375"/>
                  <a:gd name="T23" fmla="*/ 171 h 234"/>
                  <a:gd name="T24" fmla="*/ 122 w 375"/>
                  <a:gd name="T25" fmla="*/ 177 h 234"/>
                  <a:gd name="T26" fmla="*/ 125 w 375"/>
                  <a:gd name="T27" fmla="*/ 183 h 234"/>
                  <a:gd name="T28" fmla="*/ 130 w 375"/>
                  <a:gd name="T29" fmla="*/ 185 h 234"/>
                  <a:gd name="T30" fmla="*/ 166 w 375"/>
                  <a:gd name="T31" fmla="*/ 185 h 234"/>
                  <a:gd name="T32" fmla="*/ 176 w 375"/>
                  <a:gd name="T33" fmla="*/ 179 h 234"/>
                  <a:gd name="T34" fmla="*/ 253 w 375"/>
                  <a:gd name="T35" fmla="*/ 62 h 234"/>
                  <a:gd name="T36" fmla="*/ 279 w 375"/>
                  <a:gd name="T37" fmla="*/ 190 h 234"/>
                  <a:gd name="T38" fmla="*/ 264 w 375"/>
                  <a:gd name="T39" fmla="*/ 208 h 234"/>
                  <a:gd name="T40" fmla="*/ 246 w 375"/>
                  <a:gd name="T41" fmla="*/ 222 h 234"/>
                  <a:gd name="T42" fmla="*/ 226 w 375"/>
                  <a:gd name="T43" fmla="*/ 231 h 234"/>
                  <a:gd name="T44" fmla="*/ 204 w 375"/>
                  <a:gd name="T45" fmla="*/ 234 h 234"/>
                  <a:gd name="T46" fmla="*/ 22 w 375"/>
                  <a:gd name="T47" fmla="*/ 234 h 234"/>
                  <a:gd name="T48" fmla="*/ 12 w 375"/>
                  <a:gd name="T49" fmla="*/ 228 h 234"/>
                  <a:gd name="T50" fmla="*/ 5 w 375"/>
                  <a:gd name="T51" fmla="*/ 220 h 234"/>
                  <a:gd name="T52" fmla="*/ 1 w 375"/>
                  <a:gd name="T53" fmla="*/ 208 h 234"/>
                  <a:gd name="T54" fmla="*/ 1 w 375"/>
                  <a:gd name="T55" fmla="*/ 192 h 234"/>
                  <a:gd name="T56" fmla="*/ 98 w 375"/>
                  <a:gd name="T57" fmla="*/ 43 h 234"/>
                  <a:gd name="T58" fmla="*/ 112 w 375"/>
                  <a:gd name="T59" fmla="*/ 25 h 234"/>
                  <a:gd name="T60" fmla="*/ 130 w 375"/>
                  <a:gd name="T61" fmla="*/ 12 h 234"/>
                  <a:gd name="T62" fmla="*/ 149 w 375"/>
                  <a:gd name="T63" fmla="*/ 3 h 234"/>
                  <a:gd name="T64" fmla="*/ 171 w 375"/>
                  <a:gd name="T65" fmla="*/ 0 h 234"/>
                  <a:gd name="T66" fmla="*/ 0 w 375"/>
                  <a:gd name="T67" fmla="*/ 0 h 234"/>
                  <a:gd name="T68" fmla="*/ 375 w 375"/>
                  <a:gd name="T6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T66" t="T67" r="T68" b="T69"/>
                <a:pathLst>
                  <a:path w="375" h="234">
                    <a:moveTo>
                      <a:pt x="348" y="0"/>
                    </a:moveTo>
                    <a:lnTo>
                      <a:pt x="354" y="0"/>
                    </a:lnTo>
                    <a:lnTo>
                      <a:pt x="359" y="3"/>
                    </a:lnTo>
                    <a:lnTo>
                      <a:pt x="363" y="6"/>
                    </a:lnTo>
                    <a:lnTo>
                      <a:pt x="367" y="9"/>
                    </a:lnTo>
                    <a:lnTo>
                      <a:pt x="371" y="13"/>
                    </a:lnTo>
                    <a:lnTo>
                      <a:pt x="373" y="19"/>
                    </a:lnTo>
                    <a:lnTo>
                      <a:pt x="375" y="25"/>
                    </a:lnTo>
                    <a:lnTo>
                      <a:pt x="375" y="31"/>
                    </a:lnTo>
                    <a:lnTo>
                      <a:pt x="373" y="42"/>
                    </a:lnTo>
                    <a:lnTo>
                      <a:pt x="370" y="51"/>
                    </a:lnTo>
                    <a:lnTo>
                      <a:pt x="253" y="62"/>
                    </a:lnTo>
                    <a:lnTo>
                      <a:pt x="253" y="59"/>
                    </a:lnTo>
                    <a:lnTo>
                      <a:pt x="254" y="57"/>
                    </a:lnTo>
                    <a:lnTo>
                      <a:pt x="253" y="54"/>
                    </a:lnTo>
                    <a:lnTo>
                      <a:pt x="252" y="51"/>
                    </a:lnTo>
                    <a:lnTo>
                      <a:pt x="249" y="49"/>
                    </a:lnTo>
                    <a:lnTo>
                      <a:pt x="246" y="49"/>
                    </a:lnTo>
                    <a:lnTo>
                      <a:pt x="216" y="49"/>
                    </a:lnTo>
                    <a:lnTo>
                      <a:pt x="209" y="49"/>
                    </a:lnTo>
                    <a:lnTo>
                      <a:pt x="204" y="52"/>
                    </a:lnTo>
                    <a:lnTo>
                      <a:pt x="200" y="55"/>
                    </a:lnTo>
                    <a:lnTo>
                      <a:pt x="196" y="59"/>
                    </a:lnTo>
                    <a:lnTo>
                      <a:pt x="123" y="171"/>
                    </a:lnTo>
                    <a:lnTo>
                      <a:pt x="122" y="174"/>
                    </a:lnTo>
                    <a:lnTo>
                      <a:pt x="122" y="177"/>
                    </a:lnTo>
                    <a:lnTo>
                      <a:pt x="123" y="180"/>
                    </a:lnTo>
                    <a:lnTo>
                      <a:pt x="125" y="183"/>
                    </a:lnTo>
                    <a:lnTo>
                      <a:pt x="126" y="185"/>
                    </a:lnTo>
                    <a:lnTo>
                      <a:pt x="130" y="185"/>
                    </a:lnTo>
                    <a:lnTo>
                      <a:pt x="160" y="185"/>
                    </a:lnTo>
                    <a:lnTo>
                      <a:pt x="166" y="185"/>
                    </a:lnTo>
                    <a:lnTo>
                      <a:pt x="171" y="182"/>
                    </a:lnTo>
                    <a:lnTo>
                      <a:pt x="176" y="179"/>
                    </a:lnTo>
                    <a:lnTo>
                      <a:pt x="180" y="174"/>
                    </a:lnTo>
                    <a:lnTo>
                      <a:pt x="253" y="62"/>
                    </a:lnTo>
                    <a:lnTo>
                      <a:pt x="370" y="51"/>
                    </a:lnTo>
                    <a:lnTo>
                      <a:pt x="279" y="190"/>
                    </a:lnTo>
                    <a:lnTo>
                      <a:pt x="272" y="199"/>
                    </a:lnTo>
                    <a:lnTo>
                      <a:pt x="264" y="208"/>
                    </a:lnTo>
                    <a:lnTo>
                      <a:pt x="255" y="216"/>
                    </a:lnTo>
                    <a:lnTo>
                      <a:pt x="246" y="222"/>
                    </a:lnTo>
                    <a:lnTo>
                      <a:pt x="236" y="226"/>
                    </a:lnTo>
                    <a:lnTo>
                      <a:pt x="226" y="231"/>
                    </a:lnTo>
                    <a:lnTo>
                      <a:pt x="216" y="232"/>
                    </a:lnTo>
                    <a:lnTo>
                      <a:pt x="204" y="234"/>
                    </a:lnTo>
                    <a:lnTo>
                      <a:pt x="27" y="234"/>
                    </a:lnTo>
                    <a:lnTo>
                      <a:pt x="22" y="234"/>
                    </a:lnTo>
                    <a:lnTo>
                      <a:pt x="17" y="231"/>
                    </a:lnTo>
                    <a:lnTo>
                      <a:pt x="12" y="228"/>
                    </a:lnTo>
                    <a:lnTo>
                      <a:pt x="8" y="225"/>
                    </a:lnTo>
                    <a:lnTo>
                      <a:pt x="5" y="220"/>
                    </a:lnTo>
                    <a:lnTo>
                      <a:pt x="3" y="214"/>
                    </a:lnTo>
                    <a:lnTo>
                      <a:pt x="1" y="208"/>
                    </a:lnTo>
                    <a:lnTo>
                      <a:pt x="0" y="202"/>
                    </a:lnTo>
                    <a:lnTo>
                      <a:pt x="1" y="192"/>
                    </a:lnTo>
                    <a:lnTo>
                      <a:pt x="5" y="183"/>
                    </a:lnTo>
                    <a:lnTo>
                      <a:pt x="98" y="43"/>
                    </a:lnTo>
                    <a:lnTo>
                      <a:pt x="104" y="33"/>
                    </a:lnTo>
                    <a:lnTo>
                      <a:pt x="112" y="25"/>
                    </a:lnTo>
                    <a:lnTo>
                      <a:pt x="121" y="18"/>
                    </a:lnTo>
                    <a:lnTo>
                      <a:pt x="130" y="12"/>
                    </a:lnTo>
                    <a:lnTo>
                      <a:pt x="139" y="6"/>
                    </a:lnTo>
                    <a:lnTo>
                      <a:pt x="149" y="3"/>
                    </a:lnTo>
                    <a:lnTo>
                      <a:pt x="160" y="0"/>
                    </a:lnTo>
                    <a:lnTo>
                      <a:pt x="171" y="0"/>
                    </a:lnTo>
                    <a:lnTo>
                      <a:pt x="348" y="0"/>
                    </a:lnTo>
                    <a:close/>
                  </a:path>
                </a:pathLst>
              </a:custGeom>
              <a:solidFill>
                <a:srgbClr val="0400BA"/>
              </a:solidFill>
              <a:ln w="9525">
                <a:noFill/>
                <a:round/>
                <a:headEnd/>
                <a:tailEnd/>
              </a:ln>
              <a:effectLst/>
            </p:spPr>
            <p:txBody>
              <a:bodyPr wrap="none" anchor="ctr"/>
              <a:lstStyle/>
              <a:p>
                <a:endParaRPr lang="en-US" dirty="0"/>
              </a:p>
            </p:txBody>
          </p:sp>
        </p:grpSp>
        <p:grpSp>
          <p:nvGrpSpPr>
            <p:cNvPr id="1044" name="Group 20"/>
            <p:cNvGrpSpPr>
              <a:grpSpLocks/>
            </p:cNvGrpSpPr>
            <p:nvPr/>
          </p:nvGrpSpPr>
          <p:grpSpPr bwMode="auto">
            <a:xfrm>
              <a:off x="5086" y="496"/>
              <a:ext cx="174" cy="136"/>
              <a:chOff x="5086" y="496"/>
              <a:chExt cx="174" cy="136"/>
            </a:xfrm>
          </p:grpSpPr>
          <p:sp>
            <p:nvSpPr>
              <p:cNvPr id="1045" name="AutoShape 21"/>
              <p:cNvSpPr>
                <a:spLocks noChangeArrowheads="1"/>
              </p:cNvSpPr>
              <p:nvPr/>
            </p:nvSpPr>
            <p:spPr bwMode="auto">
              <a:xfrm>
                <a:off x="5086" y="512"/>
                <a:ext cx="100" cy="95"/>
              </a:xfrm>
              <a:custGeom>
                <a:avLst/>
                <a:gdLst>
                  <a:gd name="T0" fmla="*/ 234 w 389"/>
                  <a:gd name="T1" fmla="*/ 5 h 451"/>
                  <a:gd name="T2" fmla="*/ 287 w 389"/>
                  <a:gd name="T3" fmla="*/ 27 h 451"/>
                  <a:gd name="T4" fmla="*/ 332 w 389"/>
                  <a:gd name="T5" fmla="*/ 66 h 451"/>
                  <a:gd name="T6" fmla="*/ 366 w 389"/>
                  <a:gd name="T7" fmla="*/ 118 h 451"/>
                  <a:gd name="T8" fmla="*/ 385 w 389"/>
                  <a:gd name="T9" fmla="*/ 181 h 451"/>
                  <a:gd name="T10" fmla="*/ 388 w 389"/>
                  <a:gd name="T11" fmla="*/ 249 h 451"/>
                  <a:gd name="T12" fmla="*/ 373 w 389"/>
                  <a:gd name="T13" fmla="*/ 315 h 451"/>
                  <a:gd name="T14" fmla="*/ 345 w 389"/>
                  <a:gd name="T15" fmla="*/ 370 h 451"/>
                  <a:gd name="T16" fmla="*/ 303 w 389"/>
                  <a:gd name="T17" fmla="*/ 414 h 451"/>
                  <a:gd name="T18" fmla="*/ 253 w 389"/>
                  <a:gd name="T19" fmla="*/ 443 h 451"/>
                  <a:gd name="T20" fmla="*/ 194 w 389"/>
                  <a:gd name="T21" fmla="*/ 451 h 451"/>
                  <a:gd name="T22" fmla="*/ 136 w 389"/>
                  <a:gd name="T23" fmla="*/ 443 h 451"/>
                  <a:gd name="T24" fmla="*/ 86 w 389"/>
                  <a:gd name="T25" fmla="*/ 414 h 451"/>
                  <a:gd name="T26" fmla="*/ 44 w 389"/>
                  <a:gd name="T27" fmla="*/ 370 h 451"/>
                  <a:gd name="T28" fmla="*/ 15 w 389"/>
                  <a:gd name="T29" fmla="*/ 315 h 451"/>
                  <a:gd name="T30" fmla="*/ 0 w 389"/>
                  <a:gd name="T31" fmla="*/ 249 h 451"/>
                  <a:gd name="T32" fmla="*/ 4 w 389"/>
                  <a:gd name="T33" fmla="*/ 181 h 451"/>
                  <a:gd name="T34" fmla="*/ 23 w 389"/>
                  <a:gd name="T35" fmla="*/ 118 h 451"/>
                  <a:gd name="T36" fmla="*/ 56 w 389"/>
                  <a:gd name="T37" fmla="*/ 66 h 451"/>
                  <a:gd name="T38" fmla="*/ 101 w 389"/>
                  <a:gd name="T39" fmla="*/ 27 h 451"/>
                  <a:gd name="T40" fmla="*/ 155 w 389"/>
                  <a:gd name="T41" fmla="*/ 5 h 451"/>
                  <a:gd name="T42" fmla="*/ 194 w 389"/>
                  <a:gd name="T43" fmla="*/ 17 h 451"/>
                  <a:gd name="T44" fmla="*/ 141 w 389"/>
                  <a:gd name="T45" fmla="*/ 27 h 451"/>
                  <a:gd name="T46" fmla="*/ 94 w 389"/>
                  <a:gd name="T47" fmla="*/ 53 h 451"/>
                  <a:gd name="T48" fmla="*/ 55 w 389"/>
                  <a:gd name="T49" fmla="*/ 93 h 451"/>
                  <a:gd name="T50" fmla="*/ 28 w 389"/>
                  <a:gd name="T51" fmla="*/ 145 h 451"/>
                  <a:gd name="T52" fmla="*/ 15 w 389"/>
                  <a:gd name="T53" fmla="*/ 204 h 451"/>
                  <a:gd name="T54" fmla="*/ 18 w 389"/>
                  <a:gd name="T55" fmla="*/ 268 h 451"/>
                  <a:gd name="T56" fmla="*/ 36 w 389"/>
                  <a:gd name="T57" fmla="*/ 326 h 451"/>
                  <a:gd name="T58" fmla="*/ 67 w 389"/>
                  <a:gd name="T59" fmla="*/ 374 h 451"/>
                  <a:gd name="T60" fmla="*/ 108 w 389"/>
                  <a:gd name="T61" fmla="*/ 410 h 451"/>
                  <a:gd name="T62" fmla="*/ 158 w 389"/>
                  <a:gd name="T63" fmla="*/ 431 h 451"/>
                  <a:gd name="T64" fmla="*/ 213 w 389"/>
                  <a:gd name="T65" fmla="*/ 434 h 451"/>
                  <a:gd name="T66" fmla="*/ 264 w 389"/>
                  <a:gd name="T67" fmla="*/ 419 h 451"/>
                  <a:gd name="T68" fmla="*/ 309 w 389"/>
                  <a:gd name="T69" fmla="*/ 387 h 451"/>
                  <a:gd name="T70" fmla="*/ 344 w 389"/>
                  <a:gd name="T71" fmla="*/ 343 h 451"/>
                  <a:gd name="T72" fmla="*/ 366 w 389"/>
                  <a:gd name="T73" fmla="*/ 288 h 451"/>
                  <a:gd name="T74" fmla="*/ 375 w 389"/>
                  <a:gd name="T75" fmla="*/ 227 h 451"/>
                  <a:gd name="T76" fmla="*/ 366 w 389"/>
                  <a:gd name="T77" fmla="*/ 164 h 451"/>
                  <a:gd name="T78" fmla="*/ 344 w 389"/>
                  <a:gd name="T79" fmla="*/ 109 h 451"/>
                  <a:gd name="T80" fmla="*/ 309 w 389"/>
                  <a:gd name="T81" fmla="*/ 64 h 451"/>
                  <a:gd name="T82" fmla="*/ 264 w 389"/>
                  <a:gd name="T83" fmla="*/ 33 h 451"/>
                  <a:gd name="T84" fmla="*/ 213 w 389"/>
                  <a:gd name="T85" fmla="*/ 18 h 451"/>
                  <a:gd name="T86" fmla="*/ 0 w 389"/>
                  <a:gd name="T87" fmla="*/ 0 h 451"/>
                  <a:gd name="T88" fmla="*/ 389 w 389"/>
                  <a:gd name="T89" fmla="*/ 451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T86" t="T87" r="T88" b="T89"/>
                <a:pathLst>
                  <a:path w="389" h="451">
                    <a:moveTo>
                      <a:pt x="194" y="0"/>
                    </a:moveTo>
                    <a:lnTo>
                      <a:pt x="214" y="2"/>
                    </a:lnTo>
                    <a:lnTo>
                      <a:pt x="234" y="5"/>
                    </a:lnTo>
                    <a:lnTo>
                      <a:pt x="253" y="11"/>
                    </a:lnTo>
                    <a:lnTo>
                      <a:pt x="269" y="18"/>
                    </a:lnTo>
                    <a:lnTo>
                      <a:pt x="287" y="27"/>
                    </a:lnTo>
                    <a:lnTo>
                      <a:pt x="303" y="39"/>
                    </a:lnTo>
                    <a:lnTo>
                      <a:pt x="318" y="51"/>
                    </a:lnTo>
                    <a:lnTo>
                      <a:pt x="332" y="66"/>
                    </a:lnTo>
                    <a:lnTo>
                      <a:pt x="345" y="82"/>
                    </a:lnTo>
                    <a:lnTo>
                      <a:pt x="355" y="100"/>
                    </a:lnTo>
                    <a:lnTo>
                      <a:pt x="366" y="118"/>
                    </a:lnTo>
                    <a:lnTo>
                      <a:pt x="373" y="139"/>
                    </a:lnTo>
                    <a:lnTo>
                      <a:pt x="380" y="158"/>
                    </a:lnTo>
                    <a:lnTo>
                      <a:pt x="385" y="181"/>
                    </a:lnTo>
                    <a:lnTo>
                      <a:pt x="388" y="203"/>
                    </a:lnTo>
                    <a:lnTo>
                      <a:pt x="389" y="227"/>
                    </a:lnTo>
                    <a:lnTo>
                      <a:pt x="388" y="249"/>
                    </a:lnTo>
                    <a:lnTo>
                      <a:pt x="385" y="271"/>
                    </a:lnTo>
                    <a:lnTo>
                      <a:pt x="380" y="294"/>
                    </a:lnTo>
                    <a:lnTo>
                      <a:pt x="373" y="315"/>
                    </a:lnTo>
                    <a:lnTo>
                      <a:pt x="366" y="334"/>
                    </a:lnTo>
                    <a:lnTo>
                      <a:pt x="355" y="353"/>
                    </a:lnTo>
                    <a:lnTo>
                      <a:pt x="345" y="370"/>
                    </a:lnTo>
                    <a:lnTo>
                      <a:pt x="332" y="386"/>
                    </a:lnTo>
                    <a:lnTo>
                      <a:pt x="318" y="401"/>
                    </a:lnTo>
                    <a:lnTo>
                      <a:pt x="303" y="414"/>
                    </a:lnTo>
                    <a:lnTo>
                      <a:pt x="287" y="425"/>
                    </a:lnTo>
                    <a:lnTo>
                      <a:pt x="269" y="435"/>
                    </a:lnTo>
                    <a:lnTo>
                      <a:pt x="253" y="443"/>
                    </a:lnTo>
                    <a:lnTo>
                      <a:pt x="234" y="447"/>
                    </a:lnTo>
                    <a:lnTo>
                      <a:pt x="214" y="451"/>
                    </a:lnTo>
                    <a:lnTo>
                      <a:pt x="194" y="451"/>
                    </a:lnTo>
                    <a:lnTo>
                      <a:pt x="175" y="451"/>
                    </a:lnTo>
                    <a:lnTo>
                      <a:pt x="155" y="447"/>
                    </a:lnTo>
                    <a:lnTo>
                      <a:pt x="136" y="443"/>
                    </a:lnTo>
                    <a:lnTo>
                      <a:pt x="118" y="435"/>
                    </a:lnTo>
                    <a:lnTo>
                      <a:pt x="101" y="425"/>
                    </a:lnTo>
                    <a:lnTo>
                      <a:pt x="86" y="414"/>
                    </a:lnTo>
                    <a:lnTo>
                      <a:pt x="71" y="401"/>
                    </a:lnTo>
                    <a:lnTo>
                      <a:pt x="56" y="386"/>
                    </a:lnTo>
                    <a:lnTo>
                      <a:pt x="44" y="370"/>
                    </a:lnTo>
                    <a:lnTo>
                      <a:pt x="33" y="353"/>
                    </a:lnTo>
                    <a:lnTo>
                      <a:pt x="23" y="334"/>
                    </a:lnTo>
                    <a:lnTo>
                      <a:pt x="15" y="315"/>
                    </a:lnTo>
                    <a:lnTo>
                      <a:pt x="8" y="294"/>
                    </a:lnTo>
                    <a:lnTo>
                      <a:pt x="4" y="271"/>
                    </a:lnTo>
                    <a:lnTo>
                      <a:pt x="0" y="249"/>
                    </a:lnTo>
                    <a:lnTo>
                      <a:pt x="0" y="227"/>
                    </a:lnTo>
                    <a:lnTo>
                      <a:pt x="0" y="203"/>
                    </a:lnTo>
                    <a:lnTo>
                      <a:pt x="4" y="181"/>
                    </a:lnTo>
                    <a:lnTo>
                      <a:pt x="8" y="158"/>
                    </a:lnTo>
                    <a:lnTo>
                      <a:pt x="15" y="139"/>
                    </a:lnTo>
                    <a:lnTo>
                      <a:pt x="23" y="118"/>
                    </a:lnTo>
                    <a:lnTo>
                      <a:pt x="33" y="100"/>
                    </a:lnTo>
                    <a:lnTo>
                      <a:pt x="44" y="82"/>
                    </a:lnTo>
                    <a:lnTo>
                      <a:pt x="56" y="66"/>
                    </a:lnTo>
                    <a:lnTo>
                      <a:pt x="71" y="51"/>
                    </a:lnTo>
                    <a:lnTo>
                      <a:pt x="86" y="39"/>
                    </a:lnTo>
                    <a:lnTo>
                      <a:pt x="101" y="27"/>
                    </a:lnTo>
                    <a:lnTo>
                      <a:pt x="118" y="18"/>
                    </a:lnTo>
                    <a:lnTo>
                      <a:pt x="136" y="11"/>
                    </a:lnTo>
                    <a:lnTo>
                      <a:pt x="155" y="5"/>
                    </a:lnTo>
                    <a:lnTo>
                      <a:pt x="175" y="2"/>
                    </a:lnTo>
                    <a:lnTo>
                      <a:pt x="194" y="0"/>
                    </a:lnTo>
                    <a:lnTo>
                      <a:pt x="194" y="17"/>
                    </a:lnTo>
                    <a:lnTo>
                      <a:pt x="176" y="18"/>
                    </a:lnTo>
                    <a:lnTo>
                      <a:pt x="158" y="21"/>
                    </a:lnTo>
                    <a:lnTo>
                      <a:pt x="141" y="27"/>
                    </a:lnTo>
                    <a:lnTo>
                      <a:pt x="124" y="33"/>
                    </a:lnTo>
                    <a:lnTo>
                      <a:pt x="108" y="42"/>
                    </a:lnTo>
                    <a:lnTo>
                      <a:pt x="94" y="53"/>
                    </a:lnTo>
                    <a:lnTo>
                      <a:pt x="80" y="64"/>
                    </a:lnTo>
                    <a:lnTo>
                      <a:pt x="67" y="78"/>
                    </a:lnTo>
                    <a:lnTo>
                      <a:pt x="55" y="93"/>
                    </a:lnTo>
                    <a:lnTo>
                      <a:pt x="45" y="109"/>
                    </a:lnTo>
                    <a:lnTo>
                      <a:pt x="36" y="127"/>
                    </a:lnTo>
                    <a:lnTo>
                      <a:pt x="28" y="145"/>
                    </a:lnTo>
                    <a:lnTo>
                      <a:pt x="22" y="164"/>
                    </a:lnTo>
                    <a:lnTo>
                      <a:pt x="18" y="184"/>
                    </a:lnTo>
                    <a:lnTo>
                      <a:pt x="15" y="204"/>
                    </a:lnTo>
                    <a:lnTo>
                      <a:pt x="14" y="227"/>
                    </a:lnTo>
                    <a:lnTo>
                      <a:pt x="15" y="248"/>
                    </a:lnTo>
                    <a:lnTo>
                      <a:pt x="18" y="268"/>
                    </a:lnTo>
                    <a:lnTo>
                      <a:pt x="22" y="288"/>
                    </a:lnTo>
                    <a:lnTo>
                      <a:pt x="28" y="307"/>
                    </a:lnTo>
                    <a:lnTo>
                      <a:pt x="36" y="326"/>
                    </a:lnTo>
                    <a:lnTo>
                      <a:pt x="45" y="343"/>
                    </a:lnTo>
                    <a:lnTo>
                      <a:pt x="55" y="359"/>
                    </a:lnTo>
                    <a:lnTo>
                      <a:pt x="67" y="374"/>
                    </a:lnTo>
                    <a:lnTo>
                      <a:pt x="80" y="387"/>
                    </a:lnTo>
                    <a:lnTo>
                      <a:pt x="94" y="399"/>
                    </a:lnTo>
                    <a:lnTo>
                      <a:pt x="108" y="410"/>
                    </a:lnTo>
                    <a:lnTo>
                      <a:pt x="124" y="419"/>
                    </a:lnTo>
                    <a:lnTo>
                      <a:pt x="141" y="426"/>
                    </a:lnTo>
                    <a:lnTo>
                      <a:pt x="158" y="431"/>
                    </a:lnTo>
                    <a:lnTo>
                      <a:pt x="176" y="434"/>
                    </a:lnTo>
                    <a:lnTo>
                      <a:pt x="194" y="435"/>
                    </a:lnTo>
                    <a:lnTo>
                      <a:pt x="213" y="434"/>
                    </a:lnTo>
                    <a:lnTo>
                      <a:pt x="231" y="431"/>
                    </a:lnTo>
                    <a:lnTo>
                      <a:pt x="248" y="426"/>
                    </a:lnTo>
                    <a:lnTo>
                      <a:pt x="264" y="419"/>
                    </a:lnTo>
                    <a:lnTo>
                      <a:pt x="280" y="410"/>
                    </a:lnTo>
                    <a:lnTo>
                      <a:pt x="295" y="399"/>
                    </a:lnTo>
                    <a:lnTo>
                      <a:pt x="309" y="387"/>
                    </a:lnTo>
                    <a:lnTo>
                      <a:pt x="322" y="374"/>
                    </a:lnTo>
                    <a:lnTo>
                      <a:pt x="334" y="359"/>
                    </a:lnTo>
                    <a:lnTo>
                      <a:pt x="344" y="343"/>
                    </a:lnTo>
                    <a:lnTo>
                      <a:pt x="353" y="326"/>
                    </a:lnTo>
                    <a:lnTo>
                      <a:pt x="361" y="307"/>
                    </a:lnTo>
                    <a:lnTo>
                      <a:pt x="366" y="288"/>
                    </a:lnTo>
                    <a:lnTo>
                      <a:pt x="371" y="268"/>
                    </a:lnTo>
                    <a:lnTo>
                      <a:pt x="373" y="248"/>
                    </a:lnTo>
                    <a:lnTo>
                      <a:pt x="375" y="227"/>
                    </a:lnTo>
                    <a:lnTo>
                      <a:pt x="373" y="204"/>
                    </a:lnTo>
                    <a:lnTo>
                      <a:pt x="371" y="184"/>
                    </a:lnTo>
                    <a:lnTo>
                      <a:pt x="366" y="164"/>
                    </a:lnTo>
                    <a:lnTo>
                      <a:pt x="361" y="145"/>
                    </a:lnTo>
                    <a:lnTo>
                      <a:pt x="353" y="127"/>
                    </a:lnTo>
                    <a:lnTo>
                      <a:pt x="344" y="109"/>
                    </a:lnTo>
                    <a:lnTo>
                      <a:pt x="334" y="93"/>
                    </a:lnTo>
                    <a:lnTo>
                      <a:pt x="322" y="78"/>
                    </a:lnTo>
                    <a:lnTo>
                      <a:pt x="309" y="64"/>
                    </a:lnTo>
                    <a:lnTo>
                      <a:pt x="295" y="53"/>
                    </a:lnTo>
                    <a:lnTo>
                      <a:pt x="280" y="42"/>
                    </a:lnTo>
                    <a:lnTo>
                      <a:pt x="264" y="33"/>
                    </a:lnTo>
                    <a:lnTo>
                      <a:pt x="248" y="27"/>
                    </a:lnTo>
                    <a:lnTo>
                      <a:pt x="231" y="21"/>
                    </a:lnTo>
                    <a:lnTo>
                      <a:pt x="213" y="18"/>
                    </a:lnTo>
                    <a:lnTo>
                      <a:pt x="194" y="17"/>
                    </a:lnTo>
                    <a:lnTo>
                      <a:pt x="194" y="0"/>
                    </a:lnTo>
                    <a:close/>
                  </a:path>
                </a:pathLst>
              </a:custGeom>
              <a:solidFill>
                <a:srgbClr val="878787"/>
              </a:solidFill>
              <a:ln w="9525">
                <a:noFill/>
                <a:round/>
                <a:headEnd/>
                <a:tailEnd/>
              </a:ln>
              <a:effectLst/>
            </p:spPr>
            <p:txBody>
              <a:bodyPr wrap="none" anchor="ctr"/>
              <a:lstStyle/>
              <a:p>
                <a:endParaRPr lang="en-US" dirty="0"/>
              </a:p>
            </p:txBody>
          </p:sp>
          <p:sp>
            <p:nvSpPr>
              <p:cNvPr id="1046" name="AutoShape 22"/>
              <p:cNvSpPr>
                <a:spLocks noChangeArrowheads="1"/>
              </p:cNvSpPr>
              <p:nvPr/>
            </p:nvSpPr>
            <p:spPr bwMode="auto">
              <a:xfrm>
                <a:off x="5090" y="496"/>
                <a:ext cx="100" cy="137"/>
              </a:xfrm>
              <a:custGeom>
                <a:avLst/>
                <a:gdLst>
                  <a:gd name="T0" fmla="*/ 363 w 389"/>
                  <a:gd name="T1" fmla="*/ 18 h 646"/>
                  <a:gd name="T2" fmla="*/ 313 w 389"/>
                  <a:gd name="T3" fmla="*/ 58 h 646"/>
                  <a:gd name="T4" fmla="*/ 244 w 389"/>
                  <a:gd name="T5" fmla="*/ 125 h 646"/>
                  <a:gd name="T6" fmla="*/ 181 w 389"/>
                  <a:gd name="T7" fmla="*/ 195 h 646"/>
                  <a:gd name="T8" fmla="*/ 144 w 389"/>
                  <a:gd name="T9" fmla="*/ 244 h 646"/>
                  <a:gd name="T10" fmla="*/ 110 w 389"/>
                  <a:gd name="T11" fmla="*/ 295 h 646"/>
                  <a:gd name="T12" fmla="*/ 82 w 389"/>
                  <a:gd name="T13" fmla="*/ 342 h 646"/>
                  <a:gd name="T14" fmla="*/ 57 w 389"/>
                  <a:gd name="T15" fmla="*/ 391 h 646"/>
                  <a:gd name="T16" fmla="*/ 36 w 389"/>
                  <a:gd name="T17" fmla="*/ 438 h 646"/>
                  <a:gd name="T18" fmla="*/ 19 w 389"/>
                  <a:gd name="T19" fmla="*/ 481 h 646"/>
                  <a:gd name="T20" fmla="*/ 8 w 389"/>
                  <a:gd name="T21" fmla="*/ 521 h 646"/>
                  <a:gd name="T22" fmla="*/ 1 w 389"/>
                  <a:gd name="T23" fmla="*/ 557 h 646"/>
                  <a:gd name="T24" fmla="*/ 0 w 389"/>
                  <a:gd name="T25" fmla="*/ 588 h 646"/>
                  <a:gd name="T26" fmla="*/ 5 w 389"/>
                  <a:gd name="T27" fmla="*/ 613 h 646"/>
                  <a:gd name="T28" fmla="*/ 14 w 389"/>
                  <a:gd name="T29" fmla="*/ 633 h 646"/>
                  <a:gd name="T30" fmla="*/ 28 w 389"/>
                  <a:gd name="T31" fmla="*/ 643 h 646"/>
                  <a:gd name="T32" fmla="*/ 45 w 389"/>
                  <a:gd name="T33" fmla="*/ 646 h 646"/>
                  <a:gd name="T34" fmla="*/ 64 w 389"/>
                  <a:gd name="T35" fmla="*/ 643 h 646"/>
                  <a:gd name="T36" fmla="*/ 86 w 389"/>
                  <a:gd name="T37" fmla="*/ 634 h 646"/>
                  <a:gd name="T38" fmla="*/ 108 w 389"/>
                  <a:gd name="T39" fmla="*/ 621 h 646"/>
                  <a:gd name="T40" fmla="*/ 130 w 389"/>
                  <a:gd name="T41" fmla="*/ 601 h 646"/>
                  <a:gd name="T42" fmla="*/ 161 w 389"/>
                  <a:gd name="T43" fmla="*/ 566 h 646"/>
                  <a:gd name="T44" fmla="*/ 178 w 389"/>
                  <a:gd name="T45" fmla="*/ 537 h 646"/>
                  <a:gd name="T46" fmla="*/ 172 w 389"/>
                  <a:gd name="T47" fmla="*/ 543 h 646"/>
                  <a:gd name="T48" fmla="*/ 162 w 389"/>
                  <a:gd name="T49" fmla="*/ 554 h 646"/>
                  <a:gd name="T50" fmla="*/ 148 w 389"/>
                  <a:gd name="T51" fmla="*/ 566 h 646"/>
                  <a:gd name="T52" fmla="*/ 130 w 389"/>
                  <a:gd name="T53" fmla="*/ 578 h 646"/>
                  <a:gd name="T54" fmla="*/ 112 w 389"/>
                  <a:gd name="T55" fmla="*/ 588 h 646"/>
                  <a:gd name="T56" fmla="*/ 94 w 389"/>
                  <a:gd name="T57" fmla="*/ 595 h 646"/>
                  <a:gd name="T58" fmla="*/ 77 w 389"/>
                  <a:gd name="T59" fmla="*/ 595 h 646"/>
                  <a:gd name="T60" fmla="*/ 63 w 389"/>
                  <a:gd name="T61" fmla="*/ 589 h 646"/>
                  <a:gd name="T62" fmla="*/ 55 w 389"/>
                  <a:gd name="T63" fmla="*/ 578 h 646"/>
                  <a:gd name="T64" fmla="*/ 51 w 389"/>
                  <a:gd name="T65" fmla="*/ 560 h 646"/>
                  <a:gd name="T66" fmla="*/ 51 w 389"/>
                  <a:gd name="T67" fmla="*/ 536 h 646"/>
                  <a:gd name="T68" fmla="*/ 57 w 389"/>
                  <a:gd name="T69" fmla="*/ 506 h 646"/>
                  <a:gd name="T70" fmla="*/ 67 w 389"/>
                  <a:gd name="T71" fmla="*/ 473 h 646"/>
                  <a:gd name="T72" fmla="*/ 81 w 389"/>
                  <a:gd name="T73" fmla="*/ 438 h 646"/>
                  <a:gd name="T74" fmla="*/ 99 w 389"/>
                  <a:gd name="T75" fmla="*/ 397 h 646"/>
                  <a:gd name="T76" fmla="*/ 132 w 389"/>
                  <a:gd name="T77" fmla="*/ 332 h 646"/>
                  <a:gd name="T78" fmla="*/ 190 w 389"/>
                  <a:gd name="T79" fmla="*/ 238 h 646"/>
                  <a:gd name="T80" fmla="*/ 261 w 389"/>
                  <a:gd name="T81" fmla="*/ 141 h 646"/>
                  <a:gd name="T82" fmla="*/ 344 w 389"/>
                  <a:gd name="T83" fmla="*/ 46 h 646"/>
                  <a:gd name="T84" fmla="*/ 0 w 389"/>
                  <a:gd name="T85" fmla="*/ 0 h 646"/>
                  <a:gd name="T86" fmla="*/ 389 w 389"/>
                  <a:gd name="T87"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T84" t="T85" r="T86" b="T87"/>
                <a:pathLst>
                  <a:path w="389" h="646">
                    <a:moveTo>
                      <a:pt x="389" y="0"/>
                    </a:moveTo>
                    <a:lnTo>
                      <a:pt x="363" y="18"/>
                    </a:lnTo>
                    <a:lnTo>
                      <a:pt x="338" y="37"/>
                    </a:lnTo>
                    <a:lnTo>
                      <a:pt x="313" y="58"/>
                    </a:lnTo>
                    <a:lnTo>
                      <a:pt x="289" y="79"/>
                    </a:lnTo>
                    <a:lnTo>
                      <a:pt x="244" y="125"/>
                    </a:lnTo>
                    <a:lnTo>
                      <a:pt x="202" y="171"/>
                    </a:lnTo>
                    <a:lnTo>
                      <a:pt x="181" y="195"/>
                    </a:lnTo>
                    <a:lnTo>
                      <a:pt x="162" y="220"/>
                    </a:lnTo>
                    <a:lnTo>
                      <a:pt x="144" y="244"/>
                    </a:lnTo>
                    <a:lnTo>
                      <a:pt x="127" y="269"/>
                    </a:lnTo>
                    <a:lnTo>
                      <a:pt x="110" y="295"/>
                    </a:lnTo>
                    <a:lnTo>
                      <a:pt x="96" y="319"/>
                    </a:lnTo>
                    <a:lnTo>
                      <a:pt x="82" y="342"/>
                    </a:lnTo>
                    <a:lnTo>
                      <a:pt x="68" y="368"/>
                    </a:lnTo>
                    <a:lnTo>
                      <a:pt x="57" y="391"/>
                    </a:lnTo>
                    <a:lnTo>
                      <a:pt x="45" y="414"/>
                    </a:lnTo>
                    <a:lnTo>
                      <a:pt x="36" y="438"/>
                    </a:lnTo>
                    <a:lnTo>
                      <a:pt x="27" y="458"/>
                    </a:lnTo>
                    <a:lnTo>
                      <a:pt x="19" y="481"/>
                    </a:lnTo>
                    <a:lnTo>
                      <a:pt x="13" y="500"/>
                    </a:lnTo>
                    <a:lnTo>
                      <a:pt x="8" y="521"/>
                    </a:lnTo>
                    <a:lnTo>
                      <a:pt x="4" y="539"/>
                    </a:lnTo>
                    <a:lnTo>
                      <a:pt x="1" y="557"/>
                    </a:lnTo>
                    <a:lnTo>
                      <a:pt x="0" y="573"/>
                    </a:lnTo>
                    <a:lnTo>
                      <a:pt x="0" y="588"/>
                    </a:lnTo>
                    <a:lnTo>
                      <a:pt x="3" y="601"/>
                    </a:lnTo>
                    <a:lnTo>
                      <a:pt x="5" y="613"/>
                    </a:lnTo>
                    <a:lnTo>
                      <a:pt x="9" y="624"/>
                    </a:lnTo>
                    <a:lnTo>
                      <a:pt x="14" y="633"/>
                    </a:lnTo>
                    <a:lnTo>
                      <a:pt x="22" y="639"/>
                    </a:lnTo>
                    <a:lnTo>
                      <a:pt x="28" y="643"/>
                    </a:lnTo>
                    <a:lnTo>
                      <a:pt x="37" y="646"/>
                    </a:lnTo>
                    <a:lnTo>
                      <a:pt x="45" y="646"/>
                    </a:lnTo>
                    <a:lnTo>
                      <a:pt x="55" y="646"/>
                    </a:lnTo>
                    <a:lnTo>
                      <a:pt x="64" y="643"/>
                    </a:lnTo>
                    <a:lnTo>
                      <a:pt x="75" y="640"/>
                    </a:lnTo>
                    <a:lnTo>
                      <a:pt x="86" y="634"/>
                    </a:lnTo>
                    <a:lnTo>
                      <a:pt x="96" y="628"/>
                    </a:lnTo>
                    <a:lnTo>
                      <a:pt x="108" y="621"/>
                    </a:lnTo>
                    <a:lnTo>
                      <a:pt x="118" y="612"/>
                    </a:lnTo>
                    <a:lnTo>
                      <a:pt x="130" y="601"/>
                    </a:lnTo>
                    <a:lnTo>
                      <a:pt x="140" y="589"/>
                    </a:lnTo>
                    <a:lnTo>
                      <a:pt x="161" y="566"/>
                    </a:lnTo>
                    <a:lnTo>
                      <a:pt x="180" y="536"/>
                    </a:lnTo>
                    <a:lnTo>
                      <a:pt x="178" y="537"/>
                    </a:lnTo>
                    <a:lnTo>
                      <a:pt x="176" y="539"/>
                    </a:lnTo>
                    <a:lnTo>
                      <a:pt x="172" y="543"/>
                    </a:lnTo>
                    <a:lnTo>
                      <a:pt x="168" y="548"/>
                    </a:lnTo>
                    <a:lnTo>
                      <a:pt x="162" y="554"/>
                    </a:lnTo>
                    <a:lnTo>
                      <a:pt x="155" y="560"/>
                    </a:lnTo>
                    <a:lnTo>
                      <a:pt x="148" y="566"/>
                    </a:lnTo>
                    <a:lnTo>
                      <a:pt x="139" y="572"/>
                    </a:lnTo>
                    <a:lnTo>
                      <a:pt x="130" y="578"/>
                    </a:lnTo>
                    <a:lnTo>
                      <a:pt x="121" y="583"/>
                    </a:lnTo>
                    <a:lnTo>
                      <a:pt x="112" y="588"/>
                    </a:lnTo>
                    <a:lnTo>
                      <a:pt x="103" y="592"/>
                    </a:lnTo>
                    <a:lnTo>
                      <a:pt x="94" y="595"/>
                    </a:lnTo>
                    <a:lnTo>
                      <a:pt x="85" y="595"/>
                    </a:lnTo>
                    <a:lnTo>
                      <a:pt x="77" y="595"/>
                    </a:lnTo>
                    <a:lnTo>
                      <a:pt x="69" y="594"/>
                    </a:lnTo>
                    <a:lnTo>
                      <a:pt x="63" y="589"/>
                    </a:lnTo>
                    <a:lnTo>
                      <a:pt x="58" y="585"/>
                    </a:lnTo>
                    <a:lnTo>
                      <a:pt x="55" y="578"/>
                    </a:lnTo>
                    <a:lnTo>
                      <a:pt x="53" y="569"/>
                    </a:lnTo>
                    <a:lnTo>
                      <a:pt x="51" y="560"/>
                    </a:lnTo>
                    <a:lnTo>
                      <a:pt x="50" y="548"/>
                    </a:lnTo>
                    <a:lnTo>
                      <a:pt x="51" y="536"/>
                    </a:lnTo>
                    <a:lnTo>
                      <a:pt x="54" y="521"/>
                    </a:lnTo>
                    <a:lnTo>
                      <a:pt x="57" y="506"/>
                    </a:lnTo>
                    <a:lnTo>
                      <a:pt x="62" y="491"/>
                    </a:lnTo>
                    <a:lnTo>
                      <a:pt x="67" y="473"/>
                    </a:lnTo>
                    <a:lnTo>
                      <a:pt x="73" y="455"/>
                    </a:lnTo>
                    <a:lnTo>
                      <a:pt x="81" y="438"/>
                    </a:lnTo>
                    <a:lnTo>
                      <a:pt x="89" y="417"/>
                    </a:lnTo>
                    <a:lnTo>
                      <a:pt x="99" y="397"/>
                    </a:lnTo>
                    <a:lnTo>
                      <a:pt x="109" y="377"/>
                    </a:lnTo>
                    <a:lnTo>
                      <a:pt x="132" y="332"/>
                    </a:lnTo>
                    <a:lnTo>
                      <a:pt x="159" y="286"/>
                    </a:lnTo>
                    <a:lnTo>
                      <a:pt x="190" y="238"/>
                    </a:lnTo>
                    <a:lnTo>
                      <a:pt x="225" y="191"/>
                    </a:lnTo>
                    <a:lnTo>
                      <a:pt x="261" y="141"/>
                    </a:lnTo>
                    <a:lnTo>
                      <a:pt x="300" y="94"/>
                    </a:lnTo>
                    <a:lnTo>
                      <a:pt x="344" y="46"/>
                    </a:lnTo>
                    <a:lnTo>
                      <a:pt x="389" y="0"/>
                    </a:lnTo>
                    <a:close/>
                  </a:path>
                </a:pathLst>
              </a:custGeom>
              <a:solidFill>
                <a:srgbClr val="878787"/>
              </a:solidFill>
              <a:ln w="9525">
                <a:noFill/>
                <a:round/>
                <a:headEnd/>
                <a:tailEnd/>
              </a:ln>
              <a:effectLst/>
            </p:spPr>
            <p:txBody>
              <a:bodyPr wrap="none" anchor="ctr"/>
              <a:lstStyle/>
              <a:p>
                <a:endParaRPr lang="en-US" dirty="0"/>
              </a:p>
            </p:txBody>
          </p:sp>
          <p:sp>
            <p:nvSpPr>
              <p:cNvPr id="1047" name="AutoShape 23"/>
              <p:cNvSpPr>
                <a:spLocks noChangeArrowheads="1"/>
              </p:cNvSpPr>
              <p:nvPr/>
            </p:nvSpPr>
            <p:spPr bwMode="auto">
              <a:xfrm>
                <a:off x="5156" y="564"/>
                <a:ext cx="105" cy="33"/>
              </a:xfrm>
              <a:custGeom>
                <a:avLst/>
                <a:gdLst>
                  <a:gd name="T0" fmla="*/ 69 w 408"/>
                  <a:gd name="T1" fmla="*/ 153 h 153"/>
                  <a:gd name="T2" fmla="*/ 78 w 408"/>
                  <a:gd name="T3" fmla="*/ 152 h 153"/>
                  <a:gd name="T4" fmla="*/ 87 w 408"/>
                  <a:gd name="T5" fmla="*/ 152 h 153"/>
                  <a:gd name="T6" fmla="*/ 98 w 408"/>
                  <a:gd name="T7" fmla="*/ 150 h 153"/>
                  <a:gd name="T8" fmla="*/ 109 w 408"/>
                  <a:gd name="T9" fmla="*/ 150 h 153"/>
                  <a:gd name="T10" fmla="*/ 132 w 408"/>
                  <a:gd name="T11" fmla="*/ 149 h 153"/>
                  <a:gd name="T12" fmla="*/ 159 w 408"/>
                  <a:gd name="T13" fmla="*/ 147 h 153"/>
                  <a:gd name="T14" fmla="*/ 186 w 408"/>
                  <a:gd name="T15" fmla="*/ 146 h 153"/>
                  <a:gd name="T16" fmla="*/ 214 w 408"/>
                  <a:gd name="T17" fmla="*/ 144 h 153"/>
                  <a:gd name="T18" fmla="*/ 243 w 408"/>
                  <a:gd name="T19" fmla="*/ 143 h 153"/>
                  <a:gd name="T20" fmla="*/ 271 w 408"/>
                  <a:gd name="T21" fmla="*/ 141 h 153"/>
                  <a:gd name="T22" fmla="*/ 298 w 408"/>
                  <a:gd name="T23" fmla="*/ 141 h 153"/>
                  <a:gd name="T24" fmla="*/ 324 w 408"/>
                  <a:gd name="T25" fmla="*/ 140 h 153"/>
                  <a:gd name="T26" fmla="*/ 347 w 408"/>
                  <a:gd name="T27" fmla="*/ 140 h 153"/>
                  <a:gd name="T28" fmla="*/ 367 w 408"/>
                  <a:gd name="T29" fmla="*/ 138 h 153"/>
                  <a:gd name="T30" fmla="*/ 376 w 408"/>
                  <a:gd name="T31" fmla="*/ 138 h 153"/>
                  <a:gd name="T32" fmla="*/ 385 w 408"/>
                  <a:gd name="T33" fmla="*/ 138 h 153"/>
                  <a:gd name="T34" fmla="*/ 392 w 408"/>
                  <a:gd name="T35" fmla="*/ 138 h 153"/>
                  <a:gd name="T36" fmla="*/ 398 w 408"/>
                  <a:gd name="T37" fmla="*/ 137 h 153"/>
                  <a:gd name="T38" fmla="*/ 402 w 408"/>
                  <a:gd name="T39" fmla="*/ 137 h 153"/>
                  <a:gd name="T40" fmla="*/ 406 w 408"/>
                  <a:gd name="T41" fmla="*/ 137 h 153"/>
                  <a:gd name="T42" fmla="*/ 408 w 408"/>
                  <a:gd name="T43" fmla="*/ 137 h 153"/>
                  <a:gd name="T44" fmla="*/ 408 w 408"/>
                  <a:gd name="T45" fmla="*/ 135 h 153"/>
                  <a:gd name="T46" fmla="*/ 406 w 408"/>
                  <a:gd name="T47" fmla="*/ 134 h 153"/>
                  <a:gd name="T48" fmla="*/ 402 w 408"/>
                  <a:gd name="T49" fmla="*/ 132 h 153"/>
                  <a:gd name="T50" fmla="*/ 397 w 408"/>
                  <a:gd name="T51" fmla="*/ 132 h 153"/>
                  <a:gd name="T52" fmla="*/ 390 w 408"/>
                  <a:gd name="T53" fmla="*/ 131 h 153"/>
                  <a:gd name="T54" fmla="*/ 383 w 408"/>
                  <a:gd name="T55" fmla="*/ 131 h 153"/>
                  <a:gd name="T56" fmla="*/ 374 w 408"/>
                  <a:gd name="T57" fmla="*/ 130 h 153"/>
                  <a:gd name="T58" fmla="*/ 363 w 408"/>
                  <a:gd name="T59" fmla="*/ 128 h 153"/>
                  <a:gd name="T60" fmla="*/ 353 w 408"/>
                  <a:gd name="T61" fmla="*/ 128 h 153"/>
                  <a:gd name="T62" fmla="*/ 342 w 408"/>
                  <a:gd name="T63" fmla="*/ 127 h 153"/>
                  <a:gd name="T64" fmla="*/ 329 w 408"/>
                  <a:gd name="T65" fmla="*/ 125 h 153"/>
                  <a:gd name="T66" fmla="*/ 315 w 408"/>
                  <a:gd name="T67" fmla="*/ 124 h 153"/>
                  <a:gd name="T68" fmla="*/ 286 w 408"/>
                  <a:gd name="T69" fmla="*/ 121 h 153"/>
                  <a:gd name="T70" fmla="*/ 256 w 408"/>
                  <a:gd name="T71" fmla="*/ 116 h 153"/>
                  <a:gd name="T72" fmla="*/ 222 w 408"/>
                  <a:gd name="T73" fmla="*/ 110 h 153"/>
                  <a:gd name="T74" fmla="*/ 189 w 408"/>
                  <a:gd name="T75" fmla="*/ 103 h 153"/>
                  <a:gd name="T76" fmla="*/ 154 w 408"/>
                  <a:gd name="T77" fmla="*/ 92 h 153"/>
                  <a:gd name="T78" fmla="*/ 121 w 408"/>
                  <a:gd name="T79" fmla="*/ 80 h 153"/>
                  <a:gd name="T80" fmla="*/ 87 w 408"/>
                  <a:gd name="T81" fmla="*/ 66 h 153"/>
                  <a:gd name="T82" fmla="*/ 57 w 408"/>
                  <a:gd name="T83" fmla="*/ 48 h 153"/>
                  <a:gd name="T84" fmla="*/ 27 w 408"/>
                  <a:gd name="T85" fmla="*/ 25 h 153"/>
                  <a:gd name="T86" fmla="*/ 0 w 408"/>
                  <a:gd name="T87" fmla="*/ 0 h 153"/>
                  <a:gd name="T88" fmla="*/ 69 w 408"/>
                  <a:gd name="T89" fmla="*/ 153 h 153"/>
                  <a:gd name="T90" fmla="*/ 0 w 408"/>
                  <a:gd name="T91" fmla="*/ 0 h 153"/>
                  <a:gd name="T92" fmla="*/ 408 w 408"/>
                  <a:gd name="T93" fmla="*/ 15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T90" t="T91" r="T92" b="T93"/>
                <a:pathLst>
                  <a:path w="408" h="153">
                    <a:moveTo>
                      <a:pt x="69" y="153"/>
                    </a:moveTo>
                    <a:lnTo>
                      <a:pt x="78" y="152"/>
                    </a:lnTo>
                    <a:lnTo>
                      <a:pt x="87" y="152"/>
                    </a:lnTo>
                    <a:lnTo>
                      <a:pt x="98" y="150"/>
                    </a:lnTo>
                    <a:lnTo>
                      <a:pt x="109" y="150"/>
                    </a:lnTo>
                    <a:lnTo>
                      <a:pt x="132" y="149"/>
                    </a:lnTo>
                    <a:lnTo>
                      <a:pt x="159" y="147"/>
                    </a:lnTo>
                    <a:lnTo>
                      <a:pt x="186" y="146"/>
                    </a:lnTo>
                    <a:lnTo>
                      <a:pt x="214" y="144"/>
                    </a:lnTo>
                    <a:lnTo>
                      <a:pt x="243" y="143"/>
                    </a:lnTo>
                    <a:lnTo>
                      <a:pt x="271" y="141"/>
                    </a:lnTo>
                    <a:lnTo>
                      <a:pt x="298" y="141"/>
                    </a:lnTo>
                    <a:lnTo>
                      <a:pt x="324" y="140"/>
                    </a:lnTo>
                    <a:lnTo>
                      <a:pt x="347" y="140"/>
                    </a:lnTo>
                    <a:lnTo>
                      <a:pt x="367" y="138"/>
                    </a:lnTo>
                    <a:lnTo>
                      <a:pt x="376" y="138"/>
                    </a:lnTo>
                    <a:lnTo>
                      <a:pt x="385" y="138"/>
                    </a:lnTo>
                    <a:lnTo>
                      <a:pt x="392" y="138"/>
                    </a:lnTo>
                    <a:lnTo>
                      <a:pt x="398" y="137"/>
                    </a:lnTo>
                    <a:lnTo>
                      <a:pt x="402" y="137"/>
                    </a:lnTo>
                    <a:lnTo>
                      <a:pt x="406" y="137"/>
                    </a:lnTo>
                    <a:lnTo>
                      <a:pt x="408" y="137"/>
                    </a:lnTo>
                    <a:lnTo>
                      <a:pt x="408" y="135"/>
                    </a:lnTo>
                    <a:lnTo>
                      <a:pt x="406" y="134"/>
                    </a:lnTo>
                    <a:lnTo>
                      <a:pt x="402" y="132"/>
                    </a:lnTo>
                    <a:lnTo>
                      <a:pt x="397" y="132"/>
                    </a:lnTo>
                    <a:lnTo>
                      <a:pt x="390" y="131"/>
                    </a:lnTo>
                    <a:lnTo>
                      <a:pt x="383" y="131"/>
                    </a:lnTo>
                    <a:lnTo>
                      <a:pt x="374" y="130"/>
                    </a:lnTo>
                    <a:lnTo>
                      <a:pt x="363" y="128"/>
                    </a:lnTo>
                    <a:lnTo>
                      <a:pt x="353" y="128"/>
                    </a:lnTo>
                    <a:lnTo>
                      <a:pt x="342" y="127"/>
                    </a:lnTo>
                    <a:lnTo>
                      <a:pt x="329" y="125"/>
                    </a:lnTo>
                    <a:lnTo>
                      <a:pt x="315" y="124"/>
                    </a:lnTo>
                    <a:lnTo>
                      <a:pt x="286" y="121"/>
                    </a:lnTo>
                    <a:lnTo>
                      <a:pt x="256" y="116"/>
                    </a:lnTo>
                    <a:lnTo>
                      <a:pt x="222" y="110"/>
                    </a:lnTo>
                    <a:lnTo>
                      <a:pt x="189" y="103"/>
                    </a:lnTo>
                    <a:lnTo>
                      <a:pt x="154" y="92"/>
                    </a:lnTo>
                    <a:lnTo>
                      <a:pt x="121" y="80"/>
                    </a:lnTo>
                    <a:lnTo>
                      <a:pt x="87" y="66"/>
                    </a:lnTo>
                    <a:lnTo>
                      <a:pt x="57" y="48"/>
                    </a:lnTo>
                    <a:lnTo>
                      <a:pt x="27" y="25"/>
                    </a:lnTo>
                    <a:lnTo>
                      <a:pt x="0" y="0"/>
                    </a:lnTo>
                    <a:lnTo>
                      <a:pt x="69" y="153"/>
                    </a:lnTo>
                    <a:close/>
                  </a:path>
                </a:pathLst>
              </a:custGeom>
              <a:solidFill>
                <a:srgbClr val="878787"/>
              </a:solidFill>
              <a:ln w="9525">
                <a:noFill/>
                <a:round/>
                <a:headEnd/>
                <a:tailEnd/>
              </a:ln>
              <a:effectLst/>
            </p:spPr>
            <p:txBody>
              <a:bodyPr wrap="none" anchor="ctr"/>
              <a:lstStyle/>
              <a:p>
                <a:endParaRPr lang="en-US" dirty="0"/>
              </a:p>
            </p:txBody>
          </p:sp>
        </p:grpSp>
        <p:grpSp>
          <p:nvGrpSpPr>
            <p:cNvPr id="1048" name="Group 24"/>
            <p:cNvGrpSpPr>
              <a:grpSpLocks/>
            </p:cNvGrpSpPr>
            <p:nvPr/>
          </p:nvGrpSpPr>
          <p:grpSpPr bwMode="auto">
            <a:xfrm>
              <a:off x="5235" y="526"/>
              <a:ext cx="103" cy="49"/>
              <a:chOff x="5235" y="526"/>
              <a:chExt cx="103" cy="49"/>
            </a:xfrm>
          </p:grpSpPr>
          <p:sp>
            <p:nvSpPr>
              <p:cNvPr id="1049" name="AutoShape 25"/>
              <p:cNvSpPr>
                <a:spLocks noChangeArrowheads="1"/>
              </p:cNvSpPr>
              <p:nvPr/>
            </p:nvSpPr>
            <p:spPr bwMode="auto">
              <a:xfrm>
                <a:off x="5235" y="526"/>
                <a:ext cx="68" cy="50"/>
              </a:xfrm>
              <a:custGeom>
                <a:avLst/>
                <a:gdLst>
                  <a:gd name="T0" fmla="*/ 0 w 262"/>
                  <a:gd name="T1" fmla="*/ 234 h 234"/>
                  <a:gd name="T2" fmla="*/ 151 w 262"/>
                  <a:gd name="T3" fmla="*/ 0 h 234"/>
                  <a:gd name="T4" fmla="*/ 262 w 262"/>
                  <a:gd name="T5" fmla="*/ 0 h 234"/>
                  <a:gd name="T6" fmla="*/ 110 w 262"/>
                  <a:gd name="T7" fmla="*/ 234 h 234"/>
                  <a:gd name="T8" fmla="*/ 0 w 262"/>
                  <a:gd name="T9" fmla="*/ 234 h 234"/>
                  <a:gd name="T10" fmla="*/ 0 w 262"/>
                  <a:gd name="T11" fmla="*/ 0 h 234"/>
                  <a:gd name="T12" fmla="*/ 262 w 262"/>
                  <a:gd name="T13" fmla="*/ 234 h 234"/>
                </a:gdLst>
                <a:ahLst/>
                <a:cxnLst>
                  <a:cxn ang="0">
                    <a:pos x="T0" y="T1"/>
                  </a:cxn>
                  <a:cxn ang="0">
                    <a:pos x="T2" y="T3"/>
                  </a:cxn>
                  <a:cxn ang="0">
                    <a:pos x="T4" y="T5"/>
                  </a:cxn>
                  <a:cxn ang="0">
                    <a:pos x="T6" y="T7"/>
                  </a:cxn>
                  <a:cxn ang="0">
                    <a:pos x="T8" y="T9"/>
                  </a:cxn>
                </a:cxnLst>
                <a:rect l="T10" t="T11" r="T12" b="T13"/>
                <a:pathLst>
                  <a:path w="262" h="234">
                    <a:moveTo>
                      <a:pt x="0" y="234"/>
                    </a:moveTo>
                    <a:lnTo>
                      <a:pt x="151" y="0"/>
                    </a:lnTo>
                    <a:lnTo>
                      <a:pt x="262" y="0"/>
                    </a:lnTo>
                    <a:lnTo>
                      <a:pt x="110" y="234"/>
                    </a:lnTo>
                    <a:lnTo>
                      <a:pt x="0" y="234"/>
                    </a:lnTo>
                    <a:close/>
                  </a:path>
                </a:pathLst>
              </a:custGeom>
              <a:solidFill>
                <a:srgbClr val="0400BA"/>
              </a:solidFill>
              <a:ln w="9525">
                <a:noFill/>
                <a:round/>
                <a:headEnd/>
                <a:tailEnd/>
              </a:ln>
              <a:effectLst/>
            </p:spPr>
            <p:txBody>
              <a:bodyPr wrap="none" anchor="ctr"/>
              <a:lstStyle/>
              <a:p>
                <a:endParaRPr lang="en-US" dirty="0"/>
              </a:p>
            </p:txBody>
          </p:sp>
          <p:sp>
            <p:nvSpPr>
              <p:cNvPr id="1050" name="AutoShape 26"/>
              <p:cNvSpPr>
                <a:spLocks noChangeArrowheads="1"/>
              </p:cNvSpPr>
              <p:nvPr/>
            </p:nvSpPr>
            <p:spPr bwMode="auto">
              <a:xfrm>
                <a:off x="5247" y="526"/>
                <a:ext cx="91" cy="50"/>
              </a:xfrm>
              <a:custGeom>
                <a:avLst/>
                <a:gdLst>
                  <a:gd name="T0" fmla="*/ 0 w 352"/>
                  <a:gd name="T1" fmla="*/ 234 h 234"/>
                  <a:gd name="T2" fmla="*/ 181 w 352"/>
                  <a:gd name="T3" fmla="*/ 234 h 234"/>
                  <a:gd name="T4" fmla="*/ 192 w 352"/>
                  <a:gd name="T5" fmla="*/ 232 h 234"/>
                  <a:gd name="T6" fmla="*/ 203 w 352"/>
                  <a:gd name="T7" fmla="*/ 231 h 234"/>
                  <a:gd name="T8" fmla="*/ 213 w 352"/>
                  <a:gd name="T9" fmla="*/ 226 h 234"/>
                  <a:gd name="T10" fmla="*/ 223 w 352"/>
                  <a:gd name="T11" fmla="*/ 222 h 234"/>
                  <a:gd name="T12" fmla="*/ 232 w 352"/>
                  <a:gd name="T13" fmla="*/ 216 h 234"/>
                  <a:gd name="T14" fmla="*/ 240 w 352"/>
                  <a:gd name="T15" fmla="*/ 208 h 234"/>
                  <a:gd name="T16" fmla="*/ 248 w 352"/>
                  <a:gd name="T17" fmla="*/ 199 h 234"/>
                  <a:gd name="T18" fmla="*/ 255 w 352"/>
                  <a:gd name="T19" fmla="*/ 190 h 234"/>
                  <a:gd name="T20" fmla="*/ 276 w 352"/>
                  <a:gd name="T21" fmla="*/ 158 h 234"/>
                  <a:gd name="T22" fmla="*/ 280 w 352"/>
                  <a:gd name="T23" fmla="*/ 150 h 234"/>
                  <a:gd name="T24" fmla="*/ 281 w 352"/>
                  <a:gd name="T25" fmla="*/ 143 h 234"/>
                  <a:gd name="T26" fmla="*/ 280 w 352"/>
                  <a:gd name="T27" fmla="*/ 137 h 234"/>
                  <a:gd name="T28" fmla="*/ 278 w 352"/>
                  <a:gd name="T29" fmla="*/ 131 h 234"/>
                  <a:gd name="T30" fmla="*/ 276 w 352"/>
                  <a:gd name="T31" fmla="*/ 126 h 234"/>
                  <a:gd name="T32" fmla="*/ 272 w 352"/>
                  <a:gd name="T33" fmla="*/ 122 h 234"/>
                  <a:gd name="T34" fmla="*/ 287 w 352"/>
                  <a:gd name="T35" fmla="*/ 116 h 234"/>
                  <a:gd name="T36" fmla="*/ 301 w 352"/>
                  <a:gd name="T37" fmla="*/ 107 h 234"/>
                  <a:gd name="T38" fmla="*/ 314 w 352"/>
                  <a:gd name="T39" fmla="*/ 97 h 234"/>
                  <a:gd name="T40" fmla="*/ 326 w 352"/>
                  <a:gd name="T41" fmla="*/ 82 h 234"/>
                  <a:gd name="T42" fmla="*/ 346 w 352"/>
                  <a:gd name="T43" fmla="*/ 51 h 234"/>
                  <a:gd name="T44" fmla="*/ 350 w 352"/>
                  <a:gd name="T45" fmla="*/ 42 h 234"/>
                  <a:gd name="T46" fmla="*/ 352 w 352"/>
                  <a:gd name="T47" fmla="*/ 31 h 234"/>
                  <a:gd name="T48" fmla="*/ 352 w 352"/>
                  <a:gd name="T49" fmla="*/ 25 h 234"/>
                  <a:gd name="T50" fmla="*/ 350 w 352"/>
                  <a:gd name="T51" fmla="*/ 19 h 234"/>
                  <a:gd name="T52" fmla="*/ 348 w 352"/>
                  <a:gd name="T53" fmla="*/ 13 h 234"/>
                  <a:gd name="T54" fmla="*/ 344 w 352"/>
                  <a:gd name="T55" fmla="*/ 9 h 234"/>
                  <a:gd name="T56" fmla="*/ 340 w 352"/>
                  <a:gd name="T57" fmla="*/ 6 h 234"/>
                  <a:gd name="T58" fmla="*/ 335 w 352"/>
                  <a:gd name="T59" fmla="*/ 3 h 234"/>
                  <a:gd name="T60" fmla="*/ 330 w 352"/>
                  <a:gd name="T61" fmla="*/ 0 h 234"/>
                  <a:gd name="T62" fmla="*/ 325 w 352"/>
                  <a:gd name="T63" fmla="*/ 0 h 234"/>
                  <a:gd name="T64" fmla="*/ 151 w 352"/>
                  <a:gd name="T65" fmla="*/ 0 h 234"/>
                  <a:gd name="T66" fmla="*/ 121 w 352"/>
                  <a:gd name="T67" fmla="*/ 49 h 234"/>
                  <a:gd name="T68" fmla="*/ 223 w 352"/>
                  <a:gd name="T69" fmla="*/ 49 h 234"/>
                  <a:gd name="T70" fmla="*/ 226 w 352"/>
                  <a:gd name="T71" fmla="*/ 49 h 234"/>
                  <a:gd name="T72" fmla="*/ 228 w 352"/>
                  <a:gd name="T73" fmla="*/ 51 h 234"/>
                  <a:gd name="T74" fmla="*/ 230 w 352"/>
                  <a:gd name="T75" fmla="*/ 54 h 234"/>
                  <a:gd name="T76" fmla="*/ 230 w 352"/>
                  <a:gd name="T77" fmla="*/ 57 h 234"/>
                  <a:gd name="T78" fmla="*/ 230 w 352"/>
                  <a:gd name="T79" fmla="*/ 59 h 234"/>
                  <a:gd name="T80" fmla="*/ 228 w 352"/>
                  <a:gd name="T81" fmla="*/ 62 h 234"/>
                  <a:gd name="T82" fmla="*/ 217 w 352"/>
                  <a:gd name="T83" fmla="*/ 79 h 234"/>
                  <a:gd name="T84" fmla="*/ 213 w 352"/>
                  <a:gd name="T85" fmla="*/ 85 h 234"/>
                  <a:gd name="T86" fmla="*/ 209 w 352"/>
                  <a:gd name="T87" fmla="*/ 88 h 234"/>
                  <a:gd name="T88" fmla="*/ 204 w 352"/>
                  <a:gd name="T89" fmla="*/ 89 h 234"/>
                  <a:gd name="T90" fmla="*/ 198 w 352"/>
                  <a:gd name="T91" fmla="*/ 91 h 234"/>
                  <a:gd name="T92" fmla="*/ 92 w 352"/>
                  <a:gd name="T93" fmla="*/ 91 h 234"/>
                  <a:gd name="T94" fmla="*/ 62 w 352"/>
                  <a:gd name="T95" fmla="*/ 140 h 234"/>
                  <a:gd name="T96" fmla="*/ 164 w 352"/>
                  <a:gd name="T97" fmla="*/ 140 h 234"/>
                  <a:gd name="T98" fmla="*/ 167 w 352"/>
                  <a:gd name="T99" fmla="*/ 140 h 234"/>
                  <a:gd name="T100" fmla="*/ 169 w 352"/>
                  <a:gd name="T101" fmla="*/ 141 h 234"/>
                  <a:gd name="T102" fmla="*/ 171 w 352"/>
                  <a:gd name="T103" fmla="*/ 144 h 234"/>
                  <a:gd name="T104" fmla="*/ 171 w 352"/>
                  <a:gd name="T105" fmla="*/ 147 h 234"/>
                  <a:gd name="T106" fmla="*/ 171 w 352"/>
                  <a:gd name="T107" fmla="*/ 150 h 234"/>
                  <a:gd name="T108" fmla="*/ 169 w 352"/>
                  <a:gd name="T109" fmla="*/ 153 h 234"/>
                  <a:gd name="T110" fmla="*/ 156 w 352"/>
                  <a:gd name="T111" fmla="*/ 174 h 234"/>
                  <a:gd name="T112" fmla="*/ 153 w 352"/>
                  <a:gd name="T113" fmla="*/ 179 h 234"/>
                  <a:gd name="T114" fmla="*/ 148 w 352"/>
                  <a:gd name="T115" fmla="*/ 182 h 234"/>
                  <a:gd name="T116" fmla="*/ 142 w 352"/>
                  <a:gd name="T117" fmla="*/ 185 h 234"/>
                  <a:gd name="T118" fmla="*/ 137 w 352"/>
                  <a:gd name="T119" fmla="*/ 185 h 234"/>
                  <a:gd name="T120" fmla="*/ 32 w 352"/>
                  <a:gd name="T121" fmla="*/ 185 h 234"/>
                  <a:gd name="T122" fmla="*/ 0 w 352"/>
                  <a:gd name="T123" fmla="*/ 234 h 234"/>
                  <a:gd name="T124" fmla="*/ 0 w 352"/>
                  <a:gd name="T125" fmla="*/ 0 h 234"/>
                  <a:gd name="T126" fmla="*/ 352 w 352"/>
                  <a:gd name="T127"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T124" t="T125" r="T126" b="T127"/>
                <a:pathLst>
                  <a:path w="352" h="234">
                    <a:moveTo>
                      <a:pt x="0" y="234"/>
                    </a:moveTo>
                    <a:lnTo>
                      <a:pt x="181" y="234"/>
                    </a:lnTo>
                    <a:lnTo>
                      <a:pt x="192" y="232"/>
                    </a:lnTo>
                    <a:lnTo>
                      <a:pt x="203" y="231"/>
                    </a:lnTo>
                    <a:lnTo>
                      <a:pt x="213" y="226"/>
                    </a:lnTo>
                    <a:lnTo>
                      <a:pt x="223" y="222"/>
                    </a:lnTo>
                    <a:lnTo>
                      <a:pt x="232" y="216"/>
                    </a:lnTo>
                    <a:lnTo>
                      <a:pt x="240" y="208"/>
                    </a:lnTo>
                    <a:lnTo>
                      <a:pt x="248" y="199"/>
                    </a:lnTo>
                    <a:lnTo>
                      <a:pt x="255" y="190"/>
                    </a:lnTo>
                    <a:lnTo>
                      <a:pt x="276" y="158"/>
                    </a:lnTo>
                    <a:lnTo>
                      <a:pt x="280" y="150"/>
                    </a:lnTo>
                    <a:lnTo>
                      <a:pt x="281" y="143"/>
                    </a:lnTo>
                    <a:lnTo>
                      <a:pt x="280" y="137"/>
                    </a:lnTo>
                    <a:lnTo>
                      <a:pt x="278" y="131"/>
                    </a:lnTo>
                    <a:lnTo>
                      <a:pt x="276" y="126"/>
                    </a:lnTo>
                    <a:lnTo>
                      <a:pt x="272" y="122"/>
                    </a:lnTo>
                    <a:lnTo>
                      <a:pt x="287" y="116"/>
                    </a:lnTo>
                    <a:lnTo>
                      <a:pt x="301" y="107"/>
                    </a:lnTo>
                    <a:lnTo>
                      <a:pt x="314" y="97"/>
                    </a:lnTo>
                    <a:lnTo>
                      <a:pt x="326" y="82"/>
                    </a:lnTo>
                    <a:lnTo>
                      <a:pt x="346" y="51"/>
                    </a:lnTo>
                    <a:lnTo>
                      <a:pt x="350" y="42"/>
                    </a:lnTo>
                    <a:lnTo>
                      <a:pt x="352" y="31"/>
                    </a:lnTo>
                    <a:lnTo>
                      <a:pt x="352" y="25"/>
                    </a:lnTo>
                    <a:lnTo>
                      <a:pt x="350" y="19"/>
                    </a:lnTo>
                    <a:lnTo>
                      <a:pt x="348" y="13"/>
                    </a:lnTo>
                    <a:lnTo>
                      <a:pt x="344" y="9"/>
                    </a:lnTo>
                    <a:lnTo>
                      <a:pt x="340" y="6"/>
                    </a:lnTo>
                    <a:lnTo>
                      <a:pt x="335" y="3"/>
                    </a:lnTo>
                    <a:lnTo>
                      <a:pt x="330" y="0"/>
                    </a:lnTo>
                    <a:lnTo>
                      <a:pt x="325" y="0"/>
                    </a:lnTo>
                    <a:lnTo>
                      <a:pt x="151" y="0"/>
                    </a:lnTo>
                    <a:lnTo>
                      <a:pt x="121" y="49"/>
                    </a:lnTo>
                    <a:lnTo>
                      <a:pt x="223" y="49"/>
                    </a:lnTo>
                    <a:lnTo>
                      <a:pt x="226" y="49"/>
                    </a:lnTo>
                    <a:lnTo>
                      <a:pt x="228" y="51"/>
                    </a:lnTo>
                    <a:lnTo>
                      <a:pt x="230" y="54"/>
                    </a:lnTo>
                    <a:lnTo>
                      <a:pt x="230" y="57"/>
                    </a:lnTo>
                    <a:lnTo>
                      <a:pt x="230" y="59"/>
                    </a:lnTo>
                    <a:lnTo>
                      <a:pt x="228" y="62"/>
                    </a:lnTo>
                    <a:lnTo>
                      <a:pt x="217" y="79"/>
                    </a:lnTo>
                    <a:lnTo>
                      <a:pt x="213" y="85"/>
                    </a:lnTo>
                    <a:lnTo>
                      <a:pt x="209" y="88"/>
                    </a:lnTo>
                    <a:lnTo>
                      <a:pt x="204" y="89"/>
                    </a:lnTo>
                    <a:lnTo>
                      <a:pt x="198" y="91"/>
                    </a:lnTo>
                    <a:lnTo>
                      <a:pt x="92" y="91"/>
                    </a:lnTo>
                    <a:lnTo>
                      <a:pt x="62" y="140"/>
                    </a:lnTo>
                    <a:lnTo>
                      <a:pt x="164" y="140"/>
                    </a:lnTo>
                    <a:lnTo>
                      <a:pt x="167" y="140"/>
                    </a:lnTo>
                    <a:lnTo>
                      <a:pt x="169" y="141"/>
                    </a:lnTo>
                    <a:lnTo>
                      <a:pt x="171" y="144"/>
                    </a:lnTo>
                    <a:lnTo>
                      <a:pt x="171" y="147"/>
                    </a:lnTo>
                    <a:lnTo>
                      <a:pt x="171" y="150"/>
                    </a:lnTo>
                    <a:lnTo>
                      <a:pt x="169" y="153"/>
                    </a:lnTo>
                    <a:lnTo>
                      <a:pt x="156" y="174"/>
                    </a:lnTo>
                    <a:lnTo>
                      <a:pt x="153" y="179"/>
                    </a:lnTo>
                    <a:lnTo>
                      <a:pt x="148" y="182"/>
                    </a:lnTo>
                    <a:lnTo>
                      <a:pt x="142" y="185"/>
                    </a:lnTo>
                    <a:lnTo>
                      <a:pt x="137" y="185"/>
                    </a:lnTo>
                    <a:lnTo>
                      <a:pt x="32" y="185"/>
                    </a:lnTo>
                    <a:lnTo>
                      <a:pt x="0" y="234"/>
                    </a:lnTo>
                    <a:close/>
                  </a:path>
                </a:pathLst>
              </a:custGeom>
              <a:solidFill>
                <a:srgbClr val="0400BA"/>
              </a:solidFill>
              <a:ln w="9525">
                <a:noFill/>
                <a:round/>
                <a:headEnd/>
                <a:tailEnd/>
              </a:ln>
              <a:effectLst/>
            </p:spPr>
            <p:txBody>
              <a:bodyPr wrap="none" anchor="ctr"/>
              <a:lstStyle/>
              <a:p>
                <a:endParaRPr lang="en-US" dirty="0"/>
              </a:p>
            </p:txBody>
          </p:sp>
        </p:gr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mj-lt"/>
          <a:ea typeface="+mj-ea"/>
          <a:cs typeface="+mj-cs"/>
        </a:defRPr>
      </a:lvl1pPr>
      <a:lvl2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2pPr>
      <a:lvl3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3pPr>
      <a:lvl4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4pPr>
      <a:lvl5pPr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5pPr>
      <a:lvl6pPr marL="4572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6pPr>
      <a:lvl7pPr marL="9144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7pPr>
      <a:lvl8pPr marL="13716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8pPr>
      <a:lvl9pPr marL="1828800" algn="ctr" defTabSz="457200" rtl="0" eaLnBrk="1" fontAlgn="base" hangingPunct="1">
        <a:lnSpc>
          <a:spcPct val="90000"/>
        </a:lnSpc>
        <a:spcBef>
          <a:spcPct val="0"/>
        </a:spcBef>
        <a:spcAft>
          <a:spcPct val="0"/>
        </a:spcAft>
        <a:buClr>
          <a:srgbClr val="000000"/>
        </a:buClr>
        <a:buSzPct val="100000"/>
        <a:buFont typeface="Arial" charset="0"/>
        <a:defRPr sz="2700" b="1">
          <a:solidFill>
            <a:srgbClr val="000000"/>
          </a:solidFill>
          <a:latin typeface="Arial" charset="0"/>
          <a:cs typeface="Lucida Sans Unicode" charset="0"/>
        </a:defRPr>
      </a:lvl9pPr>
    </p:titleStyle>
    <p:bodyStyle>
      <a:lvl1pPr marL="268288" indent="-268288" algn="l" defTabSz="457200" rtl="0" eaLnBrk="1" fontAlgn="base" hangingPunct="1">
        <a:lnSpc>
          <a:spcPct val="90000"/>
        </a:lnSpc>
        <a:spcBef>
          <a:spcPts val="825"/>
        </a:spcBef>
        <a:spcAft>
          <a:spcPct val="0"/>
        </a:spcAft>
        <a:buClr>
          <a:srgbClr val="000000"/>
        </a:buClr>
        <a:buSzPct val="100000"/>
        <a:buFont typeface="Arial" charset="0"/>
        <a:buChar char="•"/>
        <a:defRPr sz="2200" b="1">
          <a:solidFill>
            <a:srgbClr val="000000"/>
          </a:solidFill>
          <a:latin typeface="+mn-lt"/>
          <a:ea typeface="+mn-ea"/>
          <a:cs typeface="+mn-cs"/>
        </a:defRPr>
      </a:lvl1pPr>
      <a:lvl2pPr marL="642938" indent="-215900" algn="l" defTabSz="457200" rtl="0" eaLnBrk="1" fontAlgn="base" hangingPunct="1">
        <a:lnSpc>
          <a:spcPct val="90000"/>
        </a:lnSpc>
        <a:spcBef>
          <a:spcPts val="675"/>
        </a:spcBef>
        <a:spcAft>
          <a:spcPct val="0"/>
        </a:spcAft>
        <a:buClr>
          <a:srgbClr val="000000"/>
        </a:buClr>
        <a:buSzPct val="100000"/>
        <a:buFont typeface="Arial" charset="0"/>
        <a:buChar char="-"/>
        <a:defRPr b="1">
          <a:solidFill>
            <a:srgbClr val="000000"/>
          </a:solidFill>
          <a:latin typeface="+mn-lt"/>
          <a:cs typeface="+mn-cs"/>
        </a:defRPr>
      </a:lvl2pPr>
      <a:lvl3pPr marL="1074738" indent="-215900" algn="l" defTabSz="457200" rtl="0" eaLnBrk="1" fontAlgn="base" hangingPunct="1">
        <a:lnSpc>
          <a:spcPct val="90000"/>
        </a:lnSpc>
        <a:spcBef>
          <a:spcPts val="600"/>
        </a:spcBef>
        <a:spcAft>
          <a:spcPct val="0"/>
        </a:spcAft>
        <a:buClr>
          <a:srgbClr val="000000"/>
        </a:buClr>
        <a:buSzPct val="100000"/>
        <a:buFont typeface="Arial" charset="0"/>
        <a:buChar char="»"/>
        <a:defRPr sz="1600" b="1">
          <a:solidFill>
            <a:srgbClr val="000000"/>
          </a:solidFill>
          <a:latin typeface="+mn-lt"/>
          <a:cs typeface="+mn-cs"/>
        </a:defRPr>
      </a:lvl3pPr>
      <a:lvl4pPr marL="1449388"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4pPr>
      <a:lvl5pPr marL="18796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5pPr>
      <a:lvl6pPr marL="23368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6pPr>
      <a:lvl7pPr marL="27940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7pPr>
      <a:lvl8pPr marL="32512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8pPr>
      <a:lvl9pPr marL="3708400" indent="-161925" algn="l" defTabSz="457200" rtl="0" eaLnBrk="1" fontAlgn="base" hangingPunct="1">
        <a:lnSpc>
          <a:spcPct val="90000"/>
        </a:lnSpc>
        <a:spcBef>
          <a:spcPts val="525"/>
        </a:spcBef>
        <a:spcAft>
          <a:spcPct val="0"/>
        </a:spcAft>
        <a:buClr>
          <a:srgbClr val="000000"/>
        </a:buClr>
        <a:buSzPct val="100000"/>
        <a:buFont typeface="Arial" charset="0"/>
        <a:defRPr sz="1400" b="1">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gif"/><Relationship Id="rId5" Type="http://schemas.openxmlformats.org/officeDocument/2006/relationships/image" Target="../media/image11.jpeg"/><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31.emf"/><Relationship Id="rId4" Type="http://schemas.openxmlformats.org/officeDocument/2006/relationships/image" Target="../media/image30.emf"/></Relationships>
</file>

<file path=ppt/slides/_rels/slide1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3.emf"/></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34.emf"/><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notesSlide" Target="../notesSlides/notesSlide19.xml"/><Relationship Id="rId7"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2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ChangeArrowheads="1"/>
          </p:cNvSpPr>
          <p:nvPr/>
        </p:nvSpPr>
        <p:spPr bwMode="auto">
          <a:xfrm>
            <a:off x="190500" y="1219200"/>
            <a:ext cx="8763000" cy="2362200"/>
          </a:xfrm>
          <a:prstGeom prst="rect">
            <a:avLst/>
          </a:prstGeom>
          <a:noFill/>
          <a:ln w="9525">
            <a:noFill/>
            <a:round/>
            <a:headEnd/>
            <a:tailEnd/>
          </a:ln>
          <a:effectLst/>
        </p:spPr>
        <p:txBody>
          <a:bodyPr lIns="45720" tIns="47520" rIns="45720" bIns="47520" anchor="ctr"/>
          <a:lstStyle/>
          <a:p>
            <a:pPr algn="ctr">
              <a:lnSpc>
                <a:spcPct val="84000"/>
              </a:lnSpc>
              <a:spcBef>
                <a:spcPts val="713"/>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300" b="1" i="1" dirty="0">
                <a:solidFill>
                  <a:srgbClr val="000000"/>
                </a:solidFill>
                <a:ea typeface="Lucida Sans Unicode" charset="0"/>
                <a:cs typeface="Lucida Sans Unicode" charset="0"/>
              </a:rPr>
              <a:t/>
            </a:r>
            <a:br>
              <a:rPr lang="en-GB" sz="2300" b="1" i="1" dirty="0">
                <a:solidFill>
                  <a:srgbClr val="000000"/>
                </a:solidFill>
                <a:ea typeface="Lucida Sans Unicode" charset="0"/>
                <a:cs typeface="Lucida Sans Unicode" charset="0"/>
              </a:rPr>
            </a:br>
            <a:endParaRPr lang="en-US" dirty="0" smtClean="0">
              <a:solidFill>
                <a:schemeClr val="accent2">
                  <a:lumMod val="75000"/>
                </a:schemeClr>
              </a:solidFill>
            </a:endParaRPr>
          </a:p>
          <a:p>
            <a:pPr algn="ctr">
              <a:lnSpc>
                <a:spcPct val="84000"/>
              </a:lnSpc>
              <a:spcBef>
                <a:spcPts val="713"/>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00" b="1" i="1" dirty="0" smtClean="0">
              <a:solidFill>
                <a:schemeClr val="accent2">
                  <a:lumMod val="75000"/>
                </a:schemeClr>
              </a:solidFill>
              <a:ea typeface="Lucida Sans Unicode" charset="0"/>
              <a:cs typeface="Lucida Sans Unicode" charset="0"/>
            </a:endParaRPr>
          </a:p>
        </p:txBody>
      </p:sp>
      <p:pic>
        <p:nvPicPr>
          <p:cNvPr id="307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57200" y="4648200"/>
            <a:ext cx="1864775" cy="1524000"/>
          </a:xfrm>
          <a:prstGeom prst="rect">
            <a:avLst/>
          </a:prstGeom>
          <a:noFill/>
          <a:ln w="9525">
            <a:noFill/>
            <a:round/>
            <a:headEnd/>
            <a:tailEnd/>
          </a:ln>
          <a:effectLst/>
        </p:spPr>
      </p:pic>
      <p:sp>
        <p:nvSpPr>
          <p:cNvPr id="11" name="Title 10"/>
          <p:cNvSpPr>
            <a:spLocks noGrp="1"/>
          </p:cNvSpPr>
          <p:nvPr>
            <p:ph type="ctrTitle"/>
          </p:nvPr>
        </p:nvSpPr>
        <p:spPr>
          <a:xfrm>
            <a:off x="152400" y="1635760"/>
            <a:ext cx="8610600" cy="1640840"/>
          </a:xfrm>
        </p:spPr>
        <p:txBody>
          <a:bodyPr/>
          <a:lstStyle/>
          <a:p>
            <a:r>
              <a:rPr lang="en-GB" sz="3600" i="1" dirty="0" smtClean="0">
                <a:solidFill>
                  <a:srgbClr val="0070C0"/>
                </a:solidFill>
                <a:ea typeface="Lucida Sans Unicode" charset="0"/>
                <a:cs typeface="Lucida Sans Unicode" charset="0"/>
              </a:rPr>
              <a:t>Cable </a:t>
            </a:r>
            <a:r>
              <a:rPr lang="en-GB" sz="3600" i="1" dirty="0">
                <a:solidFill>
                  <a:srgbClr val="0070C0"/>
                </a:solidFill>
                <a:ea typeface="Lucida Sans Unicode" charset="0"/>
                <a:cs typeface="Lucida Sans Unicode" charset="0"/>
              </a:rPr>
              <a:t>Effects </a:t>
            </a:r>
            <a:r>
              <a:rPr lang="en-GB" sz="3600" i="1" dirty="0" smtClean="0">
                <a:solidFill>
                  <a:srgbClr val="0070C0"/>
                </a:solidFill>
                <a:ea typeface="Lucida Sans Unicode" charset="0"/>
                <a:cs typeface="Lucida Sans Unicode" charset="0"/>
              </a:rPr>
              <a:t>Study Program Review</a:t>
            </a:r>
            <a:br>
              <a:rPr lang="en-GB" sz="3600" i="1" dirty="0" smtClean="0">
                <a:solidFill>
                  <a:srgbClr val="0070C0"/>
                </a:solidFill>
                <a:ea typeface="Lucida Sans Unicode" charset="0"/>
                <a:cs typeface="Lucida Sans Unicode" charset="0"/>
              </a:rPr>
            </a:br>
            <a:r>
              <a:rPr lang="en-GB" sz="3600" i="1" dirty="0" smtClean="0">
                <a:solidFill>
                  <a:srgbClr val="0070C0"/>
                </a:solidFill>
                <a:ea typeface="Lucida Sans Unicode" charset="0"/>
                <a:cs typeface="Lucida Sans Unicode" charset="0"/>
              </a:rPr>
              <a:t>and Cable Modelling Approach</a:t>
            </a:r>
            <a:endParaRPr lang="en-US" sz="3600" dirty="0">
              <a:solidFill>
                <a:srgbClr val="0070C0"/>
              </a:solidFill>
            </a:endParaRPr>
          </a:p>
        </p:txBody>
      </p:sp>
      <p:sp>
        <p:nvSpPr>
          <p:cNvPr id="12" name="Subtitle 11"/>
          <p:cNvSpPr>
            <a:spLocks noGrp="1"/>
          </p:cNvSpPr>
          <p:nvPr>
            <p:ph type="subTitle" idx="1"/>
          </p:nvPr>
        </p:nvSpPr>
        <p:spPr>
          <a:xfrm>
            <a:off x="2286000" y="3505200"/>
            <a:ext cx="4572000" cy="1295400"/>
          </a:xfrm>
        </p:spPr>
        <p:txBody>
          <a:bodyPr/>
          <a:lstStyle/>
          <a:p>
            <a:r>
              <a:rPr lang="en-US" sz="2800" dirty="0" smtClean="0">
                <a:solidFill>
                  <a:schemeClr val="tx1"/>
                </a:solidFill>
              </a:rPr>
              <a:t>Douglas Coombs</a:t>
            </a:r>
          </a:p>
          <a:p>
            <a:endParaRPr lang="en-US" sz="2800" dirty="0" smtClean="0">
              <a:solidFill>
                <a:schemeClr val="tx1"/>
              </a:solidFill>
            </a:endParaRPr>
          </a:p>
          <a:p>
            <a:r>
              <a:rPr lang="en-GB" sz="2800" dirty="0" smtClean="0">
                <a:ea typeface="Lucida Sans Unicode" charset="0"/>
                <a:cs typeface="Lucida Sans Unicode" charset="0"/>
              </a:rPr>
              <a:t>May 2, 2011</a:t>
            </a:r>
            <a:endParaRPr lang="en-GB" sz="2800" i="1" dirty="0">
              <a:ea typeface="Lucida Sans Unicode" charset="0"/>
              <a:cs typeface="Lucida Sans Unicode" charset="0"/>
            </a:endParaRPr>
          </a:p>
          <a:p>
            <a:endParaRPr lang="en-US" sz="2000" dirty="0"/>
          </a:p>
        </p:txBody>
      </p:sp>
    </p:spTree>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1282700" y="57150"/>
            <a:ext cx="6565900" cy="1085850"/>
          </a:xfrm>
          <a:ln/>
        </p:spPr>
        <p:txBody>
          <a:bodyPr lIns="45720" tIns="122364" rIns="90000" bIns="47520"/>
          <a:lstStyle/>
          <a:p>
            <a:pPr>
              <a:lnSpc>
                <a:spcPct val="7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dirty="0"/>
              <a:t>The Cable Effects </a:t>
            </a:r>
            <a:r>
              <a:rPr lang="en-GB" sz="2800" dirty="0" smtClean="0"/>
              <a:t>Study Missions</a:t>
            </a:r>
            <a:endParaRPr lang="en-GB" sz="2800" dirty="0"/>
          </a:p>
        </p:txBody>
      </p:sp>
      <p:sp>
        <p:nvSpPr>
          <p:cNvPr id="4098" name="Rectangle 2"/>
          <p:cNvSpPr>
            <a:spLocks noGrp="1" noChangeArrowheads="1"/>
          </p:cNvSpPr>
          <p:nvPr>
            <p:ph type="body" idx="1"/>
          </p:nvPr>
        </p:nvSpPr>
        <p:spPr>
          <a:xfrm>
            <a:off x="152400" y="1195387"/>
            <a:ext cx="5562600" cy="5129213"/>
          </a:xfrm>
          <a:ln/>
        </p:spPr>
        <p:txBody>
          <a:bodyPr lIns="87480" tIns="128772" rIns="87480" bIns="42840"/>
          <a:lstStyle/>
          <a:p>
            <a:pPr marL="261938" indent="-261938">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Do electrical cable harnesses </a:t>
            </a:r>
            <a:r>
              <a:rPr lang="en-GB" sz="2400" i="1" dirty="0">
                <a:solidFill>
                  <a:srgbClr val="2323DC"/>
                </a:solidFill>
              </a:rPr>
              <a:t>significantly</a:t>
            </a:r>
            <a:r>
              <a:rPr lang="en-GB" sz="2400" dirty="0"/>
              <a:t> affect dynamics of precision spacecraft structures?</a:t>
            </a:r>
          </a:p>
          <a:p>
            <a:pPr marL="636588" lvl="1" indent="-212725">
              <a:lnSpc>
                <a:spcPct val="69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smtClean="0"/>
              <a:t>Lightweight </a:t>
            </a:r>
            <a:r>
              <a:rPr lang="en-GB" dirty="0"/>
              <a:t>and with stringent </a:t>
            </a:r>
            <a:r>
              <a:rPr lang="en-GB" dirty="0" smtClean="0"/>
              <a:t>jitter budgets</a:t>
            </a:r>
            <a:endParaRPr lang="en-GB" dirty="0"/>
          </a:p>
          <a:p>
            <a:pPr marL="261938" indent="-261938">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Cable harnesses are generally not included in spacecraft structural design.  As a consequence:</a:t>
            </a:r>
          </a:p>
          <a:p>
            <a:pPr marL="636588" lvl="1" indent="-212725">
              <a:lnSpc>
                <a:spcPct val="69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Models and designs are overly conservative</a:t>
            </a:r>
          </a:p>
          <a:p>
            <a:pPr marL="636588" lvl="1" indent="-212725">
              <a:lnSpc>
                <a:spcPct val="69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Isolation system requirements are too stringent</a:t>
            </a:r>
          </a:p>
          <a:p>
            <a:pPr marL="636588" lvl="1" indent="-212725">
              <a:lnSpc>
                <a:spcPct val="69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dirty="0"/>
              <a:t>Structural control systems may be adversely affected </a:t>
            </a:r>
            <a:r>
              <a:rPr lang="en-GB" dirty="0" smtClean="0"/>
              <a:t>by </a:t>
            </a:r>
            <a:r>
              <a:rPr lang="en-GB" dirty="0"/>
              <a:t>plant model errors</a:t>
            </a:r>
          </a:p>
          <a:p>
            <a:pPr marL="261938" indent="-261938">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solidFill>
                  <a:srgbClr val="2323DC"/>
                </a:solidFill>
              </a:rPr>
              <a:t>Motivation:</a:t>
            </a:r>
            <a:r>
              <a:rPr lang="en-GB" sz="2400" dirty="0"/>
              <a:t> develop techniques and methodologies to incorporate cable dynamics in models thereby reducing conservatism and program </a:t>
            </a:r>
            <a:r>
              <a:rPr lang="en-GB" sz="2400" dirty="0" smtClean="0"/>
              <a:t>risk</a:t>
            </a:r>
          </a:p>
        </p:txBody>
      </p:sp>
      <p:sp>
        <p:nvSpPr>
          <p:cNvPr id="6" name="TextBox 5"/>
          <p:cNvSpPr txBox="1"/>
          <p:nvPr/>
        </p:nvSpPr>
        <p:spPr>
          <a:xfrm>
            <a:off x="5559271" y="4724400"/>
            <a:ext cx="3584729" cy="938719"/>
          </a:xfrm>
          <a:prstGeom prst="rect">
            <a:avLst/>
          </a:prstGeom>
          <a:noFill/>
        </p:spPr>
        <p:txBody>
          <a:bodyPr wrap="square" rtlCol="0">
            <a:spAutoFit/>
          </a:bodyPr>
          <a:lstStyle/>
          <a:p>
            <a:pPr algn="ctr"/>
            <a:r>
              <a:rPr lang="en-US" sz="1100" b="1" dirty="0" smtClean="0">
                <a:solidFill>
                  <a:srgbClr val="0070C0"/>
                </a:solidFill>
              </a:rPr>
              <a:t>Cabling makes a significant amount of dry mass</a:t>
            </a:r>
          </a:p>
          <a:p>
            <a:pPr algn="ctr"/>
            <a:r>
              <a:rPr lang="en-US" sz="1100" b="1" dirty="0" smtClean="0">
                <a:solidFill>
                  <a:srgbClr val="0070C0"/>
                </a:solidFill>
              </a:rPr>
              <a:t> </a:t>
            </a:r>
          </a:p>
          <a:p>
            <a:pPr algn="ctr"/>
            <a:r>
              <a:rPr lang="en-US" sz="1100" b="1" dirty="0" smtClean="0">
                <a:solidFill>
                  <a:srgbClr val="0070C0"/>
                </a:solidFill>
              </a:rPr>
              <a:t>http://www.dlr.de/rd/en/Portaldata/1/Resources/portal_news/newsarchiv2009_3/Tandem-X_intergration_380.jpg</a:t>
            </a:r>
          </a:p>
        </p:txBody>
      </p:sp>
      <p:pic>
        <p:nvPicPr>
          <p:cNvPr id="549890" name="Picture 2" descr="http://www.dlr.de/rd/en/Portaldata/1/Resources/portal_news/newsarchiv2009_3/Tandem-X_intergration_380.jpg"/>
          <p:cNvPicPr>
            <a:picLocks noChangeAspect="1" noChangeArrowheads="1"/>
          </p:cNvPicPr>
          <p:nvPr/>
        </p:nvPicPr>
        <p:blipFill>
          <a:blip r:embed="rId3" cstate="print"/>
          <a:srcRect/>
          <a:stretch>
            <a:fillRect/>
          </a:stretch>
        </p:blipFill>
        <p:spPr bwMode="auto">
          <a:xfrm>
            <a:off x="5524500" y="2057400"/>
            <a:ext cx="3619500" cy="2609850"/>
          </a:xfrm>
          <a:prstGeom prst="rect">
            <a:avLst/>
          </a:prstGeom>
          <a:noFill/>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161213" cy="814388"/>
          </a:xfrm>
        </p:spPr>
        <p:txBody>
          <a:bodyPr/>
          <a:lstStyle/>
          <a:p>
            <a:r>
              <a:rPr lang="en-US" dirty="0" smtClean="0"/>
              <a:t>The Why of the</a:t>
            </a:r>
            <a:br>
              <a:rPr lang="en-US" dirty="0" smtClean="0"/>
            </a:br>
            <a:r>
              <a:rPr lang="en-US" dirty="0" smtClean="0"/>
              <a:t>Cable Effects Study</a:t>
            </a:r>
            <a:endParaRPr lang="en-US" dirty="0"/>
          </a:p>
        </p:txBody>
      </p:sp>
      <p:sp>
        <p:nvSpPr>
          <p:cNvPr id="3" name="Content Placeholder 2"/>
          <p:cNvSpPr>
            <a:spLocks noGrp="1"/>
          </p:cNvSpPr>
          <p:nvPr>
            <p:ph idx="1"/>
          </p:nvPr>
        </p:nvSpPr>
        <p:spPr>
          <a:xfrm>
            <a:off x="228600" y="1239838"/>
            <a:ext cx="8763000" cy="5183187"/>
          </a:xfrm>
        </p:spPr>
        <p:txBody>
          <a:bodyPr/>
          <a:lstStyle/>
          <a:p>
            <a:r>
              <a:rPr lang="en-US" dirty="0" smtClean="0"/>
              <a:t> Cable harnesses are a large part of spacecraft mass and generally considered a non-structural component at low frequencies. </a:t>
            </a:r>
          </a:p>
          <a:p>
            <a:pPr lvl="1"/>
            <a:r>
              <a:rPr lang="en-US" sz="2000" dirty="0" smtClean="0"/>
              <a:t>A survey showed that the cable-to-structure mass ratio for DoD and commercial spacecraft can approach 25%.</a:t>
            </a:r>
          </a:p>
          <a:p>
            <a:r>
              <a:rPr lang="en-US" dirty="0" smtClean="0"/>
              <a:t>Cables are not modeled in detail because no one cared about the “mid frequency” range until a need for better large precision structure models was identified.  </a:t>
            </a:r>
          </a:p>
          <a:p>
            <a:pPr lvl="1"/>
            <a:r>
              <a:rPr lang="en-US" sz="2000" dirty="0" smtClean="0"/>
              <a:t>Mission performance is driven by on-orbit dynamics: better models are required.</a:t>
            </a:r>
          </a:p>
          <a:p>
            <a:r>
              <a:rPr lang="en-US" dirty="0" smtClean="0"/>
              <a:t>The program was directed to finding a solution to an Air Force need, not to develop an understanding of the fundamental mechanics of cable behavior.</a:t>
            </a:r>
          </a:p>
          <a:p>
            <a:pPr lvl="1"/>
            <a:r>
              <a:rPr lang="en-US" dirty="0" smtClean="0"/>
              <a:t>Applied research</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161213" cy="814388"/>
          </a:xfrm>
        </p:spPr>
        <p:txBody>
          <a:bodyPr/>
          <a:lstStyle/>
          <a:p>
            <a:r>
              <a:rPr lang="en-US" dirty="0" smtClean="0"/>
              <a:t>The Significance of Cable </a:t>
            </a:r>
            <a:r>
              <a:rPr lang="en-US" dirty="0" err="1" smtClean="0"/>
              <a:t>Modelling</a:t>
            </a:r>
            <a:endParaRPr lang="en-US" dirty="0"/>
          </a:p>
        </p:txBody>
      </p:sp>
      <p:sp>
        <p:nvSpPr>
          <p:cNvPr id="3" name="Content Placeholder 2"/>
          <p:cNvSpPr>
            <a:spLocks noGrp="1"/>
          </p:cNvSpPr>
          <p:nvPr>
            <p:ph idx="1"/>
          </p:nvPr>
        </p:nvSpPr>
        <p:spPr>
          <a:xfrm>
            <a:off x="381000" y="1447800"/>
            <a:ext cx="5867400" cy="4594225"/>
          </a:xfrm>
        </p:spPr>
        <p:txBody>
          <a:bodyPr/>
          <a:lstStyle/>
          <a:p>
            <a:r>
              <a:rPr lang="en-US" dirty="0" smtClean="0"/>
              <a:t>Electrical cables mounted on space structures </a:t>
            </a:r>
            <a:r>
              <a:rPr lang="en-US" u="sng" dirty="0" smtClean="0"/>
              <a:t>can</a:t>
            </a:r>
            <a:r>
              <a:rPr lang="en-US" dirty="0" smtClean="0"/>
              <a:t> influence the structural dynamics. </a:t>
            </a:r>
          </a:p>
          <a:p>
            <a:pPr lvl="1"/>
            <a:r>
              <a:rPr lang="en-US" dirty="0" smtClean="0"/>
              <a:t>The effects of cables on spacecraft dynamics is not documented in the industry. </a:t>
            </a:r>
          </a:p>
          <a:p>
            <a:r>
              <a:rPr lang="en-US" dirty="0" smtClean="0"/>
              <a:t>Cables not included in models can impact controller performance and robustness, impact isolation system requirements and increase program risk.</a:t>
            </a:r>
          </a:p>
          <a:p>
            <a:pPr>
              <a:buNone/>
            </a:pPr>
            <a:endParaRPr lang="en-US" dirty="0" smtClean="0"/>
          </a:p>
        </p:txBody>
      </p:sp>
      <p:pic>
        <p:nvPicPr>
          <p:cNvPr id="4" name="Picture 3" descr="shocked2.jpg"/>
          <p:cNvPicPr>
            <a:picLocks noChangeAspect="1"/>
          </p:cNvPicPr>
          <p:nvPr/>
        </p:nvPicPr>
        <p:blipFill>
          <a:blip r:embed="rId3" cstate="print"/>
          <a:stretch>
            <a:fillRect/>
          </a:stretch>
        </p:blipFill>
        <p:spPr>
          <a:xfrm>
            <a:off x="6477000" y="3048000"/>
            <a:ext cx="2546350" cy="2867098"/>
          </a:xfrm>
          <a:prstGeom prst="rect">
            <a:avLst/>
          </a:prstGeom>
        </p:spPr>
      </p:pic>
      <p:sp>
        <p:nvSpPr>
          <p:cNvPr id="5" name="TextBox 4"/>
          <p:cNvSpPr txBox="1"/>
          <p:nvPr/>
        </p:nvSpPr>
        <p:spPr>
          <a:xfrm>
            <a:off x="457200" y="4724400"/>
            <a:ext cx="5562600" cy="1631216"/>
          </a:xfrm>
          <a:prstGeom prst="rect">
            <a:avLst/>
          </a:prstGeom>
          <a:solidFill>
            <a:srgbClr val="FFFF79"/>
          </a:solidFill>
        </p:spPr>
        <p:txBody>
          <a:bodyPr wrap="square" rtlCol="0">
            <a:spAutoFit/>
          </a:bodyPr>
          <a:lstStyle/>
          <a:p>
            <a:pPr marL="0" lvl="1"/>
            <a:r>
              <a:rPr lang="en-US" b="1" dirty="0" smtClean="0">
                <a:solidFill>
                  <a:srgbClr val="002060"/>
                </a:solidFill>
              </a:rPr>
              <a:t>Model errors are determined late in the flight program (i.e., when cables exist). Is </a:t>
            </a:r>
            <a:r>
              <a:rPr lang="en-US" b="1" smtClean="0">
                <a:solidFill>
                  <a:srgbClr val="002060"/>
                </a:solidFill>
              </a:rPr>
              <a:t>there time </a:t>
            </a:r>
            <a:r>
              <a:rPr lang="en-US" b="1" dirty="0" smtClean="0">
                <a:solidFill>
                  <a:srgbClr val="002060"/>
                </a:solidFill>
              </a:rPr>
              <a:t>for controller tuning? The worst time to determine that the controller is miss-tuned is when the satellite is on-station.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161213" cy="814388"/>
          </a:xfrm>
        </p:spPr>
        <p:txBody>
          <a:bodyPr/>
          <a:lstStyle/>
          <a:p>
            <a:r>
              <a:rPr lang="en-US" dirty="0" smtClean="0"/>
              <a:t>The What of the</a:t>
            </a:r>
            <a:br>
              <a:rPr lang="en-US" dirty="0" smtClean="0"/>
            </a:br>
            <a:r>
              <a:rPr lang="en-US" dirty="0" smtClean="0"/>
              <a:t>Cable Effects Study / Focus Restrictions</a:t>
            </a:r>
            <a:endParaRPr lang="en-US" dirty="0"/>
          </a:p>
        </p:txBody>
      </p:sp>
      <p:sp>
        <p:nvSpPr>
          <p:cNvPr id="3" name="Content Placeholder 2"/>
          <p:cNvSpPr>
            <a:spLocks noGrp="1"/>
          </p:cNvSpPr>
          <p:nvPr>
            <p:ph idx="1"/>
          </p:nvPr>
        </p:nvSpPr>
        <p:spPr>
          <a:xfrm>
            <a:off x="228600" y="1239838"/>
            <a:ext cx="8763000" cy="5183187"/>
          </a:xfrm>
        </p:spPr>
        <p:txBody>
          <a:bodyPr/>
          <a:lstStyle/>
          <a:p>
            <a:r>
              <a:rPr lang="en-US" dirty="0" smtClean="0"/>
              <a:t>Only studied small-to-moderate conductor count twisted pair cable bundles.  </a:t>
            </a:r>
          </a:p>
          <a:p>
            <a:pPr lvl="1"/>
            <a:r>
              <a:rPr lang="en-US" dirty="0" smtClean="0">
                <a:solidFill>
                  <a:srgbClr val="0070C0"/>
                </a:solidFill>
              </a:rPr>
              <a:t>Not</a:t>
            </a:r>
            <a:r>
              <a:rPr lang="en-US" dirty="0" smtClean="0"/>
              <a:t> coaxial, ribbon cables, twisted pair in wire or polymer braided </a:t>
            </a:r>
            <a:r>
              <a:rPr lang="en-US" dirty="0" err="1" smtClean="0"/>
              <a:t>sleeving</a:t>
            </a:r>
            <a:r>
              <a:rPr lang="en-US" dirty="0" smtClean="0"/>
              <a:t>.</a:t>
            </a:r>
          </a:p>
          <a:p>
            <a:r>
              <a:rPr lang="en-US" dirty="0" smtClean="0"/>
              <a:t>Concerned with low-level vibration problem (i.e., when the spacecraft is on-station), </a:t>
            </a:r>
            <a:r>
              <a:rPr lang="en-US" dirty="0" smtClean="0">
                <a:solidFill>
                  <a:srgbClr val="0070C0"/>
                </a:solidFill>
              </a:rPr>
              <a:t>not</a:t>
            </a:r>
            <a:r>
              <a:rPr lang="en-US" dirty="0" smtClean="0"/>
              <a:t> launch vibration or shock conditions.</a:t>
            </a:r>
          </a:p>
          <a:p>
            <a:r>
              <a:rPr lang="en-US" dirty="0" smtClean="0"/>
              <a:t>Cables with bends and connectors excluded from study.</a:t>
            </a:r>
          </a:p>
        </p:txBody>
      </p:sp>
      <p:grpSp>
        <p:nvGrpSpPr>
          <p:cNvPr id="13" name="Group 12"/>
          <p:cNvGrpSpPr>
            <a:grpSpLocks noChangeAspect="1"/>
          </p:cNvGrpSpPr>
          <p:nvPr/>
        </p:nvGrpSpPr>
        <p:grpSpPr>
          <a:xfrm>
            <a:off x="228600" y="5029200"/>
            <a:ext cx="7527414" cy="1676400"/>
            <a:chOff x="304800" y="4762679"/>
            <a:chExt cx="8382000" cy="1866721"/>
          </a:xfrm>
        </p:grpSpPr>
        <p:grpSp>
          <p:nvGrpSpPr>
            <p:cNvPr id="7" name="Group 6"/>
            <p:cNvGrpSpPr/>
            <p:nvPr/>
          </p:nvGrpSpPr>
          <p:grpSpPr>
            <a:xfrm>
              <a:off x="304800" y="4762679"/>
              <a:ext cx="8382000" cy="1866721"/>
              <a:chOff x="304800" y="4381678"/>
              <a:chExt cx="8382000" cy="1866721"/>
            </a:xfrm>
          </p:grpSpPr>
          <p:pic>
            <p:nvPicPr>
              <p:cNvPr id="4" name="Picture 3" descr="8mmFemaleRibbon-ADG.jpg"/>
              <p:cNvPicPr>
                <a:picLocks noChangeAspect="1"/>
              </p:cNvPicPr>
              <p:nvPr/>
            </p:nvPicPr>
            <p:blipFill>
              <a:blip r:embed="rId3" cstate="print"/>
              <a:srcRect l="7692"/>
              <a:stretch>
                <a:fillRect/>
              </a:stretch>
            </p:blipFill>
            <p:spPr>
              <a:xfrm>
                <a:off x="5943600" y="4419600"/>
                <a:ext cx="2743200" cy="1783080"/>
              </a:xfrm>
              <a:prstGeom prst="rect">
                <a:avLst/>
              </a:prstGeom>
            </p:spPr>
          </p:pic>
          <p:pic>
            <p:nvPicPr>
              <p:cNvPr id="5" name="Picture 4" descr="coaxial-cable.gif"/>
              <p:cNvPicPr>
                <a:picLocks noChangeAspect="1"/>
              </p:cNvPicPr>
              <p:nvPr/>
            </p:nvPicPr>
            <p:blipFill>
              <a:blip r:embed="rId4" cstate="print"/>
              <a:stretch>
                <a:fillRect/>
              </a:stretch>
            </p:blipFill>
            <p:spPr>
              <a:xfrm>
                <a:off x="3056025" y="4419599"/>
                <a:ext cx="2578537" cy="1828800"/>
              </a:xfrm>
              <a:prstGeom prst="rect">
                <a:avLst/>
              </a:prstGeom>
            </p:spPr>
          </p:pic>
          <p:pic>
            <p:nvPicPr>
              <p:cNvPr id="6" name="Picture 5" descr="scissor-cut-braid-large.jpg"/>
              <p:cNvPicPr>
                <a:picLocks noChangeAspect="1"/>
              </p:cNvPicPr>
              <p:nvPr/>
            </p:nvPicPr>
            <p:blipFill>
              <a:blip r:embed="rId5" cstate="print"/>
              <a:stretch>
                <a:fillRect/>
              </a:stretch>
            </p:blipFill>
            <p:spPr>
              <a:xfrm>
                <a:off x="304800" y="4381678"/>
                <a:ext cx="2442186" cy="1828800"/>
              </a:xfrm>
              <a:prstGeom prst="rect">
                <a:avLst/>
              </a:prstGeom>
            </p:spPr>
          </p:pic>
        </p:grpSp>
        <p:pic>
          <p:nvPicPr>
            <p:cNvPr id="8" name="Picture 7" descr="rodt_kryss.gif"/>
            <p:cNvPicPr>
              <a:picLocks noChangeAspect="1"/>
            </p:cNvPicPr>
            <p:nvPr/>
          </p:nvPicPr>
          <p:blipFill>
            <a:blip r:embed="rId6" cstate="print">
              <a:lum bright="11000"/>
            </a:blip>
            <a:stretch>
              <a:fillRect/>
            </a:stretch>
          </p:blipFill>
          <p:spPr>
            <a:xfrm>
              <a:off x="1295400" y="5067301"/>
              <a:ext cx="1371600" cy="1371600"/>
            </a:xfrm>
            <a:prstGeom prst="rect">
              <a:avLst/>
            </a:prstGeom>
            <a:noFill/>
            <a:ln>
              <a:noFill/>
            </a:ln>
          </p:spPr>
        </p:pic>
        <p:pic>
          <p:nvPicPr>
            <p:cNvPr id="10" name="Picture 9" descr="rodt_kryss.gif"/>
            <p:cNvPicPr>
              <a:picLocks noChangeAspect="1"/>
            </p:cNvPicPr>
            <p:nvPr/>
          </p:nvPicPr>
          <p:blipFill>
            <a:blip r:embed="rId6" cstate="print">
              <a:lum bright="11000"/>
            </a:blip>
            <a:stretch>
              <a:fillRect/>
            </a:stretch>
          </p:blipFill>
          <p:spPr>
            <a:xfrm>
              <a:off x="3505200" y="5067301"/>
              <a:ext cx="1371600" cy="1371600"/>
            </a:xfrm>
            <a:prstGeom prst="rect">
              <a:avLst/>
            </a:prstGeom>
            <a:noFill/>
            <a:ln>
              <a:noFill/>
            </a:ln>
          </p:spPr>
        </p:pic>
        <p:pic>
          <p:nvPicPr>
            <p:cNvPr id="11" name="Picture 10" descr="rodt_kryss.gif"/>
            <p:cNvPicPr>
              <a:picLocks noChangeAspect="1"/>
            </p:cNvPicPr>
            <p:nvPr/>
          </p:nvPicPr>
          <p:blipFill>
            <a:blip r:embed="rId6" cstate="print">
              <a:lum bright="11000"/>
            </a:blip>
            <a:stretch>
              <a:fillRect/>
            </a:stretch>
          </p:blipFill>
          <p:spPr>
            <a:xfrm>
              <a:off x="6934200" y="5067301"/>
              <a:ext cx="1371600" cy="1371600"/>
            </a:xfrm>
            <a:prstGeom prst="rect">
              <a:avLst/>
            </a:prstGeom>
            <a:noFill/>
            <a:ln>
              <a:noFill/>
            </a:ln>
          </p:spPr>
        </p:pic>
      </p:grpSp>
      <p:pic>
        <p:nvPicPr>
          <p:cNvPr id="12" name="Picture 11" descr="Example_Cable.jpg"/>
          <p:cNvPicPr/>
          <p:nvPr/>
        </p:nvPicPr>
        <p:blipFill>
          <a:blip r:embed="rId7" cstate="print"/>
          <a:srcRect l="-1" t="7692" r="-3279"/>
          <a:stretch>
            <a:fillRect/>
          </a:stretch>
        </p:blipFill>
        <p:spPr>
          <a:xfrm>
            <a:off x="2057400" y="4038600"/>
            <a:ext cx="4800600" cy="914400"/>
          </a:xfrm>
          <a:prstGeom prst="rect">
            <a:avLst/>
          </a:prstGeom>
        </p:spPr>
      </p:pic>
      <p:pic>
        <p:nvPicPr>
          <p:cNvPr id="549889" name="Picture 1" descr="C:\Documents and Settings\dcoombs\Local Settings\Temporary Internet Files\Content.IE5\Y339YSZ5\MC900434665[1].wmf"/>
          <p:cNvPicPr>
            <a:picLocks noChangeAspect="1" noChangeArrowheads="1"/>
          </p:cNvPicPr>
          <p:nvPr/>
        </p:nvPicPr>
        <p:blipFill>
          <a:blip r:embed="rId8" cstate="print"/>
          <a:srcRect/>
          <a:stretch>
            <a:fillRect/>
          </a:stretch>
        </p:blipFill>
        <p:spPr bwMode="auto">
          <a:xfrm>
            <a:off x="6400800" y="3962400"/>
            <a:ext cx="990600" cy="911627"/>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How of the Cable Effects Study</a:t>
            </a:r>
            <a:endParaRPr lang="en-US" dirty="0"/>
          </a:p>
        </p:txBody>
      </p:sp>
      <p:sp>
        <p:nvSpPr>
          <p:cNvPr id="3" name="Content Placeholder 2"/>
          <p:cNvSpPr>
            <a:spLocks noGrp="1"/>
          </p:cNvSpPr>
          <p:nvPr>
            <p:ph idx="1"/>
          </p:nvPr>
        </p:nvSpPr>
        <p:spPr/>
        <p:txBody>
          <a:bodyPr/>
          <a:lstStyle/>
          <a:p>
            <a:r>
              <a:rPr lang="en-US" dirty="0" smtClean="0"/>
              <a:t>Cable models are implemented using Nastran standard elements. </a:t>
            </a:r>
          </a:p>
          <a:p>
            <a:pPr lvl="1"/>
            <a:r>
              <a:rPr lang="en-US" dirty="0" smtClean="0"/>
              <a:t>Well integrated with standard analysis tools</a:t>
            </a:r>
          </a:p>
          <a:p>
            <a:r>
              <a:rPr lang="en-US" dirty="0" smtClean="0"/>
              <a:t>Linear beam elements are appropriate, using composite properties and general formulation.</a:t>
            </a:r>
          </a:p>
          <a:p>
            <a:pPr lvl="1"/>
            <a:r>
              <a:rPr lang="en-US" dirty="0" smtClean="0"/>
              <a:t>Measurements showed that cable models must include shear: a Bernoulli-Euler beam formulation cannot predict cable dynamics</a:t>
            </a:r>
          </a:p>
          <a:p>
            <a:pPr lvl="1"/>
            <a:r>
              <a:rPr lang="en-US" dirty="0" smtClean="0"/>
              <a:t>Equivalent cable properties in the Nastran deck are obtained through experiment and parameter estimation</a:t>
            </a:r>
          </a:p>
          <a:p>
            <a:pPr lvl="1"/>
            <a:r>
              <a:rPr lang="en-US" dirty="0" smtClean="0"/>
              <a:t>The cable-to-structure model uses linear spring elements (PBUSH)</a:t>
            </a:r>
          </a:p>
          <a:p>
            <a:pPr lvl="2"/>
            <a:r>
              <a:rPr lang="en-US" dirty="0" smtClean="0"/>
              <a:t>Spring properties were identified through experiment </a:t>
            </a:r>
          </a:p>
          <a:p>
            <a:r>
              <a:rPr lang="en-US" dirty="0" smtClean="0"/>
              <a:t>Validation experiments used throughout the program for cable parameter estimation and modeling techniques</a:t>
            </a:r>
          </a:p>
          <a:p>
            <a:r>
              <a:rPr lang="en-US" dirty="0" smtClean="0"/>
              <a:t>Demonstration experiment to verify methods</a:t>
            </a:r>
          </a:p>
          <a:p>
            <a:pPr lvl="1"/>
            <a:r>
              <a:rPr lang="en-US" dirty="0" smtClean="0"/>
              <a:t>Validation and verification – it was a research program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161213" cy="814388"/>
          </a:xfrm>
        </p:spPr>
        <p:txBody>
          <a:bodyPr/>
          <a:lstStyle/>
          <a:p>
            <a:r>
              <a:rPr lang="en-US" dirty="0" smtClean="0"/>
              <a:t>Research Topics not Included</a:t>
            </a:r>
            <a:br>
              <a:rPr lang="en-US" dirty="0" smtClean="0"/>
            </a:br>
            <a:r>
              <a:rPr lang="en-US" dirty="0" smtClean="0"/>
              <a:t>in the Cable Effects Study</a:t>
            </a:r>
            <a:endParaRPr lang="en-US" dirty="0"/>
          </a:p>
        </p:txBody>
      </p:sp>
      <p:sp>
        <p:nvSpPr>
          <p:cNvPr id="3" name="Content Placeholder 2"/>
          <p:cNvSpPr>
            <a:spLocks noGrp="1"/>
          </p:cNvSpPr>
          <p:nvPr>
            <p:ph idx="1"/>
          </p:nvPr>
        </p:nvSpPr>
        <p:spPr>
          <a:xfrm>
            <a:off x="539750" y="1676400"/>
            <a:ext cx="8255000" cy="4746625"/>
          </a:xfrm>
        </p:spPr>
        <p:txBody>
          <a:bodyPr/>
          <a:lstStyle/>
          <a:p>
            <a:r>
              <a:rPr lang="en-US" dirty="0" smtClean="0"/>
              <a:t>Bundles of twisted pair conductors exceeding 30 pairs and 20 AWG</a:t>
            </a:r>
          </a:p>
          <a:p>
            <a:pPr lvl="1"/>
            <a:r>
              <a:rPr lang="en-US" dirty="0" smtClean="0"/>
              <a:t>Limited design space to maintain focus</a:t>
            </a:r>
          </a:p>
          <a:p>
            <a:r>
              <a:rPr lang="en-US" dirty="0" smtClean="0"/>
              <a:t>Nonlinear cable models</a:t>
            </a:r>
          </a:p>
          <a:p>
            <a:pPr lvl="1"/>
            <a:r>
              <a:rPr lang="en-US" dirty="0" smtClean="0"/>
              <a:t>Parameter extraction was based on the assumption of linear behavior</a:t>
            </a:r>
          </a:p>
          <a:p>
            <a:r>
              <a:rPr lang="en-US" dirty="0" smtClean="0"/>
              <a:t>Detailed cable mechanics</a:t>
            </a:r>
          </a:p>
          <a:p>
            <a:pPr lvl="1"/>
            <a:r>
              <a:rPr lang="en-US" dirty="0" smtClean="0"/>
              <a:t>Model-based cable bulk property derivation</a:t>
            </a:r>
          </a:p>
          <a:p>
            <a:pPr lvl="1"/>
            <a:r>
              <a:rPr lang="en-US" dirty="0" smtClean="0"/>
              <a:t>Cable loss mechanism models</a:t>
            </a:r>
          </a:p>
          <a:p>
            <a:pPr lvl="2"/>
            <a:r>
              <a:rPr lang="en-US" dirty="0" smtClean="0"/>
              <a:t>Inter-strand in a conductor, loss due to strain energy in the conductor shields or conductor-to-conductor loss</a:t>
            </a:r>
          </a:p>
          <a:p>
            <a:r>
              <a:rPr lang="en-US" dirty="0" smtClean="0"/>
              <a:t>Localized cable tie-down behavior</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p:cNvSpPr>
            <a:spLocks noGrp="1"/>
          </p:cNvSpPr>
          <p:nvPr>
            <p:ph type="title"/>
          </p:nvPr>
        </p:nvSpPr>
        <p:spPr>
          <a:xfrm>
            <a:off x="990600" y="228600"/>
            <a:ext cx="7161213" cy="814388"/>
          </a:xfrm>
        </p:spPr>
        <p:txBody>
          <a:bodyPr/>
          <a:lstStyle/>
          <a:p>
            <a:r>
              <a:rPr lang="en-US" dirty="0" smtClean="0"/>
              <a:t>Cable Construction and Effects on Dynamics</a:t>
            </a:r>
            <a:endParaRPr lang="en-US" dirty="0"/>
          </a:p>
        </p:txBody>
      </p:sp>
      <p:pic>
        <p:nvPicPr>
          <p:cNvPr id="23" name="Content Placeholder 22" descr="Cable Fab.png"/>
          <p:cNvPicPr>
            <a:picLocks noGrp="1" noChangeAspect="1"/>
          </p:cNvPicPr>
          <p:nvPr>
            <p:ph sz="half" idx="1"/>
          </p:nvPr>
        </p:nvPicPr>
        <p:blipFill>
          <a:blip r:embed="rId3" cstate="print"/>
          <a:stretch>
            <a:fillRect/>
          </a:stretch>
        </p:blipFill>
        <p:spPr>
          <a:xfrm>
            <a:off x="6320839" y="1143000"/>
            <a:ext cx="2365961" cy="2819400"/>
          </a:xfrm>
        </p:spPr>
      </p:pic>
      <p:sp>
        <p:nvSpPr>
          <p:cNvPr id="26" name="Content Placeholder 25"/>
          <p:cNvSpPr>
            <a:spLocks noGrp="1"/>
          </p:cNvSpPr>
          <p:nvPr>
            <p:ph sz="half" idx="2"/>
          </p:nvPr>
        </p:nvSpPr>
        <p:spPr>
          <a:xfrm>
            <a:off x="0" y="1219200"/>
            <a:ext cx="6096000" cy="1981200"/>
          </a:xfrm>
        </p:spPr>
        <p:txBody>
          <a:bodyPr/>
          <a:lstStyle/>
          <a:p>
            <a:r>
              <a:rPr lang="en-US" sz="2000" dirty="0" smtClean="0"/>
              <a:t>Bundles of twisted pair single-conductor wires stitched and wrapped with Kapton</a:t>
            </a:r>
            <a:r>
              <a:rPr lang="en-US" sz="2000" baseline="30000" dirty="0" smtClean="0"/>
              <a:t>®</a:t>
            </a:r>
            <a:r>
              <a:rPr lang="en-US" sz="2000" dirty="0" smtClean="0"/>
              <a:t> tape</a:t>
            </a:r>
          </a:p>
          <a:p>
            <a:pPr lvl="1"/>
            <a:r>
              <a:rPr lang="en-US" sz="1600" dirty="0" smtClean="0"/>
              <a:t>Consistent with spacecraft power and signal cable fabrication</a:t>
            </a:r>
          </a:p>
          <a:p>
            <a:r>
              <a:rPr lang="en-US" sz="2000" dirty="0" smtClean="0"/>
              <a:t>Cables add damping and can shift modal frequencies</a:t>
            </a:r>
            <a:endParaRPr lang="en-US" sz="2000" dirty="0"/>
          </a:p>
        </p:txBody>
      </p:sp>
      <p:grpSp>
        <p:nvGrpSpPr>
          <p:cNvPr id="9" name="Group 8"/>
          <p:cNvGrpSpPr>
            <a:grpSpLocks noChangeAspect="1"/>
          </p:cNvGrpSpPr>
          <p:nvPr/>
        </p:nvGrpSpPr>
        <p:grpSpPr>
          <a:xfrm>
            <a:off x="6629400" y="4114800"/>
            <a:ext cx="1766455" cy="2590800"/>
            <a:chOff x="2895600" y="1609725"/>
            <a:chExt cx="2689225" cy="4016375"/>
          </a:xfrm>
        </p:grpSpPr>
        <p:pic>
          <p:nvPicPr>
            <p:cNvPr id="10" name="Picture 2" descr="IMG_0551"/>
            <p:cNvPicPr>
              <a:picLocks noChangeAspect="1" noChangeArrowheads="1"/>
            </p:cNvPicPr>
            <p:nvPr/>
          </p:nvPicPr>
          <p:blipFill>
            <a:blip r:embed="rId4" cstate="print">
              <a:lum bright="10000" contrast="-12000"/>
            </a:blip>
            <a:srcRect l="24374" r="21750"/>
            <a:stretch>
              <a:fillRect/>
            </a:stretch>
          </p:blipFill>
          <p:spPr bwMode="auto">
            <a:xfrm>
              <a:off x="3962400" y="1611313"/>
              <a:ext cx="1622425" cy="4014787"/>
            </a:xfrm>
            <a:prstGeom prst="rect">
              <a:avLst/>
            </a:prstGeom>
            <a:noFill/>
            <a:ln w="9525">
              <a:noFill/>
              <a:miter lim="800000"/>
              <a:headEnd/>
              <a:tailEnd/>
            </a:ln>
          </p:spPr>
        </p:pic>
        <p:pic>
          <p:nvPicPr>
            <p:cNvPr id="11" name="Picture 4" descr="IMG_0481"/>
            <p:cNvPicPr>
              <a:picLocks noChangeAspect="1" noChangeArrowheads="1"/>
            </p:cNvPicPr>
            <p:nvPr/>
          </p:nvPicPr>
          <p:blipFill>
            <a:blip r:embed="rId5" cstate="print"/>
            <a:srcRect l="35167" r="35500" b="6750"/>
            <a:stretch>
              <a:fillRect/>
            </a:stretch>
          </p:blipFill>
          <p:spPr bwMode="auto">
            <a:xfrm>
              <a:off x="2895600" y="1676400"/>
              <a:ext cx="927100" cy="3930650"/>
            </a:xfrm>
            <a:prstGeom prst="rect">
              <a:avLst/>
            </a:prstGeom>
            <a:noFill/>
          </p:spPr>
        </p:pic>
        <p:sp>
          <p:nvSpPr>
            <p:cNvPr id="12" name="Rectangle 8"/>
            <p:cNvSpPr>
              <a:spLocks noChangeArrowheads="1"/>
            </p:cNvSpPr>
            <p:nvPr/>
          </p:nvSpPr>
          <p:spPr bwMode="auto">
            <a:xfrm>
              <a:off x="3028950" y="2005013"/>
              <a:ext cx="582613" cy="496887"/>
            </a:xfrm>
            <a:prstGeom prst="rect">
              <a:avLst/>
            </a:prstGeom>
            <a:noFill/>
            <a:ln w="28575">
              <a:solidFill>
                <a:srgbClr val="FFFF00"/>
              </a:solidFill>
              <a:miter lim="800000"/>
              <a:headEnd/>
              <a:tailEnd/>
            </a:ln>
            <a:effectLst/>
          </p:spPr>
          <p:txBody>
            <a:bodyPr anchor="ctr">
              <a:spAutoFit/>
            </a:bodyPr>
            <a:lstStyle/>
            <a:p>
              <a:endParaRPr lang="en-US"/>
            </a:p>
          </p:txBody>
        </p:sp>
        <p:sp>
          <p:nvSpPr>
            <p:cNvPr id="13" name="Line 9"/>
            <p:cNvSpPr>
              <a:spLocks noChangeShapeType="1"/>
            </p:cNvSpPr>
            <p:nvPr/>
          </p:nvSpPr>
          <p:spPr bwMode="auto">
            <a:xfrm flipV="1">
              <a:off x="3621088" y="1843088"/>
              <a:ext cx="747712" cy="419100"/>
            </a:xfrm>
            <a:prstGeom prst="line">
              <a:avLst/>
            </a:prstGeom>
            <a:noFill/>
            <a:ln w="28575">
              <a:solidFill>
                <a:srgbClr val="FFFF00"/>
              </a:solidFill>
              <a:round/>
              <a:headEnd/>
              <a:tailEnd type="triangle" w="med" len="med"/>
            </a:ln>
            <a:effectLst/>
          </p:spPr>
          <p:txBody>
            <a:bodyPr>
              <a:spAutoFit/>
            </a:bodyPr>
            <a:lstStyle/>
            <a:p>
              <a:endParaRPr lang="en-US"/>
            </a:p>
          </p:txBody>
        </p:sp>
        <p:grpSp>
          <p:nvGrpSpPr>
            <p:cNvPr id="14" name="Group 11"/>
            <p:cNvGrpSpPr>
              <a:grpSpLocks/>
            </p:cNvGrpSpPr>
            <p:nvPr/>
          </p:nvGrpSpPr>
          <p:grpSpPr bwMode="auto">
            <a:xfrm>
              <a:off x="4483100" y="1608909"/>
              <a:ext cx="1011238" cy="306340"/>
              <a:chOff x="2550" y="1802"/>
              <a:chExt cx="551" cy="106"/>
            </a:xfrm>
          </p:grpSpPr>
          <p:sp>
            <p:nvSpPr>
              <p:cNvPr id="15" name="Line 12"/>
              <p:cNvSpPr>
                <a:spLocks noChangeShapeType="1"/>
              </p:cNvSpPr>
              <p:nvPr/>
            </p:nvSpPr>
            <p:spPr bwMode="auto">
              <a:xfrm>
                <a:off x="2550" y="1849"/>
                <a:ext cx="230" cy="1"/>
              </a:xfrm>
              <a:prstGeom prst="line">
                <a:avLst/>
              </a:prstGeom>
              <a:noFill/>
              <a:ln w="28575">
                <a:solidFill>
                  <a:srgbClr val="FFFF00"/>
                </a:solidFill>
                <a:round/>
                <a:headEnd type="none" w="sm" len="sm"/>
                <a:tailEnd type="triangle" w="sm" len="sm"/>
              </a:ln>
              <a:effectLst/>
            </p:spPr>
            <p:txBody>
              <a:bodyPr>
                <a:spAutoFit/>
              </a:bodyPr>
              <a:lstStyle/>
              <a:p>
                <a:endParaRPr lang="en-US"/>
              </a:p>
            </p:txBody>
          </p:sp>
          <p:sp>
            <p:nvSpPr>
              <p:cNvPr id="16" name="Line 13"/>
              <p:cNvSpPr>
                <a:spLocks noChangeShapeType="1"/>
              </p:cNvSpPr>
              <p:nvPr/>
            </p:nvSpPr>
            <p:spPr bwMode="auto">
              <a:xfrm flipH="1">
                <a:off x="2871" y="1851"/>
                <a:ext cx="230" cy="1"/>
              </a:xfrm>
              <a:prstGeom prst="line">
                <a:avLst/>
              </a:prstGeom>
              <a:noFill/>
              <a:ln w="28575">
                <a:solidFill>
                  <a:srgbClr val="FFFF00"/>
                </a:solidFill>
                <a:round/>
                <a:headEnd type="none" w="sm" len="sm"/>
                <a:tailEnd type="triangle" w="sm" len="sm"/>
              </a:ln>
              <a:effectLst/>
            </p:spPr>
            <p:txBody>
              <a:bodyPr>
                <a:spAutoFit/>
              </a:bodyPr>
              <a:lstStyle/>
              <a:p>
                <a:endParaRPr lang="en-US"/>
              </a:p>
            </p:txBody>
          </p:sp>
          <p:sp>
            <p:nvSpPr>
              <p:cNvPr id="17" name="Line 14"/>
              <p:cNvSpPr>
                <a:spLocks noChangeShapeType="1"/>
              </p:cNvSpPr>
              <p:nvPr/>
            </p:nvSpPr>
            <p:spPr bwMode="auto">
              <a:xfrm>
                <a:off x="2866" y="1802"/>
                <a:ext cx="0" cy="104"/>
              </a:xfrm>
              <a:prstGeom prst="line">
                <a:avLst/>
              </a:prstGeom>
              <a:noFill/>
              <a:ln w="28575">
                <a:solidFill>
                  <a:srgbClr val="FFFF00"/>
                </a:solidFill>
                <a:round/>
                <a:headEnd/>
                <a:tailEnd/>
              </a:ln>
              <a:effectLst/>
            </p:spPr>
            <p:txBody>
              <a:bodyPr>
                <a:spAutoFit/>
              </a:bodyPr>
              <a:lstStyle/>
              <a:p>
                <a:endParaRPr lang="en-US"/>
              </a:p>
            </p:txBody>
          </p:sp>
          <p:sp>
            <p:nvSpPr>
              <p:cNvPr id="18" name="Line 15"/>
              <p:cNvSpPr>
                <a:spLocks noChangeShapeType="1"/>
              </p:cNvSpPr>
              <p:nvPr/>
            </p:nvSpPr>
            <p:spPr bwMode="auto">
              <a:xfrm>
                <a:off x="2790" y="1804"/>
                <a:ext cx="0" cy="104"/>
              </a:xfrm>
              <a:prstGeom prst="line">
                <a:avLst/>
              </a:prstGeom>
              <a:noFill/>
              <a:ln w="28575">
                <a:solidFill>
                  <a:srgbClr val="FFFF00"/>
                </a:solidFill>
                <a:round/>
                <a:headEnd/>
                <a:tailEnd/>
              </a:ln>
              <a:effectLst/>
            </p:spPr>
            <p:txBody>
              <a:bodyPr>
                <a:spAutoFit/>
              </a:bodyPr>
              <a:lstStyle/>
              <a:p>
                <a:endParaRPr lang="en-US"/>
              </a:p>
            </p:txBody>
          </p:sp>
        </p:grpSp>
      </p:grpSp>
      <p:grpSp>
        <p:nvGrpSpPr>
          <p:cNvPr id="22" name="Group 21"/>
          <p:cNvGrpSpPr/>
          <p:nvPr/>
        </p:nvGrpSpPr>
        <p:grpSpPr>
          <a:xfrm>
            <a:off x="0" y="3276600"/>
            <a:ext cx="5638800" cy="3397488"/>
            <a:chOff x="0" y="3276600"/>
            <a:chExt cx="5638800" cy="3397488"/>
          </a:xfrm>
        </p:grpSpPr>
        <p:pic>
          <p:nvPicPr>
            <p:cNvPr id="28" name="Picture 14"/>
            <p:cNvPicPr>
              <a:picLocks noChangeAspect="1" noChangeArrowheads="1"/>
            </p:cNvPicPr>
            <p:nvPr/>
          </p:nvPicPr>
          <p:blipFill>
            <a:blip r:embed="rId6" cstate="print"/>
            <a:srcRect l="10272" t="18466" r="16386" b="15674"/>
            <a:stretch>
              <a:fillRect/>
            </a:stretch>
          </p:blipFill>
          <p:spPr bwMode="auto">
            <a:xfrm>
              <a:off x="3200400" y="3429000"/>
              <a:ext cx="1095375" cy="666750"/>
            </a:xfrm>
            <a:prstGeom prst="rect">
              <a:avLst/>
            </a:prstGeom>
            <a:noFill/>
            <a:ln w="9525">
              <a:noFill/>
              <a:round/>
              <a:headEnd/>
              <a:tailEnd/>
            </a:ln>
            <a:effectLst/>
          </p:spPr>
        </p:pic>
        <p:grpSp>
          <p:nvGrpSpPr>
            <p:cNvPr id="38" name="Group 37"/>
            <p:cNvGrpSpPr/>
            <p:nvPr/>
          </p:nvGrpSpPr>
          <p:grpSpPr>
            <a:xfrm>
              <a:off x="1371600" y="3276600"/>
              <a:ext cx="4267200" cy="3397488"/>
              <a:chOff x="1219200" y="2971800"/>
              <a:chExt cx="4724400" cy="3702288"/>
            </a:xfrm>
          </p:grpSpPr>
          <p:pic>
            <p:nvPicPr>
              <p:cNvPr id="29" name="Content Placeholder 4" descr="BareBeam~SerptineBode800Hz.png"/>
              <p:cNvPicPr>
                <a:picLocks noChangeAspect="1"/>
              </p:cNvPicPr>
              <p:nvPr/>
            </p:nvPicPr>
            <p:blipFill>
              <a:blip r:embed="rId7" cstate="print"/>
              <a:srcRect l="1887" t="2516" r="7540" b="2847"/>
              <a:stretch>
                <a:fillRect/>
              </a:stretch>
            </p:blipFill>
            <p:spPr bwMode="auto">
              <a:xfrm>
                <a:off x="1219200" y="2971800"/>
                <a:ext cx="4724400" cy="3702288"/>
              </a:xfrm>
              <a:prstGeom prst="rect">
                <a:avLst/>
              </a:prstGeom>
              <a:noFill/>
              <a:ln w="9525">
                <a:noFill/>
                <a:round/>
                <a:headEnd/>
                <a:tailEnd/>
              </a:ln>
              <a:effectLst/>
            </p:spPr>
          </p:pic>
          <p:cxnSp>
            <p:nvCxnSpPr>
              <p:cNvPr id="27" name="Straight Arrow Connector 26"/>
              <p:cNvCxnSpPr/>
              <p:nvPr/>
            </p:nvCxnSpPr>
            <p:spPr bwMode="auto">
              <a:xfrm>
                <a:off x="1752600" y="4343400"/>
                <a:ext cx="1295400" cy="1588"/>
              </a:xfrm>
              <a:prstGeom prst="straightConnector1">
                <a:avLst/>
              </a:prstGeom>
              <a:solidFill>
                <a:srgbClr val="00B8FF"/>
              </a:solidFill>
              <a:ln w="31750" cap="flat" cmpd="sng" algn="ctr">
                <a:solidFill>
                  <a:srgbClr val="0070C0"/>
                </a:solidFill>
                <a:prstDash val="solid"/>
                <a:round/>
                <a:headEnd type="arrow"/>
                <a:tailEnd type="arrow"/>
              </a:ln>
              <a:effectLst/>
            </p:spPr>
          </p:cxnSp>
          <p:cxnSp>
            <p:nvCxnSpPr>
              <p:cNvPr id="30" name="Straight Arrow Connector 29"/>
              <p:cNvCxnSpPr/>
              <p:nvPr/>
            </p:nvCxnSpPr>
            <p:spPr bwMode="auto">
              <a:xfrm>
                <a:off x="3124200" y="6172200"/>
                <a:ext cx="2743200" cy="1588"/>
              </a:xfrm>
              <a:prstGeom prst="straightConnector1">
                <a:avLst/>
              </a:prstGeom>
              <a:solidFill>
                <a:srgbClr val="00B8FF"/>
              </a:solidFill>
              <a:ln w="38100" cap="flat" cmpd="sng" algn="ctr">
                <a:solidFill>
                  <a:srgbClr val="00B050"/>
                </a:solidFill>
                <a:prstDash val="solid"/>
                <a:round/>
                <a:headEnd type="arrow"/>
                <a:tailEnd type="arrow"/>
              </a:ln>
              <a:effectLst/>
            </p:spPr>
          </p:cxnSp>
        </p:grpSp>
        <p:sp>
          <p:nvSpPr>
            <p:cNvPr id="32" name="TextBox 31"/>
            <p:cNvSpPr txBox="1"/>
            <p:nvPr/>
          </p:nvSpPr>
          <p:spPr>
            <a:xfrm>
              <a:off x="0" y="3962400"/>
              <a:ext cx="1524000" cy="707886"/>
            </a:xfrm>
            <a:prstGeom prst="rect">
              <a:avLst/>
            </a:prstGeom>
            <a:noFill/>
          </p:spPr>
          <p:txBody>
            <a:bodyPr wrap="square" rtlCol="0">
              <a:spAutoFit/>
            </a:bodyPr>
            <a:lstStyle/>
            <a:p>
              <a:r>
                <a:rPr lang="en-US" b="1" dirty="0" smtClean="0">
                  <a:solidFill>
                    <a:srgbClr val="0070C0"/>
                  </a:solidFill>
                </a:rPr>
                <a:t>Cable not resonant</a:t>
              </a:r>
            </a:p>
          </p:txBody>
        </p:sp>
        <p:sp>
          <p:nvSpPr>
            <p:cNvPr id="33" name="TextBox 32"/>
            <p:cNvSpPr txBox="1"/>
            <p:nvPr/>
          </p:nvSpPr>
          <p:spPr>
            <a:xfrm>
              <a:off x="0" y="5715000"/>
              <a:ext cx="1524000" cy="707886"/>
            </a:xfrm>
            <a:prstGeom prst="rect">
              <a:avLst/>
            </a:prstGeom>
            <a:noFill/>
          </p:spPr>
          <p:txBody>
            <a:bodyPr wrap="square" rtlCol="0">
              <a:spAutoFit/>
            </a:bodyPr>
            <a:lstStyle/>
            <a:p>
              <a:r>
                <a:rPr lang="en-US" b="1" dirty="0" smtClean="0">
                  <a:solidFill>
                    <a:srgbClr val="00B050"/>
                  </a:solidFill>
                </a:rPr>
                <a:t>Cable resonant</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91393" y="176212"/>
            <a:ext cx="7161213" cy="814388"/>
          </a:xfrm>
        </p:spPr>
        <p:txBody>
          <a:bodyPr/>
          <a:lstStyle/>
          <a:p>
            <a:r>
              <a:rPr lang="en-US" dirty="0" smtClean="0"/>
              <a:t>Attachment to Host Structure:</a:t>
            </a:r>
            <a:br>
              <a:rPr lang="en-US" dirty="0" smtClean="0"/>
            </a:br>
            <a:r>
              <a:rPr lang="en-US" dirty="0" smtClean="0"/>
              <a:t>Cable-Structure Interaction</a:t>
            </a:r>
            <a:endParaRPr lang="en-US" dirty="0"/>
          </a:p>
        </p:txBody>
      </p:sp>
      <p:sp>
        <p:nvSpPr>
          <p:cNvPr id="5" name="Slide Number Placeholder 4"/>
          <p:cNvSpPr>
            <a:spLocks noGrp="1"/>
          </p:cNvSpPr>
          <p:nvPr>
            <p:ph type="sldNum" sz="quarter" idx="4294967295"/>
          </p:nvPr>
        </p:nvSpPr>
        <p:spPr>
          <a:xfrm>
            <a:off x="7010400" y="6492875"/>
            <a:ext cx="2133600" cy="365125"/>
          </a:xfrm>
          <a:prstGeom prst="rect">
            <a:avLst/>
          </a:prstGeom>
        </p:spPr>
        <p:txBody>
          <a:bodyPr/>
          <a:lstStyle/>
          <a:p>
            <a:fld id="{4893BF17-9107-496A-9E73-CDA2C14952E4}" type="slidenum">
              <a:rPr lang="en-US" smtClean="0"/>
              <a:pPr/>
              <a:t>9</a:t>
            </a:fld>
            <a:endParaRPr lang="en-US" dirty="0"/>
          </a:p>
        </p:txBody>
      </p:sp>
      <p:sp>
        <p:nvSpPr>
          <p:cNvPr id="11" name="Content Placeholder 20"/>
          <p:cNvSpPr txBox="1">
            <a:spLocks/>
          </p:cNvSpPr>
          <p:nvPr/>
        </p:nvSpPr>
        <p:spPr bwMode="auto">
          <a:xfrm>
            <a:off x="4800600" y="1295400"/>
            <a:ext cx="3962400" cy="1905000"/>
          </a:xfrm>
          <a:prstGeom prst="rect">
            <a:avLst/>
          </a:prstGeom>
          <a:noFill/>
          <a:ln w="9525">
            <a:noFill/>
            <a:round/>
            <a:headEnd/>
            <a:tailEnd/>
          </a:ln>
          <a:effectLst/>
        </p:spPr>
        <p:txBody>
          <a:bodyPr vert="horz" wrap="square" lIns="87480" tIns="42840" rIns="87480" bIns="42840" numCol="1" anchor="t" anchorCtr="0" compatLnSpc="1">
            <a:prstTxWarp prst="textNoShape">
              <a:avLst/>
            </a:prstTxWarp>
          </a:bodyPr>
          <a:lstStyle/>
          <a:p>
            <a:pPr marL="268288" marR="0" lvl="0" indent="-268288" algn="l" defTabSz="457200" rtl="0" eaLnBrk="0" fontAlgn="base" latinLnBrk="0" hangingPunct="0">
              <a:lnSpc>
                <a:spcPct val="90000"/>
              </a:lnSpc>
              <a:spcBef>
                <a:spcPts val="825"/>
              </a:spcBef>
              <a:spcAft>
                <a:spcPct val="0"/>
              </a:spcAft>
              <a:buClr>
                <a:srgbClr val="000000"/>
              </a:buClr>
              <a:buSzPct val="100000"/>
              <a:buFont typeface="Arial" charset="0"/>
              <a:buChar char="•"/>
              <a:tabLst/>
              <a:defRPr/>
            </a:pPr>
            <a:r>
              <a:rPr kumimoji="0" lang="en-US" sz="1800" b="1" i="0" u="none" strike="noStrike" kern="0" cap="none" spc="0" normalizeH="0" baseline="0" noProof="0" dirty="0" smtClean="0">
                <a:ln>
                  <a:noFill/>
                </a:ln>
                <a:solidFill>
                  <a:srgbClr val="000000"/>
                </a:solidFill>
                <a:effectLst/>
                <a:uLnTx/>
                <a:uFillTx/>
                <a:latin typeface="+mn-lt"/>
                <a:ea typeface="+mn-ea"/>
                <a:cs typeface="+mn-cs"/>
              </a:rPr>
              <a:t>TC-105 mounting</a:t>
            </a:r>
            <a:r>
              <a:rPr kumimoji="0" lang="en-US" sz="1800" b="1" i="0" u="none" strike="noStrike" kern="0" cap="none" spc="0" normalizeH="0" noProof="0" dirty="0" smtClean="0">
                <a:ln>
                  <a:noFill/>
                </a:ln>
                <a:solidFill>
                  <a:srgbClr val="000000"/>
                </a:solidFill>
                <a:effectLst/>
                <a:uLnTx/>
                <a:uFillTx/>
                <a:latin typeface="+mn-lt"/>
                <a:ea typeface="+mn-ea"/>
                <a:cs typeface="+mn-cs"/>
              </a:rPr>
              <a:t> tabs </a:t>
            </a:r>
            <a:r>
              <a:rPr lang="en-US" sz="1600" b="1" kern="0" dirty="0" smtClean="0">
                <a:solidFill>
                  <a:srgbClr val="000000"/>
                </a:solidFill>
                <a:latin typeface="+mn-lt"/>
              </a:rPr>
              <a:t>bonded to host structure</a:t>
            </a:r>
            <a:endParaRPr kumimoji="0" lang="en-US" sz="1600" b="1" i="0" u="none" strike="noStrike" kern="0" cap="none" spc="0" normalizeH="0" baseline="0" noProof="0" dirty="0" smtClean="0">
              <a:ln>
                <a:noFill/>
              </a:ln>
              <a:solidFill>
                <a:srgbClr val="000000"/>
              </a:solidFill>
              <a:effectLst/>
              <a:uLnTx/>
              <a:uFillTx/>
              <a:latin typeface="+mn-lt"/>
              <a:ea typeface="+mn-ea"/>
              <a:cs typeface="+mn-cs"/>
            </a:endParaRPr>
          </a:p>
          <a:p>
            <a:pPr marL="642938" marR="0" lvl="1" indent="-215900" algn="l" defTabSz="457200" rtl="0" eaLnBrk="0" fontAlgn="base" latinLnBrk="0" hangingPunct="0">
              <a:lnSpc>
                <a:spcPct val="90000"/>
              </a:lnSpc>
              <a:spcBef>
                <a:spcPts val="675"/>
              </a:spcBef>
              <a:spcAft>
                <a:spcPct val="0"/>
              </a:spcAft>
              <a:buClr>
                <a:srgbClr val="000000"/>
              </a:buClr>
              <a:buSzPct val="100000"/>
              <a:buFont typeface="Arial" charset="0"/>
              <a:buChar char="-"/>
              <a:tabLst/>
              <a:defRPr/>
            </a:pPr>
            <a:r>
              <a:rPr kumimoji="0" lang="en-US" sz="1600" b="1" i="0" u="none" strike="noStrike" kern="0" cap="none" spc="0" normalizeH="0" baseline="0" noProof="0" dirty="0" smtClean="0">
                <a:ln>
                  <a:noFill/>
                </a:ln>
                <a:solidFill>
                  <a:srgbClr val="000000"/>
                </a:solidFill>
                <a:effectLst/>
                <a:uLnTx/>
                <a:uFillTx/>
                <a:latin typeface="+mn-lt"/>
                <a:ea typeface="+mn-ea"/>
                <a:cs typeface="+mn-cs"/>
              </a:rPr>
              <a:t>Allow controllable</a:t>
            </a:r>
            <a:r>
              <a:rPr kumimoji="0" lang="en-US" sz="1600" b="1" i="0" u="none" strike="noStrike" kern="0" cap="none" spc="0" normalizeH="0" noProof="0" dirty="0" smtClean="0">
                <a:ln>
                  <a:noFill/>
                </a:ln>
                <a:solidFill>
                  <a:srgbClr val="000000"/>
                </a:solidFill>
                <a:effectLst/>
                <a:uLnTx/>
                <a:uFillTx/>
                <a:latin typeface="+mn-lt"/>
                <a:ea typeface="+mn-ea"/>
                <a:cs typeface="+mn-cs"/>
              </a:rPr>
              <a:t> cable attachment using zip-ties and installation tool (zip-tie gun)</a:t>
            </a:r>
          </a:p>
          <a:p>
            <a:pPr marL="642938" marR="0" lvl="1" indent="-215900" algn="l" defTabSz="457200" rtl="0" eaLnBrk="0" fontAlgn="base" latinLnBrk="0" hangingPunct="0">
              <a:lnSpc>
                <a:spcPct val="90000"/>
              </a:lnSpc>
              <a:spcBef>
                <a:spcPts val="675"/>
              </a:spcBef>
              <a:spcAft>
                <a:spcPct val="0"/>
              </a:spcAft>
              <a:buClr>
                <a:srgbClr val="000000"/>
              </a:buClr>
              <a:buSzPct val="100000"/>
              <a:buFont typeface="Arial" charset="0"/>
              <a:buChar char="-"/>
              <a:tabLst/>
              <a:defRPr/>
            </a:pPr>
            <a:r>
              <a:rPr kumimoji="0" lang="en-US" sz="1600" b="1" i="0" u="none" strike="noStrike" kern="0" cap="none" spc="0" normalizeH="0" noProof="0" dirty="0" smtClean="0">
                <a:ln>
                  <a:noFill/>
                </a:ln>
                <a:solidFill>
                  <a:srgbClr val="000000"/>
                </a:solidFill>
                <a:effectLst/>
                <a:uLnTx/>
                <a:uFillTx/>
                <a:latin typeface="+mn-lt"/>
                <a:ea typeface="+mn-ea"/>
                <a:cs typeface="+mn-cs"/>
              </a:rPr>
              <a:t>Lacing cord used as an alternative</a:t>
            </a:r>
            <a:r>
              <a:rPr lang="en-US" sz="1600" b="1" kern="0" dirty="0" smtClean="0">
                <a:solidFill>
                  <a:srgbClr val="000000"/>
                </a:solidFill>
                <a:latin typeface="+mn-lt"/>
              </a:rPr>
              <a:t> to zip-ties</a:t>
            </a:r>
            <a:endParaRPr kumimoji="0" lang="en-US" sz="1600" b="1" i="0" u="none" strike="noStrike" kern="0" cap="none" spc="0" normalizeH="0" baseline="0" noProof="0" dirty="0" smtClean="0">
              <a:ln>
                <a:noFill/>
              </a:ln>
              <a:solidFill>
                <a:srgbClr val="000000"/>
              </a:solidFill>
              <a:effectLst/>
              <a:uLnTx/>
              <a:uFillTx/>
              <a:latin typeface="+mn-lt"/>
              <a:ea typeface="+mn-ea"/>
              <a:cs typeface="+mn-cs"/>
            </a:endParaRPr>
          </a:p>
        </p:txBody>
      </p:sp>
      <p:pic>
        <p:nvPicPr>
          <p:cNvPr id="12" name="Content Placeholder 7" descr="Lateral_and_axial_cable_loading.jpg"/>
          <p:cNvPicPr>
            <a:picLocks noGrp="1" noChangeAspect="1"/>
          </p:cNvPicPr>
          <p:nvPr>
            <p:ph idx="1"/>
          </p:nvPr>
        </p:nvPicPr>
        <p:blipFill>
          <a:blip r:embed="rId3" cstate="print">
            <a:clrChange>
              <a:clrFrom>
                <a:srgbClr val="FBFFFF"/>
              </a:clrFrom>
              <a:clrTo>
                <a:srgbClr val="FBFFFF">
                  <a:alpha val="0"/>
                </a:srgbClr>
              </a:clrTo>
            </a:clrChange>
          </a:blip>
          <a:stretch>
            <a:fillRect/>
          </a:stretch>
        </p:blipFill>
        <p:spPr>
          <a:xfrm>
            <a:off x="4038600" y="4191000"/>
            <a:ext cx="5105400" cy="2135311"/>
          </a:xfrm>
          <a:prstGeom prst="rect">
            <a:avLst/>
          </a:prstGeom>
        </p:spPr>
      </p:pic>
      <p:grpSp>
        <p:nvGrpSpPr>
          <p:cNvPr id="2" name="Group 24"/>
          <p:cNvGrpSpPr>
            <a:grpSpLocks/>
          </p:cNvGrpSpPr>
          <p:nvPr/>
        </p:nvGrpSpPr>
        <p:grpSpPr bwMode="auto">
          <a:xfrm>
            <a:off x="228600" y="2362200"/>
            <a:ext cx="3733800" cy="3429000"/>
            <a:chOff x="4667405" y="2229212"/>
            <a:chExt cx="4458099" cy="4014787"/>
          </a:xfrm>
        </p:grpSpPr>
        <p:pic>
          <p:nvPicPr>
            <p:cNvPr id="14" name="Picture 2" descr="IMG_0551"/>
            <p:cNvPicPr>
              <a:picLocks noChangeAspect="1" noChangeArrowheads="1"/>
            </p:cNvPicPr>
            <p:nvPr/>
          </p:nvPicPr>
          <p:blipFill>
            <a:blip r:embed="rId4" cstate="print">
              <a:lum bright="10000" contrast="-12000"/>
            </a:blip>
            <a:srcRect l="24374" r="21750"/>
            <a:stretch>
              <a:fillRect/>
            </a:stretch>
          </p:blipFill>
          <p:spPr bwMode="auto">
            <a:xfrm>
              <a:off x="6162393" y="2229212"/>
              <a:ext cx="1622425" cy="4014787"/>
            </a:xfrm>
            <a:prstGeom prst="rect">
              <a:avLst/>
            </a:prstGeom>
            <a:noFill/>
            <a:ln w="9525">
              <a:noFill/>
              <a:miter lim="800000"/>
              <a:headEnd/>
              <a:tailEnd/>
            </a:ln>
          </p:spPr>
        </p:pic>
        <p:sp>
          <p:nvSpPr>
            <p:cNvPr id="15" name="TextBox 14"/>
            <p:cNvSpPr txBox="1"/>
            <p:nvPr/>
          </p:nvSpPr>
          <p:spPr>
            <a:xfrm>
              <a:off x="4792065" y="2473466"/>
              <a:ext cx="1232755" cy="437192"/>
            </a:xfrm>
            <a:prstGeom prst="rect">
              <a:avLst/>
            </a:prstGeom>
            <a:solidFill>
              <a:schemeClr val="accent1">
                <a:lumMod val="60000"/>
                <a:lumOff val="40000"/>
              </a:schemeClr>
            </a:solidFill>
          </p:spPr>
          <p:txBody>
            <a:bodyPr>
              <a:spAutoFit/>
            </a:bodyPr>
            <a:lstStyle/>
            <a:p>
              <a:pPr>
                <a:defRPr/>
              </a:pPr>
              <a:r>
                <a:rPr lang="en-US" sz="1600" dirty="0">
                  <a:solidFill>
                    <a:schemeClr val="accent6"/>
                  </a:solidFill>
                </a:rPr>
                <a:t>TC-105</a:t>
              </a:r>
            </a:p>
          </p:txBody>
        </p:sp>
        <p:sp>
          <p:nvSpPr>
            <p:cNvPr id="16" name="TextBox 15"/>
            <p:cNvSpPr txBox="1"/>
            <p:nvPr/>
          </p:nvSpPr>
          <p:spPr>
            <a:xfrm>
              <a:off x="7973878" y="2787505"/>
              <a:ext cx="1151626" cy="755338"/>
            </a:xfrm>
            <a:prstGeom prst="rect">
              <a:avLst/>
            </a:prstGeom>
            <a:solidFill>
              <a:schemeClr val="accent1">
                <a:lumMod val="60000"/>
                <a:lumOff val="40000"/>
              </a:schemeClr>
            </a:solidFill>
          </p:spPr>
          <p:txBody>
            <a:bodyPr>
              <a:spAutoFit/>
            </a:bodyPr>
            <a:lstStyle/>
            <a:p>
              <a:pPr>
                <a:defRPr/>
              </a:pPr>
              <a:r>
                <a:rPr lang="en-US" sz="1600" dirty="0">
                  <a:solidFill>
                    <a:schemeClr val="accent6"/>
                  </a:solidFill>
                </a:rPr>
                <a:t>Lacing cord</a:t>
              </a:r>
            </a:p>
          </p:txBody>
        </p:sp>
        <p:sp>
          <p:nvSpPr>
            <p:cNvPr id="17" name="TextBox 16"/>
            <p:cNvSpPr txBox="1"/>
            <p:nvPr/>
          </p:nvSpPr>
          <p:spPr>
            <a:xfrm>
              <a:off x="4902874" y="4460334"/>
              <a:ext cx="1058626" cy="439246"/>
            </a:xfrm>
            <a:prstGeom prst="rect">
              <a:avLst/>
            </a:prstGeom>
            <a:solidFill>
              <a:schemeClr val="accent1">
                <a:lumMod val="60000"/>
                <a:lumOff val="40000"/>
              </a:schemeClr>
            </a:solidFill>
          </p:spPr>
          <p:txBody>
            <a:bodyPr>
              <a:spAutoFit/>
            </a:bodyPr>
            <a:lstStyle/>
            <a:p>
              <a:pPr>
                <a:defRPr/>
              </a:pPr>
              <a:r>
                <a:rPr lang="en-US" sz="1600" dirty="0">
                  <a:solidFill>
                    <a:schemeClr val="accent6"/>
                  </a:solidFill>
                </a:rPr>
                <a:t>Cable</a:t>
              </a:r>
            </a:p>
          </p:txBody>
        </p:sp>
        <p:sp>
          <p:nvSpPr>
            <p:cNvPr id="18" name="TextBox 17"/>
            <p:cNvSpPr txBox="1"/>
            <p:nvPr/>
          </p:nvSpPr>
          <p:spPr>
            <a:xfrm>
              <a:off x="4667405" y="5236198"/>
              <a:ext cx="1410840" cy="757390"/>
            </a:xfrm>
            <a:prstGeom prst="rect">
              <a:avLst/>
            </a:prstGeom>
            <a:solidFill>
              <a:schemeClr val="accent1">
                <a:lumMod val="60000"/>
                <a:lumOff val="40000"/>
              </a:schemeClr>
            </a:solidFill>
          </p:spPr>
          <p:txBody>
            <a:bodyPr>
              <a:spAutoFit/>
            </a:bodyPr>
            <a:lstStyle/>
            <a:p>
              <a:pPr>
                <a:defRPr/>
              </a:pPr>
              <a:r>
                <a:rPr lang="en-US" sz="1600" dirty="0">
                  <a:solidFill>
                    <a:schemeClr val="accent6"/>
                  </a:solidFill>
                </a:rPr>
                <a:t>Base Structure</a:t>
              </a:r>
            </a:p>
          </p:txBody>
        </p:sp>
        <p:cxnSp>
          <p:nvCxnSpPr>
            <p:cNvPr id="19" name="Straight Arrow Connector 14"/>
            <p:cNvCxnSpPr>
              <a:cxnSpLocks noChangeShapeType="1"/>
              <a:stCxn id="15" idx="3"/>
            </p:cNvCxnSpPr>
            <p:nvPr/>
          </p:nvCxnSpPr>
          <p:spPr bwMode="auto">
            <a:xfrm flipV="1">
              <a:off x="6025569" y="2688881"/>
              <a:ext cx="1105544" cy="3831"/>
            </a:xfrm>
            <a:prstGeom prst="straightConnector1">
              <a:avLst/>
            </a:prstGeom>
            <a:noFill/>
            <a:ln w="12700" algn="ctr">
              <a:solidFill>
                <a:srgbClr val="FF0000"/>
              </a:solidFill>
              <a:round/>
              <a:headEnd/>
              <a:tailEnd type="arrow" w="med" len="med"/>
            </a:ln>
          </p:spPr>
        </p:cxnSp>
        <p:cxnSp>
          <p:nvCxnSpPr>
            <p:cNvPr id="20" name="Straight Arrow Connector 15"/>
            <p:cNvCxnSpPr>
              <a:cxnSpLocks noChangeShapeType="1"/>
              <a:stCxn id="16" idx="1"/>
            </p:cNvCxnSpPr>
            <p:nvPr/>
          </p:nvCxnSpPr>
          <p:spPr bwMode="auto">
            <a:xfrm rot="10800000">
              <a:off x="7342268" y="2821498"/>
              <a:ext cx="632427" cy="343490"/>
            </a:xfrm>
            <a:prstGeom prst="straightConnector1">
              <a:avLst/>
            </a:prstGeom>
            <a:noFill/>
            <a:ln w="12700" algn="ctr">
              <a:solidFill>
                <a:srgbClr val="FF0000"/>
              </a:solidFill>
              <a:round/>
              <a:headEnd/>
              <a:tailEnd type="arrow" w="med" len="med"/>
            </a:ln>
          </p:spPr>
        </p:cxnSp>
        <p:cxnSp>
          <p:nvCxnSpPr>
            <p:cNvPr id="21" name="Straight Arrow Connector 16"/>
            <p:cNvCxnSpPr>
              <a:cxnSpLocks noChangeShapeType="1"/>
              <a:stCxn id="17" idx="3"/>
            </p:cNvCxnSpPr>
            <p:nvPr/>
          </p:nvCxnSpPr>
          <p:spPr bwMode="auto">
            <a:xfrm flipV="1">
              <a:off x="5961708" y="4474678"/>
              <a:ext cx="1362547" cy="205270"/>
            </a:xfrm>
            <a:prstGeom prst="straightConnector1">
              <a:avLst/>
            </a:prstGeom>
            <a:noFill/>
            <a:ln w="12700" algn="ctr">
              <a:solidFill>
                <a:srgbClr val="FF0000"/>
              </a:solidFill>
              <a:round/>
              <a:headEnd/>
              <a:tailEnd type="arrow" w="med" len="med"/>
            </a:ln>
          </p:spPr>
        </p:cxnSp>
        <p:cxnSp>
          <p:nvCxnSpPr>
            <p:cNvPr id="22" name="Straight Arrow Connector 17"/>
            <p:cNvCxnSpPr>
              <a:cxnSpLocks noChangeShapeType="1"/>
              <a:stCxn id="18" idx="3"/>
            </p:cNvCxnSpPr>
            <p:nvPr/>
          </p:nvCxnSpPr>
          <p:spPr bwMode="auto">
            <a:xfrm flipV="1">
              <a:off x="6077407" y="5342827"/>
              <a:ext cx="794026" cy="272391"/>
            </a:xfrm>
            <a:prstGeom prst="straightConnector1">
              <a:avLst/>
            </a:prstGeom>
            <a:noFill/>
            <a:ln w="12700" algn="ctr">
              <a:solidFill>
                <a:srgbClr val="FF0000"/>
              </a:solidFill>
              <a:round/>
              <a:headEnd/>
              <a:tailEnd type="arrow" w="med" len="med"/>
            </a:ln>
          </p:spPr>
        </p:cxnSp>
      </p:grpSp>
      <p:pic>
        <p:nvPicPr>
          <p:cNvPr id="23" name="Picture 2" descr="TC105"/>
          <p:cNvPicPr>
            <a:picLocks noChangeAspect="1" noChangeArrowheads="1"/>
          </p:cNvPicPr>
          <p:nvPr/>
        </p:nvPicPr>
        <p:blipFill>
          <a:blip r:embed="rId5" cstate="print"/>
          <a:srcRect l="10269" t="18469" r="16380" b="15672"/>
          <a:stretch>
            <a:fillRect/>
          </a:stretch>
        </p:blipFill>
        <p:spPr bwMode="auto">
          <a:xfrm>
            <a:off x="381000" y="3095625"/>
            <a:ext cx="1095375" cy="666750"/>
          </a:xfrm>
          <a:prstGeom prst="rect">
            <a:avLst/>
          </a:prstGeom>
          <a:noFill/>
          <a:ln w="9525">
            <a:noFill/>
            <a:miter lim="800000"/>
            <a:headEnd/>
            <a:tailEnd/>
          </a:ln>
        </p:spPr>
      </p:pic>
      <p:cxnSp>
        <p:nvCxnSpPr>
          <p:cNvPr id="24" name="Straight Arrow Connector 30"/>
          <p:cNvCxnSpPr>
            <a:cxnSpLocks noChangeShapeType="1"/>
            <a:stCxn id="15" idx="2"/>
            <a:endCxn id="23" idx="0"/>
          </p:cNvCxnSpPr>
          <p:nvPr/>
        </p:nvCxnSpPr>
        <p:spPr bwMode="auto">
          <a:xfrm rot="16200000" flipH="1">
            <a:off x="813262" y="2980198"/>
            <a:ext cx="151407" cy="79445"/>
          </a:xfrm>
          <a:prstGeom prst="straightConnector1">
            <a:avLst/>
          </a:prstGeom>
          <a:noFill/>
          <a:ln w="12700" algn="ctr">
            <a:solidFill>
              <a:srgbClr val="FF0000"/>
            </a:solidFill>
            <a:round/>
            <a:headEnd/>
            <a:tailEnd type="arrow" w="med" len="med"/>
          </a:ln>
        </p:spPr>
      </p:cxnSp>
      <p:sp>
        <p:nvSpPr>
          <p:cNvPr id="30" name="TextBox 29"/>
          <p:cNvSpPr txBox="1"/>
          <p:nvPr/>
        </p:nvSpPr>
        <p:spPr>
          <a:xfrm>
            <a:off x="914400" y="1371600"/>
            <a:ext cx="2667000" cy="707886"/>
          </a:xfrm>
          <a:prstGeom prst="rect">
            <a:avLst/>
          </a:prstGeom>
          <a:noFill/>
        </p:spPr>
        <p:txBody>
          <a:bodyPr wrap="square" rtlCol="0">
            <a:spAutoFit/>
          </a:bodyPr>
          <a:lstStyle/>
          <a:p>
            <a:pPr algn="ctr"/>
            <a:r>
              <a:rPr lang="en-US" b="1" dirty="0" smtClean="0">
                <a:solidFill>
                  <a:srgbClr val="0005C0"/>
                </a:solidFill>
              </a:rPr>
              <a:t>Cable attachment to host structure</a:t>
            </a:r>
            <a:endParaRPr lang="en-US" b="1" dirty="0">
              <a:solidFill>
                <a:srgbClr val="0005C0"/>
              </a:solidFill>
            </a:endParaRPr>
          </a:p>
        </p:txBody>
      </p:sp>
      <p:sp>
        <p:nvSpPr>
          <p:cNvPr id="25" name="TextBox 24"/>
          <p:cNvSpPr txBox="1"/>
          <p:nvPr/>
        </p:nvSpPr>
        <p:spPr>
          <a:xfrm>
            <a:off x="4191000" y="3810000"/>
            <a:ext cx="3657600" cy="400110"/>
          </a:xfrm>
          <a:prstGeom prst="rect">
            <a:avLst/>
          </a:prstGeom>
          <a:noFill/>
        </p:spPr>
        <p:txBody>
          <a:bodyPr wrap="square" rtlCol="0">
            <a:spAutoFit/>
          </a:bodyPr>
          <a:lstStyle/>
          <a:p>
            <a:pPr algn="ctr"/>
            <a:r>
              <a:rPr lang="en-US" b="1" dirty="0" smtClean="0">
                <a:solidFill>
                  <a:srgbClr val="0005C0"/>
                </a:solidFill>
              </a:rPr>
              <a:t>Cable-structure interaction</a:t>
            </a:r>
            <a:endParaRPr lang="en-US" b="1" dirty="0">
              <a:solidFill>
                <a:srgbClr val="0005C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Cable Modeling Approach Overview</a:t>
            </a:r>
            <a:endParaRPr lang="en-US" dirty="0"/>
          </a:p>
        </p:txBody>
      </p:sp>
      <p:pic>
        <p:nvPicPr>
          <p:cNvPr id="7" name="Picture 6" descr="FinalExamOverviewDiagramB.png"/>
          <p:cNvPicPr>
            <a:picLocks noChangeAspect="1"/>
          </p:cNvPicPr>
          <p:nvPr/>
        </p:nvPicPr>
        <p:blipFill>
          <a:blip r:embed="rId3" cstate="print"/>
          <a:stretch>
            <a:fillRect/>
          </a:stretch>
        </p:blipFill>
        <p:spPr>
          <a:xfrm>
            <a:off x="838200" y="1371600"/>
            <a:ext cx="7253641" cy="502268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itness test setup"/>
          <p:cNvPicPr/>
          <p:nvPr/>
        </p:nvPicPr>
        <p:blipFill>
          <a:blip r:embed="rId3" cstate="print">
            <a:clrChange>
              <a:clrFrom>
                <a:srgbClr val="FFFFFF"/>
              </a:clrFrom>
              <a:clrTo>
                <a:srgbClr val="FFFFFF">
                  <a:alpha val="0"/>
                </a:srgbClr>
              </a:clrTo>
            </a:clrChange>
            <a:lum contrast="10000"/>
          </a:blip>
          <a:srcRect/>
          <a:stretch>
            <a:fillRect/>
          </a:stretch>
        </p:blipFill>
        <p:spPr bwMode="auto">
          <a:xfrm>
            <a:off x="5542356" y="1447800"/>
            <a:ext cx="3525444" cy="3962400"/>
          </a:xfrm>
          <a:prstGeom prst="rect">
            <a:avLst/>
          </a:prstGeom>
          <a:solidFill>
            <a:schemeClr val="bg1"/>
          </a:solidFill>
          <a:ln w="9525">
            <a:noFill/>
            <a:miter lim="800000"/>
            <a:headEnd/>
            <a:tailEnd/>
          </a:ln>
        </p:spPr>
      </p:pic>
      <p:sp>
        <p:nvSpPr>
          <p:cNvPr id="6145" name="Rectangle 1"/>
          <p:cNvSpPr>
            <a:spLocks noGrp="1" noChangeArrowheads="1"/>
          </p:cNvSpPr>
          <p:nvPr>
            <p:ph type="title"/>
          </p:nvPr>
        </p:nvSpPr>
        <p:spPr>
          <a:xfrm>
            <a:off x="990600" y="152400"/>
            <a:ext cx="7162800" cy="914400"/>
          </a:xfrm>
          <a:ln/>
        </p:spPr>
        <p:txBody>
          <a:bodyPr lIns="45720" tIns="103968" rIns="90000" bIns="47520"/>
          <a:lstStyle/>
          <a:p>
            <a:pPr>
              <a:lnSpc>
                <a:spcPct val="8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dirty="0" smtClean="0"/>
              <a:t>The Cable Parameter</a:t>
            </a:r>
            <a:r>
              <a:rPr lang="en-GB" sz="2800" dirty="0"/>
              <a:t/>
            </a:r>
            <a:br>
              <a:rPr lang="en-GB" sz="2800" dirty="0"/>
            </a:br>
            <a:r>
              <a:rPr lang="en-GB" sz="2800" dirty="0"/>
              <a:t>Extraction </a:t>
            </a:r>
            <a:r>
              <a:rPr lang="en-GB" sz="2800" dirty="0" smtClean="0"/>
              <a:t>Mission and Approach</a:t>
            </a:r>
            <a:endParaRPr lang="en-GB" sz="2800" dirty="0"/>
          </a:p>
        </p:txBody>
      </p:sp>
      <p:pic>
        <p:nvPicPr>
          <p:cNvPr id="6147" name="Picture 3"/>
          <p:cNvPicPr>
            <a:picLocks noChangeAspect="1" noChangeArrowheads="1"/>
          </p:cNvPicPr>
          <p:nvPr/>
        </p:nvPicPr>
        <p:blipFill>
          <a:blip r:embed="rId4" cstate="print"/>
          <a:srcRect l="-26751"/>
          <a:stretch>
            <a:fillRect/>
          </a:stretch>
        </p:blipFill>
        <p:spPr bwMode="auto">
          <a:xfrm>
            <a:off x="5486400" y="1524000"/>
            <a:ext cx="3505200" cy="3917950"/>
          </a:xfrm>
          <a:prstGeom prst="rect">
            <a:avLst/>
          </a:prstGeom>
          <a:solidFill>
            <a:schemeClr val="bg1"/>
          </a:solidFill>
          <a:ln w="9525">
            <a:noFill/>
            <a:round/>
            <a:headEnd/>
            <a:tailEnd/>
          </a:ln>
          <a:effectLst/>
        </p:spPr>
      </p:pic>
      <p:sp>
        <p:nvSpPr>
          <p:cNvPr id="6146" name="Rectangle 2"/>
          <p:cNvSpPr>
            <a:spLocks noGrp="1" noChangeArrowheads="1"/>
          </p:cNvSpPr>
          <p:nvPr>
            <p:ph type="body" idx="1"/>
          </p:nvPr>
        </p:nvSpPr>
        <p:spPr>
          <a:xfrm>
            <a:off x="152400" y="1219200"/>
            <a:ext cx="5791200" cy="5184775"/>
          </a:xfrm>
          <a:ln/>
        </p:spPr>
        <p:txBody>
          <a:bodyPr lIns="87480" tIns="108990" rIns="87480" bIns="42840"/>
          <a:lstStyle/>
          <a:p>
            <a:pPr marL="261938" indent="-261938">
              <a:lnSpc>
                <a:spcPct val="75000"/>
              </a:lnSpc>
              <a:spcBef>
                <a:spcPts val="788"/>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100" dirty="0" smtClean="0"/>
              <a:t>Test-derived </a:t>
            </a:r>
            <a:r>
              <a:rPr lang="en-GB" sz="2100" dirty="0"/>
              <a:t>cable properties are needed</a:t>
            </a:r>
          </a:p>
          <a:p>
            <a:pPr marL="636588" lvl="1" indent="-212725">
              <a:lnSpc>
                <a:spcPct val="75000"/>
              </a:lnSpc>
              <a:spcBef>
                <a:spcPts val="600"/>
              </a:spcBef>
              <a:buClr>
                <a:srgbClr val="4040FF"/>
              </a:buClr>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dirty="0">
                <a:solidFill>
                  <a:srgbClr val="0047FF"/>
                </a:solidFill>
              </a:rPr>
              <a:t>What is the appropriate model for a cable?</a:t>
            </a:r>
          </a:p>
          <a:p>
            <a:pPr marL="636588" lvl="1" indent="-212725">
              <a:lnSpc>
                <a:spcPct val="75000"/>
              </a:lnSpc>
              <a:spcBef>
                <a:spcPts val="600"/>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dirty="0"/>
              <a:t>Inputs for linear finite element models</a:t>
            </a:r>
          </a:p>
          <a:p>
            <a:pPr marL="261938" indent="-261938">
              <a:lnSpc>
                <a:spcPct val="75000"/>
              </a:lnSpc>
              <a:spcBef>
                <a:spcPts val="788"/>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100" dirty="0" smtClean="0"/>
              <a:t>Extensional modulus derived through test</a:t>
            </a:r>
          </a:p>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100" dirty="0" smtClean="0"/>
              <a:t>Shear modulus based </a:t>
            </a:r>
            <a:r>
              <a:rPr lang="en-GB" sz="2100" dirty="0"/>
              <a:t>on </a:t>
            </a:r>
            <a:r>
              <a:rPr lang="en-GB" sz="2100" dirty="0" smtClean="0"/>
              <a:t>lateral driving </a:t>
            </a:r>
            <a:r>
              <a:rPr lang="en-GB" sz="2100" dirty="0"/>
              <a:t>point mobility </a:t>
            </a:r>
            <a:r>
              <a:rPr lang="en-GB" sz="2100" dirty="0" smtClean="0"/>
              <a:t>FRFs</a:t>
            </a:r>
            <a:endParaRPr lang="en-GB" sz="2100" dirty="0"/>
          </a:p>
          <a:p>
            <a:pPr marL="636588" lvl="1" indent="-212725">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dirty="0"/>
              <a:t>“Easy” to measure</a:t>
            </a:r>
          </a:p>
          <a:p>
            <a:pPr marL="636588" lvl="1" indent="-212725">
              <a:lnSpc>
                <a:spcPct val="75000"/>
              </a:lnSpc>
              <a:spcBef>
                <a:spcPts val="600"/>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600" dirty="0"/>
              <a:t>Challenges</a:t>
            </a:r>
          </a:p>
          <a:p>
            <a:pPr marL="1068388" lvl="2" indent="-212725">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400" dirty="0"/>
              <a:t>Account for vibrometer time delay </a:t>
            </a:r>
          </a:p>
          <a:p>
            <a:pPr marL="1068388" lvl="2" indent="-212725">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400" dirty="0"/>
              <a:t>Cancel driving point fixture mass loading </a:t>
            </a:r>
            <a:r>
              <a:rPr lang="en-GB" sz="1400" dirty="0" smtClean="0"/>
              <a:t>effect</a:t>
            </a:r>
          </a:p>
          <a:p>
            <a:pPr marL="1068388" lvl="2" indent="-212725">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400" dirty="0" smtClean="0"/>
              <a:t>Repeated roots</a:t>
            </a:r>
          </a:p>
          <a:p>
            <a:pPr marL="1068388" lvl="2" indent="-212725">
              <a:lnSpc>
                <a:spcPct val="75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400" dirty="0" smtClean="0"/>
              <a:t>Lightly damped fixture modes</a:t>
            </a:r>
            <a:endParaRPr lang="en-GB" sz="1400" dirty="0"/>
          </a:p>
          <a:p>
            <a:pPr marL="261938" indent="-261938">
              <a:lnSpc>
                <a:spcPct val="75000"/>
              </a:lnSpc>
              <a:spcBef>
                <a:spcPts val="788"/>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100" dirty="0" smtClean="0"/>
              <a:t>Parameter estimation algorithm </a:t>
            </a:r>
          </a:p>
          <a:p>
            <a:pPr marL="636588" lvl="1" indent="-261938">
              <a:lnSpc>
                <a:spcPct val="75000"/>
              </a:lnSpc>
              <a:spcBef>
                <a:spcPts val="788"/>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700" dirty="0" smtClean="0"/>
              <a:t>Based on a beam model including shear</a:t>
            </a:r>
          </a:p>
          <a:p>
            <a:pPr marL="636588" lvl="1" indent="-261938">
              <a:lnSpc>
                <a:spcPct val="75000"/>
              </a:lnSpc>
              <a:spcBef>
                <a:spcPts val="788"/>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700" dirty="0" smtClean="0"/>
              <a:t>Specimen cross sectional area and extensional modulus from tensile tests</a:t>
            </a:r>
          </a:p>
          <a:p>
            <a:pPr marL="636588" lvl="1" indent="-261938">
              <a:lnSpc>
                <a:spcPct val="75000"/>
              </a:lnSpc>
              <a:spcBef>
                <a:spcPts val="788"/>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700" dirty="0" smtClean="0"/>
              <a:t>Determine area moment of inertia and </a:t>
            </a:r>
            <a:r>
              <a:rPr lang="en-GB" sz="1700" dirty="0" err="1" smtClean="0"/>
              <a:t>k’G</a:t>
            </a:r>
            <a:endParaRPr lang="en-GB" sz="1700" dirty="0" smtClean="0"/>
          </a:p>
          <a:p>
            <a:pPr marL="636588" lvl="1" indent="-261938">
              <a:lnSpc>
                <a:spcPct val="75000"/>
              </a:lnSpc>
              <a:spcBef>
                <a:spcPts val="788"/>
              </a:spcBef>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700" dirty="0" smtClean="0"/>
              <a:t>Validated through experiment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 calcmode="lin" valueType="num">
                                      <p:cBhvr additive="base">
                                        <p:cTn id="7" dur="500" fill="hold"/>
                                        <p:tgtEl>
                                          <p:spTgt spid="6147"/>
                                        </p:tgtEl>
                                        <p:attrNameLst>
                                          <p:attrName>ppt_x</p:attrName>
                                        </p:attrNameLst>
                                      </p:cBhvr>
                                      <p:tavLst>
                                        <p:tav tm="0">
                                          <p:val>
                                            <p:strVal val="#ppt_x"/>
                                          </p:val>
                                        </p:tav>
                                        <p:tav tm="100000">
                                          <p:val>
                                            <p:strVal val="#ppt_x"/>
                                          </p:val>
                                        </p:tav>
                                      </p:tavLst>
                                    </p:anim>
                                    <p:anim calcmode="lin" valueType="num">
                                      <p:cBhvr additive="base">
                                        <p:cTn id="8"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nMeasuredEstimated.png"/>
          <p:cNvPicPr>
            <a:picLocks noChangeAspect="1"/>
          </p:cNvPicPr>
          <p:nvPr/>
        </p:nvPicPr>
        <p:blipFill>
          <a:blip r:embed="rId3" cstate="print"/>
          <a:stretch>
            <a:fillRect/>
          </a:stretch>
        </p:blipFill>
        <p:spPr>
          <a:xfrm>
            <a:off x="4953000" y="3733800"/>
            <a:ext cx="3733800" cy="2800350"/>
          </a:xfrm>
          <a:prstGeom prst="rect">
            <a:avLst/>
          </a:prstGeom>
        </p:spPr>
      </p:pic>
      <p:grpSp>
        <p:nvGrpSpPr>
          <p:cNvPr id="15" name="Group 14"/>
          <p:cNvGrpSpPr/>
          <p:nvPr/>
        </p:nvGrpSpPr>
        <p:grpSpPr>
          <a:xfrm>
            <a:off x="76200" y="1143000"/>
            <a:ext cx="4571697" cy="3428773"/>
            <a:chOff x="76200" y="1143000"/>
            <a:chExt cx="4571697" cy="3428773"/>
          </a:xfrm>
        </p:grpSpPr>
        <p:pic>
          <p:nvPicPr>
            <p:cNvPr id="2" name="Picture 1" descr="BodePlot.png"/>
            <p:cNvPicPr>
              <a:picLocks noChangeAspect="1"/>
            </p:cNvPicPr>
            <p:nvPr/>
          </p:nvPicPr>
          <p:blipFill>
            <a:blip r:embed="rId4" cstate="print"/>
            <a:stretch>
              <a:fillRect/>
            </a:stretch>
          </p:blipFill>
          <p:spPr>
            <a:xfrm>
              <a:off x="76200" y="1143000"/>
              <a:ext cx="4571697" cy="3428773"/>
            </a:xfrm>
            <a:prstGeom prst="rect">
              <a:avLst/>
            </a:prstGeom>
          </p:spPr>
        </p:pic>
        <p:sp>
          <p:nvSpPr>
            <p:cNvPr id="4" name="AutoShape 6"/>
            <p:cNvSpPr>
              <a:spLocks noChangeArrowheads="1"/>
            </p:cNvSpPr>
            <p:nvPr/>
          </p:nvSpPr>
          <p:spPr bwMode="auto">
            <a:xfrm>
              <a:off x="2149456" y="2934801"/>
              <a:ext cx="76200" cy="457200"/>
            </a:xfrm>
            <a:prstGeom prst="upArrow">
              <a:avLst>
                <a:gd name="adj1" fmla="val 50000"/>
                <a:gd name="adj2" fmla="val 150000"/>
              </a:avLst>
            </a:prstGeom>
            <a:solidFill>
              <a:srgbClr val="FFFF99"/>
            </a:solidFill>
            <a:ln w="19080">
              <a:solidFill>
                <a:srgbClr val="800000"/>
              </a:solidFill>
              <a:miter lim="800000"/>
              <a:headEnd/>
              <a:tailEnd/>
            </a:ln>
            <a:effectLst/>
          </p:spPr>
          <p:txBody>
            <a:bodyPr wrap="none" anchor="ctr"/>
            <a:lstStyle/>
            <a:p>
              <a:endParaRPr lang="en-US"/>
            </a:p>
          </p:txBody>
        </p:sp>
        <p:sp>
          <p:nvSpPr>
            <p:cNvPr id="5" name="AutoShape 7"/>
            <p:cNvSpPr>
              <a:spLocks noChangeArrowheads="1"/>
            </p:cNvSpPr>
            <p:nvPr/>
          </p:nvSpPr>
          <p:spPr bwMode="auto">
            <a:xfrm>
              <a:off x="2698713" y="2651143"/>
              <a:ext cx="76200" cy="457200"/>
            </a:xfrm>
            <a:prstGeom prst="upArrow">
              <a:avLst>
                <a:gd name="adj1" fmla="val 50000"/>
                <a:gd name="adj2" fmla="val 150000"/>
              </a:avLst>
            </a:prstGeom>
            <a:solidFill>
              <a:srgbClr val="FFFF99"/>
            </a:solidFill>
            <a:ln w="19080">
              <a:solidFill>
                <a:srgbClr val="800000"/>
              </a:solidFill>
              <a:miter lim="800000"/>
              <a:headEnd/>
              <a:tailEnd/>
            </a:ln>
            <a:effectLst/>
          </p:spPr>
          <p:txBody>
            <a:bodyPr wrap="none" anchor="ctr"/>
            <a:lstStyle/>
            <a:p>
              <a:endParaRPr lang="en-US"/>
            </a:p>
          </p:txBody>
        </p:sp>
        <p:sp>
          <p:nvSpPr>
            <p:cNvPr id="6" name="AutoShape 8"/>
            <p:cNvSpPr>
              <a:spLocks noChangeArrowheads="1"/>
            </p:cNvSpPr>
            <p:nvPr/>
          </p:nvSpPr>
          <p:spPr bwMode="auto">
            <a:xfrm>
              <a:off x="3048000" y="2590800"/>
              <a:ext cx="76200" cy="457200"/>
            </a:xfrm>
            <a:prstGeom prst="upArrow">
              <a:avLst>
                <a:gd name="adj1" fmla="val 50000"/>
                <a:gd name="adj2" fmla="val 150000"/>
              </a:avLst>
            </a:prstGeom>
            <a:solidFill>
              <a:srgbClr val="FFFF99"/>
            </a:solidFill>
            <a:ln w="19080">
              <a:solidFill>
                <a:srgbClr val="800000"/>
              </a:solidFill>
              <a:miter lim="800000"/>
              <a:headEnd/>
              <a:tailEnd/>
            </a:ln>
            <a:effectLst/>
          </p:spPr>
          <p:txBody>
            <a:bodyPr wrap="none" anchor="ctr"/>
            <a:lstStyle/>
            <a:p>
              <a:endParaRPr lang="en-US"/>
            </a:p>
          </p:txBody>
        </p:sp>
        <p:sp>
          <p:nvSpPr>
            <p:cNvPr id="7" name="AutoShape 9"/>
            <p:cNvSpPr>
              <a:spLocks noChangeArrowheads="1"/>
            </p:cNvSpPr>
            <p:nvPr/>
          </p:nvSpPr>
          <p:spPr bwMode="auto">
            <a:xfrm>
              <a:off x="3303028" y="2695630"/>
              <a:ext cx="76200" cy="457200"/>
            </a:xfrm>
            <a:prstGeom prst="upArrow">
              <a:avLst>
                <a:gd name="adj1" fmla="val 50000"/>
                <a:gd name="adj2" fmla="val 150000"/>
              </a:avLst>
            </a:prstGeom>
            <a:solidFill>
              <a:srgbClr val="FFFF99"/>
            </a:solidFill>
            <a:ln w="19080">
              <a:solidFill>
                <a:srgbClr val="800000"/>
              </a:solidFill>
              <a:miter lim="800000"/>
              <a:headEnd/>
              <a:tailEnd/>
            </a:ln>
            <a:effectLst/>
          </p:spPr>
          <p:txBody>
            <a:bodyPr wrap="none" anchor="ctr"/>
            <a:lstStyle/>
            <a:p>
              <a:endParaRPr lang="en-US"/>
            </a:p>
          </p:txBody>
        </p:sp>
        <p:sp>
          <p:nvSpPr>
            <p:cNvPr id="8" name="AutoShape 10"/>
            <p:cNvSpPr>
              <a:spLocks noChangeArrowheads="1"/>
            </p:cNvSpPr>
            <p:nvPr/>
          </p:nvSpPr>
          <p:spPr bwMode="auto">
            <a:xfrm>
              <a:off x="3505200" y="2858601"/>
              <a:ext cx="76200" cy="457200"/>
            </a:xfrm>
            <a:prstGeom prst="upArrow">
              <a:avLst>
                <a:gd name="adj1" fmla="val 50000"/>
                <a:gd name="adj2" fmla="val 150000"/>
              </a:avLst>
            </a:prstGeom>
            <a:solidFill>
              <a:srgbClr val="FFFF99"/>
            </a:solidFill>
            <a:ln w="19080">
              <a:solidFill>
                <a:srgbClr val="800000"/>
              </a:solidFill>
              <a:miter lim="800000"/>
              <a:headEnd/>
              <a:tailEnd/>
            </a:ln>
            <a:effectLst/>
          </p:spPr>
          <p:txBody>
            <a:bodyPr wrap="none" anchor="ctr"/>
            <a:lstStyle/>
            <a:p>
              <a:endParaRPr lang="en-US"/>
            </a:p>
          </p:txBody>
        </p:sp>
        <p:sp>
          <p:nvSpPr>
            <p:cNvPr id="9" name="AutoShape 11"/>
            <p:cNvSpPr>
              <a:spLocks noChangeArrowheads="1"/>
            </p:cNvSpPr>
            <p:nvPr/>
          </p:nvSpPr>
          <p:spPr bwMode="auto">
            <a:xfrm>
              <a:off x="3694598" y="3042714"/>
              <a:ext cx="76200" cy="457200"/>
            </a:xfrm>
            <a:prstGeom prst="upArrow">
              <a:avLst>
                <a:gd name="adj1" fmla="val 50000"/>
                <a:gd name="adj2" fmla="val 150000"/>
              </a:avLst>
            </a:prstGeom>
            <a:solidFill>
              <a:srgbClr val="FFFF99"/>
            </a:solidFill>
            <a:ln w="19080">
              <a:solidFill>
                <a:srgbClr val="800000"/>
              </a:solidFill>
              <a:miter lim="800000"/>
              <a:headEnd/>
              <a:tailEnd/>
            </a:ln>
            <a:effectLst/>
          </p:spPr>
          <p:txBody>
            <a:bodyPr wrap="none" anchor="ctr"/>
            <a:lstStyle/>
            <a:p>
              <a:endParaRPr lang="en-US"/>
            </a:p>
          </p:txBody>
        </p:sp>
        <p:sp>
          <p:nvSpPr>
            <p:cNvPr id="10" name="Oval 13"/>
            <p:cNvSpPr>
              <a:spLocks noChangeArrowheads="1"/>
            </p:cNvSpPr>
            <p:nvPr/>
          </p:nvSpPr>
          <p:spPr bwMode="auto">
            <a:xfrm>
              <a:off x="1981200" y="2286000"/>
              <a:ext cx="1905000" cy="1600200"/>
            </a:xfrm>
            <a:prstGeom prst="ellipse">
              <a:avLst/>
            </a:prstGeom>
            <a:noFill/>
            <a:ln w="28440">
              <a:solidFill>
                <a:srgbClr val="800000"/>
              </a:solidFill>
              <a:miter lim="800000"/>
              <a:headEnd/>
              <a:tailEnd/>
            </a:ln>
            <a:effectLst/>
          </p:spPr>
          <p:txBody>
            <a:bodyPr wrap="none" anchor="ctr"/>
            <a:lstStyle/>
            <a:p>
              <a:endParaRPr lang="en-US"/>
            </a:p>
          </p:txBody>
        </p:sp>
      </p:grpSp>
      <p:sp>
        <p:nvSpPr>
          <p:cNvPr id="11" name="Rectangle 10"/>
          <p:cNvSpPr/>
          <p:nvPr/>
        </p:nvSpPr>
        <p:spPr>
          <a:xfrm>
            <a:off x="4419600" y="1397764"/>
            <a:ext cx="4572000" cy="2107436"/>
          </a:xfrm>
          <a:prstGeom prst="rect">
            <a:avLst/>
          </a:prstGeom>
        </p:spPr>
        <p:txBody>
          <a:bodyPr>
            <a:spAutoFit/>
          </a:bodyPr>
          <a:lstStyle/>
          <a:p>
            <a:pPr marL="266700" indent="-266700">
              <a:lnSpc>
                <a:spcPct val="84000"/>
              </a:lnSpc>
              <a:spcBef>
                <a:spcPts val="825"/>
              </a:spcBef>
              <a:buFont typeface="Arial" charset="0"/>
              <a:buChar char="•"/>
              <a:tabLst>
                <a:tab pos="266700" algn="l"/>
                <a:tab pos="1181100" algn="l"/>
                <a:tab pos="2095500" algn="l"/>
                <a:tab pos="3009900" algn="l"/>
                <a:tab pos="3924300" algn="l"/>
                <a:tab pos="4838700" algn="l"/>
                <a:tab pos="5753100" algn="l"/>
                <a:tab pos="6667500" algn="l"/>
                <a:tab pos="7581900" algn="l"/>
                <a:tab pos="8496300" algn="l"/>
                <a:tab pos="9410700" algn="l"/>
                <a:tab pos="10325100" algn="l"/>
              </a:tabLst>
            </a:pPr>
            <a:r>
              <a:rPr lang="en-GB" sz="2200" b="1" dirty="0" smtClean="0">
                <a:solidFill>
                  <a:srgbClr val="000000"/>
                </a:solidFill>
                <a:cs typeface="Arial Unicode MS" pitchFamily="32" charset="0"/>
              </a:rPr>
              <a:t>The natural frequency-to-mode number progression of a cable follows a quadratic relationship </a:t>
            </a:r>
          </a:p>
          <a:p>
            <a:pPr marL="641350" lvl="1" indent="-214313">
              <a:lnSpc>
                <a:spcPct val="84000"/>
              </a:lnSpc>
              <a:spcBef>
                <a:spcPts val="675"/>
              </a:spcBef>
              <a:buSzPct val="45000"/>
              <a:buFont typeface="Wingdings" charset="2"/>
              <a:buChar char=""/>
              <a:tabLst>
                <a:tab pos="266700" algn="l"/>
                <a:tab pos="1181100" algn="l"/>
                <a:tab pos="2095500" algn="l"/>
                <a:tab pos="3009900" algn="l"/>
                <a:tab pos="3924300" algn="l"/>
                <a:tab pos="4838700" algn="l"/>
                <a:tab pos="5753100" algn="l"/>
                <a:tab pos="6667500" algn="l"/>
                <a:tab pos="7581900" algn="l"/>
                <a:tab pos="8496300" algn="l"/>
                <a:tab pos="9410700" algn="l"/>
                <a:tab pos="10325100" algn="l"/>
              </a:tabLst>
            </a:pPr>
            <a:r>
              <a:rPr lang="en-GB" sz="1800" b="1" dirty="0" smtClean="0">
                <a:solidFill>
                  <a:srgbClr val="4040FF"/>
                </a:solidFill>
                <a:cs typeface="Arial Unicode MS" pitchFamily="32" charset="0"/>
              </a:rPr>
              <a:t>This is how an beam behaves</a:t>
            </a:r>
          </a:p>
          <a:p>
            <a:pPr marL="641350" lvl="1" indent="-214313">
              <a:lnSpc>
                <a:spcPct val="84000"/>
              </a:lnSpc>
              <a:spcBef>
                <a:spcPts val="675"/>
              </a:spcBef>
              <a:buSzPct val="45000"/>
              <a:buFont typeface="Wingdings" charset="2"/>
              <a:buChar char=""/>
              <a:tabLst>
                <a:tab pos="266700" algn="l"/>
                <a:tab pos="1181100" algn="l"/>
                <a:tab pos="2095500" algn="l"/>
                <a:tab pos="3009900" algn="l"/>
                <a:tab pos="3924300" algn="l"/>
                <a:tab pos="4838700" algn="l"/>
                <a:tab pos="5753100" algn="l"/>
                <a:tab pos="6667500" algn="l"/>
                <a:tab pos="7581900" algn="l"/>
                <a:tab pos="8496300" algn="l"/>
                <a:tab pos="9410700" algn="l"/>
                <a:tab pos="10325100" algn="l"/>
              </a:tabLst>
            </a:pPr>
            <a:r>
              <a:rPr lang="en-GB" sz="1800" b="1" dirty="0" smtClean="0">
                <a:solidFill>
                  <a:srgbClr val="4040FF"/>
                </a:solidFill>
                <a:cs typeface="Arial Unicode MS" pitchFamily="32" charset="0"/>
              </a:rPr>
              <a:t>Diverges from elementary beam theory: shear must be included</a:t>
            </a:r>
          </a:p>
        </p:txBody>
      </p:sp>
      <p:sp>
        <p:nvSpPr>
          <p:cNvPr id="12" name="AutoShape 14"/>
          <p:cNvSpPr>
            <a:spLocks noChangeArrowheads="1"/>
          </p:cNvSpPr>
          <p:nvPr/>
        </p:nvSpPr>
        <p:spPr bwMode="auto">
          <a:xfrm rot="7934118">
            <a:off x="4596118" y="3281584"/>
            <a:ext cx="304800" cy="2052641"/>
          </a:xfrm>
          <a:prstGeom prst="upArrow">
            <a:avLst>
              <a:gd name="adj1" fmla="val 50000"/>
              <a:gd name="adj2" fmla="val 110938"/>
            </a:avLst>
          </a:prstGeom>
          <a:solidFill>
            <a:srgbClr val="FFFF99"/>
          </a:solidFill>
          <a:ln w="19080">
            <a:solidFill>
              <a:srgbClr val="800000"/>
            </a:solidFill>
            <a:miter lim="800000"/>
            <a:headEnd/>
            <a:tailEnd/>
          </a:ln>
          <a:effectLst/>
        </p:spPr>
        <p:txBody>
          <a:bodyPr wrap="none" anchor="ctr"/>
          <a:lstStyle/>
          <a:p>
            <a:endParaRPr lang="en-US"/>
          </a:p>
        </p:txBody>
      </p:sp>
      <p:sp>
        <p:nvSpPr>
          <p:cNvPr id="14" name="Title 13"/>
          <p:cNvSpPr>
            <a:spLocks noGrp="1"/>
          </p:cNvSpPr>
          <p:nvPr>
            <p:ph type="title"/>
          </p:nvPr>
        </p:nvSpPr>
        <p:spPr>
          <a:xfrm>
            <a:off x="990600" y="228600"/>
            <a:ext cx="7161213" cy="814388"/>
          </a:xfrm>
        </p:spPr>
        <p:txBody>
          <a:bodyPr/>
          <a:lstStyle/>
          <a:p>
            <a:r>
              <a:rPr lang="en-GB" dirty="0" smtClean="0"/>
              <a:t>Cable Natural Frequency Progression:</a:t>
            </a:r>
            <a:br>
              <a:rPr lang="en-GB" dirty="0" smtClean="0"/>
            </a:br>
            <a:r>
              <a:rPr lang="en-GB" dirty="0" smtClean="0"/>
              <a:t>The Beam Model Indicator</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990600" y="269875"/>
            <a:ext cx="7159625" cy="720725"/>
          </a:xfrm>
          <a:ln/>
        </p:spPr>
        <p:txBody>
          <a:bodyPr tIns="91854"/>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smtClean="0"/>
              <a:t>Bare Cable Lateral Test: </a:t>
            </a:r>
            <a:br>
              <a:rPr lang="en-GB" dirty="0" smtClean="0"/>
            </a:br>
            <a:r>
              <a:rPr lang="en-GB" dirty="0" smtClean="0"/>
              <a:t>Parameter Estimation Approach</a:t>
            </a:r>
            <a:endParaRPr lang="en-GB" dirty="0"/>
          </a:p>
        </p:txBody>
      </p:sp>
      <p:sp>
        <p:nvSpPr>
          <p:cNvPr id="13314" name="Rectangle 2"/>
          <p:cNvSpPr>
            <a:spLocks noGrp="1" noChangeArrowheads="1"/>
          </p:cNvSpPr>
          <p:nvPr>
            <p:ph type="body" idx="1"/>
          </p:nvPr>
        </p:nvSpPr>
        <p:spPr>
          <a:xfrm>
            <a:off x="2895600" y="1295400"/>
            <a:ext cx="6096000" cy="5181600"/>
          </a:xfrm>
          <a:ln/>
        </p:spPr>
        <p:txBody>
          <a:bodyPr tIns="68040"/>
          <a:lstStyle/>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Measurements are </a:t>
            </a:r>
            <a:r>
              <a:rPr lang="en-GB" sz="2400" dirty="0" smtClean="0"/>
              <a:t>cleaned up </a:t>
            </a:r>
          </a:p>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smtClean="0"/>
              <a:t>Modal parameter estimation step</a:t>
            </a:r>
          </a:p>
          <a:p>
            <a:pPr marL="261938" indent="-261938">
              <a:lnSpc>
                <a:spcPct val="150000"/>
              </a:lnSpc>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smtClean="0">
                <a:latin typeface="Symbol" pitchFamily="16" charset="2"/>
              </a:rPr>
              <a:t></a:t>
            </a:r>
            <a:r>
              <a:rPr lang="en-GB" sz="2400" dirty="0" smtClean="0"/>
              <a:t> (        ) and </a:t>
            </a:r>
            <a:r>
              <a:rPr lang="en-GB" sz="2400" dirty="0" err="1"/>
              <a:t>k</a:t>
            </a:r>
            <a:r>
              <a:rPr lang="en-GB" sz="2400" dirty="0" err="1">
                <a:cs typeface="Arial" charset="0"/>
              </a:rPr>
              <a:t>´G</a:t>
            </a:r>
            <a:r>
              <a:rPr lang="en-GB" sz="2400" dirty="0">
                <a:cs typeface="Arial" charset="0"/>
              </a:rPr>
              <a:t> determined from modal </a:t>
            </a:r>
            <a:r>
              <a:rPr lang="en-GB" sz="2400" dirty="0" smtClean="0">
                <a:cs typeface="Arial" charset="0"/>
              </a:rPr>
              <a:t>frequencies</a:t>
            </a:r>
            <a:endParaRPr lang="en-GB" sz="2400" dirty="0">
              <a:cs typeface="Arial" charset="0"/>
            </a:endParaRPr>
          </a:p>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Estimate I and </a:t>
            </a:r>
            <a:r>
              <a:rPr lang="en-GB" sz="2400" i="1" dirty="0" smtClean="0"/>
              <a:t>effective diameter</a:t>
            </a:r>
          </a:p>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smtClean="0"/>
              <a:t>Damping averaged over all modes</a:t>
            </a:r>
          </a:p>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smtClean="0"/>
              <a:t>Estimated parameters benchmarked by comparing shear model frequencies and measurement</a:t>
            </a:r>
          </a:p>
          <a:p>
            <a:pPr marL="261938" indent="-261938">
              <a:buFont typeface="Aria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smtClean="0"/>
              <a:t>Parameters estimated for different spans of each cable specimen and multiple specimens of each cable construction</a:t>
            </a:r>
          </a:p>
        </p:txBody>
      </p:sp>
      <p:pic>
        <p:nvPicPr>
          <p:cNvPr id="5" name="Picture 4" descr="Parameter Estimation Flow_100502.png"/>
          <p:cNvPicPr>
            <a:picLocks noChangeAspect="1"/>
          </p:cNvPicPr>
          <p:nvPr/>
        </p:nvPicPr>
        <p:blipFill>
          <a:blip r:embed="rId4" cstate="print"/>
          <a:stretch>
            <a:fillRect/>
          </a:stretch>
        </p:blipFill>
        <p:spPr>
          <a:xfrm>
            <a:off x="228601" y="1219200"/>
            <a:ext cx="2220702" cy="5154323"/>
          </a:xfrm>
          <a:prstGeom prst="rect">
            <a:avLst/>
          </a:prstGeom>
        </p:spPr>
      </p:pic>
      <p:graphicFrame>
        <p:nvGraphicFramePr>
          <p:cNvPr id="7" name="Object 6"/>
          <p:cNvGraphicFramePr>
            <a:graphicFrameLocks noChangeAspect="1"/>
          </p:cNvGraphicFramePr>
          <p:nvPr/>
        </p:nvGraphicFramePr>
        <p:xfrm>
          <a:off x="3505200" y="2286000"/>
          <a:ext cx="660400" cy="533400"/>
        </p:xfrm>
        <a:graphic>
          <a:graphicData uri="http://schemas.openxmlformats.org/presentationml/2006/ole">
            <p:oleObj spid="_x0000_s535554" name="Equation" r:id="rId5" imgW="330120" imgH="266400" progId="Equation.3">
              <p:embed/>
            </p:oleObj>
          </a:graphicData>
        </a:graphic>
      </p:graphicFrame>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US" dirty="0" smtClean="0"/>
              <a:t>Parameter Estimation: Tie down stiffness</a:t>
            </a:r>
            <a:endParaRPr lang="en-US" dirty="0"/>
          </a:p>
        </p:txBody>
      </p:sp>
      <p:sp>
        <p:nvSpPr>
          <p:cNvPr id="6" name="Content Placeholder 5"/>
          <p:cNvSpPr>
            <a:spLocks noGrp="1"/>
          </p:cNvSpPr>
          <p:nvPr>
            <p:ph sz="half" idx="2"/>
          </p:nvPr>
        </p:nvSpPr>
        <p:spPr>
          <a:xfrm>
            <a:off x="0" y="1219201"/>
            <a:ext cx="6248400" cy="2438400"/>
          </a:xfrm>
        </p:spPr>
        <p:txBody>
          <a:bodyPr/>
          <a:lstStyle/>
          <a:p>
            <a:pPr>
              <a:lnSpc>
                <a:spcPct val="100000"/>
              </a:lnSpc>
              <a:spcBef>
                <a:spcPts val="600"/>
              </a:spcBef>
            </a:pPr>
            <a:r>
              <a:rPr lang="en-US" sz="2400" dirty="0" smtClean="0"/>
              <a:t>Rod-on-beam eliminates cable property uncertainty </a:t>
            </a:r>
          </a:p>
          <a:p>
            <a:pPr lvl="1">
              <a:lnSpc>
                <a:spcPct val="100000"/>
              </a:lnSpc>
            </a:pPr>
            <a:r>
              <a:rPr lang="en-US" sz="1800" dirty="0" smtClean="0"/>
              <a:t>Tune attachment stiffness to correlate test and model FRFs</a:t>
            </a:r>
          </a:p>
          <a:p>
            <a:pPr>
              <a:lnSpc>
                <a:spcPct val="80000"/>
              </a:lnSpc>
              <a:spcBef>
                <a:spcPts val="675"/>
              </a:spcBef>
              <a:tabLst>
                <a:tab pos="855663" algn="l"/>
                <a:tab pos="1714500" algn="l"/>
                <a:tab pos="2573338" algn="l"/>
                <a:tab pos="3432175" algn="l"/>
                <a:tab pos="4291013" algn="l"/>
                <a:tab pos="5149850" algn="l"/>
                <a:tab pos="6008688" algn="l"/>
                <a:tab pos="6867525" algn="l"/>
                <a:tab pos="7726363" algn="l"/>
                <a:tab pos="8585200" algn="l"/>
                <a:tab pos="9444038" algn="l"/>
                <a:tab pos="10302875" algn="l"/>
              </a:tabLst>
            </a:pPr>
            <a:r>
              <a:rPr lang="en-US" sz="2400" dirty="0" smtClean="0"/>
              <a:t>Direct measurement tests an alternative means to estimate </a:t>
            </a:r>
          </a:p>
          <a:p>
            <a:pPr lvl="1">
              <a:lnSpc>
                <a:spcPct val="80000"/>
              </a:lnSpc>
              <a:tabLst>
                <a:tab pos="855663" algn="l"/>
                <a:tab pos="1714500" algn="l"/>
                <a:tab pos="2573338" algn="l"/>
                <a:tab pos="3432175" algn="l"/>
                <a:tab pos="4291013" algn="l"/>
                <a:tab pos="5149850" algn="l"/>
                <a:tab pos="6008688" algn="l"/>
                <a:tab pos="6867525" algn="l"/>
                <a:tab pos="7726363" algn="l"/>
                <a:tab pos="8585200" algn="l"/>
                <a:tab pos="9444038" algn="l"/>
                <a:tab pos="10302875" algn="l"/>
              </a:tabLst>
            </a:pPr>
            <a:r>
              <a:rPr lang="en-US" sz="1800" dirty="0" smtClean="0"/>
              <a:t>Assumes cable is infinitely stiff over frequency range of estimate</a:t>
            </a:r>
          </a:p>
        </p:txBody>
      </p:sp>
      <p:grpSp>
        <p:nvGrpSpPr>
          <p:cNvPr id="10" name="Group 9"/>
          <p:cNvGrpSpPr/>
          <p:nvPr/>
        </p:nvGrpSpPr>
        <p:grpSpPr>
          <a:xfrm>
            <a:off x="6781800" y="1219200"/>
            <a:ext cx="1905000" cy="2601912"/>
            <a:chOff x="4038600" y="4038600"/>
            <a:chExt cx="1905000" cy="2601912"/>
          </a:xfrm>
        </p:grpSpPr>
        <p:pic>
          <p:nvPicPr>
            <p:cNvPr id="7" name="Picture 3"/>
            <p:cNvPicPr>
              <a:picLocks noChangeAspect="1" noChangeArrowheads="1"/>
            </p:cNvPicPr>
            <p:nvPr/>
          </p:nvPicPr>
          <p:blipFill>
            <a:blip r:embed="rId3" cstate="print"/>
            <a:srcRect/>
            <a:stretch>
              <a:fillRect/>
            </a:stretch>
          </p:blipFill>
          <p:spPr bwMode="auto">
            <a:xfrm>
              <a:off x="4038600" y="4267200"/>
              <a:ext cx="1779691" cy="2373312"/>
            </a:xfrm>
            <a:prstGeom prst="rect">
              <a:avLst/>
            </a:prstGeom>
            <a:noFill/>
            <a:ln w="28440">
              <a:solidFill>
                <a:srgbClr val="4040FF"/>
              </a:solidFill>
              <a:miter lim="800000"/>
              <a:headEnd/>
              <a:tailEnd/>
            </a:ln>
            <a:effectLst/>
          </p:spPr>
        </p:pic>
        <p:sp>
          <p:nvSpPr>
            <p:cNvPr id="9" name="Text Box 4"/>
            <p:cNvSpPr txBox="1">
              <a:spLocks noChangeArrowheads="1"/>
            </p:cNvSpPr>
            <p:nvPr/>
          </p:nvSpPr>
          <p:spPr bwMode="auto">
            <a:xfrm>
              <a:off x="4419600" y="4038600"/>
              <a:ext cx="1524000" cy="340735"/>
            </a:xfrm>
            <a:prstGeom prst="rect">
              <a:avLst/>
            </a:prstGeom>
            <a:solidFill>
              <a:srgbClr val="FFFF99"/>
            </a:solidFill>
            <a:ln w="28440">
              <a:solidFill>
                <a:srgbClr val="4040FF"/>
              </a:solidFill>
              <a:miter lim="800000"/>
              <a:headEnd/>
              <a:tailEnd/>
            </a:ln>
            <a:effectLst/>
          </p:spPr>
          <p:txBody>
            <a:bodyPr lIns="90000" tIns="46800" rIns="90000" bIns="46800">
              <a:spAutoFit/>
            </a:bodyPr>
            <a:lstStyle/>
            <a:p>
              <a:pPr algn="ctr">
                <a:spcBef>
                  <a:spcPts val="1000"/>
                </a:spcBef>
                <a:buClr>
                  <a:srgbClr val="4040FF"/>
                </a:buCl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dirty="0">
                  <a:solidFill>
                    <a:srgbClr val="4040FF"/>
                  </a:solidFill>
                </a:rPr>
                <a:t>Copper Rod</a:t>
              </a:r>
            </a:p>
          </p:txBody>
        </p:sp>
      </p:grpSp>
      <p:pic>
        <p:nvPicPr>
          <p:cNvPr id="14" name="Picture 13"/>
          <p:cNvPicPr/>
          <p:nvPr/>
        </p:nvPicPr>
        <p:blipFill>
          <a:blip r:embed="rId4" cstate="print"/>
          <a:srcRect/>
          <a:stretch>
            <a:fillRect/>
          </a:stretch>
        </p:blipFill>
        <p:spPr bwMode="auto">
          <a:xfrm>
            <a:off x="152400" y="4343400"/>
            <a:ext cx="5181600" cy="2377631"/>
          </a:xfrm>
          <a:prstGeom prst="rect">
            <a:avLst/>
          </a:prstGeom>
          <a:noFill/>
          <a:ln w="9525">
            <a:noFill/>
            <a:miter lim="800000"/>
            <a:headEnd/>
            <a:tailEnd/>
          </a:ln>
        </p:spPr>
      </p:pic>
      <p:pic>
        <p:nvPicPr>
          <p:cNvPr id="12" name="Picture 4"/>
          <p:cNvPicPr>
            <a:picLocks noChangeAspect="1" noChangeArrowheads="1"/>
          </p:cNvPicPr>
          <p:nvPr/>
        </p:nvPicPr>
        <p:blipFill>
          <a:blip r:embed="rId5" cstate="print"/>
          <a:srcRect/>
          <a:stretch>
            <a:fillRect/>
          </a:stretch>
        </p:blipFill>
        <p:spPr bwMode="auto">
          <a:xfrm>
            <a:off x="5470181" y="4343400"/>
            <a:ext cx="3673819" cy="2286953"/>
          </a:xfrm>
          <a:prstGeom prst="rect">
            <a:avLst/>
          </a:prstGeom>
          <a:noFill/>
          <a:ln w="9525">
            <a:noFill/>
            <a:round/>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Text Box 1"/>
          <p:cNvSpPr txBox="1">
            <a:spLocks noChangeArrowheads="1"/>
          </p:cNvSpPr>
          <p:nvPr/>
        </p:nvSpPr>
        <p:spPr bwMode="auto">
          <a:xfrm>
            <a:off x="990600" y="269875"/>
            <a:ext cx="7162800" cy="815975"/>
          </a:xfrm>
          <a:prstGeom prst="rect">
            <a:avLst/>
          </a:prstGeom>
          <a:noFill/>
          <a:ln w="9525">
            <a:noFill/>
            <a:round/>
            <a:headEnd/>
            <a:tailEnd/>
          </a:ln>
          <a:effectLst/>
        </p:spPr>
        <p:txBody>
          <a:bodyPr lIns="45720" tIns="47520" bIns="47520" anchor="ctr"/>
          <a:lstStyle/>
          <a:p>
            <a:pPr algn="ctr">
              <a:lnSpc>
                <a:spcPct val="90000"/>
              </a:lnSpc>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US" sz="2700" b="1" dirty="0">
                <a:solidFill>
                  <a:srgbClr val="000000"/>
                </a:solidFill>
              </a:rPr>
              <a:t>Model </a:t>
            </a:r>
            <a:r>
              <a:rPr lang="en-US" sz="2700" b="1" dirty="0" smtClean="0">
                <a:solidFill>
                  <a:srgbClr val="000000"/>
                </a:solidFill>
              </a:rPr>
              <a:t>Validation: Tie </a:t>
            </a:r>
            <a:r>
              <a:rPr lang="en-US" sz="2700" b="1" dirty="0">
                <a:solidFill>
                  <a:srgbClr val="000000"/>
                </a:solidFill>
              </a:rPr>
              <a:t>downs</a:t>
            </a:r>
          </a:p>
        </p:txBody>
      </p:sp>
      <p:sp>
        <p:nvSpPr>
          <p:cNvPr id="146434" name="Text Box 2"/>
          <p:cNvSpPr txBox="1">
            <a:spLocks noChangeArrowheads="1"/>
          </p:cNvSpPr>
          <p:nvPr/>
        </p:nvSpPr>
        <p:spPr bwMode="auto">
          <a:xfrm>
            <a:off x="0" y="1143000"/>
            <a:ext cx="4724400" cy="4038600"/>
          </a:xfrm>
          <a:prstGeom prst="rect">
            <a:avLst/>
          </a:prstGeom>
          <a:noFill/>
          <a:ln w="9525">
            <a:noFill/>
            <a:round/>
            <a:headEnd/>
            <a:tailEnd/>
          </a:ln>
          <a:effectLst/>
        </p:spPr>
        <p:txBody>
          <a:bodyPr lIns="87480" tIns="42840" rIns="87480" bIns="42840"/>
          <a:lstStyle/>
          <a:p>
            <a:pPr marL="268288" indent="-268288">
              <a:lnSpc>
                <a:spcPct val="80000"/>
              </a:lnSpc>
              <a:spcBef>
                <a:spcPts val="675"/>
              </a:spcBef>
              <a:buFont typeface="Arial" charset="0"/>
              <a:buChar char="•"/>
              <a:tabLst>
                <a:tab pos="855663" algn="l"/>
                <a:tab pos="1714500" algn="l"/>
                <a:tab pos="2573338" algn="l"/>
                <a:tab pos="3432175" algn="l"/>
                <a:tab pos="4291013" algn="l"/>
                <a:tab pos="5149850" algn="l"/>
                <a:tab pos="6008688" algn="l"/>
                <a:tab pos="6867525" algn="l"/>
                <a:tab pos="7726363" algn="l"/>
                <a:tab pos="8585200" algn="l"/>
                <a:tab pos="9444038" algn="l"/>
                <a:tab pos="10302875" algn="l"/>
              </a:tabLst>
            </a:pPr>
            <a:r>
              <a:rPr lang="en-US" sz="2400" b="1" dirty="0">
                <a:solidFill>
                  <a:schemeClr val="accent4"/>
                </a:solidFill>
              </a:rPr>
              <a:t>Tie-down parameters play an important role in cable/structure interactions</a:t>
            </a:r>
          </a:p>
          <a:p>
            <a:pPr marL="268288" indent="-268288">
              <a:lnSpc>
                <a:spcPct val="80000"/>
              </a:lnSpc>
              <a:spcBef>
                <a:spcPts val="675"/>
              </a:spcBef>
              <a:buFont typeface="Arial" charset="0"/>
              <a:buChar char="•"/>
              <a:tabLst>
                <a:tab pos="855663" algn="l"/>
                <a:tab pos="1714500" algn="l"/>
                <a:tab pos="2573338" algn="l"/>
                <a:tab pos="3432175" algn="l"/>
                <a:tab pos="4291013" algn="l"/>
                <a:tab pos="5149850" algn="l"/>
                <a:tab pos="6008688" algn="l"/>
                <a:tab pos="6867525" algn="l"/>
                <a:tab pos="7726363" algn="l"/>
                <a:tab pos="8585200" algn="l"/>
                <a:tab pos="9444038" algn="l"/>
                <a:tab pos="10302875" algn="l"/>
              </a:tabLst>
            </a:pPr>
            <a:r>
              <a:rPr lang="en-US" sz="2400" b="1" dirty="0" smtClean="0">
                <a:solidFill>
                  <a:schemeClr val="accent4"/>
                </a:solidFill>
              </a:rPr>
              <a:t>Offset more important for stiff cables than for compliant ones</a:t>
            </a:r>
          </a:p>
          <a:p>
            <a:pPr marL="268288" indent="-268288">
              <a:lnSpc>
                <a:spcPct val="80000"/>
              </a:lnSpc>
              <a:spcBef>
                <a:spcPts val="675"/>
              </a:spcBef>
              <a:buFont typeface="Arial" charset="0"/>
              <a:buChar char="•"/>
              <a:tabLst>
                <a:tab pos="855663" algn="l"/>
                <a:tab pos="1714500" algn="l"/>
                <a:tab pos="2573338" algn="l"/>
                <a:tab pos="3432175" algn="l"/>
                <a:tab pos="4291013" algn="l"/>
                <a:tab pos="5149850" algn="l"/>
                <a:tab pos="6008688" algn="l"/>
                <a:tab pos="6867525" algn="l"/>
                <a:tab pos="7726363" algn="l"/>
                <a:tab pos="8585200" algn="l"/>
                <a:tab pos="9444038" algn="l"/>
                <a:tab pos="10302875" algn="l"/>
              </a:tabLst>
            </a:pPr>
            <a:r>
              <a:rPr lang="en-US" sz="2400" b="1" dirty="0" smtClean="0">
                <a:solidFill>
                  <a:schemeClr val="accent4"/>
                </a:solidFill>
              </a:rPr>
              <a:t>Rod-on-beam based attachment stiffness values used in cable-on-beam models</a:t>
            </a:r>
          </a:p>
          <a:p>
            <a:pPr marL="725488" lvl="1" indent="-268288">
              <a:lnSpc>
                <a:spcPct val="80000"/>
              </a:lnSpc>
              <a:spcBef>
                <a:spcPts val="675"/>
              </a:spcBef>
              <a:buFont typeface="Arial" charset="0"/>
              <a:buChar char="•"/>
              <a:tabLst>
                <a:tab pos="855663" algn="l"/>
                <a:tab pos="1714500" algn="l"/>
                <a:tab pos="2573338" algn="l"/>
                <a:tab pos="3432175" algn="l"/>
                <a:tab pos="4291013" algn="l"/>
                <a:tab pos="5149850" algn="l"/>
                <a:tab pos="6008688" algn="l"/>
                <a:tab pos="6867525" algn="l"/>
                <a:tab pos="7726363" algn="l"/>
                <a:tab pos="8585200" algn="l"/>
                <a:tab pos="9444038" algn="l"/>
                <a:tab pos="10302875" algn="l"/>
              </a:tabLst>
            </a:pPr>
            <a:r>
              <a:rPr lang="en-US" sz="2400" b="1" dirty="0" err="1" smtClean="0">
                <a:solidFill>
                  <a:schemeClr val="accent4"/>
                </a:solidFill>
              </a:rPr>
              <a:t>Stiffnesses</a:t>
            </a:r>
            <a:r>
              <a:rPr lang="en-US" sz="2400" b="1" dirty="0" smtClean="0">
                <a:solidFill>
                  <a:schemeClr val="accent4"/>
                </a:solidFill>
              </a:rPr>
              <a:t> from “direct measurement” tests did not perform as well</a:t>
            </a:r>
          </a:p>
        </p:txBody>
      </p:sp>
      <p:sp>
        <p:nvSpPr>
          <p:cNvPr id="8" name="TextBox 7"/>
          <p:cNvSpPr txBox="1"/>
          <p:nvPr/>
        </p:nvSpPr>
        <p:spPr>
          <a:xfrm>
            <a:off x="152400" y="5486400"/>
            <a:ext cx="4343400" cy="1015663"/>
          </a:xfrm>
          <a:prstGeom prst="rect">
            <a:avLst/>
          </a:prstGeom>
          <a:solidFill>
            <a:srgbClr val="FCFC68"/>
          </a:solidFill>
          <a:ln w="15875">
            <a:solidFill>
              <a:schemeClr val="accent2"/>
            </a:solidFill>
          </a:ln>
        </p:spPr>
        <p:txBody>
          <a:bodyPr wrap="square" rtlCol="0">
            <a:spAutoFit/>
          </a:bodyPr>
          <a:lstStyle/>
          <a:p>
            <a:pPr algn="ctr"/>
            <a:r>
              <a:rPr lang="en-US" b="1" dirty="0" smtClean="0">
                <a:solidFill>
                  <a:schemeClr val="tx1"/>
                </a:solidFill>
              </a:rPr>
              <a:t>From rod-on-beam correlation: </a:t>
            </a:r>
          </a:p>
          <a:p>
            <a:pPr algn="ctr"/>
            <a:r>
              <a:rPr lang="en-US" b="1" dirty="0" smtClean="0">
                <a:solidFill>
                  <a:schemeClr val="tx1"/>
                </a:solidFill>
              </a:rPr>
              <a:t>K</a:t>
            </a:r>
            <a:r>
              <a:rPr lang="en-US" b="1" baseline="-25000" dirty="0" smtClean="0">
                <a:solidFill>
                  <a:schemeClr val="tx1"/>
                </a:solidFill>
              </a:rPr>
              <a:t>1</a:t>
            </a:r>
            <a:r>
              <a:rPr lang="en-US" b="1" dirty="0" smtClean="0">
                <a:solidFill>
                  <a:schemeClr val="tx1"/>
                </a:solidFill>
              </a:rPr>
              <a:t>=K</a:t>
            </a:r>
            <a:r>
              <a:rPr lang="en-US" b="1" baseline="-25000" dirty="0" smtClean="0">
                <a:solidFill>
                  <a:schemeClr val="tx1"/>
                </a:solidFill>
              </a:rPr>
              <a:t>2</a:t>
            </a:r>
            <a:r>
              <a:rPr lang="en-US" b="1" dirty="0" smtClean="0">
                <a:solidFill>
                  <a:schemeClr val="tx1"/>
                </a:solidFill>
              </a:rPr>
              <a:t>=K</a:t>
            </a:r>
            <a:r>
              <a:rPr lang="en-US" b="1" baseline="-25000" dirty="0" smtClean="0">
                <a:solidFill>
                  <a:schemeClr val="tx1"/>
                </a:solidFill>
              </a:rPr>
              <a:t>3</a:t>
            </a:r>
            <a:r>
              <a:rPr lang="en-US" b="1" dirty="0" smtClean="0">
                <a:solidFill>
                  <a:schemeClr val="tx1"/>
                </a:solidFill>
              </a:rPr>
              <a:t> = 3x10</a:t>
            </a:r>
            <a:r>
              <a:rPr lang="en-US" b="1" baseline="30000" dirty="0" smtClean="0">
                <a:solidFill>
                  <a:schemeClr val="tx1"/>
                </a:solidFill>
              </a:rPr>
              <a:t>4</a:t>
            </a:r>
            <a:r>
              <a:rPr lang="en-US" b="1" dirty="0" smtClean="0">
                <a:solidFill>
                  <a:schemeClr val="tx1"/>
                </a:solidFill>
              </a:rPr>
              <a:t> lbf/inch</a:t>
            </a:r>
          </a:p>
          <a:p>
            <a:pPr algn="ctr"/>
            <a:r>
              <a:rPr lang="en-US" b="1" dirty="0" smtClean="0">
                <a:solidFill>
                  <a:schemeClr val="tx1"/>
                </a:solidFill>
              </a:rPr>
              <a:t>K</a:t>
            </a:r>
            <a:r>
              <a:rPr lang="en-US" b="1" baseline="-25000" dirty="0" smtClean="0">
                <a:solidFill>
                  <a:schemeClr val="tx1"/>
                </a:solidFill>
              </a:rPr>
              <a:t>5</a:t>
            </a:r>
            <a:r>
              <a:rPr lang="en-US" b="1" dirty="0" smtClean="0">
                <a:solidFill>
                  <a:schemeClr val="tx1"/>
                </a:solidFill>
              </a:rPr>
              <a:t> =K</a:t>
            </a:r>
            <a:r>
              <a:rPr lang="en-US" b="1" baseline="-25000" dirty="0" smtClean="0">
                <a:solidFill>
                  <a:schemeClr val="tx1"/>
                </a:solidFill>
              </a:rPr>
              <a:t>6</a:t>
            </a:r>
            <a:r>
              <a:rPr lang="en-US" b="1" dirty="0" smtClean="0">
                <a:solidFill>
                  <a:schemeClr val="tx1"/>
                </a:solidFill>
              </a:rPr>
              <a:t> = 100 inch-lbf/</a:t>
            </a:r>
            <a:r>
              <a:rPr lang="en-US" b="1" dirty="0" err="1" smtClean="0">
                <a:solidFill>
                  <a:schemeClr val="tx1"/>
                </a:solidFill>
              </a:rPr>
              <a:t>rad</a:t>
            </a:r>
            <a:endParaRPr lang="en-US" b="1" dirty="0" smtClean="0">
              <a:solidFill>
                <a:schemeClr val="tx1"/>
              </a:solidFill>
            </a:endParaRPr>
          </a:p>
        </p:txBody>
      </p:sp>
      <p:pic>
        <p:nvPicPr>
          <p:cNvPr id="817154" name="Picture 2"/>
          <p:cNvPicPr>
            <a:picLocks noChangeAspect="1" noChangeArrowheads="1"/>
          </p:cNvPicPr>
          <p:nvPr/>
        </p:nvPicPr>
        <p:blipFill>
          <a:blip r:embed="rId3" cstate="print"/>
          <a:srcRect/>
          <a:stretch>
            <a:fillRect/>
          </a:stretch>
        </p:blipFill>
        <p:spPr bwMode="auto">
          <a:xfrm>
            <a:off x="4419600" y="1219200"/>
            <a:ext cx="4572000" cy="2603549"/>
          </a:xfrm>
          <a:prstGeom prst="rect">
            <a:avLst/>
          </a:prstGeom>
          <a:noFill/>
          <a:ln w="9525">
            <a:noFill/>
            <a:miter lim="800000"/>
            <a:headEnd/>
            <a:tailEnd/>
          </a:ln>
          <a:effectLst/>
        </p:spPr>
      </p:pic>
      <p:pic>
        <p:nvPicPr>
          <p:cNvPr id="7" name="Picture 1"/>
          <p:cNvPicPr>
            <a:picLocks noChangeAspect="1" noChangeArrowheads="1"/>
          </p:cNvPicPr>
          <p:nvPr/>
        </p:nvPicPr>
        <p:blipFill>
          <a:blip r:embed="rId4" cstate="print"/>
          <a:srcRect/>
          <a:stretch>
            <a:fillRect/>
          </a:stretch>
        </p:blipFill>
        <p:spPr bwMode="auto">
          <a:xfrm>
            <a:off x="4876800" y="3810001"/>
            <a:ext cx="4064985" cy="304800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Cable-on-Beam Results</a:t>
            </a:r>
            <a:endParaRPr lang="en-US" dirty="0"/>
          </a:p>
        </p:txBody>
      </p:sp>
      <p:sp>
        <p:nvSpPr>
          <p:cNvPr id="3" name="Content Placeholder 2"/>
          <p:cNvSpPr>
            <a:spLocks noGrp="1"/>
          </p:cNvSpPr>
          <p:nvPr>
            <p:ph sz="half" idx="1"/>
          </p:nvPr>
        </p:nvSpPr>
        <p:spPr>
          <a:xfrm>
            <a:off x="0" y="1828800"/>
            <a:ext cx="4191000" cy="4572000"/>
          </a:xfrm>
        </p:spPr>
        <p:txBody>
          <a:bodyPr/>
          <a:lstStyle/>
          <a:p>
            <a:r>
              <a:rPr lang="en-US" sz="2000" dirty="0" smtClean="0"/>
              <a:t>Cable effects differ over two distinct frequency ranges</a:t>
            </a:r>
          </a:p>
          <a:p>
            <a:pPr lvl="1"/>
            <a:r>
              <a:rPr lang="en-US" sz="1800" dirty="0" smtClean="0"/>
              <a:t>Mass and stiffness effects below cable resonance</a:t>
            </a:r>
          </a:p>
          <a:p>
            <a:pPr lvl="1"/>
            <a:r>
              <a:rPr lang="en-US" sz="1800" dirty="0" smtClean="0"/>
              <a:t>Increased damping above cable resonance</a:t>
            </a:r>
          </a:p>
          <a:p>
            <a:r>
              <a:rPr lang="en-US" sz="2000" dirty="0" smtClean="0"/>
              <a:t>Good agreement between measured and modeled dynamics</a:t>
            </a:r>
          </a:p>
          <a:p>
            <a:pPr lvl="1"/>
            <a:r>
              <a:rPr lang="en-US" sz="1800" dirty="0" smtClean="0"/>
              <a:t>Build-to-build variability is evident in predictions using “coupon” or “family” cable properties</a:t>
            </a:r>
            <a:endParaRPr lang="en-US" sz="1800" dirty="0"/>
          </a:p>
        </p:txBody>
      </p:sp>
      <p:pic>
        <p:nvPicPr>
          <p:cNvPr id="8" name="Picture 14"/>
          <p:cNvPicPr>
            <a:picLocks noChangeAspect="1" noChangeArrowheads="1"/>
          </p:cNvPicPr>
          <p:nvPr/>
        </p:nvPicPr>
        <p:blipFill>
          <a:blip r:embed="rId3" cstate="print"/>
          <a:srcRect l="10272" t="18466" r="16386" b="15674"/>
          <a:stretch>
            <a:fillRect/>
          </a:stretch>
        </p:blipFill>
        <p:spPr bwMode="auto">
          <a:xfrm>
            <a:off x="6553200" y="2133600"/>
            <a:ext cx="1095375" cy="666750"/>
          </a:xfrm>
          <a:prstGeom prst="rect">
            <a:avLst/>
          </a:prstGeom>
          <a:solidFill>
            <a:schemeClr val="bg1"/>
          </a:solidFill>
          <a:ln w="9525">
            <a:noFill/>
            <a:round/>
            <a:headEnd/>
            <a:tailEnd/>
          </a:ln>
          <a:effectLst/>
        </p:spPr>
      </p:pic>
      <p:grpSp>
        <p:nvGrpSpPr>
          <p:cNvPr id="18" name="Group 17"/>
          <p:cNvGrpSpPr/>
          <p:nvPr/>
        </p:nvGrpSpPr>
        <p:grpSpPr>
          <a:xfrm>
            <a:off x="4724400" y="1295400"/>
            <a:ext cx="8458200" cy="4746486"/>
            <a:chOff x="4724400" y="1295400"/>
            <a:chExt cx="8458200" cy="4746486"/>
          </a:xfrm>
        </p:grpSpPr>
        <p:grpSp>
          <p:nvGrpSpPr>
            <p:cNvPr id="9" name="Group 37"/>
            <p:cNvGrpSpPr/>
            <p:nvPr/>
          </p:nvGrpSpPr>
          <p:grpSpPr>
            <a:xfrm>
              <a:off x="4724400" y="1981200"/>
              <a:ext cx="4267200" cy="3397488"/>
              <a:chOff x="1219200" y="2971800"/>
              <a:chExt cx="4724400" cy="3702288"/>
            </a:xfrm>
            <a:solidFill>
              <a:schemeClr val="bg1"/>
            </a:solidFill>
          </p:grpSpPr>
          <p:pic>
            <p:nvPicPr>
              <p:cNvPr id="13" name="Content Placeholder 4" descr="BareBeam~SerptineBode800Hz.png"/>
              <p:cNvPicPr>
                <a:picLocks noChangeAspect="1"/>
              </p:cNvPicPr>
              <p:nvPr/>
            </p:nvPicPr>
            <p:blipFill>
              <a:blip r:embed="rId4" cstate="print"/>
              <a:srcRect l="1887" t="2516" r="7540" b="2847"/>
              <a:stretch>
                <a:fillRect/>
              </a:stretch>
            </p:blipFill>
            <p:spPr bwMode="auto">
              <a:xfrm>
                <a:off x="1219200" y="2971800"/>
                <a:ext cx="4724400" cy="3702288"/>
              </a:xfrm>
              <a:prstGeom prst="rect">
                <a:avLst/>
              </a:prstGeom>
              <a:grpFill/>
              <a:ln w="9525">
                <a:noFill/>
                <a:round/>
                <a:headEnd/>
                <a:tailEnd/>
              </a:ln>
              <a:effectLst/>
            </p:spPr>
          </p:pic>
          <p:cxnSp>
            <p:nvCxnSpPr>
              <p:cNvPr id="15" name="Straight Arrow Connector 14"/>
              <p:cNvCxnSpPr/>
              <p:nvPr/>
            </p:nvCxnSpPr>
            <p:spPr bwMode="auto">
              <a:xfrm>
                <a:off x="1752600" y="4343400"/>
                <a:ext cx="1295400" cy="1588"/>
              </a:xfrm>
              <a:prstGeom prst="straightConnector1">
                <a:avLst/>
              </a:prstGeom>
              <a:grpFill/>
              <a:ln w="31750" cap="flat" cmpd="sng" algn="ctr">
                <a:solidFill>
                  <a:srgbClr val="0070C0"/>
                </a:solidFill>
                <a:prstDash val="solid"/>
                <a:round/>
                <a:headEnd type="arrow"/>
                <a:tailEnd type="arrow"/>
              </a:ln>
              <a:effectLst/>
            </p:spPr>
          </p:cxnSp>
          <p:cxnSp>
            <p:nvCxnSpPr>
              <p:cNvPr id="16" name="Straight Arrow Connector 15"/>
              <p:cNvCxnSpPr/>
              <p:nvPr/>
            </p:nvCxnSpPr>
            <p:spPr bwMode="auto">
              <a:xfrm>
                <a:off x="3124200" y="6172200"/>
                <a:ext cx="2743200" cy="1588"/>
              </a:xfrm>
              <a:prstGeom prst="straightConnector1">
                <a:avLst/>
              </a:prstGeom>
              <a:grpFill/>
              <a:ln w="38100" cap="flat" cmpd="sng" algn="ctr">
                <a:solidFill>
                  <a:srgbClr val="00B050"/>
                </a:solidFill>
                <a:prstDash val="solid"/>
                <a:round/>
                <a:headEnd type="arrow"/>
                <a:tailEnd type="arrow"/>
              </a:ln>
              <a:effectLst/>
            </p:spPr>
          </p:cxnSp>
        </p:grpSp>
        <p:sp>
          <p:nvSpPr>
            <p:cNvPr id="10" name="TextBox 9"/>
            <p:cNvSpPr txBox="1"/>
            <p:nvPr/>
          </p:nvSpPr>
          <p:spPr>
            <a:xfrm>
              <a:off x="5105400" y="1295400"/>
              <a:ext cx="1524000" cy="707886"/>
            </a:xfrm>
            <a:prstGeom prst="rect">
              <a:avLst/>
            </a:prstGeom>
            <a:solidFill>
              <a:schemeClr val="bg1"/>
            </a:solidFill>
          </p:spPr>
          <p:txBody>
            <a:bodyPr wrap="square" rtlCol="0">
              <a:spAutoFit/>
            </a:bodyPr>
            <a:lstStyle/>
            <a:p>
              <a:r>
                <a:rPr lang="en-US" b="1" dirty="0" smtClean="0">
                  <a:solidFill>
                    <a:srgbClr val="0070C0"/>
                  </a:solidFill>
                </a:rPr>
                <a:t>Cable not resonant</a:t>
              </a:r>
            </a:p>
          </p:txBody>
        </p:sp>
        <p:sp>
          <p:nvSpPr>
            <p:cNvPr id="11" name="TextBox 10"/>
            <p:cNvSpPr txBox="1"/>
            <p:nvPr/>
          </p:nvSpPr>
          <p:spPr>
            <a:xfrm>
              <a:off x="7315200" y="5334000"/>
              <a:ext cx="1524000" cy="707886"/>
            </a:xfrm>
            <a:prstGeom prst="rect">
              <a:avLst/>
            </a:prstGeom>
            <a:solidFill>
              <a:schemeClr val="bg1"/>
            </a:solidFill>
          </p:spPr>
          <p:txBody>
            <a:bodyPr wrap="square" rtlCol="0">
              <a:spAutoFit/>
            </a:bodyPr>
            <a:lstStyle/>
            <a:p>
              <a:r>
                <a:rPr lang="en-US" b="1" dirty="0" smtClean="0">
                  <a:solidFill>
                    <a:srgbClr val="00B050"/>
                  </a:solidFill>
                </a:rPr>
                <a:t>Cable resonant</a:t>
              </a:r>
            </a:p>
          </p:txBody>
        </p:sp>
        <p:grpSp>
          <p:nvGrpSpPr>
            <p:cNvPr id="17" name="Group 16"/>
            <p:cNvGrpSpPr/>
            <p:nvPr/>
          </p:nvGrpSpPr>
          <p:grpSpPr>
            <a:xfrm>
              <a:off x="8153400" y="1295400"/>
              <a:ext cx="5029200" cy="4648200"/>
              <a:chOff x="4038600" y="1295400"/>
              <a:chExt cx="5029200" cy="4648200"/>
            </a:xfrm>
          </p:grpSpPr>
          <p:pic>
            <p:nvPicPr>
              <p:cNvPr id="802823" name="Picture 7"/>
              <p:cNvPicPr>
                <a:picLocks noChangeAspect="1" noChangeArrowheads="1"/>
              </p:cNvPicPr>
              <p:nvPr/>
            </p:nvPicPr>
            <p:blipFill>
              <a:blip r:embed="rId5" cstate="print"/>
              <a:srcRect l="3757" t="27324" r="5833"/>
              <a:stretch>
                <a:fillRect/>
              </a:stretch>
            </p:blipFill>
            <p:spPr bwMode="auto">
              <a:xfrm>
                <a:off x="4038600" y="2264053"/>
                <a:ext cx="5029200" cy="3679547"/>
              </a:xfrm>
              <a:prstGeom prst="rect">
                <a:avLst/>
              </a:prstGeom>
              <a:solidFill>
                <a:schemeClr val="bg1"/>
              </a:solidFill>
              <a:ln w="9525">
                <a:noFill/>
                <a:miter lim="800000"/>
                <a:headEnd/>
                <a:tailEnd/>
              </a:ln>
              <a:effectLst/>
            </p:spPr>
          </p:pic>
          <p:pic>
            <p:nvPicPr>
              <p:cNvPr id="12" name="Picture 7"/>
              <p:cNvPicPr>
                <a:picLocks noChangeAspect="1" noChangeArrowheads="1"/>
              </p:cNvPicPr>
              <p:nvPr/>
            </p:nvPicPr>
            <p:blipFill>
              <a:blip r:embed="rId5" cstate="print"/>
              <a:srcRect l="3757" t="97811" r="19143"/>
              <a:stretch>
                <a:fillRect/>
              </a:stretch>
            </p:blipFill>
            <p:spPr bwMode="auto">
              <a:xfrm>
                <a:off x="4642217" y="1295400"/>
                <a:ext cx="4288791" cy="990600"/>
              </a:xfrm>
              <a:prstGeom prst="rect">
                <a:avLst/>
              </a:prstGeom>
              <a:solidFill>
                <a:schemeClr val="bg1"/>
              </a:solidFill>
              <a:ln w="9525">
                <a:noFill/>
                <a:miter lim="800000"/>
                <a:headEnd/>
                <a:tailEnd/>
              </a:ln>
              <a:effectLst/>
            </p:spPr>
          </p:pic>
        </p:gr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161213" cy="814388"/>
          </a:xfrm>
        </p:spPr>
        <p:txBody>
          <a:bodyPr/>
          <a:lstStyle/>
          <a:p>
            <a:r>
              <a:rPr lang="en-US" dirty="0" smtClean="0"/>
              <a:t>Model Validation Effort –</a:t>
            </a:r>
            <a:br>
              <a:rPr lang="en-US" dirty="0" smtClean="0"/>
            </a:br>
            <a:r>
              <a:rPr lang="en-US" dirty="0" smtClean="0"/>
              <a:t>A Panel Structure</a:t>
            </a:r>
            <a:endParaRPr lang="en-US" dirty="0"/>
          </a:p>
        </p:txBody>
      </p:sp>
      <p:sp>
        <p:nvSpPr>
          <p:cNvPr id="3" name="Content Placeholder 2"/>
          <p:cNvSpPr>
            <a:spLocks noGrp="1"/>
          </p:cNvSpPr>
          <p:nvPr>
            <p:ph sz="half" idx="1"/>
          </p:nvPr>
        </p:nvSpPr>
        <p:spPr>
          <a:xfrm>
            <a:off x="152400" y="1239838"/>
            <a:ext cx="5257800" cy="5183187"/>
          </a:xfrm>
        </p:spPr>
        <p:txBody>
          <a:bodyPr/>
          <a:lstStyle/>
          <a:p>
            <a:r>
              <a:rPr lang="en-US" sz="2400" dirty="0" smtClean="0">
                <a:solidFill>
                  <a:srgbClr val="0070C0"/>
                </a:solidFill>
              </a:rPr>
              <a:t>Mission</a:t>
            </a:r>
            <a:r>
              <a:rPr lang="en-US" sz="2400" dirty="0" smtClean="0"/>
              <a:t>: A test case to prove the applicability of the cable test, parameter estimation and </a:t>
            </a:r>
            <a:r>
              <a:rPr lang="en-US" sz="2400" dirty="0" err="1" smtClean="0"/>
              <a:t>modelling</a:t>
            </a:r>
            <a:r>
              <a:rPr lang="en-US" sz="2400" dirty="0" smtClean="0"/>
              <a:t> methods to a </a:t>
            </a:r>
            <a:r>
              <a:rPr lang="en-US" sz="2400" i="1" dirty="0" smtClean="0"/>
              <a:t>spacecraft-like</a:t>
            </a:r>
            <a:r>
              <a:rPr lang="en-US" sz="2400" dirty="0" smtClean="0"/>
              <a:t> panel</a:t>
            </a:r>
          </a:p>
          <a:p>
            <a:r>
              <a:rPr lang="en-US" sz="2400" dirty="0" smtClean="0">
                <a:solidFill>
                  <a:srgbClr val="0070C0"/>
                </a:solidFill>
              </a:rPr>
              <a:t>Ground rules</a:t>
            </a:r>
            <a:r>
              <a:rPr lang="en-US" sz="2400" dirty="0" smtClean="0"/>
              <a:t>: Conduct experiments to quantify dynamics. </a:t>
            </a:r>
            <a:r>
              <a:rPr lang="en-US" sz="2400" dirty="0" err="1" smtClean="0"/>
              <a:t>Modelling</a:t>
            </a:r>
            <a:r>
              <a:rPr lang="en-US" sz="2400" dirty="0" smtClean="0"/>
              <a:t> effort uses estimated cable properties, but cannot include model tuning.</a:t>
            </a:r>
          </a:p>
          <a:p>
            <a:r>
              <a:rPr lang="en-US" sz="2400" dirty="0" smtClean="0"/>
              <a:t>Test case</a:t>
            </a:r>
          </a:p>
          <a:p>
            <a:pPr lvl="1"/>
            <a:r>
              <a:rPr lang="en-US" sz="2000" dirty="0" smtClean="0"/>
              <a:t>Aluminum panel 2’ x 2’ x 3/16”</a:t>
            </a:r>
          </a:p>
          <a:p>
            <a:pPr lvl="1"/>
            <a:r>
              <a:rPr lang="en-US" sz="2000" dirty="0" smtClean="0"/>
              <a:t>Three cast aluminum electronics boxes</a:t>
            </a:r>
          </a:p>
          <a:p>
            <a:pPr lvl="1"/>
            <a:r>
              <a:rPr lang="en-US" sz="2000" dirty="0" smtClean="0"/>
              <a:t>Cable mass ratios ~ 3% or 6%</a:t>
            </a:r>
            <a:endParaRPr lang="en-US" sz="2000" dirty="0"/>
          </a:p>
        </p:txBody>
      </p:sp>
      <p:pic>
        <p:nvPicPr>
          <p:cNvPr id="5" name="Picture 1"/>
          <p:cNvPicPr>
            <a:picLocks noGrp="1" noChangeAspect="1" noChangeArrowheads="1"/>
          </p:cNvPicPr>
          <p:nvPr>
            <p:ph sz="half" idx="2"/>
          </p:nvPr>
        </p:nvPicPr>
        <p:blipFill>
          <a:blip r:embed="rId3" cstate="print"/>
          <a:srcRect/>
          <a:stretch>
            <a:fillRect/>
          </a:stretch>
        </p:blipFill>
        <p:spPr bwMode="auto">
          <a:xfrm>
            <a:off x="6019800" y="1447800"/>
            <a:ext cx="2874357" cy="4307821"/>
          </a:xfrm>
          <a:prstGeom prst="rect">
            <a:avLst/>
          </a:prstGeom>
          <a:noFill/>
          <a:ln w="9525">
            <a:noFill/>
            <a:round/>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Measured Driving Point FRFs</a:t>
            </a:r>
            <a:endParaRPr lang="en-US" dirty="0"/>
          </a:p>
        </p:txBody>
      </p:sp>
      <p:sp>
        <p:nvSpPr>
          <p:cNvPr id="3" name="Content Placeholder 2"/>
          <p:cNvSpPr>
            <a:spLocks noGrp="1"/>
          </p:cNvSpPr>
          <p:nvPr>
            <p:ph sz="half" idx="1"/>
          </p:nvPr>
        </p:nvSpPr>
        <p:spPr>
          <a:xfrm>
            <a:off x="152400" y="1239838"/>
            <a:ext cx="4419600" cy="5183187"/>
          </a:xfrm>
        </p:spPr>
        <p:txBody>
          <a:bodyPr/>
          <a:lstStyle/>
          <a:p>
            <a:r>
              <a:rPr lang="en-US" dirty="0" smtClean="0"/>
              <a:t>Little influence in panel dynamics below cable resonance</a:t>
            </a:r>
          </a:p>
          <a:p>
            <a:r>
              <a:rPr lang="en-US" dirty="0" smtClean="0"/>
              <a:t>Various cable spans become resonant between ~75 and ~175 Hz</a:t>
            </a:r>
          </a:p>
          <a:p>
            <a:pPr lvl="1"/>
            <a:r>
              <a:rPr lang="en-US" dirty="0" smtClean="0"/>
              <a:t>Determined by cable type and open span dimensions</a:t>
            </a:r>
          </a:p>
          <a:p>
            <a:r>
              <a:rPr lang="en-US" dirty="0" smtClean="0"/>
              <a:t>Low cable-to-panel mass ratio limits the cable influence on the coupled dynamics</a:t>
            </a:r>
            <a:endParaRPr lang="en-US" dirty="0"/>
          </a:p>
        </p:txBody>
      </p:sp>
      <p:grpSp>
        <p:nvGrpSpPr>
          <p:cNvPr id="10" name="Group 9"/>
          <p:cNvGrpSpPr/>
          <p:nvPr/>
        </p:nvGrpSpPr>
        <p:grpSpPr>
          <a:xfrm>
            <a:off x="4419600" y="2133600"/>
            <a:ext cx="4724400" cy="3505200"/>
            <a:chOff x="4572000" y="1524000"/>
            <a:chExt cx="4114800" cy="2971800"/>
          </a:xfrm>
        </p:grpSpPr>
        <p:pic>
          <p:nvPicPr>
            <p:cNvPr id="820226" name="Picture 2"/>
            <p:cNvPicPr>
              <a:picLocks noChangeAspect="1" noChangeArrowheads="1"/>
            </p:cNvPicPr>
            <p:nvPr/>
          </p:nvPicPr>
          <p:blipFill>
            <a:blip r:embed="rId3" cstate="print"/>
            <a:srcRect l="3333" r="6667" b="37362"/>
            <a:stretch>
              <a:fillRect/>
            </a:stretch>
          </p:blipFill>
          <p:spPr bwMode="auto">
            <a:xfrm>
              <a:off x="4572000" y="1524000"/>
              <a:ext cx="4114800" cy="2743200"/>
            </a:xfrm>
            <a:prstGeom prst="rect">
              <a:avLst/>
            </a:prstGeom>
            <a:solidFill>
              <a:schemeClr val="bg1"/>
            </a:solidFill>
            <a:ln w="9525">
              <a:noFill/>
              <a:miter lim="800000"/>
              <a:headEnd/>
              <a:tailEnd/>
            </a:ln>
            <a:effectLst/>
          </p:spPr>
        </p:pic>
        <p:pic>
          <p:nvPicPr>
            <p:cNvPr id="8" name="Picture 2"/>
            <p:cNvPicPr>
              <a:picLocks noChangeAspect="1" noChangeArrowheads="1"/>
            </p:cNvPicPr>
            <p:nvPr/>
          </p:nvPicPr>
          <p:blipFill>
            <a:blip r:embed="rId3" cstate="print"/>
            <a:srcRect l="20000" t="92217" r="20000" b="2563"/>
            <a:stretch>
              <a:fillRect/>
            </a:stretch>
          </p:blipFill>
          <p:spPr bwMode="auto">
            <a:xfrm>
              <a:off x="5334000" y="4267200"/>
              <a:ext cx="2743200" cy="228600"/>
            </a:xfrm>
            <a:prstGeom prst="rect">
              <a:avLst/>
            </a:prstGeom>
            <a:solidFill>
              <a:schemeClr val="bg1"/>
            </a:solidFill>
            <a:ln w="9525">
              <a:noFill/>
              <a:miter lim="800000"/>
              <a:headEnd/>
              <a:tailEnd/>
            </a:ln>
            <a:effectLst/>
          </p:spPr>
        </p:pic>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64" name="Picture 4"/>
          <p:cNvPicPr>
            <a:picLocks noChangeAspect="1" noChangeArrowheads="1"/>
          </p:cNvPicPr>
          <p:nvPr/>
        </p:nvPicPr>
        <p:blipFill>
          <a:blip r:embed="rId4" cstate="print"/>
          <a:srcRect/>
          <a:stretch>
            <a:fillRect/>
          </a:stretch>
        </p:blipFill>
        <p:spPr bwMode="auto">
          <a:xfrm>
            <a:off x="4708936" y="1905000"/>
            <a:ext cx="4435064" cy="3962400"/>
          </a:xfrm>
          <a:prstGeom prst="rect">
            <a:avLst/>
          </a:prstGeom>
          <a:solidFill>
            <a:schemeClr val="bg1"/>
          </a:solidFill>
          <a:ln w="9525">
            <a:noFill/>
            <a:miter lim="800000"/>
            <a:headEnd/>
            <a:tailEnd/>
          </a:ln>
          <a:effectLst/>
        </p:spPr>
      </p:pic>
      <p:sp>
        <p:nvSpPr>
          <p:cNvPr id="2" name="Title 1"/>
          <p:cNvSpPr>
            <a:spLocks noGrp="1"/>
          </p:cNvSpPr>
          <p:nvPr>
            <p:ph type="title"/>
          </p:nvPr>
        </p:nvSpPr>
        <p:spPr/>
        <p:txBody>
          <a:bodyPr/>
          <a:lstStyle/>
          <a:p>
            <a:r>
              <a:rPr lang="en-US" dirty="0" smtClean="0"/>
              <a:t>Panel Model Validation</a:t>
            </a:r>
            <a:endParaRPr lang="en-US" dirty="0"/>
          </a:p>
        </p:txBody>
      </p:sp>
      <p:grpSp>
        <p:nvGrpSpPr>
          <p:cNvPr id="4" name="Group 15"/>
          <p:cNvGrpSpPr/>
          <p:nvPr/>
        </p:nvGrpSpPr>
        <p:grpSpPr>
          <a:xfrm>
            <a:off x="4776787" y="1837492"/>
            <a:ext cx="4367213" cy="4563308"/>
            <a:chOff x="4419600" y="1600200"/>
            <a:chExt cx="4367213" cy="4563308"/>
          </a:xfrm>
          <a:solidFill>
            <a:schemeClr val="bg1"/>
          </a:solidFill>
        </p:grpSpPr>
        <p:sp>
          <p:nvSpPr>
            <p:cNvPr id="13" name="TextBox 12"/>
            <p:cNvSpPr txBox="1"/>
            <p:nvPr/>
          </p:nvSpPr>
          <p:spPr>
            <a:xfrm>
              <a:off x="5181600" y="5486400"/>
              <a:ext cx="3200400" cy="677108"/>
            </a:xfrm>
            <a:prstGeom prst="rect">
              <a:avLst/>
            </a:prstGeom>
            <a:grpFill/>
          </p:spPr>
          <p:txBody>
            <a:bodyPr wrap="square" rtlCol="0">
              <a:spAutoFit/>
            </a:bodyPr>
            <a:lstStyle/>
            <a:p>
              <a:pPr algn="ctr"/>
              <a:r>
                <a:rPr lang="en-US" sz="1800" b="1" dirty="0" smtClean="0">
                  <a:solidFill>
                    <a:srgbClr val="0070C0"/>
                  </a:solidFill>
                </a:rPr>
                <a:t>Running RMS error, zeroed at 90 and 200 Hz</a:t>
              </a:r>
              <a:r>
                <a:rPr lang="en-US" b="1" dirty="0" smtClean="0">
                  <a:solidFill>
                    <a:schemeClr val="tx1"/>
                  </a:solidFill>
                </a:rPr>
                <a:t> </a:t>
              </a:r>
            </a:p>
          </p:txBody>
        </p:sp>
        <p:pic>
          <p:nvPicPr>
            <p:cNvPr id="818181" name="Picture 5"/>
            <p:cNvPicPr>
              <a:picLocks noChangeAspect="1" noChangeArrowheads="1"/>
            </p:cNvPicPr>
            <p:nvPr/>
          </p:nvPicPr>
          <p:blipFill>
            <a:blip r:embed="rId5" cstate="print"/>
            <a:srcRect/>
            <a:stretch>
              <a:fillRect/>
            </a:stretch>
          </p:blipFill>
          <p:spPr bwMode="auto">
            <a:xfrm>
              <a:off x="4419600" y="1600200"/>
              <a:ext cx="4367213" cy="3902075"/>
            </a:xfrm>
            <a:prstGeom prst="rect">
              <a:avLst/>
            </a:prstGeom>
            <a:grpFill/>
            <a:ln w="9525">
              <a:noFill/>
              <a:miter lim="800000"/>
              <a:headEnd/>
              <a:tailEnd/>
            </a:ln>
            <a:effectLst/>
          </p:spPr>
        </p:pic>
      </p:grpSp>
      <p:sp>
        <p:nvSpPr>
          <p:cNvPr id="3" name="Content Placeholder 2"/>
          <p:cNvSpPr>
            <a:spLocks noGrp="1"/>
          </p:cNvSpPr>
          <p:nvPr>
            <p:ph sz="half" idx="1"/>
          </p:nvPr>
        </p:nvSpPr>
        <p:spPr>
          <a:xfrm>
            <a:off x="0" y="1143000"/>
            <a:ext cx="4800600" cy="5280025"/>
          </a:xfrm>
        </p:spPr>
        <p:txBody>
          <a:bodyPr/>
          <a:lstStyle/>
          <a:p>
            <a:r>
              <a:rPr lang="en-US" sz="2400" dirty="0" smtClean="0"/>
              <a:t>Compared traditional </a:t>
            </a:r>
            <a:r>
              <a:rPr lang="en-US" sz="2400" dirty="0" err="1" smtClean="0"/>
              <a:t>modelling</a:t>
            </a:r>
            <a:r>
              <a:rPr lang="en-US" sz="2400" dirty="0" smtClean="0"/>
              <a:t> approach (i.e., nonstructural mass) with dynamic cable models</a:t>
            </a:r>
          </a:p>
          <a:p>
            <a:r>
              <a:rPr lang="en-US" sz="2400" dirty="0" smtClean="0"/>
              <a:t>Running RMS metric is driven by modal damping</a:t>
            </a:r>
          </a:p>
          <a:p>
            <a:pPr lvl="1"/>
            <a:r>
              <a:rPr lang="en-US" sz="2000" dirty="0" smtClean="0"/>
              <a:t>Lumped mass approach does not account for coupling and over estimates response</a:t>
            </a:r>
          </a:p>
          <a:p>
            <a:r>
              <a:rPr lang="en-US" sz="2400" dirty="0" smtClean="0"/>
              <a:t>Nonstructural mass approach may be adequate for low frequencies and low cable/structure mass ratios</a:t>
            </a:r>
            <a:endParaRPr lang="en-US" dirty="0"/>
          </a:p>
        </p:txBody>
      </p:sp>
      <p:pic>
        <p:nvPicPr>
          <p:cNvPr id="808963" name="Picture 3"/>
          <p:cNvPicPr>
            <a:picLocks noChangeAspect="1" noChangeArrowheads="1"/>
          </p:cNvPicPr>
          <p:nvPr/>
        </p:nvPicPr>
        <p:blipFill>
          <a:blip r:embed="rId6" cstate="print"/>
          <a:srcRect l="3334" r="4754" b="-17419"/>
          <a:stretch>
            <a:fillRect/>
          </a:stretch>
        </p:blipFill>
        <p:spPr bwMode="auto">
          <a:xfrm>
            <a:off x="4724400" y="2057400"/>
            <a:ext cx="4419600" cy="4419600"/>
          </a:xfrm>
          <a:prstGeom prst="rect">
            <a:avLst/>
          </a:prstGeom>
          <a:solidFill>
            <a:schemeClr val="bg1"/>
          </a:solidFill>
          <a:ln w="9525">
            <a:noFill/>
            <a:miter lim="800000"/>
            <a:headEnd/>
            <a:tailEnd/>
          </a:ln>
          <a:effectLst/>
        </p:spPr>
      </p:pic>
      <p:graphicFrame>
        <p:nvGraphicFramePr>
          <p:cNvPr id="808962" name="Object 2"/>
          <p:cNvGraphicFramePr>
            <a:graphicFrameLocks noChangeAspect="1"/>
          </p:cNvGraphicFramePr>
          <p:nvPr/>
        </p:nvGraphicFramePr>
        <p:xfrm>
          <a:off x="762000" y="5662613"/>
          <a:ext cx="3076575" cy="1195387"/>
        </p:xfrm>
        <a:graphic>
          <a:graphicData uri="http://schemas.openxmlformats.org/presentationml/2006/ole">
            <p:oleObj spid="_x0000_s808962" name="Equation" r:id="rId7" imgW="2222280" imgH="863280" progId="Equation.3">
              <p:embed/>
            </p:oleObj>
          </a:graphicData>
        </a:graphic>
      </p:graphicFrame>
      <p:grpSp>
        <p:nvGrpSpPr>
          <p:cNvPr id="5" name="Group 18"/>
          <p:cNvGrpSpPr/>
          <p:nvPr/>
        </p:nvGrpSpPr>
        <p:grpSpPr>
          <a:xfrm>
            <a:off x="4648200" y="1676400"/>
            <a:ext cx="4495800" cy="4876800"/>
            <a:chOff x="4648200" y="1981200"/>
            <a:chExt cx="4495800" cy="4876800"/>
          </a:xfrm>
        </p:grpSpPr>
        <p:pic>
          <p:nvPicPr>
            <p:cNvPr id="818179" name="Picture 3"/>
            <p:cNvPicPr>
              <a:picLocks noChangeAspect="1" noChangeArrowheads="1"/>
            </p:cNvPicPr>
            <p:nvPr/>
          </p:nvPicPr>
          <p:blipFill>
            <a:blip r:embed="rId8" cstate="print"/>
            <a:srcRect b="-36170"/>
            <a:stretch>
              <a:fillRect/>
            </a:stretch>
          </p:blipFill>
          <p:spPr bwMode="auto">
            <a:xfrm>
              <a:off x="4676132" y="1981200"/>
              <a:ext cx="4467868" cy="4876800"/>
            </a:xfrm>
            <a:prstGeom prst="rect">
              <a:avLst/>
            </a:prstGeom>
            <a:solidFill>
              <a:schemeClr val="bg1"/>
            </a:solidFill>
            <a:ln w="9525">
              <a:noFill/>
              <a:miter lim="800000"/>
              <a:headEnd/>
              <a:tailEnd/>
            </a:ln>
            <a:effectLst/>
          </p:spPr>
        </p:pic>
        <p:sp>
          <p:nvSpPr>
            <p:cNvPr id="18" name="TextBox 17"/>
            <p:cNvSpPr txBox="1"/>
            <p:nvPr/>
          </p:nvSpPr>
          <p:spPr>
            <a:xfrm>
              <a:off x="4648200" y="5562600"/>
              <a:ext cx="4495800" cy="923330"/>
            </a:xfrm>
            <a:prstGeom prst="rect">
              <a:avLst/>
            </a:prstGeom>
            <a:noFill/>
          </p:spPr>
          <p:txBody>
            <a:bodyPr wrap="square" rtlCol="0">
              <a:spAutoFit/>
            </a:bodyPr>
            <a:lstStyle/>
            <a:p>
              <a:pPr algn="ctr"/>
              <a:r>
                <a:rPr lang="en-US" sz="1800" b="1" dirty="0" smtClean="0">
                  <a:solidFill>
                    <a:srgbClr val="0070C0"/>
                  </a:solidFill>
                </a:rPr>
                <a:t>Least benefit from dynamic cable models with low mass ratio and/or large magnitude non-interacting modes</a:t>
              </a:r>
              <a:endParaRPr lang="en-US" b="1" dirty="0" smtClean="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8963"/>
                                        </p:tgtEl>
                                        <p:attrNameLst>
                                          <p:attrName>style.visibility</p:attrName>
                                        </p:attrNameLst>
                                      </p:cBhvr>
                                      <p:to>
                                        <p:strVal val="visible"/>
                                      </p:to>
                                    </p:set>
                                    <p:anim calcmode="lin" valueType="num">
                                      <p:cBhvr additive="base">
                                        <p:cTn id="13" dur="500" fill="hold"/>
                                        <p:tgtEl>
                                          <p:spTgt spid="808963"/>
                                        </p:tgtEl>
                                        <p:attrNameLst>
                                          <p:attrName>ppt_x</p:attrName>
                                        </p:attrNameLst>
                                      </p:cBhvr>
                                      <p:tavLst>
                                        <p:tav tm="0">
                                          <p:val>
                                            <p:strVal val="#ppt_x"/>
                                          </p:val>
                                        </p:tav>
                                        <p:tav tm="100000">
                                          <p:val>
                                            <p:strVal val="#ppt_x"/>
                                          </p:val>
                                        </p:tav>
                                      </p:tavLst>
                                    </p:anim>
                                    <p:anim calcmode="lin" valueType="num">
                                      <p:cBhvr additive="base">
                                        <p:cTn id="14" dur="500" fill="hold"/>
                                        <p:tgtEl>
                                          <p:spTgt spid="80896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Shear Modulus Choice</a:t>
            </a:r>
            <a:endParaRPr lang="en-US" dirty="0"/>
          </a:p>
        </p:txBody>
      </p:sp>
      <p:sp>
        <p:nvSpPr>
          <p:cNvPr id="3" name="Content Placeholder 2"/>
          <p:cNvSpPr>
            <a:spLocks noGrp="1"/>
          </p:cNvSpPr>
          <p:nvPr>
            <p:ph sz="half" idx="1"/>
          </p:nvPr>
        </p:nvSpPr>
        <p:spPr>
          <a:xfrm>
            <a:off x="76200" y="1981200"/>
            <a:ext cx="4362450" cy="4441825"/>
          </a:xfrm>
        </p:spPr>
        <p:txBody>
          <a:bodyPr/>
          <a:lstStyle/>
          <a:p>
            <a:r>
              <a:rPr lang="en-US" dirty="0" smtClean="0"/>
              <a:t>Use of “family” or “coupon” shear modulus values does not have large impact on model accuracy for cables tested</a:t>
            </a:r>
          </a:p>
          <a:p>
            <a:pPr lvl="1"/>
            <a:r>
              <a:rPr lang="en-US" dirty="0" smtClean="0"/>
              <a:t>Different conclusion than for cable-on-beam test</a:t>
            </a:r>
          </a:p>
        </p:txBody>
      </p:sp>
      <p:pic>
        <p:nvPicPr>
          <p:cNvPr id="809989" name="Picture 5"/>
          <p:cNvPicPr>
            <a:picLocks noChangeAspect="1" noChangeArrowheads="1"/>
          </p:cNvPicPr>
          <p:nvPr/>
        </p:nvPicPr>
        <p:blipFill>
          <a:blip r:embed="rId3" cstate="print"/>
          <a:srcRect/>
          <a:stretch>
            <a:fillRect/>
          </a:stretch>
        </p:blipFill>
        <p:spPr bwMode="auto">
          <a:xfrm>
            <a:off x="4343400" y="1447800"/>
            <a:ext cx="4800600" cy="5029200"/>
          </a:xfrm>
          <a:prstGeom prst="rect">
            <a:avLst/>
          </a:prstGeom>
          <a:solidFill>
            <a:schemeClr val="bg1"/>
          </a:solid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Findings</a:t>
            </a:r>
            <a:endParaRPr lang="en-US" dirty="0"/>
          </a:p>
        </p:txBody>
      </p:sp>
      <p:sp>
        <p:nvSpPr>
          <p:cNvPr id="3" name="Content Placeholder 2"/>
          <p:cNvSpPr>
            <a:spLocks noGrp="1"/>
          </p:cNvSpPr>
          <p:nvPr>
            <p:ph idx="1"/>
          </p:nvPr>
        </p:nvSpPr>
        <p:spPr/>
        <p:txBody>
          <a:bodyPr/>
          <a:lstStyle/>
          <a:p>
            <a:r>
              <a:rPr lang="en-US" dirty="0" smtClean="0"/>
              <a:t>A shear beam model predicts cable dynamics</a:t>
            </a:r>
          </a:p>
          <a:p>
            <a:r>
              <a:rPr lang="en-US" dirty="0" smtClean="0"/>
              <a:t>Coupon tests may be justified for critical applications</a:t>
            </a:r>
          </a:p>
          <a:p>
            <a:r>
              <a:rPr lang="en-US" dirty="0" smtClean="0"/>
              <a:t>Variability in cable properties can be traced to</a:t>
            </a:r>
          </a:p>
          <a:p>
            <a:pPr lvl="1"/>
            <a:r>
              <a:rPr lang="en-US" dirty="0" smtClean="0"/>
              <a:t>Cable construction due to hand fabrication </a:t>
            </a:r>
          </a:p>
          <a:p>
            <a:pPr lvl="1"/>
            <a:r>
              <a:rPr lang="en-US" dirty="0" smtClean="0"/>
              <a:t>Differences in wire structural properties can vary between lots</a:t>
            </a:r>
          </a:p>
          <a:p>
            <a:pPr lvl="1"/>
            <a:r>
              <a:rPr lang="en-US" dirty="0" smtClean="0"/>
              <a:t>Running stitch tension</a:t>
            </a:r>
          </a:p>
          <a:p>
            <a:r>
              <a:rPr lang="en-US" dirty="0" smtClean="0"/>
              <a:t>There is evidence of cable property dependence on span</a:t>
            </a:r>
          </a:p>
          <a:p>
            <a:r>
              <a:rPr lang="en-US" dirty="0" smtClean="0"/>
              <a:t>Measurement of cable extensional modulus requires a low load capacity tensile test machine and a custom extensometer witness fixture</a:t>
            </a:r>
          </a:p>
          <a:p>
            <a:r>
              <a:rPr lang="en-US" dirty="0" smtClean="0"/>
              <a:t>Rod-on-beam validation experiments were instrumental in refining connection stiffness value estimates</a:t>
            </a:r>
          </a:p>
          <a:p>
            <a:endParaRPr lang="en-US"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Summary</a:t>
            </a:r>
            <a:endParaRPr lang="en-US" dirty="0"/>
          </a:p>
        </p:txBody>
      </p:sp>
      <p:sp>
        <p:nvSpPr>
          <p:cNvPr id="6" name="Content Placeholder 5"/>
          <p:cNvSpPr>
            <a:spLocks noGrp="1"/>
          </p:cNvSpPr>
          <p:nvPr>
            <p:ph idx="1"/>
          </p:nvPr>
        </p:nvSpPr>
        <p:spPr/>
        <p:txBody>
          <a:bodyPr/>
          <a:lstStyle/>
          <a:p>
            <a:r>
              <a:rPr lang="en-US" sz="2400" dirty="0" smtClean="0"/>
              <a:t>Innovative test, analysis and </a:t>
            </a:r>
            <a:r>
              <a:rPr lang="en-US" sz="2400" dirty="0" err="1" smtClean="0"/>
              <a:t>modelling</a:t>
            </a:r>
            <a:r>
              <a:rPr lang="en-US" sz="2400" dirty="0" smtClean="0"/>
              <a:t> approaches were developed to </a:t>
            </a:r>
          </a:p>
          <a:p>
            <a:pPr lvl="1"/>
            <a:r>
              <a:rPr lang="en-US" sz="2000" dirty="0" smtClean="0"/>
              <a:t>Increase accuracy of models to include the influence of power and signal cables</a:t>
            </a:r>
          </a:p>
          <a:p>
            <a:pPr lvl="1"/>
            <a:r>
              <a:rPr lang="en-US" sz="2000" dirty="0" smtClean="0"/>
              <a:t>Used standard linear finite element model methods</a:t>
            </a:r>
          </a:p>
          <a:p>
            <a:r>
              <a:rPr lang="en-US" sz="2400" dirty="0" smtClean="0"/>
              <a:t>Cables can have a significant impact on coupled structure dynamics</a:t>
            </a:r>
          </a:p>
          <a:p>
            <a:pPr lvl="1"/>
            <a:r>
              <a:rPr lang="en-US" sz="2000" dirty="0" smtClean="0"/>
              <a:t>Mass loading on the cable stiffness line</a:t>
            </a:r>
          </a:p>
          <a:p>
            <a:pPr lvl="1"/>
            <a:r>
              <a:rPr lang="en-US" sz="2000" dirty="0" smtClean="0"/>
              <a:t>Increased damping above first cable resonance</a:t>
            </a:r>
          </a:p>
          <a:p>
            <a:pPr lvl="1"/>
            <a:r>
              <a:rPr lang="en-US" sz="2000" dirty="0" smtClean="0"/>
              <a:t>Large reductions in resonant response when cable and host structure natural frequencies are close to one another</a:t>
            </a:r>
          </a:p>
          <a:p>
            <a:pPr lvl="2"/>
            <a:r>
              <a:rPr lang="en-US" dirty="0" smtClean="0">
                <a:solidFill>
                  <a:srgbClr val="0070C0"/>
                </a:solidFill>
              </a:rPr>
              <a:t>The traditional nonstructural mass approach cannot predict the cable interaction, leading to overestimates of resonant response</a:t>
            </a:r>
          </a:p>
          <a:p>
            <a:pPr>
              <a:buNone/>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Research Topics</a:t>
            </a:r>
            <a:endParaRPr lang="en-US" dirty="0"/>
          </a:p>
        </p:txBody>
      </p:sp>
      <p:sp>
        <p:nvSpPr>
          <p:cNvPr id="3" name="Content Placeholder 2"/>
          <p:cNvSpPr>
            <a:spLocks noGrp="1"/>
          </p:cNvSpPr>
          <p:nvPr>
            <p:ph idx="1"/>
          </p:nvPr>
        </p:nvSpPr>
        <p:spPr>
          <a:xfrm>
            <a:off x="228600" y="1239838"/>
            <a:ext cx="8763000" cy="5183187"/>
          </a:xfrm>
        </p:spPr>
        <p:txBody>
          <a:bodyPr/>
          <a:lstStyle/>
          <a:p>
            <a:r>
              <a:rPr lang="en-US" dirty="0" smtClean="0"/>
              <a:t>Develop cable fabrication techniques to increase cable predictability for structural dynamics</a:t>
            </a:r>
          </a:p>
          <a:p>
            <a:r>
              <a:rPr lang="en-US" dirty="0" smtClean="0"/>
              <a:t>Extend efforts to include other cable construction methods</a:t>
            </a:r>
          </a:p>
          <a:p>
            <a:pPr lvl="1"/>
            <a:r>
              <a:rPr lang="en-US" dirty="0" smtClean="0"/>
              <a:t>Considerable interest in the space community</a:t>
            </a:r>
          </a:p>
          <a:p>
            <a:r>
              <a:rPr lang="en-US" dirty="0" smtClean="0"/>
              <a:t>Extend efforts to more massive cables and those with bends and connectors</a:t>
            </a:r>
          </a:p>
          <a:p>
            <a:r>
              <a:rPr lang="en-US" dirty="0" smtClean="0"/>
              <a:t>Cable service loop </a:t>
            </a:r>
            <a:r>
              <a:rPr lang="en-US" dirty="0" err="1" smtClean="0"/>
              <a:t>modelling</a:t>
            </a:r>
            <a:r>
              <a:rPr lang="en-US" dirty="0" smtClean="0"/>
              <a:t> </a:t>
            </a:r>
          </a:p>
          <a:p>
            <a:r>
              <a:rPr lang="en-US" dirty="0" smtClean="0"/>
              <a:t>Study behavior of cables under launch vibration and mechanical shock conditions</a:t>
            </a:r>
          </a:p>
          <a:p>
            <a:pPr lvl="1"/>
            <a:r>
              <a:rPr lang="en-US" dirty="0" smtClean="0"/>
              <a:t>Workmanship under high loading conditions</a:t>
            </a:r>
          </a:p>
          <a:p>
            <a:pPr lvl="1"/>
            <a:r>
              <a:rPr lang="en-US" dirty="0" smtClean="0"/>
              <a:t>Mounting bracket strength </a:t>
            </a:r>
          </a:p>
          <a:p>
            <a:pPr lvl="1"/>
            <a:r>
              <a:rPr lang="en-US" dirty="0" smtClean="0"/>
              <a:t>Concerns in the space industry and </a:t>
            </a:r>
            <a:r>
              <a:rPr lang="en-US" dirty="0" err="1" smtClean="0"/>
              <a:t>DoD</a:t>
            </a:r>
            <a:r>
              <a:rPr lang="en-US" dirty="0" smtClean="0"/>
              <a:t> </a:t>
            </a:r>
          </a:p>
          <a:p>
            <a:r>
              <a:rPr lang="en-US" dirty="0" smtClean="0"/>
              <a:t>Detailed cable mechanics</a:t>
            </a:r>
          </a:p>
          <a:p>
            <a:pPr lvl="1"/>
            <a:r>
              <a:rPr lang="en-US" dirty="0" smtClean="0"/>
              <a:t>Reduce dependence on empirically derived properties</a:t>
            </a:r>
          </a:p>
          <a:p>
            <a:pPr lvl="1"/>
            <a:r>
              <a:rPr lang="en-US" dirty="0" smtClean="0"/>
              <a:t>Accelerate </a:t>
            </a:r>
            <a:r>
              <a:rPr lang="en-US" dirty="0" err="1" smtClean="0"/>
              <a:t>modelling</a:t>
            </a:r>
            <a:r>
              <a:rPr lang="en-US" dirty="0" smtClean="0"/>
              <a:t> and analysis programs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295400"/>
            <a:ext cx="7772400" cy="1470025"/>
          </a:xfrm>
        </p:spPr>
        <p:txBody>
          <a:bodyPr/>
          <a:lstStyle/>
          <a:p>
            <a:r>
              <a:rPr lang="en-US" dirty="0" smtClean="0"/>
              <a:t>Questions</a:t>
            </a:r>
            <a:br>
              <a:rPr lang="en-US" dirty="0" smtClean="0"/>
            </a:b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Acknowledgments</a:t>
            </a:r>
            <a:endParaRPr lang="en-US" dirty="0"/>
          </a:p>
        </p:txBody>
      </p:sp>
      <p:sp>
        <p:nvSpPr>
          <p:cNvPr id="3" name="Content Placeholder 2"/>
          <p:cNvSpPr>
            <a:spLocks noGrp="1"/>
          </p:cNvSpPr>
          <p:nvPr>
            <p:ph idx="1"/>
          </p:nvPr>
        </p:nvSpPr>
        <p:spPr/>
        <p:txBody>
          <a:bodyPr/>
          <a:lstStyle/>
          <a:p>
            <a:pPr>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sz="2400" dirty="0" smtClean="0">
                <a:ea typeface="Lucida Sans Unicode" charset="0"/>
                <a:cs typeface="Lucida Sans Unicode" charset="0"/>
              </a:rPr>
              <a:t>Thanks to the Air Force Research Laboratory and the Air Force Office for Scientific Research for funding.</a:t>
            </a:r>
          </a:p>
          <a:p>
            <a:pPr>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endParaRPr lang="en-GB" sz="2400" dirty="0" smtClean="0">
              <a:ea typeface="Lucida Sans Unicode" charset="0"/>
              <a:cs typeface="Lucida Sans Unicode" charset="0"/>
            </a:endParaRPr>
          </a:p>
          <a:p>
            <a:pPr>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sz="2400" dirty="0" smtClean="0">
                <a:ea typeface="Lucida Sans Unicode" charset="0"/>
                <a:cs typeface="Lucida Sans Unicode" charset="0"/>
              </a:rPr>
              <a:t>Thanks to the following project collaborators without whom this work would not have been possible.  </a:t>
            </a: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Dr. </a:t>
            </a:r>
            <a:r>
              <a:rPr lang="en-GB" dirty="0" err="1" smtClean="0">
                <a:ea typeface="Lucida Sans Unicode" charset="0"/>
                <a:cs typeface="Lucida Sans Unicode" charset="0"/>
              </a:rPr>
              <a:t>Vit</a:t>
            </a:r>
            <a:r>
              <a:rPr lang="en-GB" dirty="0" smtClean="0">
                <a:ea typeface="Lucida Sans Unicode" charset="0"/>
                <a:cs typeface="Lucida Sans Unicode" charset="0"/>
              </a:rPr>
              <a:t> </a:t>
            </a:r>
            <a:r>
              <a:rPr lang="en-GB" dirty="0" err="1" smtClean="0">
                <a:ea typeface="Lucida Sans Unicode" charset="0"/>
                <a:cs typeface="Lucida Sans Unicode" charset="0"/>
              </a:rPr>
              <a:t>Babu</a:t>
            </a:r>
            <a:r>
              <a:rPr lang="en-GB" dirty="0" err="1" smtClean="0">
                <a:cs typeface="Arial" charset="0"/>
              </a:rPr>
              <a:t>š</a:t>
            </a:r>
            <a:r>
              <a:rPr lang="en-GB" dirty="0" err="1" smtClean="0">
                <a:ea typeface="Lucida Sans Unicode" charset="0"/>
                <a:cs typeface="Lucida Sans Unicode" charset="0"/>
              </a:rPr>
              <a:t>ka</a:t>
            </a:r>
            <a:r>
              <a:rPr lang="en-GB" dirty="0" smtClean="0">
                <a:ea typeface="Lucida Sans Unicode" charset="0"/>
                <a:cs typeface="Lucida Sans Unicode" charset="0"/>
              </a:rPr>
              <a:t> - </a:t>
            </a:r>
            <a:r>
              <a:rPr lang="en-GB" i="1" dirty="0" smtClean="0">
                <a:ea typeface="Lucida Sans Unicode" charset="0"/>
                <a:cs typeface="Lucida Sans Unicode" charset="0"/>
              </a:rPr>
              <a:t>Sandia National Laboratories</a:t>
            </a:r>
            <a:endParaRPr lang="en-GB" i="1" baseline="30000" dirty="0" smtClean="0">
              <a:ea typeface="Lucida Sans Unicode" charset="0"/>
              <a:cs typeface="Lucida Sans Unicode" charset="0"/>
            </a:endParaRP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Dr. Emil </a:t>
            </a:r>
            <a:r>
              <a:rPr lang="en-GB" dirty="0" err="1" smtClean="0">
                <a:ea typeface="Lucida Sans Unicode" charset="0"/>
                <a:cs typeface="Lucida Sans Unicode" charset="0"/>
              </a:rPr>
              <a:t>Ardelean</a:t>
            </a:r>
            <a:r>
              <a:rPr lang="en-GB" dirty="0" smtClean="0">
                <a:ea typeface="Lucida Sans Unicode" charset="0"/>
                <a:cs typeface="Lucida Sans Unicode" charset="0"/>
              </a:rPr>
              <a:t> - </a:t>
            </a:r>
            <a:r>
              <a:rPr lang="en-GB" i="1" dirty="0" smtClean="0">
                <a:ea typeface="Lucida Sans Unicode" charset="0"/>
                <a:cs typeface="Lucida Sans Unicode" charset="0"/>
              </a:rPr>
              <a:t>Schafer Corporation</a:t>
            </a: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James </a:t>
            </a:r>
            <a:r>
              <a:rPr lang="en-GB" dirty="0" err="1" smtClean="0">
                <a:ea typeface="Lucida Sans Unicode" charset="0"/>
                <a:cs typeface="Lucida Sans Unicode" charset="0"/>
              </a:rPr>
              <a:t>Goodding</a:t>
            </a:r>
            <a:r>
              <a:rPr lang="en-GB" dirty="0" smtClean="0">
                <a:ea typeface="Lucida Sans Unicode" charset="0"/>
                <a:cs typeface="Lucida Sans Unicode" charset="0"/>
              </a:rPr>
              <a:t> - </a:t>
            </a:r>
            <a:r>
              <a:rPr lang="en-GB" i="1" dirty="0" smtClean="0">
                <a:ea typeface="Lucida Sans Unicode" charset="0"/>
                <a:cs typeface="Lucida Sans Unicode" charset="0"/>
              </a:rPr>
              <a:t>CSA Engineering</a:t>
            </a:r>
            <a:endParaRPr lang="en-GB" dirty="0" smtClean="0">
              <a:ea typeface="Lucida Sans Unicode" charset="0"/>
              <a:cs typeface="Lucida Sans Unicode" charset="0"/>
            </a:endParaRP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Cody </a:t>
            </a:r>
            <a:r>
              <a:rPr lang="en-GB" dirty="0" err="1" smtClean="0">
                <a:ea typeface="Lucida Sans Unicode" charset="0"/>
                <a:cs typeface="Lucida Sans Unicode" charset="0"/>
              </a:rPr>
              <a:t>Griffee</a:t>
            </a:r>
            <a:r>
              <a:rPr lang="en-GB" dirty="0" smtClean="0">
                <a:ea typeface="Lucida Sans Unicode" charset="0"/>
                <a:cs typeface="Lucida Sans Unicode" charset="0"/>
              </a:rPr>
              <a:t> - </a:t>
            </a:r>
            <a:r>
              <a:rPr lang="en-GB" i="1" dirty="0" smtClean="0">
                <a:ea typeface="Lucida Sans Unicode" charset="0"/>
                <a:cs typeface="Lucida Sans Unicode" charset="0"/>
              </a:rPr>
              <a:t>CSA Engineering</a:t>
            </a: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Greg </a:t>
            </a:r>
            <a:r>
              <a:rPr lang="en-GB" dirty="0" err="1" smtClean="0">
                <a:ea typeface="Lucida Sans Unicode" charset="0"/>
                <a:cs typeface="Lucida Sans Unicode" charset="0"/>
              </a:rPr>
              <a:t>Mehle</a:t>
            </a:r>
            <a:r>
              <a:rPr lang="en-GB" dirty="0" smtClean="0">
                <a:ea typeface="Lucida Sans Unicode" charset="0"/>
                <a:cs typeface="Lucida Sans Unicode" charset="0"/>
              </a:rPr>
              <a:t> - </a:t>
            </a:r>
            <a:r>
              <a:rPr lang="en-GB" i="1" dirty="0" smtClean="0">
                <a:ea typeface="Lucida Sans Unicode" charset="0"/>
                <a:cs typeface="Lucida Sans Unicode" charset="0"/>
              </a:rPr>
              <a:t>CSA Engineering</a:t>
            </a: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Dr. Lawrence “Robbie” Robertson </a:t>
            </a:r>
            <a:r>
              <a:rPr lang="en-GB" i="1" dirty="0" smtClean="0">
                <a:ea typeface="Lucida Sans Unicode" charset="0"/>
                <a:cs typeface="Lucida Sans Unicode" charset="0"/>
              </a:rPr>
              <a:t>AFRL, SV*</a:t>
            </a: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cs typeface="Lucida Sans Unicode" charset="0"/>
              </a:rPr>
              <a:t>Dr. Steve Lane - </a:t>
            </a:r>
            <a:r>
              <a:rPr lang="en-GB" i="1" dirty="0" smtClean="0">
                <a:ea typeface="Lucida Sans Unicode" charset="0"/>
                <a:cs typeface="Lucida Sans Unicode" charset="0"/>
              </a:rPr>
              <a:t>AFRL, SV*</a:t>
            </a:r>
            <a:endParaRPr lang="en-GB" dirty="0" smtClean="0">
              <a:ea typeface="Lucida Sans Unicode" charset="0"/>
              <a:cs typeface="Lucida Sans Unicode" charset="0"/>
            </a:endParaRPr>
          </a:p>
          <a:p>
            <a:pPr lvl="1">
              <a:lnSpc>
                <a:spcPct val="100000"/>
              </a:lnSpc>
              <a:spcBef>
                <a:spcPts val="525"/>
              </a:spcBef>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dirty="0" smtClean="0">
                <a:ea typeface="Lucida Sans Unicode" charset="0"/>
              </a:rPr>
              <a:t>Brea Ingram- </a:t>
            </a:r>
            <a:r>
              <a:rPr lang="en-GB" i="1" dirty="0" smtClean="0">
                <a:ea typeface="Lucida Sans Unicode" charset="0"/>
                <a:cs typeface="Lucida Sans Unicode" charset="0"/>
              </a:rPr>
              <a:t>AFRL, SV*</a:t>
            </a:r>
            <a:endParaRPr lang="en-US" dirty="0" smtClean="0">
              <a:ea typeface="Lucida Sans Unicode" charset="0"/>
              <a:cs typeface="Lucida Sans Unicode" charset="0"/>
            </a:endParaRPr>
          </a:p>
          <a:p>
            <a:pPr>
              <a:lnSpc>
                <a:spcPct val="100000"/>
              </a:lnSpc>
              <a:spcBef>
                <a:spcPts val="525"/>
              </a:spcBef>
              <a:buNone/>
              <a:tabLst>
                <a:tab pos="0" algn="l"/>
                <a:tab pos="857250" algn="l"/>
                <a:tab pos="1716088" algn="l"/>
                <a:tab pos="2574925" algn="l"/>
                <a:tab pos="3433763" algn="l"/>
                <a:tab pos="4292600" algn="l"/>
                <a:tab pos="5151438" algn="l"/>
                <a:tab pos="6010275" algn="l"/>
                <a:tab pos="6869113" algn="l"/>
                <a:tab pos="7727950" algn="l"/>
                <a:tab pos="8586788" algn="l"/>
                <a:tab pos="9445625" algn="l"/>
                <a:tab pos="10304463" algn="l"/>
              </a:tabLst>
            </a:pPr>
            <a:r>
              <a:rPr lang="en-GB" sz="1600" i="1" dirty="0" smtClean="0">
                <a:ea typeface="Lucida Sans Unicode" charset="0"/>
                <a:cs typeface="Lucida Sans Unicode" charset="0"/>
              </a:rPr>
              <a:t>*AFRL, SV = Air Force Research Laboratory, Space Vehicles Directorate</a:t>
            </a:r>
            <a:endParaRPr lang="en-US" sz="1600" i="1" dirty="0" smtClean="0">
              <a:ea typeface="Lucida Sans Unicode" charset="0"/>
              <a:cs typeface="Lucida Sans Unicode" charset="0"/>
            </a:endParaRPr>
          </a:p>
          <a:p>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Cable Tie Down Details</a:t>
            </a:r>
            <a:endParaRPr lang="en-US" dirty="0"/>
          </a:p>
        </p:txBody>
      </p:sp>
      <p:pic>
        <p:nvPicPr>
          <p:cNvPr id="4" name="Picture 3" descr="TC105 Model_Rev2e.png"/>
          <p:cNvPicPr>
            <a:picLocks noChangeAspect="1"/>
          </p:cNvPicPr>
          <p:nvPr/>
        </p:nvPicPr>
        <p:blipFill>
          <a:blip r:embed="rId3" cstate="print"/>
          <a:srcRect l="35504" b="20659"/>
          <a:stretch>
            <a:fillRect/>
          </a:stretch>
        </p:blipFill>
        <p:spPr>
          <a:xfrm>
            <a:off x="1828800" y="1981200"/>
            <a:ext cx="5260174" cy="3124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ES Templat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Lucida Sans Unicode"/>
      </a:majorFont>
      <a:minorFont>
        <a:latin typeface="Arial"/>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Arial" charset="0"/>
          <a:buNone/>
          <a:tabLst/>
          <a:defRPr kumimoji="0" lang="en-GB" sz="2000" b="0" i="0" u="none" strike="noStrike" cap="none" normalizeH="0" baseline="0" smtClean="0">
            <a:ln>
              <a:noFill/>
            </a:ln>
            <a:solidFill>
              <a:schemeClr val="bg1"/>
            </a:solidFill>
            <a:effectLst/>
            <a:latin typeface="Arial" charset="0"/>
            <a:cs typeface="Lucida Sans Unicode"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Arial" charset="0"/>
          <a:buNone/>
          <a:tabLst/>
          <a:defRPr kumimoji="0" lang="en-GB" sz="2000" b="0" i="0" u="none" strike="noStrike" cap="none" normalizeH="0" baseline="0" smtClean="0">
            <a:ln>
              <a:noFill/>
            </a:ln>
            <a:solidFill>
              <a:schemeClr val="bg1"/>
            </a:solidFill>
            <a:effectLst/>
            <a:latin typeface="Arial" charset="0"/>
            <a:cs typeface="Lucida Sans Unicode" charset="0"/>
          </a:defRPr>
        </a:defPPr>
      </a:lstStyle>
    </a:lnDef>
    <a:txDef>
      <a:spPr>
        <a:noFill/>
      </a:spPr>
      <a:bodyPr wrap="square" rtlCol="0">
        <a:spAutoFit/>
      </a:bodyPr>
      <a:lstStyle>
        <a:defPPr>
          <a:defRPr b="1" dirty="0" err="1" smtClean="0">
            <a:solidFill>
              <a:schemeClr val="tx1"/>
            </a:solidFill>
          </a:defRPr>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CES Template</Template>
  <TotalTime>14792</TotalTime>
  <Words>2744</Words>
  <Application>Microsoft Office PowerPoint</Application>
  <PresentationFormat>On-screen Show (4:3)</PresentationFormat>
  <Paragraphs>311</Paragraphs>
  <Slides>26</Slides>
  <Notes>25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28" baseType="lpstr">
      <vt:lpstr>CES Template</vt:lpstr>
      <vt:lpstr>Equation</vt:lpstr>
      <vt:lpstr>Cable Effects Study Program Review and Cable Modelling Approach</vt:lpstr>
      <vt:lpstr>The Cable Effects Study Missions</vt:lpstr>
      <vt:lpstr>The Why of the Cable Effects Study</vt:lpstr>
      <vt:lpstr>The Significance of Cable Modelling</vt:lpstr>
      <vt:lpstr>The What of the Cable Effects Study / Focus Restrictions</vt:lpstr>
      <vt:lpstr>The How of the Cable Effects Study</vt:lpstr>
      <vt:lpstr>Research Topics not Included in the Cable Effects Study</vt:lpstr>
      <vt:lpstr>Cable Construction and Effects on Dynamics</vt:lpstr>
      <vt:lpstr>Attachment to Host Structure: Cable-Structure Interaction</vt:lpstr>
      <vt:lpstr>Cable Modeling Approach Overview</vt:lpstr>
      <vt:lpstr>The Cable Parameter Extraction Mission and Approach</vt:lpstr>
      <vt:lpstr>Cable Natural Frequency Progression: The Beam Model Indicator</vt:lpstr>
      <vt:lpstr>Bare Cable Lateral Test:  Parameter Estimation Approach</vt:lpstr>
      <vt:lpstr>Parameter Estimation: Tie down stiffness</vt:lpstr>
      <vt:lpstr>Slide 15</vt:lpstr>
      <vt:lpstr>Cable-on-Beam Results</vt:lpstr>
      <vt:lpstr>Model Validation Effort – A Panel Structure</vt:lpstr>
      <vt:lpstr>Measured Driving Point FRFs</vt:lpstr>
      <vt:lpstr>Panel Model Validation</vt:lpstr>
      <vt:lpstr>Shear Modulus Choice</vt:lpstr>
      <vt:lpstr>Major Findings</vt:lpstr>
      <vt:lpstr>Summary</vt:lpstr>
      <vt:lpstr>Open Research Topics</vt:lpstr>
      <vt:lpstr>Questions </vt:lpstr>
      <vt:lpstr>Acknowledgments</vt:lpstr>
      <vt:lpstr>Cable Tie Down Details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Cable Effects Study: Tangents, Rat Holes, Dead Ends and Valuable Results</dc:title>
  <dc:creator>Jim Goodding</dc:creator>
  <cp:lastModifiedBy>Douglas M. Coombs</cp:lastModifiedBy>
  <cp:revision>1243</cp:revision>
  <dcterms:created xsi:type="dcterms:W3CDTF">2010-04-28T21:03:33Z</dcterms:created>
  <dcterms:modified xsi:type="dcterms:W3CDTF">2011-05-01T13:32:06Z</dcterms:modified>
</cp:coreProperties>
</file>