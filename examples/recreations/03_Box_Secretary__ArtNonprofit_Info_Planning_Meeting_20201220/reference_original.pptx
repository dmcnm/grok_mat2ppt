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3"/>
  </p:notesMasterIdLst>
  <p:sldIdLst>
    <p:sldId id="256" r:id="rId2"/>
    <p:sldId id="277" r:id="rId3"/>
    <p:sldId id="287" r:id="rId4"/>
    <p:sldId id="301" r:id="rId5"/>
    <p:sldId id="296" r:id="rId6"/>
    <p:sldId id="297" r:id="rId7"/>
    <p:sldId id="298" r:id="rId8"/>
    <p:sldId id="300" r:id="rId9"/>
    <p:sldId id="299" r:id="rId10"/>
    <p:sldId id="304" r:id="rId11"/>
    <p:sldId id="302" r:id="rId12"/>
  </p:sldIdLst>
  <p:sldSz cx="12192000" cy="6858000"/>
  <p:notesSz cx="7023100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D18E"/>
    <a:srgbClr val="003399"/>
    <a:srgbClr val="9B99B3"/>
    <a:srgbClr val="020151"/>
    <a:srgbClr val="010127"/>
    <a:srgbClr val="04004D"/>
    <a:srgbClr val="0400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38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43343" cy="467071"/>
          </a:xfrm>
          <a:prstGeom prst="rect">
            <a:avLst/>
          </a:prstGeom>
        </p:spPr>
        <p:txBody>
          <a:bodyPr vert="horz" lIns="93304" tIns="46653" rIns="93304" bIns="4665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1"/>
            <a:ext cx="3043343" cy="467071"/>
          </a:xfrm>
          <a:prstGeom prst="rect">
            <a:avLst/>
          </a:prstGeom>
        </p:spPr>
        <p:txBody>
          <a:bodyPr vert="horz" lIns="93304" tIns="46653" rIns="93304" bIns="46653" rtlCol="0"/>
          <a:lstStyle>
            <a:lvl1pPr algn="r">
              <a:defRPr sz="1200"/>
            </a:lvl1pPr>
          </a:lstStyle>
          <a:p>
            <a:fld id="{7F7B82D3-D4F7-4B8B-8BE1-460FB89887CB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04" tIns="46653" rIns="93304" bIns="4665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5"/>
            <a:ext cx="5618480" cy="3665459"/>
          </a:xfrm>
          <a:prstGeom prst="rect">
            <a:avLst/>
          </a:prstGeom>
        </p:spPr>
        <p:txBody>
          <a:bodyPr vert="horz" lIns="93304" tIns="46653" rIns="93304" bIns="4665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0"/>
          </a:xfrm>
          <a:prstGeom prst="rect">
            <a:avLst/>
          </a:prstGeom>
        </p:spPr>
        <p:txBody>
          <a:bodyPr vert="horz" lIns="93304" tIns="46653" rIns="93304" bIns="4665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0"/>
          </a:xfrm>
          <a:prstGeom prst="rect">
            <a:avLst/>
          </a:prstGeom>
        </p:spPr>
        <p:txBody>
          <a:bodyPr vert="horz" lIns="93304" tIns="46653" rIns="93304" bIns="46653" rtlCol="0" anchor="b"/>
          <a:lstStyle>
            <a:lvl1pPr algn="r">
              <a:defRPr sz="1200"/>
            </a:lvl1pPr>
          </a:lstStyle>
          <a:p>
            <a:fld id="{211EEFB6-8312-4F1B-A70E-46D57B978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16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pPr/>
              <a:t>12/20/2020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69A8AA-85C3-4D8C-9C61-3E926044398E}"/>
              </a:ext>
            </a:extLst>
          </p:cNvPr>
          <p:cNvSpPr/>
          <p:nvPr userDrawn="1"/>
        </p:nvSpPr>
        <p:spPr>
          <a:xfrm>
            <a:off x="9682645" y="-4747"/>
            <a:ext cx="2509355" cy="6869866"/>
          </a:xfrm>
          <a:prstGeom prst="rect">
            <a:avLst/>
          </a:prstGeom>
          <a:solidFill>
            <a:srgbClr val="9B9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B2F07-B815-45D0-9D66-9BD0EA66D7C8}"/>
              </a:ext>
            </a:extLst>
          </p:cNvPr>
          <p:cNvSpPr/>
          <p:nvPr userDrawn="1"/>
        </p:nvSpPr>
        <p:spPr>
          <a:xfrm>
            <a:off x="1" y="-4745"/>
            <a:ext cx="2623225" cy="6869865"/>
          </a:xfrm>
          <a:prstGeom prst="rect">
            <a:avLst/>
          </a:prstGeom>
          <a:solidFill>
            <a:srgbClr val="9B9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FBFD15-DCFC-4A08-A2A1-02ACD5A3FF90}"/>
              </a:ext>
            </a:extLst>
          </p:cNvPr>
          <p:cNvSpPr/>
          <p:nvPr userDrawn="1"/>
        </p:nvSpPr>
        <p:spPr>
          <a:xfrm>
            <a:off x="2623226" y="-4747"/>
            <a:ext cx="7059420" cy="6869866"/>
          </a:xfrm>
          <a:prstGeom prst="rect">
            <a:avLst/>
          </a:prstGeom>
          <a:blipFill>
            <a:blip r:embed="rId2">
              <a:alphaModFix amt="4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628064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095" y="12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095" y="1432877"/>
            <a:ext cx="10515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http://holychildcatholicschool.org/images/AMDG.jpg">
            <a:extLst>
              <a:ext uri="{FF2B5EF4-FFF2-40B4-BE49-F238E27FC236}">
                <a16:creationId xmlns:a16="http://schemas.microsoft.com/office/drawing/2014/main" id="{1A075D24-58FB-45E0-97FB-D110E42AAD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20" y="5525929"/>
            <a:ext cx="1143000" cy="1224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FB4AF569-35E8-469F-B966-1D4991D7CA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8881" y="139366"/>
            <a:ext cx="1410420" cy="1371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4A9ABD-6110-4F9E-A27C-F9036C891C1E}"/>
              </a:ext>
            </a:extLst>
          </p:cNvPr>
          <p:cNvSpPr txBox="1"/>
          <p:nvPr userDrawn="1"/>
        </p:nvSpPr>
        <p:spPr>
          <a:xfrm>
            <a:off x="3201787" y="6315104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HOLY CHILD CATHOLIC SCHOOL: RAISING SAINTS, FORMING SCHOLARS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88B6997-9B4F-4EE7-914A-92A8BA753781}"/>
              </a:ext>
            </a:extLst>
          </p:cNvPr>
          <p:cNvCxnSpPr>
            <a:cxnSpLocks/>
          </p:cNvCxnSpPr>
          <p:nvPr userDrawn="1"/>
        </p:nvCxnSpPr>
        <p:spPr>
          <a:xfrm>
            <a:off x="1449421" y="6176963"/>
            <a:ext cx="10302312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3000B35-988C-48A1-ADC2-1647C99D651C}"/>
              </a:ext>
            </a:extLst>
          </p:cNvPr>
          <p:cNvCxnSpPr>
            <a:cxnSpLocks/>
          </p:cNvCxnSpPr>
          <p:nvPr userDrawn="1"/>
        </p:nvCxnSpPr>
        <p:spPr>
          <a:xfrm>
            <a:off x="535022" y="1083971"/>
            <a:ext cx="10029217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5680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680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028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677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41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105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15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586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89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C0534-AC82-40C9-9D5F-C772AE9BC3F8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767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C0534-AC82-40C9-9D5F-C772AE9BC3F8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BF1B2-8942-48EC-B5EF-B915FB58F23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hc" descr=" "/>
          <p:cNvSpPr txBox="1"/>
          <p:nvPr userDrawn="1"/>
        </p:nvSpPr>
        <p:spPr>
          <a:xfrm>
            <a:off x="0" y="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5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 </a:t>
            </a:r>
          </a:p>
        </p:txBody>
      </p:sp>
      <p:sp>
        <p:nvSpPr>
          <p:cNvPr id="8" name="fc" descr=" "/>
          <p:cNvSpPr txBox="1"/>
          <p:nvPr userDrawn="1"/>
        </p:nvSpPr>
        <p:spPr>
          <a:xfrm>
            <a:off x="0" y="653796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85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839727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15B5E-C51C-4C92-AE78-CAE70141E5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Art Non-profit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5B6DE8-9B06-435C-A043-0A0635A916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Informational and Planning Meeting</a:t>
            </a:r>
          </a:p>
          <a:p>
            <a:endParaRPr lang="en-US" dirty="0"/>
          </a:p>
          <a:p>
            <a:r>
              <a:rPr lang="en-US" dirty="0"/>
              <a:t>December 20, 2020</a:t>
            </a:r>
          </a:p>
        </p:txBody>
      </p:sp>
    </p:spTree>
    <p:extLst>
      <p:ext uri="{BB962C8B-B14F-4D97-AF65-F5344CB8AC3E}">
        <p14:creationId xmlns:p14="http://schemas.microsoft.com/office/powerpoint/2010/main" val="3710631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37F7C-CFEC-4CBC-8246-BB538F71B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463F8-B870-4D5D-9ED7-B6CE6C3A9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95" y="1132764"/>
            <a:ext cx="10515600" cy="4651451"/>
          </a:xfrm>
        </p:spPr>
        <p:txBody>
          <a:bodyPr>
            <a:normAutofit/>
          </a:bodyPr>
          <a:lstStyle/>
          <a:p>
            <a:r>
              <a:rPr lang="en-US" dirty="0"/>
              <a:t>Summary of Current Project and Status</a:t>
            </a:r>
          </a:p>
          <a:p>
            <a:r>
              <a:rPr lang="en-US" dirty="0"/>
              <a:t>Overview of Potential Non-profit Purpose and Goals</a:t>
            </a:r>
          </a:p>
          <a:p>
            <a:r>
              <a:rPr lang="en-US" dirty="0"/>
              <a:t>Survey of Participants and Potential Next Steps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751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Holy Child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095" y="1160585"/>
            <a:ext cx="10515600" cy="462363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Mother Seton Hall art schema finished</a:t>
            </a:r>
          </a:p>
          <a:p>
            <a:pPr lvl="1"/>
            <a:r>
              <a:rPr lang="en-US" dirty="0"/>
              <a:t>Five main hallway sections, plus intro, closing, and side hallways</a:t>
            </a:r>
          </a:p>
          <a:p>
            <a:pPr lvl="1"/>
            <a:r>
              <a:rPr lang="en-US" dirty="0"/>
              <a:t>Focus is on reproductions of masterpiece paintings and will not include photos of statues and other architecture</a:t>
            </a:r>
          </a:p>
          <a:p>
            <a:pPr lvl="1"/>
            <a:r>
              <a:rPr lang="en-US" dirty="0"/>
              <a:t>Each main section to cover an era of history </a:t>
            </a:r>
          </a:p>
          <a:p>
            <a:pPr lvl="2"/>
            <a:r>
              <a:rPr lang="en-US" dirty="0"/>
              <a:t>Also looking to highlight art history </a:t>
            </a:r>
          </a:p>
          <a:p>
            <a:r>
              <a:rPr lang="en-US" dirty="0"/>
              <a:t>Intro section complete</a:t>
            </a:r>
          </a:p>
          <a:p>
            <a:pPr lvl="1"/>
            <a:r>
              <a:rPr lang="en-US" dirty="0"/>
              <a:t>10 paintings for just over $10k </a:t>
            </a:r>
          </a:p>
          <a:p>
            <a:r>
              <a:rPr lang="en-US" dirty="0"/>
              <a:t>Modern Era Funding Promised – Currently in RFQ Stage</a:t>
            </a:r>
          </a:p>
          <a:p>
            <a:pPr lvl="1"/>
            <a:r>
              <a:rPr lang="en-US" dirty="0"/>
              <a:t>Two pieces awaiting final down select</a:t>
            </a:r>
          </a:p>
          <a:p>
            <a:pPr lvl="1"/>
            <a:r>
              <a:rPr lang="en-US" dirty="0"/>
              <a:t>15 paintings for $10.5k-14k</a:t>
            </a:r>
          </a:p>
          <a:p>
            <a:r>
              <a:rPr lang="en-US" dirty="0"/>
              <a:t>Fundraising and final selection remains for following sections</a:t>
            </a:r>
          </a:p>
          <a:p>
            <a:pPr lvl="1"/>
            <a:r>
              <a:rPr lang="en-US" dirty="0"/>
              <a:t>Cradle of Civilization and OT </a:t>
            </a:r>
          </a:p>
          <a:p>
            <a:pPr lvl="1"/>
            <a:r>
              <a:rPr lang="en-US" dirty="0"/>
              <a:t>Greece and Rome </a:t>
            </a:r>
          </a:p>
          <a:p>
            <a:pPr lvl="1"/>
            <a:r>
              <a:rPr lang="en-US" dirty="0"/>
              <a:t>Paschal Mystery</a:t>
            </a:r>
          </a:p>
          <a:p>
            <a:pPr lvl="1"/>
            <a:r>
              <a:rPr lang="en-US" dirty="0"/>
              <a:t>Early Church to Medieval Era</a:t>
            </a:r>
          </a:p>
          <a:p>
            <a:r>
              <a:rPr lang="en-US" dirty="0"/>
              <a:t>Estimated Costs remaining: ~40 paintings for $35k plus lighting</a:t>
            </a:r>
          </a:p>
          <a:p>
            <a:r>
              <a:rPr lang="en-US" dirty="0"/>
              <a:t>Planning not yet begun for Blessed Miguel Pro Hall</a:t>
            </a:r>
          </a:p>
          <a:p>
            <a:pPr marL="1371600" lvl="3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AC000A-4F2C-4D27-A52F-74EF5AE0D447}"/>
              </a:ext>
            </a:extLst>
          </p:cNvPr>
          <p:cNvSpPr/>
          <p:nvPr/>
        </p:nvSpPr>
        <p:spPr>
          <a:xfrm>
            <a:off x="7996518" y="2586006"/>
            <a:ext cx="4195482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Mother Seton Hall Nearly 1/3 Complete!!! </a:t>
            </a:r>
          </a:p>
        </p:txBody>
      </p:sp>
    </p:spTree>
    <p:extLst>
      <p:ext uri="{BB962C8B-B14F-4D97-AF65-F5344CB8AC3E}">
        <p14:creationId xmlns:p14="http://schemas.microsoft.com/office/powerpoint/2010/main" val="1885325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3C4E6-B096-483A-BB31-282DC1CC1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095" y="1226"/>
            <a:ext cx="10515600" cy="1072559"/>
          </a:xfrm>
        </p:spPr>
        <p:txBody>
          <a:bodyPr/>
          <a:lstStyle/>
          <a:p>
            <a:r>
              <a:rPr lang="en-US" dirty="0"/>
              <a:t>Mother Seton Hall Art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F3DC5-8E44-40DA-8740-8A98ACDE4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6528" y="4766554"/>
            <a:ext cx="2863098" cy="1384625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00B050"/>
                </a:solidFill>
              </a:rPr>
              <a:t>Completed</a:t>
            </a:r>
          </a:p>
          <a:p>
            <a:r>
              <a:rPr lang="en-US" dirty="0">
                <a:solidFill>
                  <a:srgbClr val="7030A0"/>
                </a:solidFill>
              </a:rPr>
              <a:t>In-progress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Planning Stages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00DD29F-B020-4FE1-9989-CD02BA1AD951}"/>
              </a:ext>
            </a:extLst>
          </p:cNvPr>
          <p:cNvGrpSpPr/>
          <p:nvPr/>
        </p:nvGrpSpPr>
        <p:grpSpPr>
          <a:xfrm>
            <a:off x="493095" y="1080379"/>
            <a:ext cx="9944387" cy="3686175"/>
            <a:chOff x="707407" y="1155858"/>
            <a:chExt cx="9944387" cy="368617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CC89E5E-222B-4746-93D6-C8E1A5C195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1414"/>
            <a:stretch/>
          </p:blipFill>
          <p:spPr>
            <a:xfrm>
              <a:off x="707407" y="1155858"/>
              <a:ext cx="9944387" cy="3686175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F34768C-3085-4027-8A17-FC7154E4E9D7}"/>
                </a:ext>
              </a:extLst>
            </p:cNvPr>
            <p:cNvCxnSpPr>
              <a:cxnSpLocks/>
            </p:cNvCxnSpPr>
            <p:nvPr/>
          </p:nvCxnSpPr>
          <p:spPr>
            <a:xfrm>
              <a:off x="856034" y="3196147"/>
              <a:ext cx="1741251" cy="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5C9DAE9-6D87-4030-AE46-6ABDA7A17AEF}"/>
                </a:ext>
              </a:extLst>
            </p:cNvPr>
            <p:cNvCxnSpPr>
              <a:cxnSpLocks/>
            </p:cNvCxnSpPr>
            <p:nvPr/>
          </p:nvCxnSpPr>
          <p:spPr>
            <a:xfrm>
              <a:off x="2908571" y="3225331"/>
              <a:ext cx="2423959" cy="0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0756428-ED75-4942-B51F-0FFA084F2775}"/>
                </a:ext>
              </a:extLst>
            </p:cNvPr>
            <p:cNvCxnSpPr>
              <a:cxnSpLocks/>
            </p:cNvCxnSpPr>
            <p:nvPr/>
          </p:nvCxnSpPr>
          <p:spPr>
            <a:xfrm>
              <a:off x="856034" y="2755158"/>
              <a:ext cx="1741251" cy="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3F83D84-9F0D-4E0C-B91D-B54695DEAEBC}"/>
                </a:ext>
              </a:extLst>
            </p:cNvPr>
            <p:cNvCxnSpPr>
              <a:cxnSpLocks/>
            </p:cNvCxnSpPr>
            <p:nvPr/>
          </p:nvCxnSpPr>
          <p:spPr>
            <a:xfrm>
              <a:off x="856033" y="4026238"/>
              <a:ext cx="787941" cy="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006159A-DE88-421B-A7E6-86824F2D0D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5488" y="3196147"/>
              <a:ext cx="1" cy="80638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95EF20D-13EE-4447-ABE2-021DBCCEB2D9}"/>
                </a:ext>
              </a:extLst>
            </p:cNvPr>
            <p:cNvCxnSpPr>
              <a:cxnSpLocks/>
            </p:cNvCxnSpPr>
            <p:nvPr/>
          </p:nvCxnSpPr>
          <p:spPr>
            <a:xfrm>
              <a:off x="5332530" y="3338820"/>
              <a:ext cx="418364" cy="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71AE630-0380-421C-8DC3-9A939B546D0C}"/>
                </a:ext>
              </a:extLst>
            </p:cNvPr>
            <p:cNvCxnSpPr>
              <a:cxnSpLocks/>
            </p:cNvCxnSpPr>
            <p:nvPr/>
          </p:nvCxnSpPr>
          <p:spPr>
            <a:xfrm>
              <a:off x="2908571" y="2776845"/>
              <a:ext cx="2423959" cy="0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26CDAE2-DB89-4494-93FB-3A344E2E7ADB}"/>
                </a:ext>
              </a:extLst>
            </p:cNvPr>
            <p:cNvCxnSpPr>
              <a:cxnSpLocks/>
            </p:cNvCxnSpPr>
            <p:nvPr/>
          </p:nvCxnSpPr>
          <p:spPr>
            <a:xfrm>
              <a:off x="5658256" y="2776845"/>
              <a:ext cx="2201693" cy="0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0554E9D-E45C-43F9-8925-4F00116C76C4}"/>
                </a:ext>
              </a:extLst>
            </p:cNvPr>
            <p:cNvCxnSpPr>
              <a:cxnSpLocks/>
            </p:cNvCxnSpPr>
            <p:nvPr/>
          </p:nvCxnSpPr>
          <p:spPr>
            <a:xfrm>
              <a:off x="6066816" y="3197366"/>
              <a:ext cx="1773677" cy="0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AEFC139-7630-44AD-9A38-B14BA3DAD160}"/>
                </a:ext>
              </a:extLst>
            </p:cNvPr>
            <p:cNvCxnSpPr>
              <a:cxnSpLocks/>
            </p:cNvCxnSpPr>
            <p:nvPr/>
          </p:nvCxnSpPr>
          <p:spPr>
            <a:xfrm>
              <a:off x="8164749" y="3205875"/>
              <a:ext cx="2175753" cy="0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897E3D4-BA70-4DC6-B11C-65A5CCFC2685}"/>
                </a:ext>
              </a:extLst>
            </p:cNvPr>
            <p:cNvCxnSpPr>
              <a:cxnSpLocks/>
            </p:cNvCxnSpPr>
            <p:nvPr/>
          </p:nvCxnSpPr>
          <p:spPr>
            <a:xfrm>
              <a:off x="8164749" y="2776845"/>
              <a:ext cx="1212715" cy="0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F2E09A-1ABD-4BF7-8D24-CCDD5284C0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86271" y="3196147"/>
              <a:ext cx="0" cy="532997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6561704-8BA0-4A6C-A640-43D934BF90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61497" y="2222162"/>
              <a:ext cx="0" cy="375123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6438BEF-3BEA-45FC-B025-9E02DFB228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71442" y="2243848"/>
              <a:ext cx="0" cy="532997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51CDBB4-6D49-4A17-B6EE-1BE23BB4DD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50894" y="3338820"/>
              <a:ext cx="0" cy="193123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50893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095" y="1227"/>
            <a:ext cx="10515600" cy="1141774"/>
          </a:xfrm>
        </p:spPr>
        <p:txBody>
          <a:bodyPr>
            <a:normAutofit/>
          </a:bodyPr>
          <a:lstStyle/>
          <a:p>
            <a:r>
              <a:rPr lang="en-US" sz="3600" dirty="0"/>
              <a:t>Non-profit Purposes</a:t>
            </a:r>
            <a:br>
              <a:rPr lang="en-US" sz="3600" dirty="0"/>
            </a:br>
            <a:r>
              <a:rPr lang="en-US" sz="3600" dirty="0"/>
              <a:t>Asset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094" y="1485899"/>
            <a:ext cx="11332560" cy="4298315"/>
          </a:xfrm>
        </p:spPr>
        <p:txBody>
          <a:bodyPr>
            <a:normAutofit/>
          </a:bodyPr>
          <a:lstStyle/>
          <a:p>
            <a:r>
              <a:rPr lang="en-US" dirty="0"/>
              <a:t>Asset protection is critical to fundraising in parishes/dioceses where future friendliness toward classical education and great art is in question</a:t>
            </a:r>
          </a:p>
          <a:p>
            <a:pPr lvl="1"/>
            <a:r>
              <a:rPr lang="en-US" dirty="0"/>
              <a:t>Barbarian bishops and modernist priests have destroyed much church art and sold off numerous assets to pay abuse settlements</a:t>
            </a:r>
          </a:p>
          <a:p>
            <a:pPr lvl="1"/>
            <a:r>
              <a:rPr lang="en-US" dirty="0"/>
              <a:t>Most people have stories of friends/family saving church art from literal dumpsters</a:t>
            </a:r>
          </a:p>
          <a:p>
            <a:pPr lvl="1"/>
            <a:r>
              <a:rPr lang="en-US" dirty="0"/>
              <a:t>Non-profit can hold assets in trust and give them away to other schools if unfriendly powers take control and want to dispose of the art</a:t>
            </a:r>
          </a:p>
          <a:p>
            <a:endParaRPr lang="en-US" dirty="0"/>
          </a:p>
          <a:p>
            <a:pPr marL="1371600" lvl="3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172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095" y="1227"/>
            <a:ext cx="10515600" cy="1141774"/>
          </a:xfrm>
        </p:spPr>
        <p:txBody>
          <a:bodyPr>
            <a:normAutofit/>
          </a:bodyPr>
          <a:lstStyle/>
          <a:p>
            <a:r>
              <a:rPr lang="en-US" sz="3600" dirty="0"/>
              <a:t>Non-profit Purposes</a:t>
            </a:r>
            <a:br>
              <a:rPr lang="en-US" sz="3600" dirty="0"/>
            </a:br>
            <a:r>
              <a:rPr lang="en-US" sz="3600" dirty="0"/>
              <a:t>Project and Concept Promotion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094" y="1485899"/>
            <a:ext cx="11332560" cy="429831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Holy Child is pioneering something new</a:t>
            </a:r>
          </a:p>
          <a:p>
            <a:pPr lvl="1"/>
            <a:r>
              <a:rPr lang="en-US" dirty="0"/>
              <a:t>Never before have modern printing methods been combined with the ever-growing library of high resolution photos of museum paintings to bring the best masterpiece paintings in the western canon to schools</a:t>
            </a:r>
          </a:p>
          <a:p>
            <a:r>
              <a:rPr lang="en-US" dirty="0"/>
              <a:t>The classical school movement is rapidly expanding and pioneering new ways to bring the a traditional education to the modern world</a:t>
            </a:r>
          </a:p>
          <a:p>
            <a:pPr lvl="1"/>
            <a:r>
              <a:rPr lang="en-US" dirty="0"/>
              <a:t>Many schools would likely be interested if they could see this project</a:t>
            </a:r>
          </a:p>
          <a:p>
            <a:r>
              <a:rPr lang="en-US" dirty="0"/>
              <a:t>Ways to promote concept</a:t>
            </a:r>
          </a:p>
          <a:p>
            <a:pPr lvl="1"/>
            <a:r>
              <a:rPr lang="en-US" dirty="0"/>
              <a:t>Speak at educational conferences</a:t>
            </a:r>
          </a:p>
          <a:p>
            <a:pPr lvl="1"/>
            <a:r>
              <a:rPr lang="en-US" dirty="0"/>
              <a:t>News coverage</a:t>
            </a:r>
          </a:p>
          <a:p>
            <a:pPr lvl="1"/>
            <a:r>
              <a:rPr lang="en-US" dirty="0"/>
              <a:t>Publishing in academic journals and educational magazines</a:t>
            </a:r>
          </a:p>
          <a:p>
            <a:pPr lvl="1"/>
            <a:r>
              <a:rPr lang="en-US" dirty="0"/>
              <a:t>Partnerships with local art museums</a:t>
            </a:r>
          </a:p>
          <a:p>
            <a:pPr lvl="1"/>
            <a:r>
              <a:rPr lang="en-US" dirty="0"/>
              <a:t>Partnerships with other schools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371600" lvl="3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524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095" y="1227"/>
            <a:ext cx="10515600" cy="1141774"/>
          </a:xfrm>
        </p:spPr>
        <p:txBody>
          <a:bodyPr>
            <a:normAutofit/>
          </a:bodyPr>
          <a:lstStyle/>
          <a:p>
            <a:r>
              <a:rPr lang="en-US" sz="3600" dirty="0"/>
              <a:t>Non-profit Purposes</a:t>
            </a:r>
            <a:br>
              <a:rPr lang="en-US" sz="3600" dirty="0"/>
            </a:br>
            <a:r>
              <a:rPr lang="en-US" sz="3600" dirty="0"/>
              <a:t>Connecting School Communities and Museums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094" y="1143001"/>
            <a:ext cx="11332560" cy="464121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Reproductions shouldn’t be the only art children see</a:t>
            </a:r>
          </a:p>
          <a:p>
            <a:pPr lvl="1"/>
            <a:r>
              <a:rPr lang="en-US" dirty="0"/>
              <a:t>Most masterpiece paintings live in museums</a:t>
            </a:r>
          </a:p>
          <a:p>
            <a:pPr lvl="1"/>
            <a:r>
              <a:rPr lang="en-US" dirty="0"/>
              <a:t>Traveling exhibits bring masterpieces to even smaller cities like Albuquerque</a:t>
            </a:r>
          </a:p>
          <a:p>
            <a:r>
              <a:rPr lang="en-US" dirty="0"/>
              <a:t>Reserving a section of wall to display the best of local art museums would encourage families to visit</a:t>
            </a:r>
          </a:p>
          <a:p>
            <a:pPr lvl="1"/>
            <a:r>
              <a:rPr lang="en-US" dirty="0"/>
              <a:t>Requires working with museum staff to acquire rights and select pieces for display</a:t>
            </a:r>
          </a:p>
          <a:p>
            <a:pPr lvl="1"/>
            <a:r>
              <a:rPr lang="en-US" dirty="0"/>
              <a:t>Provides visibility of museum exhibits to school families</a:t>
            </a:r>
          </a:p>
          <a:p>
            <a:pPr lvl="1"/>
            <a:r>
              <a:rPr lang="en-US" dirty="0"/>
              <a:t>Provides visibility of school in the wider community</a:t>
            </a:r>
          </a:p>
          <a:p>
            <a:r>
              <a:rPr lang="en-US" dirty="0"/>
              <a:t>Win-win for families, museum, and school</a:t>
            </a:r>
          </a:p>
          <a:p>
            <a:r>
              <a:rPr lang="en-US" dirty="0"/>
              <a:t>Strong partnerships generate opportunity for positive media interest and coverage</a:t>
            </a:r>
          </a:p>
          <a:p>
            <a:pPr lvl="1"/>
            <a:r>
              <a:rPr lang="en-US" dirty="0"/>
              <a:t>Museum staff will likely lead this effort</a:t>
            </a:r>
          </a:p>
          <a:p>
            <a:endParaRPr lang="en-US" dirty="0"/>
          </a:p>
          <a:p>
            <a:endParaRPr lang="en-US" dirty="0"/>
          </a:p>
          <a:p>
            <a:pPr marL="1371600" lvl="3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54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095" y="1227"/>
            <a:ext cx="10515600" cy="1141774"/>
          </a:xfrm>
        </p:spPr>
        <p:txBody>
          <a:bodyPr>
            <a:normAutofit/>
          </a:bodyPr>
          <a:lstStyle/>
          <a:p>
            <a:r>
              <a:rPr lang="en-US" sz="3600" dirty="0"/>
              <a:t>Non-profit Purposes</a:t>
            </a:r>
            <a:br>
              <a:rPr lang="en-US" sz="3600" dirty="0"/>
            </a:br>
            <a:r>
              <a:rPr lang="en-US" sz="3600" dirty="0"/>
              <a:t>Connecting Likeminded School Communities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094" y="1143001"/>
            <a:ext cx="11332560" cy="46412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Serve as central resource to connect classical schools that want to implement this idea</a:t>
            </a:r>
          </a:p>
          <a:p>
            <a:r>
              <a:rPr lang="en-US" dirty="0"/>
              <a:t>Provide planning and logistical support to schools lacking expertise</a:t>
            </a:r>
          </a:p>
          <a:p>
            <a:pPr lvl="1"/>
            <a:r>
              <a:rPr lang="en-US" dirty="0"/>
              <a:t>Can help schools with planning and piece selection</a:t>
            </a:r>
          </a:p>
          <a:p>
            <a:pPr lvl="2"/>
            <a:r>
              <a:rPr lang="en-US" dirty="0"/>
              <a:t>Holy Child has already looked at thousands of paintings and has presentations with hundreds of potential candidates</a:t>
            </a:r>
          </a:p>
          <a:p>
            <a:pPr lvl="1"/>
            <a:r>
              <a:rPr lang="en-US" dirty="0"/>
              <a:t>Provide logistical support to schools</a:t>
            </a:r>
          </a:p>
          <a:p>
            <a:pPr lvl="2"/>
            <a:r>
              <a:rPr lang="en-US" dirty="0"/>
              <a:t>Connect with </a:t>
            </a:r>
            <a:r>
              <a:rPr lang="en-US" dirty="0" err="1"/>
              <a:t>Duraplaq</a:t>
            </a:r>
            <a:r>
              <a:rPr lang="en-US" dirty="0"/>
              <a:t> and Derek Brooks</a:t>
            </a:r>
          </a:p>
          <a:p>
            <a:pPr lvl="2"/>
            <a:r>
              <a:rPr lang="en-US" dirty="0"/>
              <a:t>Develop connections to companies in other parts of  the country/world as time progresses</a:t>
            </a:r>
          </a:p>
          <a:p>
            <a:r>
              <a:rPr lang="en-US" dirty="0"/>
              <a:t>Provide support to schools looking to circulate loaned paintings</a:t>
            </a:r>
          </a:p>
          <a:p>
            <a:pPr lvl="1"/>
            <a:r>
              <a:rPr lang="en-US" dirty="0"/>
              <a:t>Similar to how most museums have traveling exhibits</a:t>
            </a:r>
          </a:p>
          <a:p>
            <a:r>
              <a:rPr lang="en-US" dirty="0"/>
              <a:t>Help connect schools with their local art community</a:t>
            </a:r>
          </a:p>
          <a:p>
            <a:endParaRPr lang="en-US" dirty="0"/>
          </a:p>
          <a:p>
            <a:endParaRPr lang="en-US" dirty="0"/>
          </a:p>
          <a:p>
            <a:pPr marL="1371600" lvl="3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867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095" y="1226"/>
            <a:ext cx="10515600" cy="1106605"/>
          </a:xfrm>
        </p:spPr>
        <p:txBody>
          <a:bodyPr>
            <a:normAutofit/>
          </a:bodyPr>
          <a:lstStyle/>
          <a:p>
            <a:r>
              <a:rPr lang="en-US" sz="3600" dirty="0"/>
              <a:t>Starting a Non-profit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2708" y="1182569"/>
            <a:ext cx="5533292" cy="446209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Decide on purpose for organization and general goals</a:t>
            </a:r>
          </a:p>
          <a:p>
            <a:pPr lvl="1"/>
            <a:r>
              <a:rPr lang="en-US" dirty="0"/>
              <a:t>Feedback - Disagreement on goals in previous slides or other ideas?</a:t>
            </a:r>
          </a:p>
          <a:p>
            <a:r>
              <a:rPr lang="en-US" dirty="0"/>
              <a:t>Select board model</a:t>
            </a:r>
          </a:p>
          <a:p>
            <a:r>
              <a:rPr lang="en-US" dirty="0"/>
              <a:t>Recruit and vote on transition board members (with future in mind)</a:t>
            </a:r>
          </a:p>
          <a:p>
            <a:pPr lvl="1"/>
            <a:r>
              <a:rPr lang="en-US" dirty="0"/>
              <a:t>Highlight business/non-profit experience, time, motivation, and art expertise</a:t>
            </a:r>
          </a:p>
          <a:p>
            <a:pPr lvl="1"/>
            <a:r>
              <a:rPr lang="en-US" dirty="0"/>
              <a:t>Avoid conflicts of interest</a:t>
            </a:r>
          </a:p>
          <a:p>
            <a:pPr lvl="1"/>
            <a:r>
              <a:rPr lang="en-US" dirty="0"/>
              <a:t>Decide on committees - both business and art related</a:t>
            </a:r>
          </a:p>
          <a:p>
            <a:r>
              <a:rPr lang="en-US" dirty="0"/>
              <a:t>Vote on a name</a:t>
            </a:r>
          </a:p>
          <a:p>
            <a:pPr marL="1371600" lvl="3" indent="0">
              <a:buNone/>
            </a:pP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E645237-B693-4DC5-9353-873E7B8D6168}"/>
              </a:ext>
            </a:extLst>
          </p:cNvPr>
          <p:cNvSpPr txBox="1">
            <a:spLocks/>
          </p:cNvSpPr>
          <p:nvPr/>
        </p:nvSpPr>
        <p:spPr>
          <a:xfrm>
            <a:off x="5972908" y="1559171"/>
            <a:ext cx="6134100" cy="44620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Set board meeting dates for regular meetings</a:t>
            </a:r>
          </a:p>
          <a:p>
            <a:pPr lvl="1"/>
            <a:r>
              <a:rPr lang="en-US" dirty="0"/>
              <a:t>Set due dates and goals for tasks</a:t>
            </a:r>
          </a:p>
          <a:p>
            <a:r>
              <a:rPr lang="en-US" dirty="0"/>
              <a:t>Write Articles of Incorporation and Bylaws</a:t>
            </a:r>
          </a:p>
          <a:p>
            <a:pPr lvl="1"/>
            <a:r>
              <a:rPr lang="en-US" dirty="0"/>
              <a:t>Select annual meeting date (mostly set in stone)</a:t>
            </a:r>
          </a:p>
          <a:p>
            <a:pPr lvl="1"/>
            <a:r>
              <a:rPr lang="en-US" dirty="0"/>
              <a:t>Formally vote on board members</a:t>
            </a:r>
          </a:p>
          <a:p>
            <a:r>
              <a:rPr lang="en-US" dirty="0"/>
              <a:t>Work with volunteer legal help to</a:t>
            </a:r>
          </a:p>
          <a:p>
            <a:pPr lvl="1"/>
            <a:r>
              <a:rPr lang="en-US" dirty="0"/>
              <a:t>Submit paperwork to state of NM</a:t>
            </a:r>
          </a:p>
          <a:p>
            <a:pPr lvl="1"/>
            <a:r>
              <a:rPr lang="en-US" dirty="0"/>
              <a:t>Submit paperwork to IRS</a:t>
            </a:r>
          </a:p>
          <a:p>
            <a:r>
              <a:rPr lang="en-US" dirty="0"/>
              <a:t>Get training for IRS paperwork and business aspects of tax deductibility</a:t>
            </a:r>
          </a:p>
          <a:p>
            <a:r>
              <a:rPr lang="en-US" dirty="0"/>
              <a:t>Prioritize art-related projects and get to work</a:t>
            </a:r>
          </a:p>
          <a:p>
            <a:pPr lvl="1"/>
            <a:r>
              <a:rPr lang="en-US" dirty="0"/>
              <a:t>Can’t do everything at once – Figure out projects with high impact and low difficulty to begin</a:t>
            </a:r>
          </a:p>
          <a:p>
            <a:pPr marL="1371600" lvl="3" indent="0">
              <a:buFont typeface="Arial" panose="020B0604020202020204" pitchFamily="34" charset="0"/>
              <a:buNone/>
            </a:pP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945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7B4FA-E34D-4C6D-9299-9CAB83DE0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55441"/>
            <a:ext cx="12192000" cy="1325563"/>
          </a:xfrm>
        </p:spPr>
        <p:txBody>
          <a:bodyPr/>
          <a:lstStyle/>
          <a:p>
            <a:pPr algn="ctr"/>
            <a:r>
              <a:rPr lang="en-US" dirty="0"/>
              <a:t>Questions and Feedback</a:t>
            </a:r>
          </a:p>
        </p:txBody>
      </p:sp>
    </p:spTree>
    <p:extLst>
      <p:ext uri="{BB962C8B-B14F-4D97-AF65-F5344CB8AC3E}">
        <p14:creationId xmlns:p14="http://schemas.microsoft.com/office/powerpoint/2010/main" val="1530520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4A761-CFCD-4672-B6E1-78F1A27CA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B2F86-3CDD-4F9B-B6DF-339794A0D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914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16519</TotalTime>
  <Words>733</Words>
  <Application>Microsoft Office PowerPoint</Application>
  <PresentationFormat>Widescreen</PresentationFormat>
  <Paragraphs>113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Microsoft Sans Serif</vt:lpstr>
      <vt:lpstr>Times New Roman</vt:lpstr>
      <vt:lpstr>Office Theme</vt:lpstr>
      <vt:lpstr>Art Non-profit</vt:lpstr>
      <vt:lpstr>Overview</vt:lpstr>
      <vt:lpstr>Holy Child Project Overview</vt:lpstr>
      <vt:lpstr>Mother Seton Hall Art Schema</vt:lpstr>
      <vt:lpstr>Non-profit Purposes Asset Protection</vt:lpstr>
      <vt:lpstr>Non-profit Purposes Project and Concept Promotion</vt:lpstr>
      <vt:lpstr>Non-profit Purposes Connecting School Communities and Museums</vt:lpstr>
      <vt:lpstr>Non-profit Purposes Connecting Likeminded School Communities</vt:lpstr>
      <vt:lpstr>Starting a Non-profit</vt:lpstr>
      <vt:lpstr>Questions and Feedback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cfam</dc:creator>
  <cp:lastModifiedBy>Douglas Coombs</cp:lastModifiedBy>
  <cp:revision>170</cp:revision>
  <cp:lastPrinted>2018-08-10T14:08:26Z</cp:lastPrinted>
  <dcterms:created xsi:type="dcterms:W3CDTF">2017-10-21T04:06:09Z</dcterms:created>
  <dcterms:modified xsi:type="dcterms:W3CDTF">2020-12-20T08:15:09Z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073af042-833c-47dd-b860-957f86ae111e</vt:lpwstr>
  </property>
  <property fmtid="{D5CDD505-2E9C-101B-9397-08002B2CF9AE}" pid="3" name="techData">
    <vt:lpwstr>No</vt:lpwstr>
  </property>
  <property fmtid="{D5CDD505-2E9C-101B-9397-08002B2CF9AE}" pid="4" name="VisualMarking">
    <vt:lpwstr>None</vt:lpwstr>
  </property>
  <property fmtid="{D5CDD505-2E9C-101B-9397-08002B2CF9AE}" pid="5" name="ThirdPartyComment">
    <vt:lpwstr>none needed</vt:lpwstr>
  </property>
</Properties>
</file>